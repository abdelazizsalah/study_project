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theme/theme3.xml" ContentType="application/vnd.openxmlformats-officedocument.theme+xml"/>
  <Override PartName="/ppt/slideLayouts/slideLayout6.xml" ContentType="application/vnd.openxmlformats-officedocument.presentationml.slideLayout+xml"/>
  <Override PartName="/ppt/theme/theme4.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5.xml" ContentType="application/vnd.openxmlformats-officedocument.theme+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6.xml" ContentType="application/vnd.openxmlformats-officedocument.theme+xml"/>
  <Override PartName="/ppt/slideLayouts/slideLayout21.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media/image26.svg" ContentType="image/svg"/>
  <Override PartName="/ppt/media/image28.svg" ContentType="image/svg"/>
  <Override PartName="/ppt/media/image30.svg" ContentType="image/svg"/>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 id="2147483689" r:id="rId2"/>
    <p:sldMasterId id="2147483692" r:id="rId3"/>
    <p:sldMasterId id="2147483676" r:id="rId4"/>
    <p:sldMasterId id="2147483660" r:id="rId5"/>
    <p:sldMasterId id="2147483694" r:id="rId6"/>
    <p:sldMasterId id="2147483679" r:id="rId7"/>
  </p:sldMasterIdLst>
  <p:notesMasterIdLst>
    <p:notesMasterId r:id="rId59"/>
  </p:notesMasterIdLst>
  <p:handoutMasterIdLst>
    <p:handoutMasterId r:id="rId60"/>
  </p:handoutMasterIdLst>
  <p:sldIdLst>
    <p:sldId id="257" r:id="rId8"/>
    <p:sldId id="265" r:id="rId9"/>
    <p:sldId id="266" r:id="rId10"/>
    <p:sldId id="267" r:id="rId11"/>
    <p:sldId id="269" r:id="rId12"/>
    <p:sldId id="270" r:id="rId13"/>
    <p:sldId id="275" r:id="rId14"/>
    <p:sldId id="268" r:id="rId15"/>
    <p:sldId id="280" r:id="rId16"/>
    <p:sldId id="271" r:id="rId17"/>
    <p:sldId id="272" r:id="rId18"/>
    <p:sldId id="278" r:id="rId19"/>
    <p:sldId id="273" r:id="rId20"/>
    <p:sldId id="316" r:id="rId21"/>
    <p:sldId id="279" r:id="rId22"/>
    <p:sldId id="277" r:id="rId23"/>
    <p:sldId id="281" r:id="rId24"/>
    <p:sldId id="276" r:id="rId25"/>
    <p:sldId id="274" r:id="rId26"/>
    <p:sldId id="282" r:id="rId27"/>
    <p:sldId id="283" r:id="rId28"/>
    <p:sldId id="284" r:id="rId29"/>
    <p:sldId id="285" r:id="rId30"/>
    <p:sldId id="286" r:id="rId31"/>
    <p:sldId id="287" r:id="rId32"/>
    <p:sldId id="288" r:id="rId33"/>
    <p:sldId id="289" r:id="rId34"/>
    <p:sldId id="292" r:id="rId35"/>
    <p:sldId id="290" r:id="rId36"/>
    <p:sldId id="293" r:id="rId37"/>
    <p:sldId id="291" r:id="rId38"/>
    <p:sldId id="296" r:id="rId39"/>
    <p:sldId id="297" r:id="rId40"/>
    <p:sldId id="299" r:id="rId41"/>
    <p:sldId id="311" r:id="rId42"/>
    <p:sldId id="312" r:id="rId43"/>
    <p:sldId id="298" r:id="rId44"/>
    <p:sldId id="317" r:id="rId45"/>
    <p:sldId id="302" r:id="rId46"/>
    <p:sldId id="301" r:id="rId47"/>
    <p:sldId id="305" r:id="rId48"/>
    <p:sldId id="304" r:id="rId49"/>
    <p:sldId id="306" r:id="rId50"/>
    <p:sldId id="308" r:id="rId51"/>
    <p:sldId id="309" r:id="rId52"/>
    <p:sldId id="307" r:id="rId53"/>
    <p:sldId id="310" r:id="rId54"/>
    <p:sldId id="313" r:id="rId55"/>
    <p:sldId id="314" r:id="rId56"/>
    <p:sldId id="315" r:id="rId57"/>
    <p:sldId id="318" r:id="rId58"/>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FCFE"/>
    <a:srgbClr val="FDFCF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53" autoAdjust="0"/>
    <p:restoredTop sz="72614" autoAdjust="0"/>
  </p:normalViewPr>
  <p:slideViewPr>
    <p:cSldViewPr snapToGrid="0" showGuides="1">
      <p:cViewPr varScale="1">
        <p:scale>
          <a:sx n="83" d="100"/>
          <a:sy n="83" d="100"/>
        </p:scale>
        <p:origin x="1038" y="30"/>
      </p:cViewPr>
      <p:guideLst>
        <p:guide orient="horz" pos="2160"/>
        <p:guide pos="3840"/>
      </p:guideLst>
    </p:cSldViewPr>
  </p:slideViewPr>
  <p:notesTextViewPr>
    <p:cViewPr>
      <p:scale>
        <a:sx n="1" d="1"/>
        <a:sy n="1" d="1"/>
      </p:scale>
      <p:origin x="0" y="0"/>
    </p:cViewPr>
  </p:notesTextViewPr>
  <p:notesViewPr>
    <p:cSldViewPr snapToGrid="0" showGuides="1">
      <p:cViewPr varScale="1">
        <p:scale>
          <a:sx n="71" d="100"/>
          <a:sy n="71" d="100"/>
        </p:scale>
        <p:origin x="2299" y="29"/>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55" Type="http://schemas.openxmlformats.org/officeDocument/2006/relationships/slide" Target="slides/slide48.xml"/><Relationship Id="rId63" Type="http://schemas.openxmlformats.org/officeDocument/2006/relationships/theme" Target="theme/theme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5" Type="http://schemas.openxmlformats.org/officeDocument/2006/relationships/slideMaster" Target="slideMasters/slideMaster5.xml"/><Relationship Id="rId61" Type="http://schemas.openxmlformats.org/officeDocument/2006/relationships/presProps" Target="presProps.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tableStyles" Target="tableStyles.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slideMaster" Target="slideMasters/slideMaster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notesMaster" Target="notesMasters/notesMaster1.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handoutMaster" Target="handoutMasters/handoutMaster1.xml"/><Relationship Id="rId4" Type="http://schemas.openxmlformats.org/officeDocument/2006/relationships/slideMaster" Target="slideMasters/slideMaster4.xml"/><Relationship Id="rId9" Type="http://schemas.openxmlformats.org/officeDocument/2006/relationships/slide" Target="slides/slide2.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6"/>
    </mc:Choice>
    <mc:Fallback>
      <c:style val="6"/>
    </mc:Fallback>
  </mc:AlternateContent>
  <c:chart>
    <c:title>
      <c:tx>
        <c:rich>
          <a:bodyPr rot="0" spcFirstLastPara="1" vertOverflow="ellipsis" vert="horz" wrap="square" anchor="ctr" anchorCtr="1"/>
          <a:lstStyle/>
          <a:p>
            <a:pPr>
              <a:defRPr sz="2200" b="1" i="0" u="none" strike="noStrike" kern="1200" baseline="0">
                <a:solidFill>
                  <a:schemeClr val="dk1">
                    <a:lumMod val="65000"/>
                    <a:lumOff val="35000"/>
                  </a:schemeClr>
                </a:solidFill>
                <a:latin typeface="+mn-lt"/>
                <a:ea typeface="+mn-ea"/>
                <a:cs typeface="+mn-cs"/>
              </a:defRPr>
            </a:pPr>
            <a:r>
              <a:rPr lang="en-US" sz="2000" b="1" dirty="0"/>
              <a:t>Attack Type Distribution</a:t>
            </a:r>
          </a:p>
        </c:rich>
      </c:tx>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65000"/>
                  <a:lumOff val="35000"/>
                </a:schemeClr>
              </a:solidFill>
              <a:latin typeface="+mn-lt"/>
              <a:ea typeface="+mn-ea"/>
              <a:cs typeface="+mn-cs"/>
            </a:defRPr>
          </a:pPr>
          <a:endParaRPr lang="en-US"/>
        </a:p>
      </c:txPr>
    </c:title>
    <c:autoTitleDeleted val="0"/>
    <c:plotArea>
      <c:layout>
        <c:manualLayout>
          <c:layoutTarget val="inner"/>
          <c:xMode val="edge"/>
          <c:yMode val="edge"/>
          <c:x val="0.36191792557190045"/>
          <c:y val="0.13580984513866631"/>
          <c:w val="0.27616399337981556"/>
          <c:h val="0.43034389590403294"/>
        </c:manualLayout>
      </c:layout>
      <c:pieChart>
        <c:varyColors val="1"/>
        <c:ser>
          <c:idx val="0"/>
          <c:order val="0"/>
          <c:tx>
            <c:strRef>
              <c:f>Sheet1!$B$1</c:f>
              <c:strCache>
                <c:ptCount val="1"/>
                <c:pt idx="0">
                  <c:v>Sales</c:v>
                </c:pt>
              </c:strCache>
            </c:strRef>
          </c:tx>
          <c:explosion val="3"/>
          <c:dPt>
            <c:idx val="0"/>
            <c:bubble3D val="0"/>
            <c:spPr>
              <a:solidFill>
                <a:schemeClr val="accent4">
                  <a:shade val="5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1-584B-4470-9EB8-07B9AF64E827}"/>
              </c:ext>
            </c:extLst>
          </c:dPt>
          <c:dPt>
            <c:idx val="1"/>
            <c:bubble3D val="0"/>
            <c:spPr>
              <a:solidFill>
                <a:schemeClr val="accent4">
                  <a:shade val="7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3-584B-4470-9EB8-07B9AF64E827}"/>
              </c:ext>
            </c:extLst>
          </c:dPt>
          <c:dPt>
            <c:idx val="2"/>
            <c:bubble3D val="0"/>
            <c:spPr>
              <a:solidFill>
                <a:schemeClr val="accent4">
                  <a:shade val="9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5-584B-4470-9EB8-07B9AF64E827}"/>
              </c:ext>
            </c:extLst>
          </c:dPt>
          <c:dPt>
            <c:idx val="3"/>
            <c:bubble3D val="0"/>
            <c:spPr>
              <a:solidFill>
                <a:schemeClr val="accent4">
                  <a:tint val="9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7-584B-4470-9EB8-07B9AF64E827}"/>
              </c:ext>
            </c:extLst>
          </c:dPt>
          <c:dPt>
            <c:idx val="4"/>
            <c:bubble3D val="0"/>
            <c:spPr>
              <a:solidFill>
                <a:schemeClr val="accent4">
                  <a:tint val="7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9-584B-4470-9EB8-07B9AF64E827}"/>
              </c:ext>
            </c:extLst>
          </c:dPt>
          <c:dPt>
            <c:idx val="5"/>
            <c:bubble3D val="0"/>
            <c:spPr>
              <a:solidFill>
                <a:schemeClr val="accent4">
                  <a:tint val="50000"/>
                </a:schemeClr>
              </a:solidFill>
              <a:ln>
                <a:noFill/>
              </a:ln>
              <a:effectLst>
                <a:outerShdw blurRad="317500" algn="ctr" rotWithShape="0">
                  <a:prstClr val="black">
                    <a:alpha val="25000"/>
                  </a:prstClr>
                </a:outerShdw>
              </a:effectLst>
            </c:spPr>
            <c:extLst>
              <c:ext xmlns:c16="http://schemas.microsoft.com/office/drawing/2014/chart" uri="{C3380CC4-5D6E-409C-BE32-E72D297353CC}">
                <c16:uniqueId val="{0000000B-584B-4470-9EB8-07B9AF64E827}"/>
              </c:ext>
            </c:extLst>
          </c:dPt>
          <c:dLbls>
            <c:dLbl>
              <c:idx val="3"/>
              <c:layout>
                <c:manualLayout>
                  <c:x val="2.8938352836549937E-2"/>
                  <c:y val="0.12546823148836619"/>
                </c:manualLayout>
              </c:layout>
              <c:dLblPos val="bestFit"/>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7-584B-4470-9EB8-07B9AF64E827}"/>
                </c:ext>
              </c:extLst>
            </c:dLbl>
            <c:dLbl>
              <c:idx val="4"/>
              <c:layout>
                <c:manualLayout>
                  <c:x val="1.4998962195139964E-2"/>
                  <c:y val="5.2210551716669072E-2"/>
                </c:manualLayout>
              </c:layout>
              <c:tx>
                <c:rich>
                  <a:bodyPr/>
                  <a:lstStyle/>
                  <a:p>
                    <a:r>
                      <a:rPr lang="en-US" dirty="0"/>
                      <a:t>2.99%</a:t>
                    </a:r>
                  </a:p>
                </c:rich>
              </c:tx>
              <c:dLblPos val="bestFit"/>
              <c:showLegendKey val="0"/>
              <c:showVal val="0"/>
              <c:showCatName val="0"/>
              <c:showSerName val="0"/>
              <c:showPercent val="1"/>
              <c:showBubbleSize val="0"/>
              <c:extLst>
                <c:ext xmlns:c15="http://schemas.microsoft.com/office/drawing/2012/chart" uri="{CE6537A1-D6FC-4f65-9D91-7224C49458BB}">
                  <c15:showDataLabelsRange val="0"/>
                </c:ext>
                <c:ext xmlns:c16="http://schemas.microsoft.com/office/drawing/2014/chart" uri="{C3380CC4-5D6E-409C-BE32-E72D297353CC}">
                  <c16:uniqueId val="{00000009-584B-4470-9EB8-07B9AF64E827}"/>
                </c:ext>
              </c:extLst>
            </c:dLbl>
            <c:dLbl>
              <c:idx val="5"/>
              <c:layout>
                <c:manualLayout>
                  <c:x val="6.124199199452094E-2"/>
                  <c:y val="9.2278156820873855E-2"/>
                </c:manualLayout>
              </c:layout>
              <c:tx>
                <c:rich>
                  <a:bodyPr rot="0" spcFirstLastPara="1" vertOverflow="ellipsis" vert="horz" wrap="square" lIns="38100" tIns="19050" rIns="38100" bIns="19050" anchor="ctr" anchorCtr="1">
                    <a:spAutoFit/>
                  </a:bodyPr>
                  <a:lstStyle/>
                  <a:p>
                    <a:pPr rtl="0">
                      <a:defRPr sz="1197" b="1" i="0" u="none" strike="noStrike" kern="1200" baseline="0">
                        <a:solidFill>
                          <a:schemeClr val="lt1"/>
                        </a:solidFill>
                        <a:latin typeface="+mn-lt"/>
                        <a:ea typeface="+mn-ea"/>
                        <a:cs typeface="+mn-cs"/>
                      </a:defRPr>
                    </a:pPr>
                    <a:r>
                      <a:rPr lang="en-US" dirty="0"/>
                      <a:t>&lt; 0.01</a:t>
                    </a:r>
                    <a:r>
                      <a:rPr lang="en-US" sz="1000" b="1" i="0" u="none" strike="noStrike" kern="1200" baseline="0" dirty="0">
                        <a:solidFill>
                          <a:srgbClr val="FFFFFF"/>
                        </a:solidFill>
                      </a:rPr>
                      <a:t>%</a:t>
                    </a:r>
                    <a:r>
                      <a:rPr lang="en-US" dirty="0"/>
                      <a:t> </a:t>
                    </a:r>
                  </a:p>
                </c:rich>
              </c:tx>
              <c:spPr>
                <a:solidFill>
                  <a:schemeClr val="tx1">
                    <a:lumMod val="75000"/>
                  </a:schemeClr>
                </a:solidFill>
                <a:ln>
                  <a:noFill/>
                </a:ln>
                <a:effectLst/>
              </c:spPr>
              <c:txPr>
                <a:bodyPr rot="0" spcFirstLastPara="1" vertOverflow="ellipsis" vert="horz" wrap="square" lIns="38100" tIns="19050" rIns="38100" bIns="19050" anchor="ctr" anchorCtr="1">
                  <a:spAutoFit/>
                </a:bodyPr>
                <a:lstStyle/>
                <a:p>
                  <a:pPr rtl="0">
                    <a:defRPr sz="1197" b="1" i="0" u="none" strike="noStrike" kern="1200" baseline="0">
                      <a:solidFill>
                        <a:schemeClr val="lt1"/>
                      </a:solidFill>
                      <a:latin typeface="+mn-lt"/>
                      <a:ea typeface="+mn-ea"/>
                      <a:cs typeface="+mn-cs"/>
                    </a:defRPr>
                  </a:pPr>
                  <a:endParaRPr lang="de-DE"/>
                </a:p>
              </c:txPr>
              <c:dLblPos val="bestFit"/>
              <c:showLegendKey val="0"/>
              <c:showVal val="0"/>
              <c:showCatName val="0"/>
              <c:showSerName val="0"/>
              <c:showPercent val="1"/>
              <c:showBubbleSize val="0"/>
              <c:extLst>
                <c:ext xmlns:c15="http://schemas.microsoft.com/office/drawing/2012/chart" uri="{CE6537A1-D6FC-4f65-9D91-7224C49458BB}">
                  <c15:showDataLabelsRange val="0"/>
                </c:ext>
                <c:ext xmlns:c16="http://schemas.microsoft.com/office/drawing/2014/chart" uri="{C3380CC4-5D6E-409C-BE32-E72D297353CC}">
                  <c16:uniqueId val="{0000000B-584B-4470-9EB8-07B9AF64E827}"/>
                </c:ext>
              </c:extLst>
            </c:dLbl>
            <c:spPr>
              <a:solidFill>
                <a:schemeClr val="tx1">
                  <a:lumMod val="75000"/>
                </a:schemeClr>
              </a:solid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lt1"/>
                    </a:solidFill>
                    <a:latin typeface="+mn-lt"/>
                    <a:ea typeface="+mn-ea"/>
                    <a:cs typeface="+mn-cs"/>
                  </a:defRPr>
                </a:pPr>
                <a:endParaRPr lang="de-DE"/>
              </a:p>
            </c:txPr>
            <c:dLblPos val="inEnd"/>
            <c:showLegendKey val="0"/>
            <c:showVal val="0"/>
            <c:showCatName val="0"/>
            <c:showSerName val="0"/>
            <c:showPercent val="1"/>
            <c:showBubbleSize val="0"/>
            <c:showLeaderLines val="1"/>
            <c:leaderLines>
              <c:spPr>
                <a:ln w="9525" cap="flat" cmpd="sng" algn="ctr">
                  <a:solidFill>
                    <a:schemeClr val="dk1">
                      <a:lumMod val="35000"/>
                      <a:lumOff val="65000"/>
                    </a:schemeClr>
                  </a:solidFill>
                  <a:round/>
                </a:ln>
                <a:effectLst/>
              </c:spPr>
            </c:leaderLines>
            <c:extLst>
              <c:ext xmlns:c15="http://schemas.microsoft.com/office/drawing/2012/chart" uri="{CE6537A1-D6FC-4f65-9D91-7224C49458BB}"/>
            </c:extLst>
          </c:dLbls>
          <c:cat>
            <c:strRef>
              <c:f>Sheet1!$A$2:$A$7</c:f>
              <c:strCache>
                <c:ptCount val="6"/>
                <c:pt idx="0">
                  <c:v>WaterTankOn/Off (Flooding)</c:v>
                </c:pt>
                <c:pt idx="1">
                  <c:v>ConveyorBeltOn/Off (Flooding)</c:v>
                </c:pt>
                <c:pt idx="2">
                  <c:v>ReactorOn/Off (Flooding)</c:v>
                </c:pt>
                <c:pt idx="3">
                  <c:v>ConveyorBeltChangeDirection (Flooding)</c:v>
                </c:pt>
                <c:pt idx="4">
                  <c:v>ChangeThreshold (Flooding)</c:v>
                </c:pt>
                <c:pt idx="5">
                  <c:v>Rare attacks (EmergencyStop, GlobalReset, ConveyorBeltReset)</c:v>
                </c:pt>
              </c:strCache>
            </c:strRef>
          </c:cat>
          <c:val>
            <c:numRef>
              <c:f>Sheet1!$B$2:$B$7</c:f>
              <c:numCache>
                <c:formatCode>0.00%</c:formatCode>
                <c:ptCount val="6"/>
                <c:pt idx="0">
                  <c:v>0.46700000000000003</c:v>
                </c:pt>
                <c:pt idx="1">
                  <c:v>0.26300000000000001</c:v>
                </c:pt>
                <c:pt idx="2">
                  <c:v>0.20799999999999999</c:v>
                </c:pt>
                <c:pt idx="3">
                  <c:v>3.3000000000000002E-2</c:v>
                </c:pt>
                <c:pt idx="4">
                  <c:v>2.9000000000000001E-2</c:v>
                </c:pt>
                <c:pt idx="5">
                  <c:v>1E-4</c:v>
                </c:pt>
              </c:numCache>
            </c:numRef>
          </c:val>
          <c:extLst>
            <c:ext xmlns:c16="http://schemas.microsoft.com/office/drawing/2014/chart" uri="{C3380CC4-5D6E-409C-BE32-E72D297353CC}">
              <c16:uniqueId val="{0000000C-584B-4470-9EB8-07B9AF64E827}"/>
            </c:ext>
          </c:extLst>
        </c:ser>
        <c:dLbls>
          <c:dLblPos val="inEnd"/>
          <c:showLegendKey val="0"/>
          <c:showVal val="0"/>
          <c:showCatName val="0"/>
          <c:showSerName val="0"/>
          <c:showPercent val="1"/>
          <c:showBubbleSize val="0"/>
          <c:showLeaderLines val="1"/>
        </c:dLbls>
        <c:firstSliceAng val="0"/>
      </c:pieChart>
      <c:spPr>
        <a:noFill/>
        <a:ln>
          <a:noFill/>
        </a:ln>
        <a:effectLst/>
      </c:spPr>
    </c:plotArea>
    <c:legend>
      <c:legendPos val="b"/>
      <c:overlay val="0"/>
      <c:spPr>
        <a:solidFill>
          <a:schemeClr val="lt1">
            <a:alpha val="78000"/>
          </a:schemeClr>
        </a:solidFill>
        <a:ln>
          <a:noFill/>
        </a:ln>
        <a:effectLst/>
      </c:spPr>
      <c:txPr>
        <a:bodyPr rot="0" spcFirstLastPara="1" vertOverflow="ellipsis" vert="horz" wrap="square" anchor="ctr" anchorCtr="1"/>
        <a:lstStyle/>
        <a:p>
          <a:pPr>
            <a:defRPr sz="1197" b="0" i="0" u="none" strike="noStrike" kern="1200" baseline="0">
              <a:solidFill>
                <a:schemeClr val="dk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r>
              <a:rPr lang="en-US" b="1" dirty="0"/>
              <a:t>Class Distribution</a:t>
            </a:r>
          </a:p>
        </c:rich>
      </c:tx>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de-DE"/>
        </a:p>
      </c:txPr>
    </c:title>
    <c:autoTitleDeleted val="0"/>
    <c:plotArea>
      <c:layout>
        <c:manualLayout>
          <c:layoutTarget val="inner"/>
          <c:xMode val="edge"/>
          <c:yMode val="edge"/>
          <c:x val="0.27273084970978406"/>
          <c:y val="0.17117232643210711"/>
          <c:w val="0.42646523753756183"/>
          <c:h val="0.65449359966645604"/>
        </c:manualLayout>
      </c:layout>
      <c:pieChart>
        <c:varyColors val="1"/>
        <c:ser>
          <c:idx val="0"/>
          <c:order val="0"/>
          <c:tx>
            <c:strRef>
              <c:f>Sheet1!$B$1</c:f>
              <c:strCache>
                <c:ptCount val="1"/>
                <c:pt idx="0">
                  <c:v>Packet Type</c:v>
                </c:pt>
              </c:strCache>
            </c:strRef>
          </c:tx>
          <c:spPr>
            <a:solidFill>
              <a:schemeClr val="accent4"/>
            </a:solidFill>
          </c:spPr>
          <c:explosion val="1"/>
          <c:dPt>
            <c:idx val="0"/>
            <c:bubble3D val="0"/>
            <c:spPr>
              <a:solidFill>
                <a:schemeClr val="accent4"/>
              </a:solidFill>
              <a:ln w="19050">
                <a:solidFill>
                  <a:schemeClr val="lt1"/>
                </a:solidFill>
              </a:ln>
              <a:effectLst/>
            </c:spPr>
            <c:extLst>
              <c:ext xmlns:c16="http://schemas.microsoft.com/office/drawing/2014/chart" uri="{C3380CC4-5D6E-409C-BE32-E72D297353CC}">
                <c16:uniqueId val="{00000001-642E-45E6-A5AE-DB3405140243}"/>
              </c:ext>
            </c:extLst>
          </c:dPt>
          <c:dPt>
            <c:idx val="1"/>
            <c:bubble3D val="0"/>
            <c:spPr>
              <a:solidFill>
                <a:schemeClr val="bg2"/>
              </a:solidFill>
              <a:ln w="19050">
                <a:solidFill>
                  <a:schemeClr val="lt1"/>
                </a:solidFill>
              </a:ln>
              <a:effectLst/>
            </c:spPr>
            <c:extLst>
              <c:ext xmlns:c16="http://schemas.microsoft.com/office/drawing/2014/chart" uri="{C3380CC4-5D6E-409C-BE32-E72D297353CC}">
                <c16:uniqueId val="{00000003-642E-45E6-A5AE-DB3405140243}"/>
              </c:ext>
            </c:extLst>
          </c:dPt>
          <c:cat>
            <c:strRef>
              <c:f>Sheet1!$A$2:$A$3</c:f>
              <c:strCache>
                <c:ptCount val="2"/>
                <c:pt idx="0">
                  <c:v>Attack (85%)</c:v>
                </c:pt>
                <c:pt idx="1">
                  <c:v>Benign (15 %)</c:v>
                </c:pt>
              </c:strCache>
            </c:strRef>
          </c:cat>
          <c:val>
            <c:numRef>
              <c:f>Sheet1!$B$2:$B$3</c:f>
              <c:numCache>
                <c:formatCode>General</c:formatCode>
                <c:ptCount val="2"/>
                <c:pt idx="0">
                  <c:v>85.1</c:v>
                </c:pt>
                <c:pt idx="1">
                  <c:v>14.9</c:v>
                </c:pt>
              </c:numCache>
            </c:numRef>
          </c:val>
          <c:extLst>
            <c:ext xmlns:c16="http://schemas.microsoft.com/office/drawing/2014/chart" uri="{C3380CC4-5D6E-409C-BE32-E72D297353CC}">
              <c16:uniqueId val="{00000004-642E-45E6-A5AE-DB3405140243}"/>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olors1.xml><?xml version="1.0" encoding="utf-8"?>
<cs:colorStyle xmlns:cs="http://schemas.microsoft.com/office/drawing/2012/chartStyle" xmlns:a="http://schemas.openxmlformats.org/drawingml/2006/main" meth="withinLinear" id="17">
  <a:schemeClr val="accent4"/>
</cs:colorStyle>
</file>

<file path=ppt/charts/colors2.xml><?xml version="1.0" encoding="utf-8"?>
<cs:colorStyle xmlns:cs="http://schemas.microsoft.com/office/drawing/2012/chartStyle" xmlns:a="http://schemas.openxmlformats.org/drawingml/2006/main" meth="cycle" id="12">
  <a:schemeClr val="accent2"/>
  <a:schemeClr val="accent4"/>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1">
  <cs:axisTitle>
    <cs:lnRef idx="0"/>
    <cs:fillRef idx="0"/>
    <cs:effectRef idx="0"/>
    <cs:fontRef idx="minor">
      <a:schemeClr val="dk1">
        <a:lumMod val="65000"/>
        <a:lumOff val="35000"/>
      </a:schemeClr>
    </cs:fontRef>
    <cs:defRPr sz="1197" kern="1200"/>
  </cs:axisTitle>
  <cs:categoryAxis>
    <cs:lnRef idx="0"/>
    <cs:fillRef idx="0"/>
    <cs:effectRef idx="0"/>
    <cs:fontRef idx="minor">
      <a:schemeClr val="dk1">
        <a:lumMod val="65000"/>
        <a:lumOff val="35000"/>
      </a:schemeClr>
    </cs:fontRef>
    <cs:defRPr sz="1197" kern="1200"/>
  </cs:categoryAxis>
  <cs:chartArea>
    <cs:lnRef idx="0"/>
    <cs:fillRef idx="0"/>
    <cs:effectRef idx="0"/>
    <cs:fontRef idx="minor">
      <a:schemeClr val="dk1"/>
    </cs:fontRef>
    <cs:spPr>
      <a:pattFill prst="dkDnDiag">
        <a:fgClr>
          <a:schemeClr val="lt1">
            <a:lumMod val="95000"/>
          </a:schemeClr>
        </a:fgClr>
        <a:bgClr>
          <a:schemeClr val="lt1"/>
        </a:bgClr>
      </a:pattFill>
      <a:ln w="9525" cap="flat" cmpd="sng" algn="ctr">
        <a:solidFill>
          <a:schemeClr val="dk1">
            <a:lumMod val="15000"/>
            <a:lumOff val="85000"/>
          </a:schemeClr>
        </a:solidFill>
        <a:round/>
      </a:ln>
    </cs:spPr>
    <cs:defRPr sz="1197" kern="1200"/>
  </cs:chartArea>
  <cs:dataLabel>
    <cs:lnRef idx="0"/>
    <cs:fillRef idx="0"/>
    <cs:effectRef idx="0"/>
    <cs:fontRef idx="minor">
      <a:schemeClr val="lt1"/>
    </cs:fontRef>
    <cs:defRPr sz="1197" b="1" i="0" u="none" strike="noStrike" kern="1200" baseline="0"/>
  </cs:dataLabel>
  <cs:dataLabelCallout>
    <cs:lnRef idx="0"/>
    <cs:fillRef idx="0"/>
    <cs:effectRef idx="0"/>
    <cs:fontRef idx="minor">
      <a:schemeClr val="dk1">
        <a:lumMod val="65000"/>
        <a:lumOff val="35000"/>
      </a:schemeClr>
    </cs:fontRef>
    <cs:spPr>
      <a:solidFill>
        <a:schemeClr val="lt1">
          <a:alpha val="75000"/>
        </a:schemeClr>
      </a:solidFill>
      <a:ln w="9525">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317500" algn="ctr" rotWithShape="0">
          <a:prstClr val="black">
            <a:alpha val="25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20000"/>
          </a:prstClr>
        </a:outerShdw>
      </a:effectLst>
      <a:scene3d>
        <a:camera prst="orthographicFront"/>
        <a:lightRig rig="threePt" dir="t"/>
      </a:scene3d>
      <a:sp3d prstMaterial="matte"/>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65000"/>
        <a:lumOff val="35000"/>
      </a:schemeClr>
    </cs:fontRef>
    <cs:spPr>
      <a:noFill/>
      <a:ln w="9525" cap="flat" cmpd="sng" algn="ctr">
        <a:solidFill>
          <a:schemeClr val="dk1">
            <a:lumMod val="15000"/>
            <a:lumOff val="85000"/>
          </a:schemeClr>
        </a:solidFill>
        <a:round/>
      </a:ln>
    </cs:spPr>
    <cs:defRPr sz="1197" kern="1200"/>
  </cs:dataTable>
  <cs:downBar>
    <cs:lnRef idx="0"/>
    <cs:fillRef idx="0"/>
    <cs:effectRef idx="0"/>
    <cs:fontRef idx="minor">
      <a:schemeClr val="dk1"/>
    </cs:fontRef>
    <cs:spPr>
      <a:solidFill>
        <a:schemeClr val="dk1">
          <a:lumMod val="75000"/>
          <a:lumOff val="25000"/>
        </a:schemeClr>
      </a:solidFill>
      <a:ln w="9525" cap="flat" cmpd="sng" algn="ctr">
        <a:solidFill>
          <a:schemeClr val="dk1">
            <a:lumMod val="65000"/>
            <a:lumOff val="35000"/>
          </a:schemeClr>
        </a:solidFill>
        <a:round/>
      </a:ln>
    </cs:spPr>
  </cs:downBar>
  <cs:dropLine>
    <cs:lnRef idx="0"/>
    <cs:fillRef idx="0"/>
    <cs:effectRef idx="0"/>
    <cs:fontRef idx="minor">
      <a:schemeClr val="dk1"/>
    </cs:fontRef>
    <cs:spPr>
      <a:ln w="9525" cap="flat" cmpd="sng" algn="ctr">
        <a:solidFill>
          <a:schemeClr val="dk1">
            <a:lumMod val="35000"/>
            <a:lumOff val="65000"/>
          </a:schemeClr>
        </a:solidFill>
        <a:round/>
      </a:ln>
    </cs:spPr>
  </cs:dropLine>
  <cs:errorBar>
    <cs:lnRef idx="0"/>
    <cs:fillRef idx="0"/>
    <cs:effectRef idx="0"/>
    <cs:fontRef idx="minor">
      <a:schemeClr val="dk1"/>
    </cs:fontRef>
    <cs:spPr>
      <a:ln w="9525" cap="flat" cmpd="sng" algn="ctr">
        <a:solidFill>
          <a:schemeClr val="dk1">
            <a:lumMod val="65000"/>
            <a:lumOff val="35000"/>
          </a:schemeClr>
        </a:solidFill>
        <a:round/>
      </a:ln>
    </cs:spPr>
  </cs:errorBar>
  <cs:floor>
    <cs:lnRef idx="0"/>
    <cs:fillRef idx="0"/>
    <cs:effectRef idx="0"/>
    <cs:fontRef idx="minor">
      <a:schemeClr val="dk1"/>
    </cs:fontRef>
    <cs:spPr>
      <a:noFill/>
      <a:ln>
        <a:noFill/>
      </a:ln>
    </cs:spPr>
  </cs:floor>
  <cs:gridlineMajor>
    <cs:lnRef idx="0"/>
    <cs:fillRef idx="0"/>
    <cs:effectRef idx="0"/>
    <cs:fontRef idx="minor">
      <a:schemeClr val="dk1"/>
    </cs:fontRef>
    <cs:spPr>
      <a:ln w="9525" cap="flat" cmpd="sng" algn="ctr">
        <a:solidFill>
          <a:schemeClr val="dk1">
            <a:lumMod val="15000"/>
            <a:lumOff val="85000"/>
          </a:schemeClr>
        </a:solidFill>
        <a:round/>
      </a:ln>
    </cs:spPr>
  </cs:gridlineMajor>
  <cs:gridlineMinor>
    <cs:lnRef idx="0"/>
    <cs:fillRef idx="0"/>
    <cs:effectRef idx="0"/>
    <cs:fontRef idx="minor">
      <a:schemeClr val="dk1"/>
    </cs:fontRef>
    <cs:spPr>
      <a:ln w="9525" cap="flat" cmpd="sng" algn="ctr">
        <a:solidFill>
          <a:schemeClr val="dk1">
            <a:lumMod val="5000"/>
            <a:lumOff val="95000"/>
          </a:schemeClr>
        </a:solidFill>
        <a:round/>
      </a:ln>
    </cs:spPr>
  </cs:gridlineMinor>
  <cs:hiLoLine>
    <cs:lnRef idx="0"/>
    <cs:fillRef idx="0"/>
    <cs:effectRef idx="0"/>
    <cs:fontRef idx="minor">
      <a:schemeClr val="dk1"/>
    </cs:fontRef>
    <cs:spPr>
      <a:ln w="9525" cap="flat" cmpd="sng" algn="ctr">
        <a:solidFill>
          <a:schemeClr val="dk1">
            <a:lumMod val="50000"/>
            <a:lumOff val="50000"/>
          </a:schemeClr>
        </a:solidFill>
        <a:round/>
      </a:ln>
    </cs:spPr>
  </cs:hiLoLine>
  <cs:leaderLine>
    <cs:lnRef idx="0"/>
    <cs:fillRef idx="0"/>
    <cs:effectRef idx="0"/>
    <cs:fontRef idx="minor">
      <a:schemeClr val="dk1"/>
    </cs:fontRef>
    <cs:spPr>
      <a:ln w="9525" cap="flat" cmpd="sng" algn="ctr">
        <a:solidFill>
          <a:schemeClr val="dk1">
            <a:lumMod val="35000"/>
            <a:lumOff val="65000"/>
          </a:schemeClr>
        </a:solidFill>
        <a:round/>
      </a:ln>
    </cs:spPr>
  </cs:leaderLine>
  <cs:legend>
    <cs:lnRef idx="0"/>
    <cs:fillRef idx="0"/>
    <cs:effectRef idx="0"/>
    <cs:fontRef idx="minor">
      <a:schemeClr val="dk1">
        <a:lumMod val="65000"/>
        <a:lumOff val="35000"/>
      </a:schemeClr>
    </cs:fontRef>
    <cs:spPr>
      <a:solidFill>
        <a:schemeClr val="lt1">
          <a:alpha val="78000"/>
        </a:schemeClr>
      </a:solidFill>
    </cs:spPr>
    <cs:defRPr sz="1197"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dk1">
        <a:lumMod val="65000"/>
        <a:lumOff val="35000"/>
      </a:schemeClr>
    </cs:fontRef>
    <cs:defRPr sz="1197" kern="1200"/>
  </cs:seriesAxis>
  <cs:seriesLine>
    <cs:lnRef idx="0"/>
    <cs:fillRef idx="0"/>
    <cs:effectRef idx="0"/>
    <cs:fontRef idx="minor">
      <a:schemeClr val="dk1"/>
    </cs:fontRef>
    <cs:spPr>
      <a:ln w="9525" cap="flat" cmpd="sng" algn="ctr">
        <a:solidFill>
          <a:schemeClr val="dk1">
            <a:lumMod val="35000"/>
            <a:lumOff val="65000"/>
          </a:schemeClr>
        </a:solidFill>
        <a:round/>
      </a:ln>
    </cs:spPr>
  </cs:seriesLine>
  <cs:title>
    <cs:lnRef idx="0"/>
    <cs:fillRef idx="0"/>
    <cs:effectRef idx="0"/>
    <cs:fontRef idx="minor">
      <a:schemeClr val="dk1">
        <a:lumMod val="65000"/>
        <a:lumOff val="35000"/>
      </a:schemeClr>
    </cs:fontRef>
    <cs:defRPr sz="2200" b="1" kern="1200" baseline="0"/>
  </cs:title>
  <cs:trendline>
    <cs:lnRef idx="0">
      <cs:styleClr val="auto"/>
    </cs:lnRef>
    <cs:fillRef idx="0"/>
    <cs:effectRef idx="0"/>
    <cs:fontRef idx="minor">
      <a:schemeClr val="dk1"/>
    </cs:fontRef>
    <cs:spPr>
      <a:ln w="19050" cap="rnd">
        <a:solidFill>
          <a:schemeClr val="phClr"/>
        </a:solidFill>
        <a:prstDash val="sysDash"/>
      </a:ln>
    </cs:spPr>
  </cs:trendline>
  <cs:trendlineLabel>
    <cs:lnRef idx="0"/>
    <cs:fillRef idx="0"/>
    <cs:effectRef idx="0"/>
    <cs:fontRef idx="minor">
      <a:schemeClr val="dk1">
        <a:lumMod val="65000"/>
        <a:lumOff val="35000"/>
      </a:schemeClr>
    </cs:fontRef>
    <cs:defRPr sz="1197" kern="1200"/>
  </cs:trendlineLabel>
  <cs:upBar>
    <cs:lnRef idx="0"/>
    <cs:fillRef idx="0"/>
    <cs:effectRef idx="0"/>
    <cs:fontRef idx="minor">
      <a:schemeClr val="dk1"/>
    </cs:fontRef>
    <cs:spPr>
      <a:solidFill>
        <a:schemeClr val="lt1"/>
      </a:solidFill>
      <a:ln w="9525" cap="flat" cmpd="sng" algn="ctr">
        <a:solidFill>
          <a:schemeClr val="dk1">
            <a:lumMod val="65000"/>
            <a:lumOff val="35000"/>
          </a:schemeClr>
        </a:solidFill>
        <a:round/>
      </a:ln>
    </cs:spPr>
  </cs:upBar>
  <cs:valueAxis>
    <cs:lnRef idx="0"/>
    <cs:fillRef idx="0"/>
    <cs:effectRef idx="0"/>
    <cs:fontRef idx="minor">
      <a:schemeClr val="dk1">
        <a:lumMod val="65000"/>
        <a:lumOff val="35000"/>
      </a:schemeClr>
    </cs:fontRef>
    <cs:defRPr sz="1197" kern="1200"/>
  </cs:valueAxis>
  <cs:wall>
    <cs:lnRef idx="0"/>
    <cs:fillRef idx="0"/>
    <cs:effectRef idx="0"/>
    <cs:fontRef idx="minor">
      <a:schemeClr val="dk1"/>
    </cs:fontRef>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diagrams/_rels/drawing1.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svg"/><Relationship Id="rId1" Type="http://schemas.openxmlformats.org/officeDocument/2006/relationships/image" Target="../media/image5.png"/><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0624136-4DF3-4E65-A824-030C003959D6}" type="doc">
      <dgm:prSet loTypeId="urn:microsoft.com/office/officeart/2018/2/layout/IconLabelDescriptionList" loCatId="icon" qsTypeId="urn:microsoft.com/office/officeart/2005/8/quickstyle/simple1" qsCatId="simple" csTypeId="urn:microsoft.com/office/officeart/2018/5/colors/Iconchunking_neutralbg_accent1_2" csCatId="accent1" phldr="1"/>
      <dgm:spPr/>
      <dgm:t>
        <a:bodyPr/>
        <a:lstStyle/>
        <a:p>
          <a:endParaRPr lang="en-US"/>
        </a:p>
      </dgm:t>
    </dgm:pt>
    <dgm:pt modelId="{5C7334D9-487C-4EA0-BF25-5B0D5A6617BC}">
      <dgm:prSet/>
      <dgm:spPr/>
      <dgm:t>
        <a:bodyPr/>
        <a:lstStyle/>
        <a:p>
          <a:pPr>
            <a:lnSpc>
              <a:spcPct val="100000"/>
            </a:lnSpc>
            <a:defRPr b="1"/>
          </a:pPr>
          <a:r>
            <a:rPr lang="de-DE"/>
            <a:t>Provided</a:t>
          </a:r>
          <a:endParaRPr lang="en-US" dirty="0"/>
        </a:p>
      </dgm:t>
    </dgm:pt>
    <dgm:pt modelId="{581D36F8-EA6F-45F7-9BE5-D96636110B18}" type="parTrans" cxnId="{FF59E971-7E69-4D7B-A028-483A1667B482}">
      <dgm:prSet/>
      <dgm:spPr/>
      <dgm:t>
        <a:bodyPr/>
        <a:lstStyle/>
        <a:p>
          <a:endParaRPr lang="en-US"/>
        </a:p>
      </dgm:t>
    </dgm:pt>
    <dgm:pt modelId="{BF6FF711-8F7D-4DE1-AB79-ED67A51BB44A}" type="sibTrans" cxnId="{FF59E971-7E69-4D7B-A028-483A1667B482}">
      <dgm:prSet/>
      <dgm:spPr/>
      <dgm:t>
        <a:bodyPr/>
        <a:lstStyle/>
        <a:p>
          <a:endParaRPr lang="en-US"/>
        </a:p>
      </dgm:t>
    </dgm:pt>
    <dgm:pt modelId="{F98317ED-D348-4DA9-88C4-80321C3A48D1}">
      <dgm:prSet/>
      <dgm:spPr/>
      <dgm:t>
        <a:bodyPr/>
        <a:lstStyle/>
        <a:p>
          <a:pPr>
            <a:lnSpc>
              <a:spcPct val="100000"/>
            </a:lnSpc>
            <a:defRPr b="1"/>
          </a:pPr>
          <a:r>
            <a:rPr lang="de-DE"/>
            <a:t>Metadata</a:t>
          </a:r>
          <a:endParaRPr lang="en-US" dirty="0"/>
        </a:p>
      </dgm:t>
    </dgm:pt>
    <dgm:pt modelId="{B1314391-9418-4D32-A76C-CB159D4B6DAC}" type="parTrans" cxnId="{E657EDF1-013D-4E7B-BEE0-490395494CA3}">
      <dgm:prSet/>
      <dgm:spPr/>
      <dgm:t>
        <a:bodyPr/>
        <a:lstStyle/>
        <a:p>
          <a:endParaRPr lang="en-US"/>
        </a:p>
      </dgm:t>
    </dgm:pt>
    <dgm:pt modelId="{9ECE3046-40BA-42BA-88CC-FC845AEF5FD5}" type="sibTrans" cxnId="{E657EDF1-013D-4E7B-BEE0-490395494CA3}">
      <dgm:prSet/>
      <dgm:spPr/>
      <dgm:t>
        <a:bodyPr/>
        <a:lstStyle/>
        <a:p>
          <a:endParaRPr lang="en-US"/>
        </a:p>
      </dgm:t>
    </dgm:pt>
    <dgm:pt modelId="{DC8A0851-7FDE-4CC9-BC8D-CB5EB4043BA8}">
      <dgm:prSet/>
      <dgm:spPr/>
      <dgm:t>
        <a:bodyPr/>
        <a:lstStyle/>
        <a:p>
          <a:pPr>
            <a:lnSpc>
              <a:spcPct val="100000"/>
            </a:lnSpc>
            <a:defRPr b="1"/>
          </a:pPr>
          <a:r>
            <a:rPr lang="de-DE" dirty="0"/>
            <a:t>Labels</a:t>
          </a:r>
          <a:endParaRPr lang="en-US" dirty="0"/>
        </a:p>
      </dgm:t>
    </dgm:pt>
    <dgm:pt modelId="{51D8D62E-C33F-4189-B946-C6FAA5DFA9FD}" type="parTrans" cxnId="{AFADBC36-C66B-433F-BBB6-F0B2E63C98F4}">
      <dgm:prSet/>
      <dgm:spPr/>
      <dgm:t>
        <a:bodyPr/>
        <a:lstStyle/>
        <a:p>
          <a:endParaRPr lang="en-US"/>
        </a:p>
      </dgm:t>
    </dgm:pt>
    <dgm:pt modelId="{131E2B1C-1AEB-4826-9BAF-322F6A6FFF13}" type="sibTrans" cxnId="{AFADBC36-C66B-433F-BBB6-F0B2E63C98F4}">
      <dgm:prSet/>
      <dgm:spPr/>
      <dgm:t>
        <a:bodyPr/>
        <a:lstStyle/>
        <a:p>
          <a:endParaRPr lang="en-US"/>
        </a:p>
      </dgm:t>
    </dgm:pt>
    <dgm:pt modelId="{69204F2B-F213-401D-9F9C-69DEA77C812A}">
      <dgm:prSet/>
      <dgm:spPr/>
      <dgm:t>
        <a:bodyPr/>
        <a:lstStyle/>
        <a:p>
          <a:pPr>
            <a:lnSpc>
              <a:spcPct val="100000"/>
            </a:lnSpc>
            <a:defRPr b="1"/>
          </a:pPr>
          <a:r>
            <a:rPr lang="de-DE"/>
            <a:t>Raw Dataset Representation</a:t>
          </a:r>
          <a:endParaRPr lang="en-US"/>
        </a:p>
      </dgm:t>
    </dgm:pt>
    <dgm:pt modelId="{480374E6-B1E9-4F5D-BE99-F5360848C5BF}" type="parTrans" cxnId="{86E615B4-EBBD-4207-968A-F2C3365D5298}">
      <dgm:prSet/>
      <dgm:spPr/>
      <dgm:t>
        <a:bodyPr/>
        <a:lstStyle/>
        <a:p>
          <a:endParaRPr lang="en-US"/>
        </a:p>
      </dgm:t>
    </dgm:pt>
    <dgm:pt modelId="{277439CA-97BF-4B57-82A0-3ED7E6127ED2}" type="sibTrans" cxnId="{86E615B4-EBBD-4207-968A-F2C3365D5298}">
      <dgm:prSet/>
      <dgm:spPr/>
      <dgm:t>
        <a:bodyPr/>
        <a:lstStyle/>
        <a:p>
          <a:endParaRPr lang="en-US"/>
        </a:p>
      </dgm:t>
    </dgm:pt>
    <dgm:pt modelId="{5893B2F6-5857-4685-8193-1D8AE0024AC2}">
      <dgm:prSet/>
      <dgm:spPr/>
      <dgm:t>
        <a:bodyPr/>
        <a:lstStyle/>
        <a:p>
          <a:pPr>
            <a:lnSpc>
              <a:spcPct val="100000"/>
            </a:lnSpc>
          </a:pPr>
          <a:r>
            <a:rPr lang="de-DE" dirty="0"/>
            <a:t>Extract all packets</a:t>
          </a:r>
          <a:endParaRPr lang="en-US" dirty="0"/>
        </a:p>
      </dgm:t>
    </dgm:pt>
    <dgm:pt modelId="{9D34D938-A501-42F4-80E0-D36D2897DB5C}" type="parTrans" cxnId="{68595602-11CE-44AB-AED2-9F3607841827}">
      <dgm:prSet/>
      <dgm:spPr/>
      <dgm:t>
        <a:bodyPr/>
        <a:lstStyle/>
        <a:p>
          <a:endParaRPr lang="en-US"/>
        </a:p>
      </dgm:t>
    </dgm:pt>
    <dgm:pt modelId="{276716AD-3455-4C84-8CD1-23B407C41B8E}" type="sibTrans" cxnId="{68595602-11CE-44AB-AED2-9F3607841827}">
      <dgm:prSet/>
      <dgm:spPr/>
      <dgm:t>
        <a:bodyPr/>
        <a:lstStyle/>
        <a:p>
          <a:endParaRPr lang="en-US"/>
        </a:p>
      </dgm:t>
    </dgm:pt>
    <dgm:pt modelId="{1CA17611-DBAC-40B0-B0C7-256FE2B48793}">
      <dgm:prSet/>
      <dgm:spPr/>
      <dgm:t>
        <a:bodyPr/>
        <a:lstStyle/>
        <a:p>
          <a:pPr>
            <a:lnSpc>
              <a:spcPct val="100000"/>
            </a:lnSpc>
          </a:pPr>
          <a:r>
            <a:rPr lang="de-DE" dirty="0"/>
            <a:t>Extract entire byte sequence (Ethernet, IP, TCP/UDP headers)</a:t>
          </a:r>
          <a:endParaRPr lang="en-US" dirty="0"/>
        </a:p>
      </dgm:t>
    </dgm:pt>
    <dgm:pt modelId="{65C78657-6FC8-4BC9-BE96-142ABC3A769E}" type="parTrans" cxnId="{CC8E6CF3-9C4C-43E3-8D0B-755611FBE2E7}">
      <dgm:prSet/>
      <dgm:spPr/>
      <dgm:t>
        <a:bodyPr/>
        <a:lstStyle/>
        <a:p>
          <a:endParaRPr lang="en-US"/>
        </a:p>
      </dgm:t>
    </dgm:pt>
    <dgm:pt modelId="{F34A1C73-8A3F-4984-99C0-305C7B87B022}" type="sibTrans" cxnId="{CC8E6CF3-9C4C-43E3-8D0B-755611FBE2E7}">
      <dgm:prSet/>
      <dgm:spPr/>
      <dgm:t>
        <a:bodyPr/>
        <a:lstStyle/>
        <a:p>
          <a:endParaRPr lang="en-US"/>
        </a:p>
      </dgm:t>
    </dgm:pt>
    <dgm:pt modelId="{AED7DADE-BF47-4A92-BC0C-EAF2CD54E7D2}">
      <dgm:prSet/>
      <dgm:spPr/>
      <dgm:t>
        <a:bodyPr/>
        <a:lstStyle/>
        <a:p>
          <a:pPr>
            <a:lnSpc>
              <a:spcPct val="100000"/>
            </a:lnSpc>
            <a:defRPr b="1"/>
          </a:pPr>
          <a:r>
            <a:rPr lang="de-DE"/>
            <a:t>RE Dataset Representation</a:t>
          </a:r>
          <a:endParaRPr lang="en-US"/>
        </a:p>
      </dgm:t>
    </dgm:pt>
    <dgm:pt modelId="{FE3A261E-7177-4C9D-AABB-4719FB5AB56E}" type="parTrans" cxnId="{0E1BEA20-45B5-4E4D-8360-8A4D21EEF3D1}">
      <dgm:prSet/>
      <dgm:spPr/>
      <dgm:t>
        <a:bodyPr/>
        <a:lstStyle/>
        <a:p>
          <a:endParaRPr lang="en-US"/>
        </a:p>
      </dgm:t>
    </dgm:pt>
    <dgm:pt modelId="{23729D0E-9BBC-4AE8-B718-47FEC17894D6}" type="sibTrans" cxnId="{0E1BEA20-45B5-4E4D-8360-8A4D21EEF3D1}">
      <dgm:prSet/>
      <dgm:spPr/>
      <dgm:t>
        <a:bodyPr/>
        <a:lstStyle/>
        <a:p>
          <a:endParaRPr lang="en-US"/>
        </a:p>
      </dgm:t>
    </dgm:pt>
    <dgm:pt modelId="{A7D1BF3F-3A25-4AA6-A58C-D689B316A892}">
      <dgm:prSet/>
      <dgm:spPr/>
      <dgm:t>
        <a:bodyPr/>
        <a:lstStyle/>
        <a:p>
          <a:pPr>
            <a:lnSpc>
              <a:spcPct val="100000"/>
            </a:lnSpc>
          </a:pPr>
          <a:r>
            <a:rPr lang="de-DE" dirty="0"/>
            <a:t>Filter S7Comm packets</a:t>
          </a:r>
        </a:p>
        <a:p>
          <a:pPr>
            <a:lnSpc>
              <a:spcPct val="100000"/>
            </a:lnSpc>
          </a:pPr>
          <a:r>
            <a:rPr lang="de-DE" dirty="0"/>
            <a:t>Extract S7Comm payload starting at keyword</a:t>
          </a:r>
          <a:endParaRPr lang="en-US" dirty="0"/>
        </a:p>
      </dgm:t>
    </dgm:pt>
    <dgm:pt modelId="{6B19E069-B887-47A4-AA36-16DA8B58EF15}" type="parTrans" cxnId="{8D800A23-7D44-4EA7-ACFA-351187978913}">
      <dgm:prSet/>
      <dgm:spPr/>
      <dgm:t>
        <a:bodyPr/>
        <a:lstStyle/>
        <a:p>
          <a:endParaRPr lang="en-US"/>
        </a:p>
      </dgm:t>
    </dgm:pt>
    <dgm:pt modelId="{B6BB025F-080E-46C7-867B-2D7E83CF5E29}" type="sibTrans" cxnId="{8D800A23-7D44-4EA7-ACFA-351187978913}">
      <dgm:prSet/>
      <dgm:spPr/>
      <dgm:t>
        <a:bodyPr/>
        <a:lstStyle/>
        <a:p>
          <a:endParaRPr lang="en-US"/>
        </a:p>
      </dgm:t>
    </dgm:pt>
    <dgm:pt modelId="{96D06C0F-917C-42DC-9813-3C094E8A1433}">
      <dgm:prSet/>
      <dgm:spPr/>
      <dgm:t>
        <a:bodyPr/>
        <a:lstStyle/>
        <a:p>
          <a:pPr>
            <a:lnSpc>
              <a:spcPct val="100000"/>
            </a:lnSpc>
          </a:pPr>
          <a:r>
            <a:rPr lang="de-DE"/>
            <a:t>PCAP files</a:t>
          </a:r>
          <a:endParaRPr lang="en-US" dirty="0"/>
        </a:p>
      </dgm:t>
    </dgm:pt>
    <dgm:pt modelId="{D25C9767-CEA7-4CA2-ACD3-E74CE416F613}" type="parTrans" cxnId="{F377DC05-3D8B-41F5-98B2-88129FAED25C}">
      <dgm:prSet/>
      <dgm:spPr/>
      <dgm:t>
        <a:bodyPr/>
        <a:lstStyle/>
        <a:p>
          <a:endParaRPr lang="en-US"/>
        </a:p>
      </dgm:t>
    </dgm:pt>
    <dgm:pt modelId="{4703BB48-CF5C-45CE-85B9-DDC916A31816}" type="sibTrans" cxnId="{F377DC05-3D8B-41F5-98B2-88129FAED25C}">
      <dgm:prSet/>
      <dgm:spPr/>
      <dgm:t>
        <a:bodyPr/>
        <a:lstStyle/>
        <a:p>
          <a:endParaRPr lang="en-US"/>
        </a:p>
      </dgm:t>
    </dgm:pt>
    <dgm:pt modelId="{ED2BEF17-506A-4678-BCE4-02BEA87CD707}">
      <dgm:prSet/>
      <dgm:spPr/>
      <dgm:t>
        <a:bodyPr/>
        <a:lstStyle/>
        <a:p>
          <a:pPr>
            <a:lnSpc>
              <a:spcPct val="100000"/>
            </a:lnSpc>
          </a:pPr>
          <a:r>
            <a:rPr lang="de-DE"/>
            <a:t>Timestamps</a:t>
          </a:r>
          <a:endParaRPr lang="en-US" dirty="0"/>
        </a:p>
      </dgm:t>
    </dgm:pt>
    <dgm:pt modelId="{462999B0-1F78-4314-95DF-3AA864060B6E}" type="parTrans" cxnId="{91A1759E-B272-4150-B0C0-F0D407374436}">
      <dgm:prSet/>
      <dgm:spPr/>
      <dgm:t>
        <a:bodyPr/>
        <a:lstStyle/>
        <a:p>
          <a:endParaRPr lang="en-US"/>
        </a:p>
      </dgm:t>
    </dgm:pt>
    <dgm:pt modelId="{718C07C0-AB48-460E-864D-AF4A40FE404A}" type="sibTrans" cxnId="{91A1759E-B272-4150-B0C0-F0D407374436}">
      <dgm:prSet/>
      <dgm:spPr/>
      <dgm:t>
        <a:bodyPr/>
        <a:lstStyle/>
        <a:p>
          <a:endParaRPr lang="en-US"/>
        </a:p>
      </dgm:t>
    </dgm:pt>
    <dgm:pt modelId="{CBF0ABA1-82D7-4628-8CC6-82CED43AE1F5}">
      <dgm:prSet/>
      <dgm:spPr/>
      <dgm:t>
        <a:bodyPr/>
        <a:lstStyle/>
        <a:p>
          <a:pPr>
            <a:lnSpc>
              <a:spcPct val="100000"/>
            </a:lnSpc>
          </a:pPr>
          <a:r>
            <a:rPr lang="de-DE"/>
            <a:t> IP Address</a:t>
          </a:r>
          <a:endParaRPr lang="en-US" dirty="0"/>
        </a:p>
      </dgm:t>
    </dgm:pt>
    <dgm:pt modelId="{6077D99C-2394-40C7-864D-6E473D67CAAB}" type="parTrans" cxnId="{C01681BD-DA8A-42A6-B560-00D25CAAE9FB}">
      <dgm:prSet/>
      <dgm:spPr/>
      <dgm:t>
        <a:bodyPr/>
        <a:lstStyle/>
        <a:p>
          <a:endParaRPr lang="en-US"/>
        </a:p>
      </dgm:t>
    </dgm:pt>
    <dgm:pt modelId="{0600B4A1-57CC-4C07-B71F-FFFE963F6132}" type="sibTrans" cxnId="{C01681BD-DA8A-42A6-B560-00D25CAAE9FB}">
      <dgm:prSet/>
      <dgm:spPr/>
      <dgm:t>
        <a:bodyPr/>
        <a:lstStyle/>
        <a:p>
          <a:endParaRPr lang="en-US"/>
        </a:p>
      </dgm:t>
    </dgm:pt>
    <dgm:pt modelId="{2FDA6BF0-B526-43A7-9192-0745E232A4D5}">
      <dgm:prSet/>
      <dgm:spPr/>
      <dgm:t>
        <a:bodyPr/>
        <a:lstStyle/>
        <a:p>
          <a:pPr>
            <a:lnSpc>
              <a:spcPct val="100000"/>
            </a:lnSpc>
          </a:pPr>
          <a:r>
            <a:rPr lang="de-DE"/>
            <a:t>Port Number</a:t>
          </a:r>
          <a:endParaRPr lang="en-US" dirty="0"/>
        </a:p>
      </dgm:t>
    </dgm:pt>
    <dgm:pt modelId="{18A9319D-8F64-419C-98A1-A2BC88628541}" type="parTrans" cxnId="{5751B959-E201-4964-A26C-B74B516831D7}">
      <dgm:prSet/>
      <dgm:spPr/>
      <dgm:t>
        <a:bodyPr/>
        <a:lstStyle/>
        <a:p>
          <a:endParaRPr lang="en-US"/>
        </a:p>
      </dgm:t>
    </dgm:pt>
    <dgm:pt modelId="{37AA4715-62D9-48A5-87FA-14DFC4CA7D99}" type="sibTrans" cxnId="{5751B959-E201-4964-A26C-B74B516831D7}">
      <dgm:prSet/>
      <dgm:spPr/>
      <dgm:t>
        <a:bodyPr/>
        <a:lstStyle/>
        <a:p>
          <a:endParaRPr lang="en-US"/>
        </a:p>
      </dgm:t>
    </dgm:pt>
    <dgm:pt modelId="{B237907F-E763-44ED-AC75-5C497C1C1D95}">
      <dgm:prSet/>
      <dgm:spPr/>
      <dgm:t>
        <a:bodyPr/>
        <a:lstStyle/>
        <a:p>
          <a:pPr>
            <a:lnSpc>
              <a:spcPct val="100000"/>
            </a:lnSpc>
          </a:pPr>
          <a:r>
            <a:rPr lang="en-US" dirty="0"/>
            <a:t>Benign/Attack type</a:t>
          </a:r>
        </a:p>
      </dgm:t>
    </dgm:pt>
    <dgm:pt modelId="{3038423B-4508-42BB-B8A2-61FB825D137B}" type="parTrans" cxnId="{DAC26A1E-49B7-4EE6-94A2-862EC2D67CD8}">
      <dgm:prSet/>
      <dgm:spPr/>
      <dgm:t>
        <a:bodyPr/>
        <a:lstStyle/>
        <a:p>
          <a:endParaRPr lang="en-US"/>
        </a:p>
      </dgm:t>
    </dgm:pt>
    <dgm:pt modelId="{D2DFA421-5FAB-46FD-BFA1-B4FAF13DAE31}" type="sibTrans" cxnId="{DAC26A1E-49B7-4EE6-94A2-862EC2D67CD8}">
      <dgm:prSet/>
      <dgm:spPr/>
      <dgm:t>
        <a:bodyPr/>
        <a:lstStyle/>
        <a:p>
          <a:endParaRPr lang="en-US"/>
        </a:p>
      </dgm:t>
    </dgm:pt>
    <dgm:pt modelId="{2D160F76-BB20-49FF-A046-6E5783F009F3}" type="pres">
      <dgm:prSet presAssocID="{20624136-4DF3-4E65-A824-030C003959D6}" presName="root" presStyleCnt="0">
        <dgm:presLayoutVars>
          <dgm:dir/>
          <dgm:resizeHandles val="exact"/>
        </dgm:presLayoutVars>
      </dgm:prSet>
      <dgm:spPr/>
    </dgm:pt>
    <dgm:pt modelId="{95F5CE15-797C-46AD-9ADE-7051E6C93A4A}" type="pres">
      <dgm:prSet presAssocID="{5C7334D9-487C-4EA0-BF25-5B0D5A6617BC}" presName="compNode" presStyleCnt="0"/>
      <dgm:spPr/>
    </dgm:pt>
    <dgm:pt modelId="{6E87E9E3-D75A-4C31-873A-D05E1416E913}" type="pres">
      <dgm:prSet presAssocID="{5C7334D9-487C-4EA0-BF25-5B0D5A6617BC}"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Open Folder"/>
        </a:ext>
      </dgm:extLst>
    </dgm:pt>
    <dgm:pt modelId="{D8E1BA72-410D-437A-A78F-A675212005AA}" type="pres">
      <dgm:prSet presAssocID="{5C7334D9-487C-4EA0-BF25-5B0D5A6617BC}" presName="iconSpace" presStyleCnt="0"/>
      <dgm:spPr/>
    </dgm:pt>
    <dgm:pt modelId="{671FEA7A-0D0B-4A84-BDCF-7CB0E5658922}" type="pres">
      <dgm:prSet presAssocID="{5C7334D9-487C-4EA0-BF25-5B0D5A6617BC}" presName="parTx" presStyleLbl="revTx" presStyleIdx="0" presStyleCnt="10">
        <dgm:presLayoutVars>
          <dgm:chMax val="0"/>
          <dgm:chPref val="0"/>
        </dgm:presLayoutVars>
      </dgm:prSet>
      <dgm:spPr/>
    </dgm:pt>
    <dgm:pt modelId="{310B9D25-E82B-4930-840C-4A7A000DC968}" type="pres">
      <dgm:prSet presAssocID="{5C7334D9-487C-4EA0-BF25-5B0D5A6617BC}" presName="txSpace" presStyleCnt="0"/>
      <dgm:spPr/>
    </dgm:pt>
    <dgm:pt modelId="{241E666B-B250-43E3-8EED-0D1A6A9E1AAB}" type="pres">
      <dgm:prSet presAssocID="{5C7334D9-487C-4EA0-BF25-5B0D5A6617BC}" presName="desTx" presStyleLbl="revTx" presStyleIdx="1" presStyleCnt="10">
        <dgm:presLayoutVars/>
      </dgm:prSet>
      <dgm:spPr/>
    </dgm:pt>
    <dgm:pt modelId="{460C253E-9294-472D-9DAE-D64472149B03}" type="pres">
      <dgm:prSet presAssocID="{BF6FF711-8F7D-4DE1-AB79-ED67A51BB44A}" presName="sibTrans" presStyleCnt="0"/>
      <dgm:spPr/>
    </dgm:pt>
    <dgm:pt modelId="{DD119A5A-14D8-4BC6-9DEF-442197EFE462}" type="pres">
      <dgm:prSet presAssocID="{F98317ED-D348-4DA9-88C4-80321C3A48D1}" presName="compNode" presStyleCnt="0"/>
      <dgm:spPr/>
    </dgm:pt>
    <dgm:pt modelId="{633922AA-F88A-4663-B268-BD48B99231E7}" type="pres">
      <dgm:prSet presAssocID="{F98317ED-D348-4DA9-88C4-80321C3A48D1}"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atabase"/>
        </a:ext>
      </dgm:extLst>
    </dgm:pt>
    <dgm:pt modelId="{1BE804A1-2DB2-4840-B2A9-F8EC86A2E84D}" type="pres">
      <dgm:prSet presAssocID="{F98317ED-D348-4DA9-88C4-80321C3A48D1}" presName="iconSpace" presStyleCnt="0"/>
      <dgm:spPr/>
    </dgm:pt>
    <dgm:pt modelId="{1825CE6F-46F5-4D19-85FF-559CC3CC662B}" type="pres">
      <dgm:prSet presAssocID="{F98317ED-D348-4DA9-88C4-80321C3A48D1}" presName="parTx" presStyleLbl="revTx" presStyleIdx="2" presStyleCnt="10">
        <dgm:presLayoutVars>
          <dgm:chMax val="0"/>
          <dgm:chPref val="0"/>
        </dgm:presLayoutVars>
      </dgm:prSet>
      <dgm:spPr/>
    </dgm:pt>
    <dgm:pt modelId="{8AF5BBE9-FDB7-4F34-A4F0-9A729D7F94C0}" type="pres">
      <dgm:prSet presAssocID="{F98317ED-D348-4DA9-88C4-80321C3A48D1}" presName="txSpace" presStyleCnt="0"/>
      <dgm:spPr/>
    </dgm:pt>
    <dgm:pt modelId="{742C4212-7E4C-4666-9114-A3BDA0DA3086}" type="pres">
      <dgm:prSet presAssocID="{F98317ED-D348-4DA9-88C4-80321C3A48D1}" presName="desTx" presStyleLbl="revTx" presStyleIdx="3" presStyleCnt="10">
        <dgm:presLayoutVars/>
      </dgm:prSet>
      <dgm:spPr/>
    </dgm:pt>
    <dgm:pt modelId="{5F358DFD-644A-496A-BDFC-EA690ADF18DD}" type="pres">
      <dgm:prSet presAssocID="{9ECE3046-40BA-42BA-88CC-FC845AEF5FD5}" presName="sibTrans" presStyleCnt="0"/>
      <dgm:spPr/>
    </dgm:pt>
    <dgm:pt modelId="{6C02653A-2039-4BB2-B7E5-FC99B4141B48}" type="pres">
      <dgm:prSet presAssocID="{DC8A0851-7FDE-4CC9-BC8D-CB5EB4043BA8}" presName="compNode" presStyleCnt="0"/>
      <dgm:spPr/>
    </dgm:pt>
    <dgm:pt modelId="{65AD94E5-3AF0-4800-8C1E-637E0CDB136C}" type="pres">
      <dgm:prSet presAssocID="{DC8A0851-7FDE-4CC9-BC8D-CB5EB4043BA8}"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ocument"/>
        </a:ext>
      </dgm:extLst>
    </dgm:pt>
    <dgm:pt modelId="{6866F96F-8DD7-4B33-872A-CD9C0C108EB9}" type="pres">
      <dgm:prSet presAssocID="{DC8A0851-7FDE-4CC9-BC8D-CB5EB4043BA8}" presName="iconSpace" presStyleCnt="0"/>
      <dgm:spPr/>
    </dgm:pt>
    <dgm:pt modelId="{29EE53A3-0164-4A1C-A2D2-4F5387252BC3}" type="pres">
      <dgm:prSet presAssocID="{DC8A0851-7FDE-4CC9-BC8D-CB5EB4043BA8}" presName="parTx" presStyleLbl="revTx" presStyleIdx="4" presStyleCnt="10">
        <dgm:presLayoutVars>
          <dgm:chMax val="0"/>
          <dgm:chPref val="0"/>
        </dgm:presLayoutVars>
      </dgm:prSet>
      <dgm:spPr/>
    </dgm:pt>
    <dgm:pt modelId="{9D3B6331-0E9B-4EA3-AAC4-F93C611D0FE5}" type="pres">
      <dgm:prSet presAssocID="{DC8A0851-7FDE-4CC9-BC8D-CB5EB4043BA8}" presName="txSpace" presStyleCnt="0"/>
      <dgm:spPr/>
    </dgm:pt>
    <dgm:pt modelId="{C368F9E0-0291-4F86-8C98-84793A4AA693}" type="pres">
      <dgm:prSet presAssocID="{DC8A0851-7FDE-4CC9-BC8D-CB5EB4043BA8}" presName="desTx" presStyleLbl="revTx" presStyleIdx="5" presStyleCnt="10">
        <dgm:presLayoutVars/>
      </dgm:prSet>
      <dgm:spPr/>
    </dgm:pt>
    <dgm:pt modelId="{5B177B5E-420C-4C9D-979B-DD825A7FE82A}" type="pres">
      <dgm:prSet presAssocID="{131E2B1C-1AEB-4826-9BAF-322F6A6FFF13}" presName="sibTrans" presStyleCnt="0"/>
      <dgm:spPr/>
    </dgm:pt>
    <dgm:pt modelId="{CA09273B-3D1F-4BD7-BBE7-848CBCB9E6F2}" type="pres">
      <dgm:prSet presAssocID="{69204F2B-F213-401D-9F9C-69DEA77C812A}" presName="compNode" presStyleCnt="0"/>
      <dgm:spPr/>
    </dgm:pt>
    <dgm:pt modelId="{39D9B1C6-7D3E-454C-8C3D-FEA36A061A3F}" type="pres">
      <dgm:prSet presAssocID="{69204F2B-F213-401D-9F9C-69DEA77C812A}" presName="iconRect" presStyleLbl="node1" presStyleIdx="3" presStyleCnt="5"/>
      <dgm:spPr>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a:noFill/>
        </a:ln>
      </dgm:spPr>
      <dgm:extLst>
        <a:ext uri="{E40237B7-FDA0-4F09-8148-C483321AD2D9}">
          <dgm14:cNvPr xmlns:dgm14="http://schemas.microsoft.com/office/drawing/2010/diagram" id="0" name="" descr="Table outline"/>
        </a:ext>
      </dgm:extLst>
    </dgm:pt>
    <dgm:pt modelId="{B0B102F9-316B-44F4-B52C-F4B24B179D43}" type="pres">
      <dgm:prSet presAssocID="{69204F2B-F213-401D-9F9C-69DEA77C812A}" presName="iconSpace" presStyleCnt="0"/>
      <dgm:spPr/>
    </dgm:pt>
    <dgm:pt modelId="{396659CE-3BCE-47BF-B3F5-90CB9A84970B}" type="pres">
      <dgm:prSet presAssocID="{69204F2B-F213-401D-9F9C-69DEA77C812A}" presName="parTx" presStyleLbl="revTx" presStyleIdx="6" presStyleCnt="10">
        <dgm:presLayoutVars>
          <dgm:chMax val="0"/>
          <dgm:chPref val="0"/>
        </dgm:presLayoutVars>
      </dgm:prSet>
      <dgm:spPr/>
    </dgm:pt>
    <dgm:pt modelId="{AA174912-7664-4923-A43D-F440F676D1EC}" type="pres">
      <dgm:prSet presAssocID="{69204F2B-F213-401D-9F9C-69DEA77C812A}" presName="txSpace" presStyleCnt="0"/>
      <dgm:spPr/>
    </dgm:pt>
    <dgm:pt modelId="{D7B65D49-F146-4F1C-880C-E8C811693C39}" type="pres">
      <dgm:prSet presAssocID="{69204F2B-F213-401D-9F9C-69DEA77C812A}" presName="desTx" presStyleLbl="revTx" presStyleIdx="7" presStyleCnt="10">
        <dgm:presLayoutVars/>
      </dgm:prSet>
      <dgm:spPr/>
    </dgm:pt>
    <dgm:pt modelId="{4B59B90E-CA8A-40C0-9D83-CEAFB8C6644C}" type="pres">
      <dgm:prSet presAssocID="{277439CA-97BF-4B57-82A0-3ED7E6127ED2}" presName="sibTrans" presStyleCnt="0"/>
      <dgm:spPr/>
    </dgm:pt>
    <dgm:pt modelId="{76637B64-C518-41D7-8B9B-49C013901549}" type="pres">
      <dgm:prSet presAssocID="{AED7DADE-BF47-4A92-BC0C-EAF2CD54E7D2}" presName="compNode" presStyleCnt="0"/>
      <dgm:spPr/>
    </dgm:pt>
    <dgm:pt modelId="{EC1B9543-4BFF-4604-B8D7-9D848A163950}" type="pres">
      <dgm:prSet presAssocID="{AED7DADE-BF47-4A92-BC0C-EAF2CD54E7D2}" presName="iconRect" presStyleLbl="node1" presStyleIdx="4" presStyleCnt="5"/>
      <dgm:spPr>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a:noFill/>
        </a:ln>
      </dgm:spPr>
      <dgm:extLst>
        <a:ext uri="{E40237B7-FDA0-4F09-8148-C483321AD2D9}">
          <dgm14:cNvPr xmlns:dgm14="http://schemas.microsoft.com/office/drawing/2010/diagram" id="0" name="" descr="Blueprint with solid fill"/>
        </a:ext>
      </dgm:extLst>
    </dgm:pt>
    <dgm:pt modelId="{068E4675-4AF9-489B-9569-A70BB8777E4F}" type="pres">
      <dgm:prSet presAssocID="{AED7DADE-BF47-4A92-BC0C-EAF2CD54E7D2}" presName="iconSpace" presStyleCnt="0"/>
      <dgm:spPr/>
    </dgm:pt>
    <dgm:pt modelId="{00EA4771-B819-4AC5-8A1A-B06AD498C4A6}" type="pres">
      <dgm:prSet presAssocID="{AED7DADE-BF47-4A92-BC0C-EAF2CD54E7D2}" presName="parTx" presStyleLbl="revTx" presStyleIdx="8" presStyleCnt="10">
        <dgm:presLayoutVars>
          <dgm:chMax val="0"/>
          <dgm:chPref val="0"/>
        </dgm:presLayoutVars>
      </dgm:prSet>
      <dgm:spPr/>
    </dgm:pt>
    <dgm:pt modelId="{BD11CE9F-3A8A-4E1E-B631-6391B066BB6B}" type="pres">
      <dgm:prSet presAssocID="{AED7DADE-BF47-4A92-BC0C-EAF2CD54E7D2}" presName="txSpace" presStyleCnt="0"/>
      <dgm:spPr/>
    </dgm:pt>
    <dgm:pt modelId="{3C523661-007D-44ED-8379-CEB10387D2E4}" type="pres">
      <dgm:prSet presAssocID="{AED7DADE-BF47-4A92-BC0C-EAF2CD54E7D2}" presName="desTx" presStyleLbl="revTx" presStyleIdx="9" presStyleCnt="10">
        <dgm:presLayoutVars/>
      </dgm:prSet>
      <dgm:spPr/>
    </dgm:pt>
  </dgm:ptLst>
  <dgm:cxnLst>
    <dgm:cxn modelId="{68595602-11CE-44AB-AED2-9F3607841827}" srcId="{69204F2B-F213-401D-9F9C-69DEA77C812A}" destId="{5893B2F6-5857-4685-8193-1D8AE0024AC2}" srcOrd="0" destOrd="0" parTransId="{9D34D938-A501-42F4-80E0-D36D2897DB5C}" sibTransId="{276716AD-3455-4C84-8CD1-23B407C41B8E}"/>
    <dgm:cxn modelId="{793AA304-C253-4CC5-AE48-0AE580AEFA0F}" type="presOf" srcId="{5893B2F6-5857-4685-8193-1D8AE0024AC2}" destId="{D7B65D49-F146-4F1C-880C-E8C811693C39}" srcOrd="0" destOrd="0" presId="urn:microsoft.com/office/officeart/2018/2/layout/IconLabelDescriptionList"/>
    <dgm:cxn modelId="{B2E43005-2384-4FE2-9853-5BF4A69AB374}" type="presOf" srcId="{5C7334D9-487C-4EA0-BF25-5B0D5A6617BC}" destId="{671FEA7A-0D0B-4A84-BDCF-7CB0E5658922}" srcOrd="0" destOrd="0" presId="urn:microsoft.com/office/officeart/2018/2/layout/IconLabelDescriptionList"/>
    <dgm:cxn modelId="{F377DC05-3D8B-41F5-98B2-88129FAED25C}" srcId="{5C7334D9-487C-4EA0-BF25-5B0D5A6617BC}" destId="{96D06C0F-917C-42DC-9813-3C094E8A1433}" srcOrd="0" destOrd="0" parTransId="{D25C9767-CEA7-4CA2-ACD3-E74CE416F613}" sibTransId="{4703BB48-CF5C-45CE-85B9-DDC916A31816}"/>
    <dgm:cxn modelId="{DAC26A1E-49B7-4EE6-94A2-862EC2D67CD8}" srcId="{DC8A0851-7FDE-4CC9-BC8D-CB5EB4043BA8}" destId="{B237907F-E763-44ED-AC75-5C497C1C1D95}" srcOrd="0" destOrd="0" parTransId="{3038423B-4508-42BB-B8A2-61FB825D137B}" sibTransId="{D2DFA421-5FAB-46FD-BFA1-B4FAF13DAE31}"/>
    <dgm:cxn modelId="{0E1BEA20-45B5-4E4D-8360-8A4D21EEF3D1}" srcId="{20624136-4DF3-4E65-A824-030C003959D6}" destId="{AED7DADE-BF47-4A92-BC0C-EAF2CD54E7D2}" srcOrd="4" destOrd="0" parTransId="{FE3A261E-7177-4C9D-AABB-4719FB5AB56E}" sibTransId="{23729D0E-9BBC-4AE8-B718-47FEC17894D6}"/>
    <dgm:cxn modelId="{8D800A23-7D44-4EA7-ACFA-351187978913}" srcId="{AED7DADE-BF47-4A92-BC0C-EAF2CD54E7D2}" destId="{A7D1BF3F-3A25-4AA6-A58C-D689B316A892}" srcOrd="0" destOrd="0" parTransId="{6B19E069-B887-47A4-AA36-16DA8B58EF15}" sibTransId="{B6BB025F-080E-46C7-867B-2D7E83CF5E29}"/>
    <dgm:cxn modelId="{6232B425-B32F-493D-9FF3-F676770040C0}" type="presOf" srcId="{69204F2B-F213-401D-9F9C-69DEA77C812A}" destId="{396659CE-3BCE-47BF-B3F5-90CB9A84970B}" srcOrd="0" destOrd="0" presId="urn:microsoft.com/office/officeart/2018/2/layout/IconLabelDescriptionList"/>
    <dgm:cxn modelId="{082DE22D-567C-4D61-A570-F14F73123B35}" type="presOf" srcId="{ED2BEF17-506A-4678-BCE4-02BEA87CD707}" destId="{742C4212-7E4C-4666-9114-A3BDA0DA3086}" srcOrd="0" destOrd="0" presId="urn:microsoft.com/office/officeart/2018/2/layout/IconLabelDescriptionList"/>
    <dgm:cxn modelId="{94999733-6E90-4A2C-A582-D606FFDA752E}" type="presOf" srcId="{DC8A0851-7FDE-4CC9-BC8D-CB5EB4043BA8}" destId="{29EE53A3-0164-4A1C-A2D2-4F5387252BC3}" srcOrd="0" destOrd="0" presId="urn:microsoft.com/office/officeart/2018/2/layout/IconLabelDescriptionList"/>
    <dgm:cxn modelId="{701C8F35-FFED-43BA-8B18-44CBC7AE26DC}" type="presOf" srcId="{2FDA6BF0-B526-43A7-9192-0745E232A4D5}" destId="{742C4212-7E4C-4666-9114-A3BDA0DA3086}" srcOrd="0" destOrd="2" presId="urn:microsoft.com/office/officeart/2018/2/layout/IconLabelDescriptionList"/>
    <dgm:cxn modelId="{AFADBC36-C66B-433F-BBB6-F0B2E63C98F4}" srcId="{20624136-4DF3-4E65-A824-030C003959D6}" destId="{DC8A0851-7FDE-4CC9-BC8D-CB5EB4043BA8}" srcOrd="2" destOrd="0" parTransId="{51D8D62E-C33F-4189-B946-C6FAA5DFA9FD}" sibTransId="{131E2B1C-1AEB-4826-9BAF-322F6A6FFF13}"/>
    <dgm:cxn modelId="{98F9EE64-F5C2-4E2B-A9E0-373C799FD906}" type="presOf" srcId="{96D06C0F-917C-42DC-9813-3C094E8A1433}" destId="{241E666B-B250-43E3-8EED-0D1A6A9E1AAB}" srcOrd="0" destOrd="0" presId="urn:microsoft.com/office/officeart/2018/2/layout/IconLabelDescriptionList"/>
    <dgm:cxn modelId="{52D58F66-C3B3-49D7-B078-5E04B71C60B9}" type="presOf" srcId="{CBF0ABA1-82D7-4628-8CC6-82CED43AE1F5}" destId="{742C4212-7E4C-4666-9114-A3BDA0DA3086}" srcOrd="0" destOrd="1" presId="urn:microsoft.com/office/officeart/2018/2/layout/IconLabelDescriptionList"/>
    <dgm:cxn modelId="{F64A7271-88ED-42B1-A87D-E3774754A40B}" type="presOf" srcId="{A7D1BF3F-3A25-4AA6-A58C-D689B316A892}" destId="{3C523661-007D-44ED-8379-CEB10387D2E4}" srcOrd="0" destOrd="0" presId="urn:microsoft.com/office/officeart/2018/2/layout/IconLabelDescriptionList"/>
    <dgm:cxn modelId="{FF59E971-7E69-4D7B-A028-483A1667B482}" srcId="{20624136-4DF3-4E65-A824-030C003959D6}" destId="{5C7334D9-487C-4EA0-BF25-5B0D5A6617BC}" srcOrd="0" destOrd="0" parTransId="{581D36F8-EA6F-45F7-9BE5-D96636110B18}" sibTransId="{BF6FF711-8F7D-4DE1-AB79-ED67A51BB44A}"/>
    <dgm:cxn modelId="{81537157-8A1E-4727-93C9-DB375FEC35C7}" type="presOf" srcId="{AED7DADE-BF47-4A92-BC0C-EAF2CD54E7D2}" destId="{00EA4771-B819-4AC5-8A1A-B06AD498C4A6}" srcOrd="0" destOrd="0" presId="urn:microsoft.com/office/officeart/2018/2/layout/IconLabelDescriptionList"/>
    <dgm:cxn modelId="{5751B959-E201-4964-A26C-B74B516831D7}" srcId="{F98317ED-D348-4DA9-88C4-80321C3A48D1}" destId="{2FDA6BF0-B526-43A7-9192-0745E232A4D5}" srcOrd="2" destOrd="0" parTransId="{18A9319D-8F64-419C-98A1-A2BC88628541}" sibTransId="{37AA4715-62D9-48A5-87FA-14DFC4CA7D99}"/>
    <dgm:cxn modelId="{91A1759E-B272-4150-B0C0-F0D407374436}" srcId="{F98317ED-D348-4DA9-88C4-80321C3A48D1}" destId="{ED2BEF17-506A-4678-BCE4-02BEA87CD707}" srcOrd="0" destOrd="0" parTransId="{462999B0-1F78-4314-95DF-3AA864060B6E}" sibTransId="{718C07C0-AB48-460E-864D-AF4A40FE404A}"/>
    <dgm:cxn modelId="{330873A6-F474-432F-9474-1CE874D8653F}" type="presOf" srcId="{F98317ED-D348-4DA9-88C4-80321C3A48D1}" destId="{1825CE6F-46F5-4D19-85FF-559CC3CC662B}" srcOrd="0" destOrd="0" presId="urn:microsoft.com/office/officeart/2018/2/layout/IconLabelDescriptionList"/>
    <dgm:cxn modelId="{A1A745AF-8750-4F6F-946A-3A91047380F8}" type="presOf" srcId="{20624136-4DF3-4E65-A824-030C003959D6}" destId="{2D160F76-BB20-49FF-A046-6E5783F009F3}" srcOrd="0" destOrd="0" presId="urn:microsoft.com/office/officeart/2018/2/layout/IconLabelDescriptionList"/>
    <dgm:cxn modelId="{86E615B4-EBBD-4207-968A-F2C3365D5298}" srcId="{20624136-4DF3-4E65-A824-030C003959D6}" destId="{69204F2B-F213-401D-9F9C-69DEA77C812A}" srcOrd="3" destOrd="0" parTransId="{480374E6-B1E9-4F5D-BE99-F5360848C5BF}" sibTransId="{277439CA-97BF-4B57-82A0-3ED7E6127ED2}"/>
    <dgm:cxn modelId="{C01681BD-DA8A-42A6-B560-00D25CAAE9FB}" srcId="{F98317ED-D348-4DA9-88C4-80321C3A48D1}" destId="{CBF0ABA1-82D7-4628-8CC6-82CED43AE1F5}" srcOrd="1" destOrd="0" parTransId="{6077D99C-2394-40C7-864D-6E473D67CAAB}" sibTransId="{0600B4A1-57CC-4C07-B71F-FFFE963F6132}"/>
    <dgm:cxn modelId="{84AC5EC8-7D0E-4565-98CD-AA5A3FE3AD34}" type="presOf" srcId="{B237907F-E763-44ED-AC75-5C497C1C1D95}" destId="{C368F9E0-0291-4F86-8C98-84793A4AA693}" srcOrd="0" destOrd="0" presId="urn:microsoft.com/office/officeart/2018/2/layout/IconLabelDescriptionList"/>
    <dgm:cxn modelId="{9825A6E2-4388-479F-8352-F1F1CDD9B990}" type="presOf" srcId="{1CA17611-DBAC-40B0-B0C7-256FE2B48793}" destId="{D7B65D49-F146-4F1C-880C-E8C811693C39}" srcOrd="0" destOrd="1" presId="urn:microsoft.com/office/officeart/2018/2/layout/IconLabelDescriptionList"/>
    <dgm:cxn modelId="{E657EDF1-013D-4E7B-BEE0-490395494CA3}" srcId="{20624136-4DF3-4E65-A824-030C003959D6}" destId="{F98317ED-D348-4DA9-88C4-80321C3A48D1}" srcOrd="1" destOrd="0" parTransId="{B1314391-9418-4D32-A76C-CB159D4B6DAC}" sibTransId="{9ECE3046-40BA-42BA-88CC-FC845AEF5FD5}"/>
    <dgm:cxn modelId="{CC8E6CF3-9C4C-43E3-8D0B-755611FBE2E7}" srcId="{69204F2B-F213-401D-9F9C-69DEA77C812A}" destId="{1CA17611-DBAC-40B0-B0C7-256FE2B48793}" srcOrd="1" destOrd="0" parTransId="{65C78657-6FC8-4BC9-BE96-142ABC3A769E}" sibTransId="{F34A1C73-8A3F-4984-99C0-305C7B87B022}"/>
    <dgm:cxn modelId="{22F5BC72-EE47-483E-AB44-FF2DC4980594}" type="presParOf" srcId="{2D160F76-BB20-49FF-A046-6E5783F009F3}" destId="{95F5CE15-797C-46AD-9ADE-7051E6C93A4A}" srcOrd="0" destOrd="0" presId="urn:microsoft.com/office/officeart/2018/2/layout/IconLabelDescriptionList"/>
    <dgm:cxn modelId="{2D757A0B-2239-44D0-B00F-BCB0664B3092}" type="presParOf" srcId="{95F5CE15-797C-46AD-9ADE-7051E6C93A4A}" destId="{6E87E9E3-D75A-4C31-873A-D05E1416E913}" srcOrd="0" destOrd="0" presId="urn:microsoft.com/office/officeart/2018/2/layout/IconLabelDescriptionList"/>
    <dgm:cxn modelId="{99047A18-E2E8-48B7-93BC-63CFFD46BBFF}" type="presParOf" srcId="{95F5CE15-797C-46AD-9ADE-7051E6C93A4A}" destId="{D8E1BA72-410D-437A-A78F-A675212005AA}" srcOrd="1" destOrd="0" presId="urn:microsoft.com/office/officeart/2018/2/layout/IconLabelDescriptionList"/>
    <dgm:cxn modelId="{44690C99-B517-47F9-A5AB-D6F31FF411DD}" type="presParOf" srcId="{95F5CE15-797C-46AD-9ADE-7051E6C93A4A}" destId="{671FEA7A-0D0B-4A84-BDCF-7CB0E5658922}" srcOrd="2" destOrd="0" presId="urn:microsoft.com/office/officeart/2018/2/layout/IconLabelDescriptionList"/>
    <dgm:cxn modelId="{85EF9D6A-F4A3-4C5E-8958-6259BB05CF90}" type="presParOf" srcId="{95F5CE15-797C-46AD-9ADE-7051E6C93A4A}" destId="{310B9D25-E82B-4930-840C-4A7A000DC968}" srcOrd="3" destOrd="0" presId="urn:microsoft.com/office/officeart/2018/2/layout/IconLabelDescriptionList"/>
    <dgm:cxn modelId="{87F7031B-35A5-423E-9325-7D56747D9998}" type="presParOf" srcId="{95F5CE15-797C-46AD-9ADE-7051E6C93A4A}" destId="{241E666B-B250-43E3-8EED-0D1A6A9E1AAB}" srcOrd="4" destOrd="0" presId="urn:microsoft.com/office/officeart/2018/2/layout/IconLabelDescriptionList"/>
    <dgm:cxn modelId="{1A1D9182-5D16-47E2-864B-FD8839415FF0}" type="presParOf" srcId="{2D160F76-BB20-49FF-A046-6E5783F009F3}" destId="{460C253E-9294-472D-9DAE-D64472149B03}" srcOrd="1" destOrd="0" presId="urn:microsoft.com/office/officeart/2018/2/layout/IconLabelDescriptionList"/>
    <dgm:cxn modelId="{31C5333D-C618-4E50-A0D6-DA129C648867}" type="presParOf" srcId="{2D160F76-BB20-49FF-A046-6E5783F009F3}" destId="{DD119A5A-14D8-4BC6-9DEF-442197EFE462}" srcOrd="2" destOrd="0" presId="urn:microsoft.com/office/officeart/2018/2/layout/IconLabelDescriptionList"/>
    <dgm:cxn modelId="{D676DC38-029E-458B-8B3C-37DB85D08CFB}" type="presParOf" srcId="{DD119A5A-14D8-4BC6-9DEF-442197EFE462}" destId="{633922AA-F88A-4663-B268-BD48B99231E7}" srcOrd="0" destOrd="0" presId="urn:microsoft.com/office/officeart/2018/2/layout/IconLabelDescriptionList"/>
    <dgm:cxn modelId="{E0FC742A-36E9-4A67-BDB1-4E9548C83388}" type="presParOf" srcId="{DD119A5A-14D8-4BC6-9DEF-442197EFE462}" destId="{1BE804A1-2DB2-4840-B2A9-F8EC86A2E84D}" srcOrd="1" destOrd="0" presId="urn:microsoft.com/office/officeart/2018/2/layout/IconLabelDescriptionList"/>
    <dgm:cxn modelId="{45892427-1EDD-4295-AEB7-D880F88D4488}" type="presParOf" srcId="{DD119A5A-14D8-4BC6-9DEF-442197EFE462}" destId="{1825CE6F-46F5-4D19-85FF-559CC3CC662B}" srcOrd="2" destOrd="0" presId="urn:microsoft.com/office/officeart/2018/2/layout/IconLabelDescriptionList"/>
    <dgm:cxn modelId="{E16F520D-2BCD-4F52-B6B4-1D718110D1F7}" type="presParOf" srcId="{DD119A5A-14D8-4BC6-9DEF-442197EFE462}" destId="{8AF5BBE9-FDB7-4F34-A4F0-9A729D7F94C0}" srcOrd="3" destOrd="0" presId="urn:microsoft.com/office/officeart/2018/2/layout/IconLabelDescriptionList"/>
    <dgm:cxn modelId="{3B201EFE-9F0B-4BB7-899A-00517498EED7}" type="presParOf" srcId="{DD119A5A-14D8-4BC6-9DEF-442197EFE462}" destId="{742C4212-7E4C-4666-9114-A3BDA0DA3086}" srcOrd="4" destOrd="0" presId="urn:microsoft.com/office/officeart/2018/2/layout/IconLabelDescriptionList"/>
    <dgm:cxn modelId="{CC880236-2490-4D07-9461-68C190848949}" type="presParOf" srcId="{2D160F76-BB20-49FF-A046-6E5783F009F3}" destId="{5F358DFD-644A-496A-BDFC-EA690ADF18DD}" srcOrd="3" destOrd="0" presId="urn:microsoft.com/office/officeart/2018/2/layout/IconLabelDescriptionList"/>
    <dgm:cxn modelId="{E655296D-22F0-417A-92BA-0CCB79828938}" type="presParOf" srcId="{2D160F76-BB20-49FF-A046-6E5783F009F3}" destId="{6C02653A-2039-4BB2-B7E5-FC99B4141B48}" srcOrd="4" destOrd="0" presId="urn:microsoft.com/office/officeart/2018/2/layout/IconLabelDescriptionList"/>
    <dgm:cxn modelId="{95410FD8-B06A-4D63-9031-44ECCBEFD8CC}" type="presParOf" srcId="{6C02653A-2039-4BB2-B7E5-FC99B4141B48}" destId="{65AD94E5-3AF0-4800-8C1E-637E0CDB136C}" srcOrd="0" destOrd="0" presId="urn:microsoft.com/office/officeart/2018/2/layout/IconLabelDescriptionList"/>
    <dgm:cxn modelId="{D682805D-802E-4CBA-90CD-215FA4244A59}" type="presParOf" srcId="{6C02653A-2039-4BB2-B7E5-FC99B4141B48}" destId="{6866F96F-8DD7-4B33-872A-CD9C0C108EB9}" srcOrd="1" destOrd="0" presId="urn:microsoft.com/office/officeart/2018/2/layout/IconLabelDescriptionList"/>
    <dgm:cxn modelId="{4CDB6472-52B2-4828-80AE-477D3446EA56}" type="presParOf" srcId="{6C02653A-2039-4BB2-B7E5-FC99B4141B48}" destId="{29EE53A3-0164-4A1C-A2D2-4F5387252BC3}" srcOrd="2" destOrd="0" presId="urn:microsoft.com/office/officeart/2018/2/layout/IconLabelDescriptionList"/>
    <dgm:cxn modelId="{E5D7AC45-0F4D-43C3-9037-5EC6D00AC723}" type="presParOf" srcId="{6C02653A-2039-4BB2-B7E5-FC99B4141B48}" destId="{9D3B6331-0E9B-4EA3-AAC4-F93C611D0FE5}" srcOrd="3" destOrd="0" presId="urn:microsoft.com/office/officeart/2018/2/layout/IconLabelDescriptionList"/>
    <dgm:cxn modelId="{F972F92C-5411-4F0A-840F-A1A97FD1EE5F}" type="presParOf" srcId="{6C02653A-2039-4BB2-B7E5-FC99B4141B48}" destId="{C368F9E0-0291-4F86-8C98-84793A4AA693}" srcOrd="4" destOrd="0" presId="urn:microsoft.com/office/officeart/2018/2/layout/IconLabelDescriptionList"/>
    <dgm:cxn modelId="{6BDD0306-5811-4919-A463-4FA5F201F8BA}" type="presParOf" srcId="{2D160F76-BB20-49FF-A046-6E5783F009F3}" destId="{5B177B5E-420C-4C9D-979B-DD825A7FE82A}" srcOrd="5" destOrd="0" presId="urn:microsoft.com/office/officeart/2018/2/layout/IconLabelDescriptionList"/>
    <dgm:cxn modelId="{90354256-04B7-4F93-BC80-F4DAF0A6436B}" type="presParOf" srcId="{2D160F76-BB20-49FF-A046-6E5783F009F3}" destId="{CA09273B-3D1F-4BD7-BBE7-848CBCB9E6F2}" srcOrd="6" destOrd="0" presId="urn:microsoft.com/office/officeart/2018/2/layout/IconLabelDescriptionList"/>
    <dgm:cxn modelId="{1D570FA8-F574-4310-9DDB-A742221B2B3E}" type="presParOf" srcId="{CA09273B-3D1F-4BD7-BBE7-848CBCB9E6F2}" destId="{39D9B1C6-7D3E-454C-8C3D-FEA36A061A3F}" srcOrd="0" destOrd="0" presId="urn:microsoft.com/office/officeart/2018/2/layout/IconLabelDescriptionList"/>
    <dgm:cxn modelId="{0B6F5D91-69DC-47F4-A8C8-C2FC12008DE9}" type="presParOf" srcId="{CA09273B-3D1F-4BD7-BBE7-848CBCB9E6F2}" destId="{B0B102F9-316B-44F4-B52C-F4B24B179D43}" srcOrd="1" destOrd="0" presId="urn:microsoft.com/office/officeart/2018/2/layout/IconLabelDescriptionList"/>
    <dgm:cxn modelId="{EB111755-70B1-4915-BDF7-B43BAC4440ED}" type="presParOf" srcId="{CA09273B-3D1F-4BD7-BBE7-848CBCB9E6F2}" destId="{396659CE-3BCE-47BF-B3F5-90CB9A84970B}" srcOrd="2" destOrd="0" presId="urn:microsoft.com/office/officeart/2018/2/layout/IconLabelDescriptionList"/>
    <dgm:cxn modelId="{867DAE31-0173-4E88-8ED9-F33B648D813C}" type="presParOf" srcId="{CA09273B-3D1F-4BD7-BBE7-848CBCB9E6F2}" destId="{AA174912-7664-4923-A43D-F440F676D1EC}" srcOrd="3" destOrd="0" presId="urn:microsoft.com/office/officeart/2018/2/layout/IconLabelDescriptionList"/>
    <dgm:cxn modelId="{25B629E4-4347-4ECE-90C6-47DC30EB9B19}" type="presParOf" srcId="{CA09273B-3D1F-4BD7-BBE7-848CBCB9E6F2}" destId="{D7B65D49-F146-4F1C-880C-E8C811693C39}" srcOrd="4" destOrd="0" presId="urn:microsoft.com/office/officeart/2018/2/layout/IconLabelDescriptionList"/>
    <dgm:cxn modelId="{E2DEF498-CE51-4EB8-8C6F-E10DA6DC1902}" type="presParOf" srcId="{2D160F76-BB20-49FF-A046-6E5783F009F3}" destId="{4B59B90E-CA8A-40C0-9D83-CEAFB8C6644C}" srcOrd="7" destOrd="0" presId="urn:microsoft.com/office/officeart/2018/2/layout/IconLabelDescriptionList"/>
    <dgm:cxn modelId="{865E8CA2-5987-43AB-A155-9B009ED54029}" type="presParOf" srcId="{2D160F76-BB20-49FF-A046-6E5783F009F3}" destId="{76637B64-C518-41D7-8B9B-49C013901549}" srcOrd="8" destOrd="0" presId="urn:microsoft.com/office/officeart/2018/2/layout/IconLabelDescriptionList"/>
    <dgm:cxn modelId="{A3EB08E6-9501-43BD-AE98-68B9CF4F72B8}" type="presParOf" srcId="{76637B64-C518-41D7-8B9B-49C013901549}" destId="{EC1B9543-4BFF-4604-B8D7-9D848A163950}" srcOrd="0" destOrd="0" presId="urn:microsoft.com/office/officeart/2018/2/layout/IconLabelDescriptionList"/>
    <dgm:cxn modelId="{B480B88D-491B-4AB3-B61C-23E8354F0734}" type="presParOf" srcId="{76637B64-C518-41D7-8B9B-49C013901549}" destId="{068E4675-4AF9-489B-9569-A70BB8777E4F}" srcOrd="1" destOrd="0" presId="urn:microsoft.com/office/officeart/2018/2/layout/IconLabelDescriptionList"/>
    <dgm:cxn modelId="{E25B49EA-AA42-4B07-A7DD-890F977AFFE4}" type="presParOf" srcId="{76637B64-C518-41D7-8B9B-49C013901549}" destId="{00EA4771-B819-4AC5-8A1A-B06AD498C4A6}" srcOrd="2" destOrd="0" presId="urn:microsoft.com/office/officeart/2018/2/layout/IconLabelDescriptionList"/>
    <dgm:cxn modelId="{28FA558B-98F4-4CB5-B5E9-9DCC1557BB49}" type="presParOf" srcId="{76637B64-C518-41D7-8B9B-49C013901549}" destId="{BD11CE9F-3A8A-4E1E-B631-6391B066BB6B}" srcOrd="3" destOrd="0" presId="urn:microsoft.com/office/officeart/2018/2/layout/IconLabelDescriptionList"/>
    <dgm:cxn modelId="{88C031A4-8812-490A-B1E6-4394827A3A51}" type="presParOf" srcId="{76637B64-C518-41D7-8B9B-49C013901549}" destId="{3C523661-007D-44ED-8379-CEB10387D2E4}"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E87E9E3-D75A-4C31-873A-D05E1416E913}">
      <dsp:nvSpPr>
        <dsp:cNvPr id="0" name=""/>
        <dsp:cNvSpPr/>
      </dsp:nvSpPr>
      <dsp:spPr>
        <a:xfrm>
          <a:off x="5273" y="1141044"/>
          <a:ext cx="670359" cy="67035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71FEA7A-0D0B-4A84-BDCF-7CB0E5658922}">
      <dsp:nvSpPr>
        <dsp:cNvPr id="0" name=""/>
        <dsp:cNvSpPr/>
      </dsp:nvSpPr>
      <dsp:spPr>
        <a:xfrm>
          <a:off x="5273"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Provided</a:t>
          </a:r>
          <a:endParaRPr lang="en-US" sz="1400" kern="1200" dirty="0"/>
        </a:p>
      </dsp:txBody>
      <dsp:txXfrm>
        <a:off x="5273" y="1893564"/>
        <a:ext cx="1915312" cy="412989"/>
      </dsp:txXfrm>
    </dsp:sp>
    <dsp:sp modelId="{241E666B-B250-43E3-8EED-0D1A6A9E1AAB}">
      <dsp:nvSpPr>
        <dsp:cNvPr id="0" name=""/>
        <dsp:cNvSpPr/>
      </dsp:nvSpPr>
      <dsp:spPr>
        <a:xfrm>
          <a:off x="5273"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a:t>PCAP files</a:t>
          </a:r>
          <a:endParaRPr lang="en-US" sz="1100" kern="1200" dirty="0"/>
        </a:p>
      </dsp:txBody>
      <dsp:txXfrm>
        <a:off x="5273" y="2344768"/>
        <a:ext cx="1915312" cy="706991"/>
      </dsp:txXfrm>
    </dsp:sp>
    <dsp:sp modelId="{633922AA-F88A-4663-B268-BD48B99231E7}">
      <dsp:nvSpPr>
        <dsp:cNvPr id="0" name=""/>
        <dsp:cNvSpPr/>
      </dsp:nvSpPr>
      <dsp:spPr>
        <a:xfrm>
          <a:off x="2255766" y="1141044"/>
          <a:ext cx="670359" cy="67035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825CE6F-46F5-4D19-85FF-559CC3CC662B}">
      <dsp:nvSpPr>
        <dsp:cNvPr id="0" name=""/>
        <dsp:cNvSpPr/>
      </dsp:nvSpPr>
      <dsp:spPr>
        <a:xfrm>
          <a:off x="2255766"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Metadata</a:t>
          </a:r>
          <a:endParaRPr lang="en-US" sz="1400" kern="1200" dirty="0"/>
        </a:p>
      </dsp:txBody>
      <dsp:txXfrm>
        <a:off x="2255766" y="1893564"/>
        <a:ext cx="1915312" cy="412989"/>
      </dsp:txXfrm>
    </dsp:sp>
    <dsp:sp modelId="{742C4212-7E4C-4666-9114-A3BDA0DA3086}">
      <dsp:nvSpPr>
        <dsp:cNvPr id="0" name=""/>
        <dsp:cNvSpPr/>
      </dsp:nvSpPr>
      <dsp:spPr>
        <a:xfrm>
          <a:off x="2255766"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a:t>Timestamps</a:t>
          </a:r>
          <a:endParaRPr lang="en-US" sz="1100" kern="1200" dirty="0"/>
        </a:p>
        <a:p>
          <a:pPr marL="0" lvl="0" indent="0" algn="l" defTabSz="488950">
            <a:lnSpc>
              <a:spcPct val="100000"/>
            </a:lnSpc>
            <a:spcBef>
              <a:spcPct val="0"/>
            </a:spcBef>
            <a:spcAft>
              <a:spcPct val="35000"/>
            </a:spcAft>
            <a:buNone/>
          </a:pPr>
          <a:r>
            <a:rPr lang="de-DE" sz="1100" kern="1200"/>
            <a:t> IP Address</a:t>
          </a:r>
          <a:endParaRPr lang="en-US" sz="1100" kern="1200" dirty="0"/>
        </a:p>
        <a:p>
          <a:pPr marL="0" lvl="0" indent="0" algn="l" defTabSz="488950">
            <a:lnSpc>
              <a:spcPct val="100000"/>
            </a:lnSpc>
            <a:spcBef>
              <a:spcPct val="0"/>
            </a:spcBef>
            <a:spcAft>
              <a:spcPct val="35000"/>
            </a:spcAft>
            <a:buNone/>
          </a:pPr>
          <a:r>
            <a:rPr lang="de-DE" sz="1100" kern="1200"/>
            <a:t>Port Number</a:t>
          </a:r>
          <a:endParaRPr lang="en-US" sz="1100" kern="1200" dirty="0"/>
        </a:p>
      </dsp:txBody>
      <dsp:txXfrm>
        <a:off x="2255766" y="2344768"/>
        <a:ext cx="1915312" cy="706991"/>
      </dsp:txXfrm>
    </dsp:sp>
    <dsp:sp modelId="{65AD94E5-3AF0-4800-8C1E-637E0CDB136C}">
      <dsp:nvSpPr>
        <dsp:cNvPr id="0" name=""/>
        <dsp:cNvSpPr/>
      </dsp:nvSpPr>
      <dsp:spPr>
        <a:xfrm>
          <a:off x="4506258" y="1141044"/>
          <a:ext cx="670359" cy="67035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EE53A3-0164-4A1C-A2D2-4F5387252BC3}">
      <dsp:nvSpPr>
        <dsp:cNvPr id="0" name=""/>
        <dsp:cNvSpPr/>
      </dsp:nvSpPr>
      <dsp:spPr>
        <a:xfrm>
          <a:off x="4506258"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dirty="0"/>
            <a:t>Labels</a:t>
          </a:r>
          <a:endParaRPr lang="en-US" sz="1400" kern="1200" dirty="0"/>
        </a:p>
      </dsp:txBody>
      <dsp:txXfrm>
        <a:off x="4506258" y="1893564"/>
        <a:ext cx="1915312" cy="412989"/>
      </dsp:txXfrm>
    </dsp:sp>
    <dsp:sp modelId="{C368F9E0-0291-4F86-8C98-84793A4AA693}">
      <dsp:nvSpPr>
        <dsp:cNvPr id="0" name=""/>
        <dsp:cNvSpPr/>
      </dsp:nvSpPr>
      <dsp:spPr>
        <a:xfrm>
          <a:off x="4506258"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en-US" sz="1100" kern="1200" dirty="0"/>
            <a:t>Benign/Attack type</a:t>
          </a:r>
        </a:p>
      </dsp:txBody>
      <dsp:txXfrm>
        <a:off x="4506258" y="2344768"/>
        <a:ext cx="1915312" cy="706991"/>
      </dsp:txXfrm>
    </dsp:sp>
    <dsp:sp modelId="{39D9B1C6-7D3E-454C-8C3D-FEA36A061A3F}">
      <dsp:nvSpPr>
        <dsp:cNvPr id="0" name=""/>
        <dsp:cNvSpPr/>
      </dsp:nvSpPr>
      <dsp:spPr>
        <a:xfrm>
          <a:off x="6756750" y="1141044"/>
          <a:ext cx="670359" cy="670359"/>
        </a:xfrm>
        <a:prstGeom prst="rect">
          <a:avLst/>
        </a:prstGeom>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6659CE-3BCE-47BF-B3F5-90CB9A84970B}">
      <dsp:nvSpPr>
        <dsp:cNvPr id="0" name=""/>
        <dsp:cNvSpPr/>
      </dsp:nvSpPr>
      <dsp:spPr>
        <a:xfrm>
          <a:off x="6756750"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Raw Dataset Representation</a:t>
          </a:r>
          <a:endParaRPr lang="en-US" sz="1400" kern="1200"/>
        </a:p>
      </dsp:txBody>
      <dsp:txXfrm>
        <a:off x="6756750" y="1893564"/>
        <a:ext cx="1915312" cy="412989"/>
      </dsp:txXfrm>
    </dsp:sp>
    <dsp:sp modelId="{D7B65D49-F146-4F1C-880C-E8C811693C39}">
      <dsp:nvSpPr>
        <dsp:cNvPr id="0" name=""/>
        <dsp:cNvSpPr/>
      </dsp:nvSpPr>
      <dsp:spPr>
        <a:xfrm>
          <a:off x="6756750"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dirty="0"/>
            <a:t>Extract all packets</a:t>
          </a:r>
          <a:endParaRPr lang="en-US" sz="1100" kern="1200" dirty="0"/>
        </a:p>
        <a:p>
          <a:pPr marL="0" lvl="0" indent="0" algn="l" defTabSz="488950">
            <a:lnSpc>
              <a:spcPct val="100000"/>
            </a:lnSpc>
            <a:spcBef>
              <a:spcPct val="0"/>
            </a:spcBef>
            <a:spcAft>
              <a:spcPct val="35000"/>
            </a:spcAft>
            <a:buNone/>
          </a:pPr>
          <a:r>
            <a:rPr lang="de-DE" sz="1100" kern="1200" dirty="0"/>
            <a:t>Extract entire byte sequence (Ethernet, IP, TCP/UDP headers)</a:t>
          </a:r>
          <a:endParaRPr lang="en-US" sz="1100" kern="1200" dirty="0"/>
        </a:p>
      </dsp:txBody>
      <dsp:txXfrm>
        <a:off x="6756750" y="2344768"/>
        <a:ext cx="1915312" cy="706991"/>
      </dsp:txXfrm>
    </dsp:sp>
    <dsp:sp modelId="{EC1B9543-4BFF-4604-B8D7-9D848A163950}">
      <dsp:nvSpPr>
        <dsp:cNvPr id="0" name=""/>
        <dsp:cNvSpPr/>
      </dsp:nvSpPr>
      <dsp:spPr>
        <a:xfrm>
          <a:off x="9007242" y="1141044"/>
          <a:ext cx="670359" cy="670359"/>
        </a:xfrm>
        <a:prstGeom prst="rect">
          <a:avLst/>
        </a:prstGeom>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0EA4771-B819-4AC5-8A1A-B06AD498C4A6}">
      <dsp:nvSpPr>
        <dsp:cNvPr id="0" name=""/>
        <dsp:cNvSpPr/>
      </dsp:nvSpPr>
      <dsp:spPr>
        <a:xfrm>
          <a:off x="9007242" y="1893564"/>
          <a:ext cx="1915312" cy="4129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defRPr b="1"/>
          </a:pPr>
          <a:r>
            <a:rPr lang="de-DE" sz="1400" kern="1200"/>
            <a:t>RE Dataset Representation</a:t>
          </a:r>
          <a:endParaRPr lang="en-US" sz="1400" kern="1200"/>
        </a:p>
      </dsp:txBody>
      <dsp:txXfrm>
        <a:off x="9007242" y="1893564"/>
        <a:ext cx="1915312" cy="412989"/>
      </dsp:txXfrm>
    </dsp:sp>
    <dsp:sp modelId="{3C523661-007D-44ED-8379-CEB10387D2E4}">
      <dsp:nvSpPr>
        <dsp:cNvPr id="0" name=""/>
        <dsp:cNvSpPr/>
      </dsp:nvSpPr>
      <dsp:spPr>
        <a:xfrm>
          <a:off x="9007242" y="2344768"/>
          <a:ext cx="1915312" cy="70699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488950">
            <a:lnSpc>
              <a:spcPct val="100000"/>
            </a:lnSpc>
            <a:spcBef>
              <a:spcPct val="0"/>
            </a:spcBef>
            <a:spcAft>
              <a:spcPct val="35000"/>
            </a:spcAft>
            <a:buNone/>
          </a:pPr>
          <a:r>
            <a:rPr lang="de-DE" sz="1100" kern="1200" dirty="0"/>
            <a:t>Filter S7Comm packets</a:t>
          </a:r>
        </a:p>
        <a:p>
          <a:pPr marL="0" lvl="0" indent="0" algn="l" defTabSz="488950">
            <a:lnSpc>
              <a:spcPct val="100000"/>
            </a:lnSpc>
            <a:spcBef>
              <a:spcPct val="0"/>
            </a:spcBef>
            <a:spcAft>
              <a:spcPct val="35000"/>
            </a:spcAft>
            <a:buNone/>
          </a:pPr>
          <a:r>
            <a:rPr lang="de-DE" sz="1100" kern="1200" dirty="0"/>
            <a:t>Extract S7Comm payload starting at keyword</a:t>
          </a:r>
          <a:endParaRPr lang="en-US" sz="1100" kern="1200" dirty="0"/>
        </a:p>
      </dsp:txBody>
      <dsp:txXfrm>
        <a:off x="9007242" y="2344768"/>
        <a:ext cx="1915312" cy="706991"/>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38E7185-2344-45DE-BDB0-7C1EAA0E8727}" type="datetimeFigureOut">
              <a:rPr lang="de-DE" smtClean="0"/>
              <a:t>09.03.2026</a:t>
            </a:fld>
            <a:endParaRPr lang="de-DE"/>
          </a:p>
        </p:txBody>
      </p:sp>
      <p:sp>
        <p:nvSpPr>
          <p:cNvPr id="4" name="Fußzeilenplatzhalt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67AC467-C27E-4DC7-AEBD-0C4B7D6FCF53}" type="slidenum">
              <a:rPr lang="de-DE" smtClean="0"/>
              <a:t>‹#›</a:t>
            </a:fld>
            <a:endParaRPr lang="de-DE"/>
          </a:p>
        </p:txBody>
      </p:sp>
    </p:spTree>
    <p:extLst>
      <p:ext uri="{BB962C8B-B14F-4D97-AF65-F5344CB8AC3E}">
        <p14:creationId xmlns:p14="http://schemas.microsoft.com/office/powerpoint/2010/main" val="101021125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A210B1-1EAA-4876-A4F7-A35DABD549B7}" type="datetimeFigureOut">
              <a:rPr lang="de-DE" smtClean="0"/>
              <a:t>09.03.2026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F6ECB0-4EB5-411D-9EB7-90E2340D28B3}" type="slidenum">
              <a:rPr lang="de-DE" smtClean="0"/>
              <a:t>‹#›</a:t>
            </a:fld>
            <a:endParaRPr lang="de-DE"/>
          </a:p>
        </p:txBody>
      </p:sp>
    </p:spTree>
    <p:extLst>
      <p:ext uri="{BB962C8B-B14F-4D97-AF65-F5344CB8AC3E}">
        <p14:creationId xmlns:p14="http://schemas.microsoft.com/office/powerpoint/2010/main" val="26211018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8C887-2009-9C81-B6F5-4D74EEE51A7A}"/>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F1CF442-511F-91A2-055B-2BF8A7AD1FD0}"/>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DC8F3566-E1F7-5905-567E-AAB3B5ED2DB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265585CB-4FA9-95A3-4AE1-2E4A50171FA4}"/>
              </a:ext>
            </a:extLst>
          </p:cNvPr>
          <p:cNvSpPr>
            <a:spLocks noGrp="1"/>
          </p:cNvSpPr>
          <p:nvPr>
            <p:ph type="sldNum" sz="quarter" idx="10"/>
          </p:nvPr>
        </p:nvSpPr>
        <p:spPr/>
        <p:txBody>
          <a:bodyPr/>
          <a:lstStyle/>
          <a:p>
            <a:fld id="{17F6ECB0-4EB5-411D-9EB7-90E2340D28B3}" type="slidenum">
              <a:rPr lang="de-DE" smtClean="0"/>
              <a:t>2</a:t>
            </a:fld>
            <a:endParaRPr lang="de-DE"/>
          </a:p>
        </p:txBody>
      </p:sp>
    </p:spTree>
    <p:extLst>
      <p:ext uri="{BB962C8B-B14F-4D97-AF65-F5344CB8AC3E}">
        <p14:creationId xmlns:p14="http://schemas.microsoft.com/office/powerpoint/2010/main" val="16578658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0E3DD-A62B-A521-C879-942C3D7AD764}"/>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DDE47DC3-EADF-CBFB-FEBD-D009064DCBB1}"/>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BB5D98FA-CCF8-5FA1-580E-A6E75CC51BC7}"/>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2A585CBB-2A5B-86D5-3A4E-CB9598A7F35F}"/>
              </a:ext>
            </a:extLst>
          </p:cNvPr>
          <p:cNvSpPr>
            <a:spLocks noGrp="1"/>
          </p:cNvSpPr>
          <p:nvPr>
            <p:ph type="sldNum" sz="quarter" idx="10"/>
          </p:nvPr>
        </p:nvSpPr>
        <p:spPr/>
        <p:txBody>
          <a:bodyPr/>
          <a:lstStyle/>
          <a:p>
            <a:fld id="{17F6ECB0-4EB5-411D-9EB7-90E2340D28B3}" type="slidenum">
              <a:rPr lang="de-DE" smtClean="0"/>
              <a:t>3</a:t>
            </a:fld>
            <a:endParaRPr lang="de-DE"/>
          </a:p>
        </p:txBody>
      </p:sp>
    </p:spTree>
    <p:extLst>
      <p:ext uri="{BB962C8B-B14F-4D97-AF65-F5344CB8AC3E}">
        <p14:creationId xmlns:p14="http://schemas.microsoft.com/office/powerpoint/2010/main" val="5650895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85E7C-E5EB-666E-B485-03E742F43B8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E30CA16C-23FB-8F20-4C71-52E534BDEA8B}"/>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B200CBF8-81F0-889D-6BE1-118961020760}"/>
              </a:ext>
            </a:extLst>
          </p:cNvPr>
          <p:cNvSpPr>
            <a:spLocks noGrp="1"/>
          </p:cNvSpPr>
          <p:nvPr>
            <p:ph type="body" idx="1"/>
          </p:nvPr>
        </p:nvSpPr>
        <p:spPr/>
        <p:txBody>
          <a:bodyPr/>
          <a:lstStyle/>
          <a:p>
            <a:pPr lvl="1"/>
            <a:r>
              <a:rPr lang="en-US" dirty="0"/>
              <a:t>What ? </a:t>
            </a:r>
          </a:p>
          <a:p>
            <a:pPr lvl="1"/>
            <a:r>
              <a:rPr lang="en-US" dirty="0" err="1"/>
              <a:t>Perfrom</a:t>
            </a:r>
            <a:r>
              <a:rPr lang="en-US" dirty="0"/>
              <a:t> statistical analysis on the datasets to understand how they looks like</a:t>
            </a:r>
          </a:p>
          <a:p>
            <a:pPr lvl="1"/>
            <a:r>
              <a:rPr lang="en-US" dirty="0"/>
              <a:t>Implement and evaluate different approaches to extract expressive patterns network traffic collected in the OT area using </a:t>
            </a:r>
            <a:r>
              <a:rPr lang="en-US" dirty="0" err="1"/>
              <a:t>everse</a:t>
            </a:r>
            <a:r>
              <a:rPr lang="en-US" dirty="0"/>
              <a:t> engineering methods to derive specific chunks from the observed network packets.</a:t>
            </a:r>
          </a:p>
          <a:p>
            <a:pPr lvl="1"/>
            <a:r>
              <a:rPr lang="en-US" dirty="0"/>
              <a:t>Train different machine learning  and deep learning methods to train a classifier with the reverse engineered chunks</a:t>
            </a:r>
          </a:p>
          <a:p>
            <a:r>
              <a:rPr lang="en-US" dirty="0"/>
              <a:t>Why ? </a:t>
            </a:r>
          </a:p>
          <a:p>
            <a:pPr lvl="1"/>
            <a:r>
              <a:rPr lang="en-US" dirty="0"/>
              <a:t> The main idea is to be able to create an anomaly detection for ICS even if we do not have the used protocol as open-source. </a:t>
            </a:r>
          </a:p>
          <a:p>
            <a:endParaRPr lang="en-US" dirty="0"/>
          </a:p>
          <a:p>
            <a:r>
              <a:rPr lang="en-US" dirty="0"/>
              <a:t>   </a:t>
            </a:r>
          </a:p>
          <a:p>
            <a:endParaRPr lang="de-DE" dirty="0"/>
          </a:p>
        </p:txBody>
      </p:sp>
      <p:sp>
        <p:nvSpPr>
          <p:cNvPr id="4" name="Foliennummernplatzhalter 3">
            <a:extLst>
              <a:ext uri="{FF2B5EF4-FFF2-40B4-BE49-F238E27FC236}">
                <a16:creationId xmlns:a16="http://schemas.microsoft.com/office/drawing/2014/main" id="{72389D15-B272-EB76-25AF-1EBFD13AD26A}"/>
              </a:ext>
            </a:extLst>
          </p:cNvPr>
          <p:cNvSpPr>
            <a:spLocks noGrp="1"/>
          </p:cNvSpPr>
          <p:nvPr>
            <p:ph type="sldNum" sz="quarter" idx="10"/>
          </p:nvPr>
        </p:nvSpPr>
        <p:spPr/>
        <p:txBody>
          <a:bodyPr/>
          <a:lstStyle/>
          <a:p>
            <a:fld id="{17F6ECB0-4EB5-411D-9EB7-90E2340D28B3}" type="slidenum">
              <a:rPr lang="de-DE" smtClean="0"/>
              <a:t>4</a:t>
            </a:fld>
            <a:endParaRPr lang="de-DE"/>
          </a:p>
        </p:txBody>
      </p:sp>
    </p:spTree>
    <p:extLst>
      <p:ext uri="{BB962C8B-B14F-4D97-AF65-F5344CB8AC3E}">
        <p14:creationId xmlns:p14="http://schemas.microsoft.com/office/powerpoint/2010/main" val="617489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-we were provided with 2 dfferent datasets that we analyzed in the beginning of the project</a:t>
            </a:r>
          </a:p>
          <a:p>
            <a:endParaRPr lang="de-DE" dirty="0"/>
          </a:p>
          <a:p>
            <a:r>
              <a:rPr lang="de-DE" dirty="0"/>
              <a:t>-one is .... [read table]</a:t>
            </a:r>
          </a:p>
          <a:p>
            <a:r>
              <a:rPr lang="de-DE" dirty="0"/>
              <a:t>-both s7Comm</a:t>
            </a:r>
          </a:p>
          <a:p>
            <a:r>
              <a:rPr lang="de-DE" dirty="0"/>
              <a:t>-electra -&gt; realistic testbeds, QUT -&gt; controlled laboratory environment</a:t>
            </a:r>
          </a:p>
          <a:p>
            <a:pPr marL="171450" indent="-171450">
              <a:buFont typeface="Wingdings" panose="05000000000000000000" pitchFamily="2" charset="2"/>
              <a:buChar char="è"/>
            </a:pPr>
            <a:r>
              <a:rPr lang="de-DE" dirty="0"/>
              <a:t>Therefore more normal then attack data in electra </a:t>
            </a:r>
          </a:p>
          <a:p>
            <a:pPr marL="171450" indent="-171450">
              <a:buFont typeface="Wingdings" panose="05000000000000000000" pitchFamily="2" charset="2"/>
              <a:buChar char="è"/>
            </a:pPr>
            <a:endParaRPr lang="de-DE" dirty="0"/>
          </a:p>
          <a:p>
            <a:endParaRPr lang="de-DE" dirty="0"/>
          </a:p>
          <a:p>
            <a:r>
              <a:rPr lang="de-DE" b="1" dirty="0"/>
              <a:t>-electra was only used in the beginning for initial analysis and comparison to the QUT datasaet</a:t>
            </a:r>
          </a:p>
          <a:p>
            <a:r>
              <a:rPr lang="de-DE" b="1" dirty="0"/>
              <a:t>-QUT was used for all further steps in the projects</a:t>
            </a:r>
          </a:p>
          <a:p>
            <a:pPr marL="171450" indent="-171450">
              <a:buFont typeface="Symbol" panose="05050102010706020507" pitchFamily="18" charset="2"/>
              <a:buChar char="Þ"/>
            </a:pPr>
            <a:r>
              <a:rPr lang="de-DE" b="1" dirty="0"/>
              <a:t>More suitable for reverse engineering tasks since it contains the raw packets in pcap files</a:t>
            </a:r>
          </a:p>
          <a:p>
            <a:pPr marL="0" indent="0">
              <a:buFont typeface="Symbol" panose="05050102010706020507" pitchFamily="18" charset="2"/>
              <a:buNone/>
            </a:pPr>
            <a:endParaRPr lang="de-DE" b="1" dirty="0"/>
          </a:p>
          <a:p>
            <a:r>
              <a:rPr lang="de-DE" dirty="0"/>
              <a:t>--------------------------------------------------------------------------</a:t>
            </a:r>
          </a:p>
          <a:p>
            <a:r>
              <a:rPr lang="de-DE" dirty="0"/>
              <a:t>(attacks in electra:</a:t>
            </a:r>
          </a:p>
          <a:p>
            <a:r>
              <a:rPr lang="de-DE" dirty="0"/>
              <a:t>-reconnaissance, false data injection, replay)</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5</a:t>
            </a:fld>
            <a:endParaRPr lang="de-DE"/>
          </a:p>
        </p:txBody>
      </p:sp>
    </p:spTree>
    <p:extLst>
      <p:ext uri="{BB962C8B-B14F-4D97-AF65-F5344CB8AC3E}">
        <p14:creationId xmlns:p14="http://schemas.microsoft.com/office/powerpoint/2010/main" val="1045129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-QUT is </a:t>
            </a:r>
            <a:r>
              <a:rPr lang="de-DE" b="1" dirty="0"/>
              <a:t>highly imbalanced </a:t>
            </a:r>
            <a:r>
              <a:rPr lang="de-DE" dirty="0"/>
              <a:t>with attack packets accounting for the vast majority of the traffic</a:t>
            </a:r>
          </a:p>
          <a:p>
            <a:endParaRPr lang="de-DE" dirty="0"/>
          </a:p>
          <a:p>
            <a:r>
              <a:rPr lang="de-DE" dirty="0"/>
              <a:t>-within the attack traffic there is a diversity of present attack types</a:t>
            </a:r>
          </a:p>
          <a:p>
            <a:r>
              <a:rPr lang="de-DE" dirty="0"/>
              <a:t>But it is </a:t>
            </a:r>
            <a:r>
              <a:rPr lang="de-DE" b="1" dirty="0"/>
              <a:t>strongly dominated by flooding attacks of different types</a:t>
            </a:r>
          </a:p>
          <a:p>
            <a:r>
              <a:rPr lang="de-DE" dirty="0"/>
              <a:t>-</a:t>
            </a:r>
            <a:r>
              <a:rPr lang="de-DE" b="1" dirty="0"/>
              <a:t>there are three kinds of non-flooding attacks </a:t>
            </a:r>
            <a:r>
              <a:rPr lang="de-DE" dirty="0"/>
              <a:t>inside the dataset which only </a:t>
            </a:r>
            <a:r>
              <a:rPr lang="de-DE" b="1" dirty="0"/>
              <a:t>form a small fraction below 0,01% </a:t>
            </a:r>
          </a:p>
          <a:p>
            <a:pPr marL="171450" indent="-171450">
              <a:buFont typeface="Symbol" panose="05050102010706020507" pitchFamily="18" charset="2"/>
              <a:buChar char="Þ"/>
            </a:pPr>
            <a:r>
              <a:rPr lang="de-DE" dirty="0"/>
              <a:t>namely: EmergencyStop,. GlobalReset and ConveyorBeltReset </a:t>
            </a:r>
          </a:p>
          <a:p>
            <a:pPr marL="171450" indent="-171450">
              <a:buFont typeface="Symbol" panose="05050102010706020507" pitchFamily="18" charset="2"/>
              <a:buChar char="Þ"/>
            </a:pPr>
            <a:endParaRPr lang="de-DE" dirty="0"/>
          </a:p>
          <a:p>
            <a:pPr marL="0" indent="0">
              <a:buFont typeface="Symbol" panose="05050102010706020507" pitchFamily="18" charset="2"/>
              <a:buNone/>
            </a:pPr>
            <a:r>
              <a:rPr lang="de-DE" dirty="0"/>
              <a:t>-</a:t>
            </a:r>
            <a:r>
              <a:rPr lang="de-DE" b="1" dirty="0"/>
              <a:t>majority of traffic </a:t>
            </a:r>
            <a:r>
              <a:rPr lang="de-DE" b="0" dirty="0"/>
              <a:t>generated by S7Comm</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6</a:t>
            </a:fld>
            <a:endParaRPr lang="de-DE"/>
          </a:p>
        </p:txBody>
      </p:sp>
    </p:spTree>
    <p:extLst>
      <p:ext uri="{BB962C8B-B14F-4D97-AF65-F5344CB8AC3E}">
        <p14:creationId xmlns:p14="http://schemas.microsoft.com/office/powerpoint/2010/main" val="9253431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C355E8-5CB3-E9CE-5989-12C9BB430ABB}"/>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61013831-0CF6-4D19-7D10-C2EDAF3CF970}"/>
              </a:ext>
            </a:extLst>
          </p:cNvPr>
          <p:cNvSpPr>
            <a:spLocks noGrp="1" noRot="1" noChangeAspect="1"/>
          </p:cNvSpPr>
          <p:nvPr>
            <p:ph type="sldImg"/>
          </p:nvPr>
        </p:nvSpPr>
        <p:spPr>
          <a:xfrm>
            <a:off x="685800" y="1143000"/>
            <a:ext cx="5486400" cy="3086100"/>
          </a:xfrm>
        </p:spPr>
      </p:sp>
      <p:sp>
        <p:nvSpPr>
          <p:cNvPr id="3" name="Notizenplatzhalter 2">
            <a:extLst>
              <a:ext uri="{FF2B5EF4-FFF2-40B4-BE49-F238E27FC236}">
                <a16:creationId xmlns:a16="http://schemas.microsoft.com/office/drawing/2014/main" id="{64289A57-7F5A-DE7D-27C5-88E2D154314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-we started by applying dataset preprocessing and reverse engineering to </a:t>
            </a:r>
            <a:r>
              <a:rPr lang="de-DE" b="1" dirty="0"/>
              <a:t>create 4 different dataset representation types </a:t>
            </a:r>
            <a:r>
              <a:rPr lang="de-DE" b="0" dirty="0"/>
              <a:t>(out of QUT) </a:t>
            </a:r>
          </a:p>
          <a:p>
            <a:r>
              <a:rPr lang="de-DE" dirty="0"/>
              <a:t>-on the one hand: RAW datset representation</a:t>
            </a:r>
          </a:p>
          <a:p>
            <a:r>
              <a:rPr lang="de-DE" dirty="0"/>
              <a:t>-&gt; 3 differnt Reverse Engineered Representations </a:t>
            </a:r>
          </a:p>
          <a:p>
            <a:endParaRPr lang="de-DE" dirty="0"/>
          </a:p>
          <a:p>
            <a:r>
              <a:rPr lang="de-DE" dirty="0"/>
              <a:t>-from those representation we </a:t>
            </a:r>
            <a:r>
              <a:rPr lang="de-DE" b="1" dirty="0"/>
              <a:t>extracted features using a SDA </a:t>
            </a:r>
            <a:r>
              <a:rPr lang="de-DE" dirty="0"/>
              <a:t>which we implemented</a:t>
            </a:r>
          </a:p>
          <a:p>
            <a:r>
              <a:rPr lang="de-DE" dirty="0"/>
              <a:t>-those were then </a:t>
            </a:r>
            <a:r>
              <a:rPr lang="de-DE" b="1" dirty="0"/>
              <a:t>used with the traditional ML classifiers</a:t>
            </a:r>
          </a:p>
          <a:p>
            <a:endParaRPr lang="de-DE" dirty="0"/>
          </a:p>
          <a:p>
            <a:pPr marL="171450" indent="-171450">
              <a:buFont typeface="Wingdings" panose="05000000000000000000" pitchFamily="2" charset="2"/>
              <a:buChar char="è"/>
            </a:pPr>
            <a:r>
              <a:rPr lang="de-DE" dirty="0"/>
              <a:t>There we had </a:t>
            </a:r>
            <a:r>
              <a:rPr lang="de-DE" b="1" dirty="0"/>
              <a:t>on the one hand the outlier detectors (namely ...) </a:t>
            </a:r>
            <a:r>
              <a:rPr lang="de-DE" dirty="0"/>
              <a:t>which were trained on normal packets only and the multilass classifiers (namely ...) trained on attack and normal packets</a:t>
            </a:r>
          </a:p>
          <a:p>
            <a:pPr marL="171450" indent="-171450">
              <a:buFont typeface="Wingdings" panose="05000000000000000000" pitchFamily="2" charset="2"/>
              <a:buChar char="è"/>
            </a:pPr>
            <a:r>
              <a:rPr lang="de-DE" dirty="0"/>
              <a:t>Those traditional ML classifiers were then combined into an ensemble classifiers which could either operate on the one class / multiclass classifiers</a:t>
            </a:r>
          </a:p>
          <a:p>
            <a:endParaRPr lang="de-DE" dirty="0"/>
          </a:p>
          <a:p>
            <a:r>
              <a:rPr lang="de-DE" dirty="0"/>
              <a:t>-we also implemented </a:t>
            </a:r>
            <a:r>
              <a:rPr lang="de-DE" b="1" dirty="0"/>
              <a:t>DL classifiers </a:t>
            </a:r>
            <a:r>
              <a:rPr lang="de-DE" dirty="0"/>
              <a:t>(CNN, ResNet)</a:t>
            </a:r>
          </a:p>
          <a:p>
            <a:r>
              <a:rPr lang="de-DE" dirty="0"/>
              <a:t>-and other anomaly detection methods (SDA, N-Gram based detection, GAN)</a:t>
            </a:r>
          </a:p>
          <a:p>
            <a:endParaRPr lang="de-DE" dirty="0"/>
          </a:p>
          <a:p>
            <a:r>
              <a:rPr lang="de-DE" dirty="0"/>
              <a:t>-the </a:t>
            </a:r>
            <a:r>
              <a:rPr lang="de-DE" b="1" dirty="0"/>
              <a:t>evaluation</a:t>
            </a:r>
            <a:r>
              <a:rPr lang="de-DE" dirty="0"/>
              <a:t> was performed using </a:t>
            </a:r>
            <a:r>
              <a:rPr lang="de-DE" b="1" dirty="0"/>
              <a:t>K-Fold-Crossvalidation</a:t>
            </a:r>
          </a:p>
          <a:p>
            <a:r>
              <a:rPr lang="de-DE" dirty="0"/>
              <a:t>-using 3 different evaluation scenarios </a:t>
            </a:r>
          </a:p>
          <a:p>
            <a:endParaRPr lang="de-DE" dirty="0"/>
          </a:p>
          <a:p>
            <a:r>
              <a:rPr lang="de-DE" dirty="0"/>
              <a:t>-------------------------------------------------------------------------------------------------------------------------</a:t>
            </a:r>
          </a:p>
          <a:p>
            <a:endParaRPr lang="de-DE" dirty="0"/>
          </a:p>
          <a:p>
            <a:r>
              <a:rPr lang="de-DE" dirty="0"/>
              <a:t>-first of all we implemented dataset preprocessing to create one preprocessed dataset cotaining all of the Raw bytes of the given QUT dataset </a:t>
            </a:r>
          </a:p>
          <a:p>
            <a:r>
              <a:rPr lang="de-DE" dirty="0"/>
              <a:t>-we also implemented a reverse engineering strategy to identify meaningful chunks of the bytes inside the given QUTdataset</a:t>
            </a:r>
          </a:p>
          <a:p>
            <a:pPr marL="171450" indent="-171450">
              <a:buFont typeface="Symbol" panose="05050102010706020507" pitchFamily="18" charset="2"/>
              <a:buChar char="Þ"/>
            </a:pPr>
            <a:r>
              <a:rPr lang="de-DE" dirty="0"/>
              <a:t>This then resulted in the RE dataset -&gt; which was further processed by concatinating a byte sequence of a certain length into smaller dataset representations RE5,RE10 and RE15</a:t>
            </a:r>
          </a:p>
          <a:p>
            <a:pPr marL="171450" indent="-171450">
              <a:buFont typeface="Symbol" panose="05050102010706020507" pitchFamily="18" charset="2"/>
              <a:buChar char="Þ"/>
            </a:pPr>
            <a:endParaRPr lang="de-DE" dirty="0"/>
          </a:p>
          <a:p>
            <a:pPr marL="0" indent="0">
              <a:buFont typeface="Symbol" panose="05050102010706020507" pitchFamily="18" charset="2"/>
              <a:buNone/>
            </a:pPr>
            <a:r>
              <a:rPr lang="de-DE" dirty="0"/>
              <a:t>-we implemented and evaluated many different models for the Anomaly Detection</a:t>
            </a:r>
          </a:p>
          <a:p>
            <a:pPr marL="171450" indent="-171450">
              <a:buFont typeface="Symbol" panose="05050102010706020507" pitchFamily="18" charset="2"/>
              <a:buChar char="Þ"/>
            </a:pPr>
            <a:r>
              <a:rPr lang="de-DE" dirty="0"/>
              <a:t>On the one hand we used standard ML classifiers, including outlier detectors and standard multiclass classifiers</a:t>
            </a:r>
          </a:p>
          <a:p>
            <a:pPr marL="171450" indent="-171450">
              <a:buFont typeface="Symbol" panose="05050102010706020507" pitchFamily="18" charset="2"/>
              <a:buChar char="Þ"/>
            </a:pPr>
            <a:r>
              <a:rPr lang="de-DE" dirty="0"/>
              <a:t>Then we had 3 other anomaly detection methods and two deep learning models which we implemented</a:t>
            </a:r>
          </a:p>
          <a:p>
            <a:pPr marL="171450" indent="-171450">
              <a:buFont typeface="Symbol" panose="05050102010706020507" pitchFamily="18" charset="2"/>
              <a:buChar char="Þ"/>
            </a:pPr>
            <a:endParaRPr lang="de-DE" dirty="0"/>
          </a:p>
          <a:p>
            <a:pPr marL="171450" indent="-171450">
              <a:buFont typeface="Symbol" panose="05050102010706020507" pitchFamily="18" charset="2"/>
              <a:buChar char="Þ"/>
            </a:pPr>
            <a:r>
              <a:rPr lang="de-DE" dirty="0"/>
              <a:t>3 different evaluation scenarios were used to evaluate the differernt models</a:t>
            </a:r>
          </a:p>
          <a:p>
            <a:pPr marL="171450" indent="-171450">
              <a:buFont typeface="Symbol" panose="05050102010706020507" pitchFamily="18" charset="2"/>
              <a:buChar char="Þ"/>
            </a:pPr>
            <a:r>
              <a:rPr lang="de-DE" dirty="0"/>
              <a:t>Scenario 1 suitable for all methods trained only on attack data and scenario 2 and 3 suitable for al models trained normal and attack data</a:t>
            </a:r>
          </a:p>
          <a:p>
            <a:pPr marL="0" indent="0">
              <a:buFont typeface="Symbol" panose="05050102010706020507" pitchFamily="18" charset="2"/>
              <a:buNone/>
            </a:pPr>
            <a:endParaRPr lang="de-DE" dirty="0"/>
          </a:p>
          <a:p>
            <a:pPr marL="0" marR="0" lvl="0" indent="0" algn="l" defTabSz="914400" rtl="0" eaLnBrk="1" fontAlgn="auto" latinLnBrk="0" hangingPunct="1">
              <a:lnSpc>
                <a:spcPct val="100000"/>
              </a:lnSpc>
              <a:spcBef>
                <a:spcPts val="0"/>
              </a:spcBef>
              <a:spcAft>
                <a:spcPts val="0"/>
              </a:spcAft>
              <a:buClrTx/>
              <a:buSzTx/>
              <a:buFont typeface="Symbol" panose="05050102010706020507" pitchFamily="18" charset="2"/>
              <a:buNone/>
              <a:tabLst/>
              <a:defRPr/>
            </a:pPr>
            <a:r>
              <a:rPr lang="de-DE" b="0" dirty="0"/>
              <a:t>-&gt;</a:t>
            </a:r>
            <a:r>
              <a:rPr lang="de-DE" dirty="0"/>
              <a:t>that were then evaluated using K-Fold in different evaluation scenarios</a:t>
            </a:r>
          </a:p>
          <a:p>
            <a:pPr marL="0" indent="0">
              <a:buFont typeface="Symbol" panose="05050102010706020507" pitchFamily="18" charset="2"/>
              <a:buNone/>
            </a:pPr>
            <a:endParaRPr lang="de-DE" dirty="0"/>
          </a:p>
          <a:p>
            <a:endParaRPr lang="de-DE" dirty="0"/>
          </a:p>
        </p:txBody>
      </p:sp>
      <p:sp>
        <p:nvSpPr>
          <p:cNvPr id="4" name="Foliennummernplatzhalter 3">
            <a:extLst>
              <a:ext uri="{FF2B5EF4-FFF2-40B4-BE49-F238E27FC236}">
                <a16:creationId xmlns:a16="http://schemas.microsoft.com/office/drawing/2014/main" id="{30856C55-19A6-475D-3669-7617CE03719B}"/>
              </a:ext>
            </a:extLst>
          </p:cNvPr>
          <p:cNvSpPr>
            <a:spLocks noGrp="1"/>
          </p:cNvSpPr>
          <p:nvPr>
            <p:ph type="sldNum" sz="quarter" idx="10"/>
          </p:nvPr>
        </p:nvSpPr>
        <p:spPr/>
        <p:txBody>
          <a:bodyPr/>
          <a:lstStyle/>
          <a:p>
            <a:fld id="{17F6ECB0-4EB5-411D-9EB7-90E2340D28B3}" type="slidenum">
              <a:rPr lang="de-DE" smtClean="0"/>
              <a:t>8</a:t>
            </a:fld>
            <a:endParaRPr lang="de-DE"/>
          </a:p>
        </p:txBody>
      </p:sp>
    </p:spTree>
    <p:extLst>
      <p:ext uri="{BB962C8B-B14F-4D97-AF65-F5344CB8AC3E}">
        <p14:creationId xmlns:p14="http://schemas.microsoft.com/office/powerpoint/2010/main" val="9563966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en-US" dirty="0">
                <a:effectLst/>
              </a:rPr>
              <a:t>to preprocess the dataset we started by extracting attack labels from the folder structure</a:t>
            </a:r>
          </a:p>
          <a:p>
            <a:pPr rtl="0"/>
            <a:r>
              <a:rPr lang="en-US" dirty="0">
                <a:effectLst/>
              </a:rPr>
              <a:t>-then we processed the </a:t>
            </a:r>
            <a:r>
              <a:rPr lang="en-US" dirty="0" err="1">
                <a:effectLst/>
              </a:rPr>
              <a:t>pcap</a:t>
            </a:r>
            <a:r>
              <a:rPr lang="en-US" dirty="0">
                <a:effectLst/>
              </a:rPr>
              <a:t> files and extracted the metadata for each packets (</a:t>
            </a:r>
            <a:r>
              <a:rPr lang="en-US" dirty="0" err="1">
                <a:effectLst/>
              </a:rPr>
              <a:t>includingtimestamps</a:t>
            </a:r>
            <a:r>
              <a:rPr lang="en-US" dirty="0">
                <a:effectLst/>
              </a:rPr>
              <a:t> , </a:t>
            </a:r>
            <a:r>
              <a:rPr lang="en-US" dirty="0" err="1">
                <a:effectLst/>
              </a:rPr>
              <a:t>ip</a:t>
            </a:r>
            <a:r>
              <a:rPr lang="en-US" dirty="0">
                <a:effectLst/>
              </a:rPr>
              <a:t> addresses, port numbers) </a:t>
            </a:r>
          </a:p>
          <a:p>
            <a:pPr rtl="0"/>
            <a:br>
              <a:rPr lang="en-US" dirty="0">
                <a:effectLst/>
              </a:rPr>
            </a:br>
            <a:r>
              <a:rPr lang="en-US" dirty="0">
                <a:effectLst/>
              </a:rPr>
              <a:t>-for the creation of our Raw dataset:</a:t>
            </a:r>
          </a:p>
          <a:p>
            <a:pPr rtl="0"/>
            <a:r>
              <a:rPr lang="en-US" dirty="0">
                <a:effectLst/>
              </a:rPr>
              <a:t>RAW:</a:t>
            </a:r>
          </a:p>
          <a:p>
            <a:pPr rtl="0"/>
            <a:r>
              <a:rPr lang="en-US" dirty="0">
                <a:effectLst/>
              </a:rPr>
              <a:t>-used all kinds of packets (also the ones without application layer and the ones not being s7comm</a:t>
            </a:r>
          </a:p>
          <a:p>
            <a:pPr rtl="0"/>
            <a:r>
              <a:rPr lang="en-US" dirty="0">
                <a:effectLst/>
              </a:rPr>
              <a:t>-used raw bytes (the entire packet including the IP, Ethernet and TCP header)</a:t>
            </a:r>
          </a:p>
          <a:p>
            <a:pPr rtl="0"/>
            <a:endParaRPr lang="en-US" dirty="0">
              <a:effectLst/>
            </a:endParaRPr>
          </a:p>
          <a:p>
            <a:pPr rtl="0"/>
            <a:r>
              <a:rPr lang="en-US" dirty="0">
                <a:effectLst/>
              </a:rPr>
              <a:t>RE:</a:t>
            </a:r>
          </a:p>
          <a:p>
            <a:pPr rtl="0"/>
            <a:r>
              <a:rPr lang="en-US" dirty="0">
                <a:effectLst/>
              </a:rPr>
              <a:t>-use only application data</a:t>
            </a:r>
          </a:p>
          <a:p>
            <a:pPr rtl="0"/>
            <a:r>
              <a:rPr lang="en-US" dirty="0">
                <a:effectLst/>
              </a:rPr>
              <a:t>-filter s7comm by verifying:</a:t>
            </a:r>
          </a:p>
          <a:p>
            <a:pPr rtl="0"/>
            <a:r>
              <a:rPr lang="en-US" dirty="0">
                <a:effectLst/>
              </a:rPr>
              <a:t>-</a:t>
            </a:r>
            <a:r>
              <a:rPr lang="en-US" dirty="0" err="1">
                <a:effectLst/>
              </a:rPr>
              <a:t>tcp</a:t>
            </a:r>
            <a:r>
              <a:rPr lang="en-US" dirty="0">
                <a:effectLst/>
              </a:rPr>
              <a:t> layer exists</a:t>
            </a:r>
          </a:p>
          <a:p>
            <a:pPr rtl="0"/>
            <a:r>
              <a:rPr lang="en-US" dirty="0">
                <a:effectLst/>
              </a:rPr>
              <a:t>-protocol no (102 in </a:t>
            </a:r>
            <a:r>
              <a:rPr lang="en-US" dirty="0" err="1">
                <a:effectLst/>
              </a:rPr>
              <a:t>srcport</a:t>
            </a:r>
            <a:r>
              <a:rPr lang="en-US" dirty="0">
                <a:effectLst/>
              </a:rPr>
              <a:t> or </a:t>
            </a:r>
            <a:r>
              <a:rPr lang="en-US" dirty="0" err="1">
                <a:effectLst/>
              </a:rPr>
              <a:t>dstport</a:t>
            </a:r>
            <a:r>
              <a:rPr lang="en-US" dirty="0">
                <a:effectLst/>
              </a:rPr>
              <a:t>)</a:t>
            </a:r>
          </a:p>
          <a:p>
            <a:pPr rtl="0"/>
            <a:r>
              <a:rPr lang="en-US" dirty="0">
                <a:effectLst/>
              </a:rPr>
              <a:t>-min length for TPKT (4)+ COTP(3) + S7(12) </a:t>
            </a:r>
          </a:p>
          <a:p>
            <a:pPr rtl="0"/>
            <a:r>
              <a:rPr lang="en-US" dirty="0">
                <a:effectLst/>
              </a:rPr>
              <a:t>=&gt; cut part of s7comm </a:t>
            </a:r>
            <a:r>
              <a:rPr lang="en-US" dirty="0" err="1">
                <a:effectLst/>
              </a:rPr>
              <a:t>tht</a:t>
            </a:r>
            <a:r>
              <a:rPr lang="en-US" dirty="0">
                <a:effectLst/>
              </a:rPr>
              <a:t> starts after the (position which we identified for the key word during the reverse engineering process </a:t>
            </a:r>
          </a:p>
          <a:p>
            <a:pPr rtl="0"/>
            <a:endParaRPr lang="en-US" sz="1200" b="0" i="0" kern="1200" dirty="0">
              <a:solidFill>
                <a:schemeClr val="tx1"/>
              </a:solidFill>
              <a:effectLst/>
              <a:latin typeface="+mn-lt"/>
              <a:ea typeface="+mn-ea"/>
              <a:cs typeface="+mn-cs"/>
            </a:endParaRP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10</a:t>
            </a:fld>
            <a:endParaRPr lang="de-DE"/>
          </a:p>
        </p:txBody>
      </p:sp>
    </p:spTree>
    <p:extLst>
      <p:ext uri="{BB962C8B-B14F-4D97-AF65-F5344CB8AC3E}">
        <p14:creationId xmlns:p14="http://schemas.microsoft.com/office/powerpoint/2010/main" val="41324709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objective</a:t>
            </a:r>
            <a:r>
              <a:rPr lang="en-US" dirty="0"/>
              <a:t> of the reverse engineering was to identify the keyword after which the physical readings are most likely to start</a:t>
            </a:r>
          </a:p>
          <a:p>
            <a:endParaRPr lang="en-US" dirty="0"/>
          </a:p>
          <a:p>
            <a:r>
              <a:rPr lang="en-US" dirty="0"/>
              <a:t>0. </a:t>
            </a:r>
            <a:r>
              <a:rPr lang="en-US" b="1" dirty="0"/>
              <a:t>Divide</a:t>
            </a:r>
            <a:r>
              <a:rPr lang="en-US" dirty="0"/>
              <a:t> the traffic </a:t>
            </a:r>
            <a:r>
              <a:rPr lang="en-US" b="1" dirty="0"/>
              <a:t>into communication sessions </a:t>
            </a:r>
            <a:r>
              <a:rPr lang="en-US" dirty="0"/>
              <a:t>(using IP –address + port number and a time window based on the inter arrival time) </a:t>
            </a:r>
          </a:p>
          <a:p>
            <a:r>
              <a:rPr lang="en-US" dirty="0"/>
              <a:t> -&gt; this would also separate traffic of different communication directions</a:t>
            </a:r>
          </a:p>
          <a:p>
            <a:pPr marL="228600" indent="-228600">
              <a:buAutoNum type="arabicPeriod"/>
            </a:pPr>
            <a:r>
              <a:rPr lang="en-US" dirty="0"/>
              <a:t>Perform progressive sequence alignment</a:t>
            </a:r>
          </a:p>
          <a:p>
            <a:pPr marL="228600" indent="-228600">
              <a:buAutoNum type="arabicPeriod"/>
            </a:pPr>
            <a:r>
              <a:rPr lang="en-US" dirty="0"/>
              <a:t>From the sequence alignment </a:t>
            </a:r>
            <a:r>
              <a:rPr lang="en-US" b="1" dirty="0"/>
              <a:t>define static fields as those that don’t change</a:t>
            </a:r>
            <a:r>
              <a:rPr lang="en-US" dirty="0"/>
              <a:t> among the messages and dynamics as those that change</a:t>
            </a:r>
          </a:p>
          <a:p>
            <a:pPr marL="228600" indent="-228600">
              <a:buAutoNum type="arabicPeriod"/>
            </a:pPr>
            <a:r>
              <a:rPr lang="en-US" dirty="0"/>
              <a:t>The static unit fields are then </a:t>
            </a:r>
            <a:r>
              <a:rPr lang="en-US" b="1" dirty="0"/>
              <a:t>merged</a:t>
            </a:r>
            <a:r>
              <a:rPr lang="en-US" dirty="0"/>
              <a:t> together</a:t>
            </a:r>
          </a:p>
          <a:p>
            <a:pPr marL="228600" indent="-228600">
              <a:buAutoNum type="arabicPeriod"/>
            </a:pPr>
            <a:r>
              <a:rPr lang="en-US" b="1" dirty="0"/>
              <a:t>For each remaining dynamic </a:t>
            </a:r>
            <a:r>
              <a:rPr lang="en-US" dirty="0"/>
              <a:t>field – </a:t>
            </a:r>
            <a:r>
              <a:rPr lang="en-US" b="1" dirty="0"/>
              <a:t>value based clusters </a:t>
            </a:r>
            <a:r>
              <a:rPr lang="en-US" dirty="0"/>
              <a:t>are created out of the remaining frame (behind the keyword candidate)</a:t>
            </a:r>
          </a:p>
          <a:p>
            <a:pPr marL="228600" indent="-228600">
              <a:buAutoNum type="arabicPeriod"/>
            </a:pPr>
            <a:endParaRPr lang="en-US" dirty="0"/>
          </a:p>
          <a:p>
            <a:pPr marL="0" indent="0">
              <a:buNone/>
            </a:pPr>
            <a:endParaRPr lang="en-US" dirty="0"/>
          </a:p>
          <a:p>
            <a:pPr marL="171450" indent="-171450">
              <a:buFont typeface="Symbol" panose="05050102010706020507" pitchFamily="18" charset="2"/>
              <a:buChar char="Þ"/>
            </a:pPr>
            <a:r>
              <a:rPr lang="en-US" dirty="0"/>
              <a:t>Finally the </a:t>
            </a:r>
            <a:r>
              <a:rPr lang="en-US" b="1" dirty="0"/>
              <a:t>similarity between clusters is measured </a:t>
            </a:r>
            <a:r>
              <a:rPr lang="en-US" dirty="0"/>
              <a:t>in order to identify most likely keyword candidates</a:t>
            </a:r>
          </a:p>
          <a:p>
            <a:pPr marL="171450" indent="-171450">
              <a:buFont typeface="Symbol" panose="05050102010706020507" pitchFamily="18" charset="2"/>
              <a:buChar char="Þ"/>
            </a:pPr>
            <a:endParaRPr lang="en-US" dirty="0"/>
          </a:p>
          <a:p>
            <a:pPr marL="228600" indent="-228600">
              <a:buAutoNum type="arabicPeriod"/>
            </a:pPr>
            <a:endParaRPr lang="en-US" dirty="0"/>
          </a:p>
          <a:p>
            <a:pPr marL="0" indent="0">
              <a:buNone/>
            </a:pPr>
            <a:r>
              <a:rPr lang="en-US" dirty="0"/>
              <a:t>-here you can see what the sequence alignment can look like </a:t>
            </a:r>
          </a:p>
          <a:p>
            <a:pPr marL="0" indent="0">
              <a:buNone/>
            </a:pPr>
            <a:r>
              <a:rPr lang="en-US" dirty="0"/>
              <a:t>-in this case the first 40 bytes of the alignment for the communication from Client to Server in one Session</a:t>
            </a:r>
          </a:p>
          <a:p>
            <a:pPr marL="0" indent="0">
              <a:buNone/>
            </a:pPr>
            <a:endParaRPr lang="en-US" dirty="0"/>
          </a:p>
          <a:p>
            <a:pPr marL="0" indent="0">
              <a:buNone/>
            </a:pPr>
            <a:endParaRPr lang="en-US" dirty="0"/>
          </a:p>
          <a:p>
            <a:pPr marL="0" indent="0">
              <a:buNone/>
            </a:pPr>
            <a:endParaRPr lang="en-US" dirty="0"/>
          </a:p>
          <a:p>
            <a:pPr marL="0" indent="0">
              <a:buNone/>
            </a:pPr>
            <a:r>
              <a:rPr lang="en-US" dirty="0"/>
              <a:t>-------------------------------------------------------------------------------------------------------</a:t>
            </a:r>
          </a:p>
          <a:p>
            <a:pPr marL="0" indent="0">
              <a:buNone/>
            </a:pPr>
            <a:endParaRPr lang="en-US" dirty="0"/>
          </a:p>
          <a:p>
            <a:pPr marL="0" indent="0">
              <a:buNone/>
            </a:pPr>
            <a:r>
              <a:rPr lang="en-US" dirty="0"/>
              <a:t>-communication session split based on IAT:</a:t>
            </a:r>
          </a:p>
          <a:p>
            <a:pPr marL="0" indent="0">
              <a:buNone/>
            </a:pPr>
            <a:endParaRPr lang="en-US" dirty="0"/>
          </a:p>
          <a:p>
            <a:pPr marL="0" indent="0">
              <a:buNone/>
            </a:pPr>
            <a:endParaRPr lang="en-US" dirty="0"/>
          </a:p>
          <a:p>
            <a:pPr marL="0" indent="0">
              <a:buNone/>
            </a:pPr>
            <a:endParaRPr lang="en-US" dirty="0"/>
          </a:p>
          <a:p>
            <a:pPr marL="0" indent="0">
              <a:buNone/>
            </a:pPr>
            <a:r>
              <a:rPr lang="en-US" dirty="0"/>
              <a:t>TODO: HOW DID WE PERFORM SEQUENCE ALIGNMENT – BACKUP</a:t>
            </a:r>
          </a:p>
          <a:p>
            <a:pPr marL="0" indent="0">
              <a:buNone/>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approach is inspired by progressive alignment (like </a:t>
            </a:r>
            <a:r>
              <a:rPr lang="en-US" dirty="0" err="1"/>
              <a:t>ClustalW</a:t>
            </a:r>
            <a:r>
              <a:rPr lang="en-US" dirty="0"/>
              <a:t>), but we use a simpler greedy guide strategy instead of a full guide tree and profile–profile alignment.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685800" lvl="1" indent="-228600">
              <a:buAutoNum type="arabicPeriod"/>
            </a:pPr>
            <a:r>
              <a:rPr lang="en-US" dirty="0"/>
              <a:t>Most similar messages are aligned first – remaining messages are added progressively </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11</a:t>
            </a:fld>
            <a:endParaRPr lang="de-DE"/>
          </a:p>
        </p:txBody>
      </p:sp>
    </p:spTree>
    <p:extLst>
      <p:ext uri="{BB962C8B-B14F-4D97-AF65-F5344CB8AC3E}">
        <p14:creationId xmlns:p14="http://schemas.microsoft.com/office/powerpoint/2010/main" val="20646915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We defined some constraints on which we can filter out some candidates, because not every candidate keyword is a legitimate keyword</a:t>
            </a:r>
            <a:endParaRPr lang="en-US" dirty="0"/>
          </a:p>
          <a:p>
            <a:endParaRPr lang="en-US" dirty="0"/>
          </a:p>
          <a:p>
            <a:pPr marL="800100" lvl="1" indent="-342900">
              <a:buFont typeface="+mj-lt"/>
              <a:buAutoNum type="arabicPeriod"/>
            </a:pPr>
            <a:r>
              <a:rPr lang="en-US" sz="1600" dirty="0"/>
              <a:t>Max keyword length: if we found a candidate longer than certain length, it should be excluded. </a:t>
            </a:r>
          </a:p>
          <a:p>
            <a:pPr marL="800100" lvl="1" indent="-342900">
              <a:buFont typeface="+mj-lt"/>
              <a:buAutoNum type="arabicPeriod"/>
            </a:pPr>
            <a:r>
              <a:rPr lang="en-US" sz="1600" dirty="0"/>
              <a:t>For the remaining candidates, we compute the following as probabilities: </a:t>
            </a:r>
          </a:p>
          <a:p>
            <a:pPr marL="1257300" lvl="2" indent="-342900">
              <a:buFont typeface="+mj-lt"/>
              <a:buAutoNum type="arabicPeriod"/>
            </a:pPr>
            <a:r>
              <a:rPr lang="en-US" sz="1400" dirty="0"/>
              <a:t>Message similarity (Pm): messages within the same cluster should have high number of identical bytes</a:t>
            </a:r>
          </a:p>
          <a:p>
            <a:pPr marL="1257300" lvl="2" indent="-342900">
              <a:buFont typeface="+mj-lt"/>
              <a:buAutoNum type="arabicPeriod"/>
            </a:pPr>
            <a:r>
              <a:rPr lang="en-US" sz="1400" dirty="0"/>
              <a:t>Remote coupling (</a:t>
            </a:r>
            <a:r>
              <a:rPr lang="en-US" sz="1400" dirty="0" err="1"/>
              <a:t>Pr</a:t>
            </a:r>
            <a:r>
              <a:rPr lang="en-US" sz="1400" dirty="0"/>
              <a:t>): client request should determine the server response. </a:t>
            </a:r>
          </a:p>
          <a:p>
            <a:pPr marL="1257300" lvl="2" indent="-342900">
              <a:buFont typeface="+mj-lt"/>
              <a:buAutoNum type="arabicPeriod"/>
            </a:pPr>
            <a:r>
              <a:rPr lang="en-US" sz="1400" dirty="0"/>
              <a:t>Structure coherence (Ps): messages within the same cluster should share the same field structure.</a:t>
            </a:r>
          </a:p>
          <a:p>
            <a:endParaRPr lang="en-US" dirty="0"/>
          </a:p>
          <a:p>
            <a:endParaRPr lang="en-US" dirty="0"/>
          </a:p>
          <a:p>
            <a:endParaRPr lang="en-US" dirty="0"/>
          </a:p>
          <a:p>
            <a:r>
              <a:rPr lang="en-US" dirty="0"/>
              <a:t>Message similarity: Between every message pair, we should compute # identical bytes divided by total number of bytes</a:t>
            </a:r>
          </a:p>
          <a:p>
            <a:r>
              <a:rPr lang="en-US" dirty="0"/>
              <a:t>This gives a matrix of similarity.</a:t>
            </a:r>
          </a:p>
          <a:p>
            <a:r>
              <a:rPr lang="en-US" dirty="0"/>
              <a:t>This similarity should be divided into: </a:t>
            </a:r>
          </a:p>
          <a:p>
            <a:r>
              <a:rPr lang="en-US" dirty="0"/>
              <a:t>   - </a:t>
            </a:r>
            <a:r>
              <a:rPr lang="en-US" dirty="0" err="1"/>
              <a:t>intrascore</a:t>
            </a:r>
            <a:r>
              <a:rPr lang="en-US" dirty="0"/>
              <a:t>: within the same cluster how much of them are similar to each other. </a:t>
            </a:r>
          </a:p>
          <a:p>
            <a:r>
              <a:rPr lang="en-US" dirty="0"/>
              <a:t>   - </a:t>
            </a:r>
            <a:r>
              <a:rPr lang="en-US" dirty="0" err="1"/>
              <a:t>interscore</a:t>
            </a:r>
            <a:r>
              <a:rPr lang="en-US" dirty="0"/>
              <a:t>: between different cluster how much of them are similar to each other.</a:t>
            </a:r>
          </a:p>
          <a:p>
            <a:r>
              <a:rPr lang="en-US" dirty="0"/>
              <a:t>We should define certain threshold t and compute the accuracy as Pm = 1 – (FMR + FNMR) / 2</a:t>
            </a:r>
          </a:p>
          <a:p>
            <a:r>
              <a:rPr lang="en-US" dirty="0"/>
              <a:t>FMR is False matching rate = (# </a:t>
            </a:r>
            <a:r>
              <a:rPr lang="en-US" dirty="0" err="1"/>
              <a:t>interscores</a:t>
            </a:r>
            <a:r>
              <a:rPr lang="en-US" dirty="0"/>
              <a:t> &gt; threshold) / total inter score</a:t>
            </a:r>
          </a:p>
          <a:p>
            <a:r>
              <a:rPr lang="en-US" dirty="0"/>
              <a:t>In other words, it defines how many of the packets within different cluster are similar to each other.</a:t>
            </a:r>
          </a:p>
          <a:p>
            <a:r>
              <a:rPr lang="en-US" dirty="0"/>
              <a:t>(e.g. they are in the same cluster, but they are not similar to each other)</a:t>
            </a:r>
          </a:p>
          <a:p>
            <a:endParaRPr lang="en-US" dirty="0"/>
          </a:p>
          <a:p>
            <a:endParaRPr lang="en-US" dirty="0"/>
          </a:p>
          <a:p>
            <a:r>
              <a:rPr lang="en-US" dirty="0"/>
              <a:t>FNMR is False non matching rate = ( # </a:t>
            </a:r>
            <a:r>
              <a:rPr lang="en-US" dirty="0" err="1"/>
              <a:t>intrascore</a:t>
            </a:r>
            <a:r>
              <a:rPr lang="en-US" dirty="0"/>
              <a:t> &lt; threshold ) / total intra score</a:t>
            </a:r>
          </a:p>
          <a:p>
            <a:r>
              <a:rPr lang="en-US" dirty="0"/>
              <a:t>In other words it defines how many of packets within different clusters are similar to each other. </a:t>
            </a:r>
          </a:p>
          <a:p>
            <a:r>
              <a:rPr lang="en-US" dirty="0"/>
              <a:t>(e.g. they are in different clusters, but they are similar to each other). </a:t>
            </a:r>
          </a:p>
          <a:p>
            <a:endParaRPr lang="en-US" dirty="0"/>
          </a:p>
          <a:p>
            <a:r>
              <a:rPr lang="en-US" dirty="0"/>
              <a:t>High pm -&gt; good keyword, Low pm -&gt; bad keyword. </a:t>
            </a:r>
          </a:p>
          <a:p>
            <a:endParaRPr lang="en-US" dirty="0"/>
          </a:p>
          <a:p>
            <a:endParaRPr lang="en-US" dirty="0"/>
          </a:p>
          <a:p>
            <a:r>
              <a:rPr lang="en-US" dirty="0"/>
              <a:t>Remote coupling: This evaluate how well client clusters corresponds to server clusters</a:t>
            </a:r>
          </a:p>
          <a:p>
            <a:r>
              <a:rPr lang="en-US" dirty="0"/>
              <a:t>The process goes as follow: </a:t>
            </a:r>
          </a:p>
          <a:p>
            <a:r>
              <a:rPr lang="en-US" dirty="0"/>
              <a:t>   1. We cluster client-to-server messages.</a:t>
            </a:r>
          </a:p>
          <a:p>
            <a:r>
              <a:rPr lang="en-US" dirty="0"/>
              <a:t>   2. We cluster server-to-client messages.</a:t>
            </a:r>
          </a:p>
          <a:p>
            <a:r>
              <a:rPr lang="en-US" dirty="0"/>
              <a:t>   3. then we pair messages by TCP session order. </a:t>
            </a:r>
          </a:p>
          <a:p>
            <a:r>
              <a:rPr lang="en-US" dirty="0"/>
              <a:t>Then for each client cluster: </a:t>
            </a:r>
          </a:p>
          <a:p>
            <a:r>
              <a:rPr lang="en-US" dirty="0"/>
              <a:t>   N: number of client messages in this cluster</a:t>
            </a:r>
          </a:p>
          <a:p>
            <a:r>
              <a:rPr lang="en-US" dirty="0"/>
              <a:t>   M: largest # of corresponding server messages that fall into same server cluster</a:t>
            </a:r>
          </a:p>
          <a:p>
            <a:r>
              <a:rPr lang="en-US" dirty="0"/>
              <a:t>Then we compute remote coupling: </a:t>
            </a:r>
          </a:p>
          <a:p>
            <a:r>
              <a:rPr lang="en-US" dirty="0"/>
              <a:t>   </a:t>
            </a:r>
            <a:r>
              <a:rPr lang="en-US" dirty="0" err="1"/>
              <a:t>Pr</a:t>
            </a:r>
            <a:r>
              <a:rPr lang="en-US" dirty="0"/>
              <a:t> = M / N</a:t>
            </a:r>
          </a:p>
          <a:p>
            <a:r>
              <a:rPr lang="en-US" dirty="0"/>
              <a:t>So </a:t>
            </a:r>
            <a:r>
              <a:rPr lang="en-US" dirty="0" err="1"/>
              <a:t>Pr</a:t>
            </a:r>
            <a:r>
              <a:rPr lang="en-US" dirty="0"/>
              <a:t> evaluate what Is the probability that this cluster shows good cluster, because all client messages should have the same server response. </a:t>
            </a:r>
          </a:p>
          <a:p>
            <a:endParaRPr lang="en-US" dirty="0"/>
          </a:p>
          <a:p>
            <a:r>
              <a:rPr lang="en-US" dirty="0"/>
              <a:t>Then high </a:t>
            </a:r>
            <a:r>
              <a:rPr lang="en-US" dirty="0" err="1"/>
              <a:t>Pr</a:t>
            </a:r>
            <a:r>
              <a:rPr lang="en-US" dirty="0"/>
              <a:t> means good keyword candidate, because </a:t>
            </a:r>
            <a:r>
              <a:rPr lang="en-US" dirty="0" err="1"/>
              <a:t>cliend</a:t>
            </a:r>
            <a:r>
              <a:rPr lang="en-US" dirty="0"/>
              <a:t> request should determine server response. </a:t>
            </a:r>
          </a:p>
          <a:p>
            <a:endParaRPr lang="en-US" dirty="0"/>
          </a:p>
          <a:p>
            <a:endParaRPr lang="en-US" dirty="0"/>
          </a:p>
          <a:p>
            <a:r>
              <a:rPr lang="en-US" dirty="0"/>
              <a:t>3. Structure coherence: </a:t>
            </a:r>
          </a:p>
          <a:p>
            <a:r>
              <a:rPr lang="en-US" dirty="0"/>
              <a:t>   - The main idea is that messages of the same type should have similar aligned structure. </a:t>
            </a:r>
          </a:p>
          <a:p>
            <a:r>
              <a:rPr lang="en-US" dirty="0"/>
              <a:t>The process is as follow: </a:t>
            </a:r>
          </a:p>
          <a:p>
            <a:r>
              <a:rPr lang="en-US" dirty="0"/>
              <a:t>   - For each cluster</a:t>
            </a:r>
          </a:p>
          <a:p>
            <a:r>
              <a:rPr lang="en-US" dirty="0"/>
              <a:t>       - re-align messages inside the cluster</a:t>
            </a:r>
          </a:p>
          <a:p>
            <a:r>
              <a:rPr lang="en-US" dirty="0"/>
              <a:t>       - count the number of gaps per message</a:t>
            </a:r>
          </a:p>
          <a:p>
            <a:r>
              <a:rPr lang="en-US" dirty="0"/>
              <a:t>   - compute Ps = 1 – (average gaps / aligned length)</a:t>
            </a:r>
          </a:p>
          <a:p>
            <a:endParaRPr lang="en-US" dirty="0"/>
          </a:p>
          <a:p>
            <a:r>
              <a:rPr lang="en-US" dirty="0"/>
              <a:t>High Ps means good keyword candidate. </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12</a:t>
            </a:fld>
            <a:endParaRPr lang="de-DE"/>
          </a:p>
        </p:txBody>
      </p:sp>
    </p:spTree>
    <p:extLst>
      <p:ext uri="{BB962C8B-B14F-4D97-AF65-F5344CB8AC3E}">
        <p14:creationId xmlns:p14="http://schemas.microsoft.com/office/powerpoint/2010/main" val="25003283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Bef>
                <a:spcPts val="1001"/>
              </a:spcBef>
              <a:buClr>
                <a:srgbClr val="000000"/>
              </a:buClr>
              <a:buFont typeface="Arial"/>
              <a:buChar char="•"/>
            </a:pPr>
            <a:r>
              <a:rPr lang="en-US" sz="1700" dirty="0">
                <a:latin typeface="Bierstadt"/>
              </a:rPr>
              <a:t>Appending of physical reading sequence</a:t>
            </a:r>
          </a:p>
          <a:p>
            <a:pPr lvl="1">
              <a:spcBef>
                <a:spcPts val="1001"/>
              </a:spcBef>
              <a:buClr>
                <a:srgbClr val="000000"/>
              </a:buClr>
              <a:buFont typeface="Arial"/>
              <a:buChar char="•"/>
            </a:pPr>
            <a:r>
              <a:rPr lang="en-US" sz="1600" dirty="0">
                <a:latin typeface="Bierstadt"/>
              </a:rPr>
              <a:t>After we managed to extract the best candidate keyword, we extracted the physical reading sequence after each byte. </a:t>
            </a:r>
          </a:p>
          <a:p>
            <a:pPr lvl="1">
              <a:spcBef>
                <a:spcPts val="499"/>
              </a:spcBef>
              <a:buClr>
                <a:srgbClr val="000000"/>
              </a:buClr>
              <a:buFont typeface="Arial"/>
              <a:buChar char="•"/>
            </a:pPr>
            <a:r>
              <a:rPr lang="en-US" sz="1600" dirty="0">
                <a:latin typeface="Bierstadt"/>
              </a:rPr>
              <a:t>It was asked for the reverse engineering packets for a given value of p, to concatenate  physical reading bytes for p consecutive packets into one single packet.</a:t>
            </a:r>
          </a:p>
          <a:p>
            <a:pPr lvl="1">
              <a:spcBef>
                <a:spcPts val="499"/>
              </a:spcBef>
              <a:buClr>
                <a:srgbClr val="000000"/>
              </a:buClr>
              <a:buFont typeface="Arial"/>
              <a:buChar char="•"/>
            </a:pPr>
            <a:r>
              <a:rPr lang="en-US" sz="1600" dirty="0">
                <a:latin typeface="Bierstadt"/>
              </a:rPr>
              <a:t>The main goal is to focus on the extracted physical readings as the main features instead of the full packets, and to evaluate how aggregating multiple consecutive readings (p = 5, 10, 15) captures temporal behavior relevant to anomaly detection.</a:t>
            </a:r>
          </a:p>
          <a:p>
            <a:endParaRPr lang="de-DE" sz="1700"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13</a:t>
            </a:fld>
            <a:endParaRPr lang="de-DE"/>
          </a:p>
        </p:txBody>
      </p:sp>
    </p:spTree>
    <p:extLst>
      <p:ext uri="{BB962C8B-B14F-4D97-AF65-F5344CB8AC3E}">
        <p14:creationId xmlns:p14="http://schemas.microsoft.com/office/powerpoint/2010/main" val="396493419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None/>
                </a:pPr>
                <a:r>
                  <a:rPr lang="en-US" dirty="0"/>
                  <a:t>-for our project we implemented a SDA</a:t>
                </a:r>
              </a:p>
              <a:p>
                <a:pPr marL="0" indent="0">
                  <a:buNone/>
                </a:pPr>
                <a:endParaRPr lang="en-US" dirty="0"/>
              </a:p>
              <a:p>
                <a:pPr marL="0" indent="0">
                  <a:buNone/>
                </a:pPr>
                <a:r>
                  <a:rPr lang="en-US" dirty="0"/>
                  <a:t>-one </a:t>
                </a:r>
                <a:r>
                  <a:rPr lang="en-US" b="1" dirty="0"/>
                  <a:t>use case for the SDA </a:t>
                </a:r>
                <a:r>
                  <a:rPr lang="en-US" dirty="0"/>
                  <a:t>was to extract features from the byte-vectors inside the preprocessed dataset representations</a:t>
                </a:r>
              </a:p>
              <a:p>
                <a:pPr marL="0" indent="0">
                  <a:buNone/>
                </a:pPr>
                <a:r>
                  <a:rPr lang="en-US" dirty="0"/>
                  <a:t> (which were then used as </a:t>
                </a:r>
                <a:r>
                  <a:rPr lang="en-US" b="1" i="1" dirty="0"/>
                  <a:t>input</a:t>
                </a:r>
                <a:r>
                  <a:rPr lang="en-US" dirty="0"/>
                  <a:t> </a:t>
                </a:r>
                <a:r>
                  <a:rPr lang="en-US" b="1" dirty="0"/>
                  <a:t>for</a:t>
                </a:r>
                <a:r>
                  <a:rPr lang="en-US" dirty="0"/>
                  <a:t> all the </a:t>
                </a:r>
                <a:r>
                  <a:rPr lang="en-US" b="1" dirty="0"/>
                  <a:t>traditional ML based </a:t>
                </a:r>
                <a:r>
                  <a:rPr lang="en-US" dirty="0"/>
                  <a:t>detection methods)</a:t>
                </a:r>
              </a:p>
              <a:p>
                <a:pPr marL="514350" indent="-514350">
                  <a:buAutoNum type="arabicPeriod"/>
                </a:pPr>
                <a:endParaRPr lang="en-US" dirty="0"/>
              </a:p>
              <a:p>
                <a:pPr marL="0" indent="0">
                  <a:buNone/>
                </a:pPr>
                <a:r>
                  <a:rPr lang="en-US" dirty="0"/>
                  <a:t>0. prepare the input for the autoencoder: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-each byte-vector (inside representation)</a:t>
                </a:r>
                <a:r>
                  <a:rPr lang="en-US" baseline="0" dirty="0"/>
                  <a:t> </a:t>
                </a:r>
                <a:r>
                  <a:rPr lang="en-US" dirty="0"/>
                  <a:t>was </a:t>
                </a:r>
                <a:r>
                  <a:rPr lang="en-US" b="1" dirty="0"/>
                  <a:t>padded with zeros/truncated to a fixed length </a:t>
                </a:r>
                <a14:m>
                  <m:oMath xmlns:m="http://schemas.openxmlformats.org/officeDocument/2006/math">
                    <m:r>
                      <a:rPr lang="en-US" sz="1200" b="1" i="1" kern="1200">
                        <a:solidFill>
                          <a:schemeClr val="tx1"/>
                        </a:solidFill>
                        <a:latin typeface="Cambria Math" panose="02040503050406030204" pitchFamily="18" charset="0"/>
                        <a:ea typeface="+mn-ea"/>
                        <a:cs typeface="+mn-cs"/>
                      </a:rPr>
                      <m:t>𝑴</m:t>
                    </m:r>
                  </m:oMath>
                </a14:m>
                <a:r>
                  <a:rPr lang="en-US" b="1" dirty="0"/>
                  <a:t> </a:t>
                </a:r>
                <a:r>
                  <a:rPr lang="en-US" dirty="0"/>
                  <a:t>and normalized (to values between 0/1)</a:t>
                </a:r>
              </a:p>
              <a:p>
                <a:pPr marL="171450" indent="-171450">
                  <a:buFont typeface="Symbol" panose="05050102010706020507" pitchFamily="18" charset="2"/>
                  <a:buChar char="Þ"/>
                </a:pPr>
                <a:endParaRPr lang="en-US" dirty="0"/>
              </a:p>
              <a:p>
                <a:pPr marL="0" indent="0">
                  <a:buFont typeface="Symbol" panose="05050102010706020507" pitchFamily="18" charset="2"/>
                  <a:buNone/>
                </a:pPr>
                <a:r>
                  <a:rPr lang="en-US" dirty="0"/>
                  <a:t>(For the experiments we set M to the length of the longest packet in the </a:t>
                </a:r>
                <a:r>
                  <a:rPr lang="de-DE" dirty="0"/>
                  <a:t>representation)</a:t>
                </a:r>
              </a:p>
              <a:p>
                <a:pPr marL="0" indent="0">
                  <a:buFont typeface="Symbol" panose="05050102010706020507" pitchFamily="18" charset="2"/>
                  <a:buNone/>
                </a:pPr>
                <a:endParaRPr lang="en-US" dirty="0"/>
              </a:p>
              <a:p>
                <a:pPr marL="228600" indent="-228600">
                  <a:buFont typeface="Symbol" panose="05050102010706020507" pitchFamily="18" charset="2"/>
                  <a:buAutoNum type="arabicPeriod"/>
                </a:pPr>
                <a:r>
                  <a:rPr lang="en-US" b="1" dirty="0"/>
                  <a:t>Trained the Autoencoder on </a:t>
                </a:r>
                <a:r>
                  <a:rPr lang="en-US" b="1" dirty="0" err="1"/>
                  <a:t>benigne</a:t>
                </a:r>
                <a:r>
                  <a:rPr lang="en-US" b="1" dirty="0"/>
                  <a:t> </a:t>
                </a:r>
                <a:r>
                  <a:rPr lang="en-US" dirty="0"/>
                  <a:t>(</a:t>
                </a:r>
                <a:r>
                  <a:rPr lang="en-US" dirty="0" err="1"/>
                  <a:t>bä-nein</a:t>
                </a:r>
                <a:r>
                  <a:rPr lang="en-US" dirty="0"/>
                  <a:t>) data of the different representations</a:t>
                </a:r>
              </a:p>
              <a:p>
                <a:pPr marL="228600" indent="-228600">
                  <a:buFont typeface="Symbol" panose="05050102010706020507" pitchFamily="18" charset="2"/>
                  <a:buAutoNum type="arabicPeriod"/>
                </a:pPr>
                <a:r>
                  <a:rPr lang="en-US" dirty="0"/>
                  <a:t>Used it to </a:t>
                </a:r>
                <a:r>
                  <a:rPr lang="en-US" b="1" dirty="0"/>
                  <a:t>Encode all byte-vectors </a:t>
                </a:r>
                <a:r>
                  <a:rPr lang="en-US" dirty="0"/>
                  <a:t>from the corresponding representations</a:t>
                </a:r>
              </a:p>
              <a:p>
                <a:pPr marL="171450" indent="-171450">
                  <a:buFont typeface="Symbol" panose="05050102010706020507" pitchFamily="18" charset="2"/>
                  <a:buChar char="Þ"/>
                </a:pPr>
                <a:r>
                  <a:rPr lang="en-US" dirty="0"/>
                  <a:t>For this we </a:t>
                </a:r>
                <a:r>
                  <a:rPr lang="en-US" b="1" dirty="0"/>
                  <a:t>made a prediction </a:t>
                </a:r>
                <a:r>
                  <a:rPr lang="en-US" dirty="0"/>
                  <a:t>and </a:t>
                </a:r>
                <a:r>
                  <a:rPr lang="en-US" b="1" dirty="0"/>
                  <a:t>extracted</a:t>
                </a:r>
                <a:r>
                  <a:rPr lang="en-US" dirty="0"/>
                  <a:t> the </a:t>
                </a:r>
                <a:r>
                  <a:rPr lang="en-US" b="1" dirty="0"/>
                  <a:t>results from the bottleneck layer</a:t>
                </a:r>
              </a:p>
              <a:p>
                <a:pPr marL="0" indent="0">
                  <a:buFont typeface="Symbol" panose="05050102010706020507" pitchFamily="18" charset="2"/>
                  <a:buNone/>
                </a:pPr>
                <a:endParaRPr lang="en-US" dirty="0"/>
              </a:p>
              <a:p>
                <a:pPr marL="0" indent="0">
                  <a:buFont typeface="Symbol" panose="05050102010706020507" pitchFamily="18" charset="2"/>
                  <a:buNone/>
                </a:pPr>
                <a:r>
                  <a:rPr lang="en-US" dirty="0"/>
                  <a:t>(output: </a:t>
                </a:r>
                <a:r>
                  <a:rPr lang="en-US" dirty="0" err="1"/>
                  <a:t>fature</a:t>
                </a:r>
                <a:r>
                  <a:rPr lang="en-US" dirty="0"/>
                  <a:t> vector with 32 elements per input byte-vector)</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pPr marL="0" indent="0">
                  <a:buFont typeface="Symbol" panose="05050102010706020507" pitchFamily="18" charset="2"/>
                  <a:buNone/>
                </a:pPr>
                <a:r>
                  <a:rPr lang="de-DE" dirty="0"/>
                  <a:t>-----------------------------------------------------</a:t>
                </a:r>
              </a:p>
              <a:p>
                <a:pPr marL="0" indent="0">
                  <a:buFont typeface="Symbol" panose="05050102010706020507" pitchFamily="18" charset="2"/>
                  <a:buNone/>
                </a:pPr>
                <a:endParaRPr lang="de-DE" dirty="0"/>
              </a:p>
              <a:p>
                <a:pPr marL="514350" indent="-514350">
                  <a:buFont typeface="+mj-lt"/>
                  <a:buAutoNum type="arabicPeriod"/>
                </a:pPr>
                <a:r>
                  <a:rPr lang="de-DE" dirty="0"/>
                  <a:t>Tranform each packet to a fixed length vector M (pad/truncate) and  normalize values to [0,1]</a:t>
                </a:r>
              </a:p>
              <a:p>
                <a:pPr marL="514350" indent="-514350">
                  <a:buFont typeface="+mj-lt"/>
                  <a:buAutoNum type="arabicPeriod"/>
                </a:pPr>
                <a:r>
                  <a:rPr lang="de-DE" dirty="0"/>
                  <a:t>Train SDA on the training split (normal packets only)</a:t>
                </a:r>
              </a:p>
              <a:p>
                <a:pPr marL="514350" indent="-514350">
                  <a:buFont typeface="+mj-lt"/>
                  <a:buAutoNum type="arabicPeriod"/>
                </a:pPr>
                <a:r>
                  <a:rPr lang="de-DE" dirty="0"/>
                  <a:t>Use the trained encoder to transform all packets into latent vectors </a:t>
                </a:r>
              </a:p>
              <a:p>
                <a:pPr marL="514350" indent="-514350">
                  <a:buFont typeface="+mj-lt"/>
                  <a:buAutoNum type="arabicPeriod"/>
                </a:pPr>
                <a:r>
                  <a:rPr lang="de-DE" dirty="0"/>
                  <a:t>Extract the latent feature vectors from the bottleneck (encoding) layer</a:t>
                </a:r>
              </a:p>
              <a:p>
                <a:pPr marL="0" indent="0">
                  <a:buFont typeface="Symbol" panose="05050102010706020507" pitchFamily="18" charset="2"/>
                  <a:buNone/>
                </a:pPr>
                <a:endParaRPr lang="en-US" dirty="0"/>
              </a:p>
              <a:p>
                <a:endParaRPr lang="de-DE" dirty="0"/>
              </a:p>
            </p:txBody>
          </p:sp>
        </mc:Choice>
        <mc:Fallback xmlns="">
          <p:sp>
            <p:nvSpPr>
              <p:cNvPr id="3" name="Notes Placeholder 2"/>
              <p:cNvSpPr>
                <a:spLocks noGrp="1"/>
              </p:cNvSpPr>
              <p:nvPr>
                <p:ph type="body" idx="1"/>
              </p:nvPr>
            </p:nvSpPr>
            <p:spPr/>
            <p:txBody>
              <a:bodyPr/>
              <a:lstStyle/>
              <a:p>
                <a:pPr marL="0" indent="0">
                  <a:buNone/>
                </a:pPr>
                <a:r>
                  <a:rPr lang="en-US" dirty="0"/>
                  <a:t>-for our project we implemented a SDA</a:t>
                </a:r>
              </a:p>
              <a:p>
                <a:pPr marL="0" indent="0">
                  <a:buNone/>
                </a:pPr>
                <a:endParaRPr lang="en-US" dirty="0"/>
              </a:p>
              <a:p>
                <a:pPr marL="0" indent="0">
                  <a:buNone/>
                </a:pPr>
                <a:r>
                  <a:rPr lang="en-US" dirty="0"/>
                  <a:t>-one </a:t>
                </a:r>
                <a:r>
                  <a:rPr lang="en-US" b="1" dirty="0"/>
                  <a:t>use case for the SDA </a:t>
                </a:r>
                <a:r>
                  <a:rPr lang="en-US" dirty="0"/>
                  <a:t>was to extract features from the byte-vectors inside the preprocessed dataset representations</a:t>
                </a:r>
              </a:p>
              <a:p>
                <a:pPr marL="0" indent="0">
                  <a:buNone/>
                </a:pPr>
                <a:r>
                  <a:rPr lang="en-US" dirty="0"/>
                  <a:t> (which were then used as </a:t>
                </a:r>
                <a:r>
                  <a:rPr lang="en-US" b="1" i="1" dirty="0"/>
                  <a:t>input</a:t>
                </a:r>
                <a:r>
                  <a:rPr lang="en-US" dirty="0"/>
                  <a:t> </a:t>
                </a:r>
                <a:r>
                  <a:rPr lang="en-US" b="1" dirty="0"/>
                  <a:t>for</a:t>
                </a:r>
                <a:r>
                  <a:rPr lang="en-US" dirty="0"/>
                  <a:t> all the </a:t>
                </a:r>
                <a:r>
                  <a:rPr lang="en-US" b="1" dirty="0"/>
                  <a:t>traditional ML based </a:t>
                </a:r>
                <a:r>
                  <a:rPr lang="en-US" dirty="0"/>
                  <a:t>detection methods)</a:t>
                </a:r>
              </a:p>
              <a:p>
                <a:pPr marL="514350" indent="-514350">
                  <a:buAutoNum type="arabicPeriod"/>
                </a:pPr>
                <a:endParaRPr lang="en-US" dirty="0"/>
              </a:p>
              <a:p>
                <a:pPr marL="0" indent="0">
                  <a:buNone/>
                </a:pPr>
                <a:r>
                  <a:rPr lang="en-US" dirty="0"/>
                  <a:t>0. prepare the input for the autoencoder: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-each byte-vector (inside representation)</a:t>
                </a:r>
                <a:r>
                  <a:rPr lang="en-US" baseline="0" dirty="0"/>
                  <a:t> </a:t>
                </a:r>
                <a:r>
                  <a:rPr lang="en-US" dirty="0"/>
                  <a:t>was </a:t>
                </a:r>
                <a:r>
                  <a:rPr lang="en-US" b="1" dirty="0"/>
                  <a:t>padded with zeros/truncated to a fixed length </a:t>
                </a:r>
                <a:r>
                  <a:rPr lang="en-US" sz="1200" b="1" i="0" kern="1200">
                    <a:solidFill>
                      <a:schemeClr val="tx1"/>
                    </a:solidFill>
                    <a:latin typeface="Cambria Math" panose="02040503050406030204" pitchFamily="18" charset="0"/>
                    <a:ea typeface="+mn-ea"/>
                    <a:cs typeface="+mn-cs"/>
                  </a:rPr>
                  <a:t>𝑴</a:t>
                </a:r>
                <a:r>
                  <a:rPr lang="en-US" b="1" dirty="0"/>
                  <a:t> </a:t>
                </a:r>
                <a:r>
                  <a:rPr lang="en-US" dirty="0"/>
                  <a:t>and normalized (to values between 0/1)</a:t>
                </a:r>
              </a:p>
              <a:p>
                <a:pPr marL="171450" indent="-171450">
                  <a:buFont typeface="Symbol" panose="05050102010706020507" pitchFamily="18" charset="2"/>
                  <a:buChar char="Þ"/>
                </a:pPr>
                <a:endParaRPr lang="en-US" dirty="0"/>
              </a:p>
              <a:p>
                <a:pPr marL="0" indent="0">
                  <a:buFont typeface="Symbol" panose="05050102010706020507" pitchFamily="18" charset="2"/>
                  <a:buNone/>
                </a:pPr>
                <a:r>
                  <a:rPr lang="en-US" dirty="0"/>
                  <a:t>(For the experiments we set M to the length of the longest packet in the </a:t>
                </a:r>
                <a:r>
                  <a:rPr lang="de-DE" dirty="0"/>
                  <a:t>representation)</a:t>
                </a:r>
              </a:p>
              <a:p>
                <a:pPr marL="0" indent="0">
                  <a:buFont typeface="Symbol" panose="05050102010706020507" pitchFamily="18" charset="2"/>
                  <a:buNone/>
                </a:pPr>
                <a:endParaRPr lang="en-US" dirty="0"/>
              </a:p>
              <a:p>
                <a:pPr marL="228600" indent="-228600">
                  <a:buFont typeface="Symbol" panose="05050102010706020507" pitchFamily="18" charset="2"/>
                  <a:buAutoNum type="arabicPeriod"/>
                </a:pPr>
                <a:r>
                  <a:rPr lang="en-US" b="1" dirty="0"/>
                  <a:t>Trained the Autoencoder on </a:t>
                </a:r>
                <a:r>
                  <a:rPr lang="en-US" b="1" dirty="0" err="1"/>
                  <a:t>benigne</a:t>
                </a:r>
                <a:r>
                  <a:rPr lang="en-US" b="1" dirty="0"/>
                  <a:t> </a:t>
                </a:r>
                <a:r>
                  <a:rPr lang="en-US" dirty="0"/>
                  <a:t>(</a:t>
                </a:r>
                <a:r>
                  <a:rPr lang="en-US" dirty="0" err="1"/>
                  <a:t>bä-nein</a:t>
                </a:r>
                <a:r>
                  <a:rPr lang="en-US" dirty="0"/>
                  <a:t>) data of the different representations</a:t>
                </a:r>
              </a:p>
              <a:p>
                <a:pPr marL="228600" indent="-228600">
                  <a:buFont typeface="Symbol" panose="05050102010706020507" pitchFamily="18" charset="2"/>
                  <a:buAutoNum type="arabicPeriod"/>
                </a:pPr>
                <a:r>
                  <a:rPr lang="en-US" dirty="0"/>
                  <a:t>Used it to </a:t>
                </a:r>
                <a:r>
                  <a:rPr lang="en-US" b="1" dirty="0"/>
                  <a:t>Encode all byte-vectors </a:t>
                </a:r>
                <a:r>
                  <a:rPr lang="en-US" dirty="0"/>
                  <a:t>from the corresponding representations</a:t>
                </a:r>
              </a:p>
              <a:p>
                <a:pPr marL="171450" indent="-171450">
                  <a:buFont typeface="Symbol" panose="05050102010706020507" pitchFamily="18" charset="2"/>
                  <a:buChar char="Þ"/>
                </a:pPr>
                <a:r>
                  <a:rPr lang="en-US" dirty="0"/>
                  <a:t>For this we </a:t>
                </a:r>
                <a:r>
                  <a:rPr lang="en-US" b="1" dirty="0"/>
                  <a:t>made a prediction </a:t>
                </a:r>
                <a:r>
                  <a:rPr lang="en-US" dirty="0"/>
                  <a:t>and </a:t>
                </a:r>
                <a:r>
                  <a:rPr lang="en-US" b="1" dirty="0"/>
                  <a:t>extracted</a:t>
                </a:r>
                <a:r>
                  <a:rPr lang="en-US" dirty="0"/>
                  <a:t> the </a:t>
                </a:r>
                <a:r>
                  <a:rPr lang="en-US" b="1" dirty="0"/>
                  <a:t>results from the bottleneck layer</a:t>
                </a:r>
              </a:p>
              <a:p>
                <a:pPr marL="0" indent="0">
                  <a:buFont typeface="Symbol" panose="05050102010706020507" pitchFamily="18" charset="2"/>
                  <a:buNone/>
                </a:pPr>
                <a:endParaRPr lang="en-US" dirty="0"/>
              </a:p>
              <a:p>
                <a:pPr marL="0" indent="0">
                  <a:buFont typeface="Symbol" panose="05050102010706020507" pitchFamily="18" charset="2"/>
                  <a:buNone/>
                </a:pPr>
                <a:r>
                  <a:rPr lang="en-US" dirty="0"/>
                  <a:t>(output: </a:t>
                </a:r>
                <a:r>
                  <a:rPr lang="en-US" dirty="0" err="1"/>
                  <a:t>fature</a:t>
                </a:r>
                <a:r>
                  <a:rPr lang="en-US" dirty="0"/>
                  <a:t> vector with 32 elements per input byte-vector)</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pPr marL="0" indent="0">
                  <a:buFont typeface="Symbol" panose="05050102010706020507" pitchFamily="18" charset="2"/>
                  <a:buNone/>
                </a:pPr>
                <a:r>
                  <a:rPr lang="de-DE" dirty="0"/>
                  <a:t>-----------------------------------------------------</a:t>
                </a:r>
              </a:p>
              <a:p>
                <a:pPr marL="0" indent="0">
                  <a:buFont typeface="Symbol" panose="05050102010706020507" pitchFamily="18" charset="2"/>
                  <a:buNone/>
                </a:pPr>
                <a:endParaRPr lang="de-DE" dirty="0"/>
              </a:p>
              <a:p>
                <a:pPr marL="514350" indent="-514350">
                  <a:buFont typeface="+mj-lt"/>
                  <a:buAutoNum type="arabicPeriod"/>
                </a:pPr>
                <a:r>
                  <a:rPr lang="de-DE" dirty="0"/>
                  <a:t>Tranform each packet to a fixed length vector M (pad/truncate) and  normalize values to [0,1]</a:t>
                </a:r>
              </a:p>
              <a:p>
                <a:pPr marL="514350" indent="-514350">
                  <a:buFont typeface="+mj-lt"/>
                  <a:buAutoNum type="arabicPeriod"/>
                </a:pPr>
                <a:r>
                  <a:rPr lang="de-DE" dirty="0"/>
                  <a:t>Train SDA on the training split (normal packets only)</a:t>
                </a:r>
              </a:p>
              <a:p>
                <a:pPr marL="514350" indent="-514350">
                  <a:buFont typeface="+mj-lt"/>
                  <a:buAutoNum type="arabicPeriod"/>
                </a:pPr>
                <a:r>
                  <a:rPr lang="de-DE" dirty="0"/>
                  <a:t>Use the trained encoder to transform all packets into latent vectors </a:t>
                </a:r>
              </a:p>
              <a:p>
                <a:pPr marL="514350" indent="-514350">
                  <a:buFont typeface="+mj-lt"/>
                  <a:buAutoNum type="arabicPeriod"/>
                </a:pPr>
                <a:r>
                  <a:rPr lang="de-DE" dirty="0"/>
                  <a:t>Extract the latent feature vectors from the bottleneck (encoding) layer</a:t>
                </a:r>
              </a:p>
              <a:p>
                <a:pPr marL="0" indent="0">
                  <a:buFont typeface="Symbol" panose="05050102010706020507" pitchFamily="18" charset="2"/>
                  <a:buNone/>
                </a:pPr>
                <a:endParaRPr lang="en-US" dirty="0"/>
              </a:p>
              <a:p>
                <a:endParaRPr lang="de-DE" dirty="0"/>
              </a:p>
            </p:txBody>
          </p:sp>
        </mc:Fallback>
      </mc:AlternateContent>
      <p:sp>
        <p:nvSpPr>
          <p:cNvPr id="4" name="Slide Number Placeholder 3"/>
          <p:cNvSpPr>
            <a:spLocks noGrp="1"/>
          </p:cNvSpPr>
          <p:nvPr>
            <p:ph type="sldNum" sz="quarter" idx="5"/>
          </p:nvPr>
        </p:nvSpPr>
        <p:spPr/>
        <p:txBody>
          <a:bodyPr/>
          <a:lstStyle/>
          <a:p>
            <a:fld id="{17F6ECB0-4EB5-411D-9EB7-90E2340D28B3}" type="slidenum">
              <a:rPr lang="de-DE" smtClean="0"/>
              <a:t>16</a:t>
            </a:fld>
            <a:endParaRPr lang="de-DE"/>
          </a:p>
        </p:txBody>
      </p:sp>
    </p:spTree>
    <p:extLst>
      <p:ext uri="{BB962C8B-B14F-4D97-AF65-F5344CB8AC3E}">
        <p14:creationId xmlns:p14="http://schemas.microsoft.com/office/powerpoint/2010/main" val="15895146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-for our project we implemented multiple traditional ML detection methods  using the SKIT-Ih – learn library </a:t>
            </a:r>
          </a:p>
          <a:p>
            <a:r>
              <a:rPr lang="de-DE" dirty="0"/>
              <a:t>=&gt; They were (otoh) evaluated seperately and also </a:t>
            </a:r>
            <a:r>
              <a:rPr lang="de-DE" b="1" dirty="0"/>
              <a:t>combined into </a:t>
            </a:r>
            <a:r>
              <a:rPr lang="de-DE" dirty="0"/>
              <a:t>an </a:t>
            </a:r>
            <a:r>
              <a:rPr lang="de-DE" b="1" dirty="0"/>
              <a:t>Ensemble Classifier </a:t>
            </a:r>
            <a:r>
              <a:rPr lang="de-DE" dirty="0"/>
              <a:t>with 3 different modes</a:t>
            </a:r>
          </a:p>
          <a:p>
            <a:endParaRPr lang="de-DE" dirty="0"/>
          </a:p>
          <a:p>
            <a:r>
              <a:rPr lang="de-DE" dirty="0"/>
              <a:t>-(as illustrated here) it was implemented by </a:t>
            </a:r>
            <a:r>
              <a:rPr lang="de-DE" b="1" dirty="0"/>
              <a:t>training all 3 involved classifiers seperately </a:t>
            </a:r>
            <a:r>
              <a:rPr lang="de-DE" dirty="0"/>
              <a:t>and letting them </a:t>
            </a:r>
            <a:r>
              <a:rPr lang="de-DE" b="1" dirty="0"/>
              <a:t>predict individual results </a:t>
            </a:r>
            <a:r>
              <a:rPr lang="de-DE" dirty="0"/>
              <a:t>(for each datapoint)</a:t>
            </a:r>
          </a:p>
          <a:p>
            <a:r>
              <a:rPr lang="de-DE" dirty="0"/>
              <a:t>-then the ensemble classifier would </a:t>
            </a:r>
            <a:r>
              <a:rPr lang="de-DE" b="1" dirty="0"/>
              <a:t>make</a:t>
            </a:r>
            <a:r>
              <a:rPr lang="de-DE" dirty="0"/>
              <a:t> a </a:t>
            </a:r>
            <a:r>
              <a:rPr lang="de-DE" b="1" dirty="0"/>
              <a:t>decision</a:t>
            </a:r>
            <a:r>
              <a:rPr lang="de-DE" dirty="0"/>
              <a:t> by </a:t>
            </a:r>
            <a:r>
              <a:rPr lang="de-DE" b="1" dirty="0"/>
              <a:t>combining all 3 predictions </a:t>
            </a:r>
            <a:r>
              <a:rPr lang="de-DE" dirty="0"/>
              <a:t>(for each datapoint) </a:t>
            </a:r>
            <a:r>
              <a:rPr lang="de-DE" b="1" dirty="0"/>
              <a:t>while applying </a:t>
            </a:r>
            <a:r>
              <a:rPr lang="de-DE" dirty="0"/>
              <a:t>one of the three </a:t>
            </a:r>
            <a:r>
              <a:rPr lang="de-DE" b="1" dirty="0"/>
              <a:t>modes</a:t>
            </a:r>
            <a:r>
              <a:rPr lang="de-DE" dirty="0"/>
              <a:t> </a:t>
            </a:r>
          </a:p>
          <a:p>
            <a:endParaRPr lang="de-DE" dirty="0"/>
          </a:p>
          <a:p>
            <a:r>
              <a:rPr lang="de-DE" b="1" dirty="0"/>
              <a:t>Prediction Modes:</a:t>
            </a:r>
          </a:p>
          <a:p>
            <a:pPr lvl="1"/>
            <a:r>
              <a:rPr lang="de-DE" sz="1400" dirty="0"/>
              <a:t>Random – randomly select one of the predictions</a:t>
            </a:r>
          </a:p>
          <a:p>
            <a:pPr lvl="1"/>
            <a:r>
              <a:rPr lang="de-DE" sz="1400" dirty="0"/>
              <a:t>Majority – select the majority of equal predictions </a:t>
            </a:r>
          </a:p>
          <a:p>
            <a:pPr lvl="1"/>
            <a:r>
              <a:rPr lang="de-DE" sz="1400" dirty="0"/>
              <a:t>All –classify as attack, if all classifiers predict it as attack</a:t>
            </a:r>
          </a:p>
          <a:p>
            <a:endParaRPr lang="de-DE" dirty="0"/>
          </a:p>
          <a:p>
            <a:endParaRPr lang="de-DE" dirty="0"/>
          </a:p>
          <a:p>
            <a:r>
              <a:rPr lang="de-DE" dirty="0"/>
              <a:t>-given that we had 6 traditional ML detection methods with 3 of them operating as outlier detectors and 3 as binary classifiers</a:t>
            </a:r>
          </a:p>
          <a:p>
            <a:pPr marL="171450" indent="-171450">
              <a:buFont typeface="Wingdings" panose="05000000000000000000" pitchFamily="2" charset="2"/>
              <a:buChar char="è"/>
            </a:pPr>
            <a:r>
              <a:rPr lang="de-DE" dirty="0"/>
              <a:t>We implemented </a:t>
            </a:r>
            <a:r>
              <a:rPr lang="de-DE" b="1" dirty="0"/>
              <a:t>two different operational modes </a:t>
            </a:r>
            <a:r>
              <a:rPr lang="de-DE" dirty="0"/>
              <a:t>for the ensemble classifier </a:t>
            </a:r>
          </a:p>
          <a:p>
            <a:pPr marL="171450" indent="-171450">
              <a:buFont typeface="Wingdings" panose="05000000000000000000" pitchFamily="2" charset="2"/>
              <a:buChar char="è"/>
            </a:pPr>
            <a:r>
              <a:rPr lang="de-DE" dirty="0"/>
              <a:t>One where it </a:t>
            </a:r>
            <a:r>
              <a:rPr lang="de-DE" b="1" dirty="0"/>
              <a:t>operates</a:t>
            </a:r>
            <a:r>
              <a:rPr lang="de-DE" dirty="0"/>
              <a:t> on the </a:t>
            </a:r>
            <a:r>
              <a:rPr lang="de-DE" b="1" dirty="0"/>
              <a:t>3 outlier detectors </a:t>
            </a:r>
            <a:r>
              <a:rPr lang="de-DE" dirty="0"/>
              <a:t>(in one class mode)</a:t>
            </a:r>
          </a:p>
          <a:p>
            <a:pPr marL="171450" indent="-171450">
              <a:buFont typeface="Wingdings" panose="05000000000000000000" pitchFamily="2" charset="2"/>
              <a:buChar char="è"/>
            </a:pPr>
            <a:r>
              <a:rPr lang="de-DE" dirty="0"/>
              <a:t>One where it </a:t>
            </a:r>
            <a:r>
              <a:rPr lang="de-DE" b="1" dirty="0"/>
              <a:t>operates</a:t>
            </a:r>
            <a:r>
              <a:rPr lang="de-DE" dirty="0"/>
              <a:t> on the </a:t>
            </a:r>
            <a:r>
              <a:rPr lang="de-DE" b="1" dirty="0"/>
              <a:t>3 bianry classifiers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18</a:t>
            </a:fld>
            <a:endParaRPr lang="de-DE"/>
          </a:p>
        </p:txBody>
      </p:sp>
    </p:spTree>
    <p:extLst>
      <p:ext uri="{BB962C8B-B14F-4D97-AF65-F5344CB8AC3E}">
        <p14:creationId xmlns:p14="http://schemas.microsoft.com/office/powerpoint/2010/main" val="15013170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-the </a:t>
            </a:r>
            <a:r>
              <a:rPr lang="de-DE" b="1" dirty="0"/>
              <a:t>second use case </a:t>
            </a:r>
            <a:r>
              <a:rPr lang="de-DE" dirty="0"/>
              <a:t>for the SDA was to implement a </a:t>
            </a:r>
            <a:r>
              <a:rPr lang="de-DE" b="1" dirty="0"/>
              <a:t>reconstruction error </a:t>
            </a:r>
            <a:r>
              <a:rPr lang="de-DE" dirty="0"/>
              <a:t>based </a:t>
            </a:r>
            <a:r>
              <a:rPr lang="de-DE" b="1" dirty="0"/>
              <a:t>anomaly detection method</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Idea:</a:t>
            </a:r>
          </a:p>
          <a:p>
            <a:pPr marL="0" indent="0">
              <a:buFont typeface="Symbol" panose="05050102010706020507" pitchFamily="18" charset="2"/>
              <a:buNone/>
            </a:pPr>
            <a:r>
              <a:rPr lang="de-DE" dirty="0"/>
              <a:t>-autoencoder is trained on all normal packets </a:t>
            </a:r>
          </a:p>
          <a:p>
            <a:pPr marL="0" indent="0">
              <a:buFont typeface="Symbol" panose="05050102010706020507" pitchFamily="18" charset="2"/>
              <a:buNone/>
            </a:pPr>
            <a:r>
              <a:rPr lang="de-DE" dirty="0"/>
              <a:t>=&gt; Will achieve an observably higher reconstruction - error when processing an attack packet</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-in order to use it as a classifier we firstly computed the MSE which the trained autoencoder achieved over all normal packets</a:t>
            </a:r>
          </a:p>
          <a:p>
            <a:pPr marL="0" indent="0">
              <a:buFont typeface="Symbol" panose="05050102010706020507" pitchFamily="18" charset="2"/>
              <a:buNone/>
            </a:pPr>
            <a:r>
              <a:rPr lang="de-DE" dirty="0"/>
              <a:t>-then we defined a threshold based on that result</a:t>
            </a:r>
          </a:p>
          <a:p>
            <a:pPr marL="0" indent="0">
              <a:buFont typeface="Symbol" panose="05050102010706020507" pitchFamily="18" charset="2"/>
              <a:buNone/>
            </a:pPr>
            <a:r>
              <a:rPr lang="de-DE" dirty="0"/>
              <a:t>-when the error which the autoencoder computes for a packet will be higher than that threshold it will be classified as attack</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19</a:t>
            </a:fld>
            <a:endParaRPr lang="de-DE"/>
          </a:p>
        </p:txBody>
      </p:sp>
    </p:spTree>
    <p:extLst>
      <p:ext uri="{BB962C8B-B14F-4D97-AF65-F5344CB8AC3E}">
        <p14:creationId xmlns:p14="http://schemas.microsoft.com/office/powerpoint/2010/main" val="12748652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sz="1900" dirty="0"/>
                  <a:t>What is n-gram?</a:t>
                </a:r>
              </a:p>
              <a:p>
                <a:pPr lvl="1"/>
                <a:r>
                  <a:rPr lang="en-US" sz="1700" dirty="0"/>
                  <a:t>It is a contiguous sequence of n bytes</a:t>
                </a:r>
              </a:p>
              <a:p>
                <a:pPr lvl="1"/>
                <a:r>
                  <a:rPr lang="en-US" sz="1700" dirty="0"/>
                  <a:t>Extracted by sliding a window over packet bytes</a:t>
                </a:r>
              </a:p>
              <a:p>
                <a:r>
                  <a:rPr lang="en-US" sz="1900" dirty="0"/>
                  <a:t>How n-gram model network packet?</a:t>
                </a:r>
              </a:p>
              <a:p>
                <a:pPr lvl="1"/>
                <a:r>
                  <a:rPr lang="en-US" sz="1700" dirty="0"/>
                  <a:t>Each packet is represented as a set of bytes</a:t>
                </a:r>
              </a:p>
              <a:p>
                <a:pPr lvl="1"/>
                <a:r>
                  <a:rPr lang="en-US" sz="1700" dirty="0"/>
                  <a:t>Normal traffic produces repetitive and stable n-gram patterns</a:t>
                </a:r>
              </a:p>
              <a:p>
                <a:pPr lvl="1"/>
                <a:r>
                  <a:rPr lang="en-US" sz="1700" dirty="0"/>
                  <a:t>Attacks introduce unseen or rare n-grams</a:t>
                </a:r>
              </a:p>
              <a:p>
                <a:r>
                  <a:rPr lang="en-US" sz="1900" dirty="0"/>
                  <a:t>Training phase: </a:t>
                </a:r>
              </a:p>
              <a:p>
                <a:pPr lvl="1"/>
                <a:r>
                  <a:rPr lang="en-US" sz="1700" dirty="0"/>
                  <a:t>Observe all distinct n-grams in training packets</a:t>
                </a:r>
              </a:p>
              <a:p>
                <a:pPr lvl="1"/>
                <a:r>
                  <a:rPr lang="en-US" sz="1700" dirty="0"/>
                  <a:t>Store seen n-grams in a Bloom filter (space-efficient) </a:t>
                </a:r>
              </a:p>
              <a:p>
                <a:pPr lvl="1"/>
                <a:r>
                  <a:rPr lang="en-US" sz="1700" dirty="0"/>
                  <a:t>Count how often each n-gram appears</a:t>
                </a:r>
              </a:p>
              <a:p>
                <a:pPr lvl="1"/>
                <a:r>
                  <a:rPr lang="en-US" sz="1700" dirty="0"/>
                  <a:t>Compute normalized weights based on frequency. </a:t>
                </a:r>
              </a:p>
              <a:p>
                <a:r>
                  <a:rPr lang="en-US" sz="1900" dirty="0"/>
                  <a:t>Detection Phase (Testing): </a:t>
                </a:r>
              </a:p>
              <a:p>
                <a:pPr lvl="1"/>
                <a:r>
                  <a:rPr lang="en-US" sz="1700" dirty="0"/>
                  <a:t>For each packet</a:t>
                </a:r>
              </a:p>
              <a:p>
                <a:pPr lvl="2"/>
                <a:r>
                  <a:rPr lang="en-US" sz="1400" dirty="0"/>
                  <a:t>Count how many n-grams were seen during testing</a:t>
                </a:r>
              </a:p>
              <a:p>
                <a:pPr lvl="2"/>
                <a:r>
                  <a:rPr lang="en-US" sz="1400" dirty="0"/>
                  <a:t>Compute anomaly score</a:t>
                </a:r>
              </a:p>
              <a:p>
                <a:pPr lvl="3"/>
                <a:r>
                  <a:rPr lang="en-US" dirty="0"/>
                  <a:t>Score = </a:t>
                </a:r>
                <a14:m>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ctrlPr>
                          <a:rPr lang="en-US"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b="0" i="1" smtClean="0">
                            <a:latin typeface="Cambria Math" panose="02040503050406030204" pitchFamily="18" charset="0"/>
                          </a:rPr>
                          <m:t>𝑤𝑖</m:t>
                        </m:r>
                        <m:r>
                          <a:rPr lang="en-US" b="0" i="1" smtClean="0">
                            <a:latin typeface="Cambria Math" panose="02040503050406030204" pitchFamily="18" charset="0"/>
                          </a:rPr>
                          <m:t> ∗</m:t>
                        </m:r>
                        <m:r>
                          <a:rPr lang="en-US" b="0" i="1" smtClean="0">
                            <a:latin typeface="Cambria Math" panose="02040503050406030204" pitchFamily="18" charset="0"/>
                          </a:rPr>
                          <m:t>𝑁</m:t>
                        </m:r>
                        <m:r>
                          <a:rPr lang="en-US" b="0" i="1" smtClean="0">
                            <a:latin typeface="Cambria Math" panose="02040503050406030204" pitchFamily="18" charset="0"/>
                          </a:rPr>
                          <m:t>_</m:t>
                        </m:r>
                        <m:r>
                          <a:rPr lang="en-US" b="0" i="1" smtClean="0">
                            <a:latin typeface="Cambria Math" panose="02040503050406030204" pitchFamily="18" charset="0"/>
                          </a:rPr>
                          <m:t>𝑠𝑒𝑒𝑛𝑖</m:t>
                        </m:r>
                      </m:e>
                    </m:nary>
                  </m:oMath>
                </a14:m>
                <a:endParaRPr lang="en-US" dirty="0"/>
              </a:p>
              <a:p>
                <a:pPr lvl="2"/>
                <a:r>
                  <a:rPr lang="en-US" sz="1400" dirty="0"/>
                  <a:t>Low score means attack packet</a:t>
                </a:r>
              </a:p>
              <a:p>
                <a:r>
                  <a:rPr lang="en-US" sz="1900" dirty="0"/>
                  <a:t>Decision Rule:</a:t>
                </a:r>
              </a:p>
              <a:p>
                <a:pPr lvl="1"/>
                <a:r>
                  <a:rPr lang="en-US" sz="1600" dirty="0"/>
                  <a:t>Packet is malicious if Score &lt; threshold</a:t>
                </a:r>
              </a:p>
              <a:p>
                <a:endParaRPr lang="de-DE" dirty="0"/>
              </a:p>
            </p:txBody>
          </p:sp>
        </mc:Choice>
        <mc:Fallback xmlns="">
          <p:sp>
            <p:nvSpPr>
              <p:cNvPr id="3" name="Notes Placeholder 2"/>
              <p:cNvSpPr>
                <a:spLocks noGrp="1"/>
              </p:cNvSpPr>
              <p:nvPr>
                <p:ph type="body" idx="1"/>
              </p:nvPr>
            </p:nvSpPr>
            <p:spPr/>
            <p:txBody>
              <a:bodyPr/>
              <a:lstStyle/>
              <a:p>
                <a:r>
                  <a:rPr lang="en-US" sz="1900" dirty="0"/>
                  <a:t>What is n-gram?</a:t>
                </a:r>
              </a:p>
              <a:p>
                <a:pPr lvl="1"/>
                <a:r>
                  <a:rPr lang="en-US" sz="1700" dirty="0"/>
                  <a:t>It is a contiguous sequence of n bytes</a:t>
                </a:r>
              </a:p>
              <a:p>
                <a:pPr lvl="1"/>
                <a:r>
                  <a:rPr lang="en-US" sz="1700" dirty="0"/>
                  <a:t>Extracted by sliding a window over packet bytes</a:t>
                </a:r>
              </a:p>
              <a:p>
                <a:r>
                  <a:rPr lang="en-US" sz="1900" dirty="0"/>
                  <a:t>How n-gram model network packet?</a:t>
                </a:r>
              </a:p>
              <a:p>
                <a:pPr lvl="1"/>
                <a:r>
                  <a:rPr lang="en-US" sz="1700" dirty="0"/>
                  <a:t>Each packet is represented as a set of bytes</a:t>
                </a:r>
              </a:p>
              <a:p>
                <a:pPr lvl="1"/>
                <a:r>
                  <a:rPr lang="en-US" sz="1700" dirty="0"/>
                  <a:t>Normal traffic produces repetitive and stable n-gram patterns</a:t>
                </a:r>
              </a:p>
              <a:p>
                <a:pPr lvl="1"/>
                <a:r>
                  <a:rPr lang="en-US" sz="1700" dirty="0"/>
                  <a:t>Attacks introduce unseen or rare n-grams</a:t>
                </a:r>
              </a:p>
              <a:p>
                <a:r>
                  <a:rPr lang="en-US" sz="1900" dirty="0"/>
                  <a:t>Training phase: </a:t>
                </a:r>
              </a:p>
              <a:p>
                <a:pPr lvl="1"/>
                <a:r>
                  <a:rPr lang="en-US" sz="1700" dirty="0"/>
                  <a:t>Observe all distinct n-grams in training packets</a:t>
                </a:r>
              </a:p>
              <a:p>
                <a:pPr lvl="1"/>
                <a:r>
                  <a:rPr lang="en-US" sz="1700" dirty="0"/>
                  <a:t>Store seen n-grams in a Bloom filter (space-efficient) </a:t>
                </a:r>
              </a:p>
              <a:p>
                <a:pPr lvl="1"/>
                <a:r>
                  <a:rPr lang="en-US" sz="1700" dirty="0"/>
                  <a:t>Count how often each n-gram appears</a:t>
                </a:r>
              </a:p>
              <a:p>
                <a:pPr lvl="1"/>
                <a:r>
                  <a:rPr lang="en-US" sz="1700" dirty="0"/>
                  <a:t>Compute normalized weights based on frequency. </a:t>
                </a:r>
              </a:p>
              <a:p>
                <a:r>
                  <a:rPr lang="en-US" sz="1900" dirty="0"/>
                  <a:t>Detection Phase (Testing): </a:t>
                </a:r>
              </a:p>
              <a:p>
                <a:pPr lvl="1"/>
                <a:r>
                  <a:rPr lang="en-US" sz="1700" dirty="0"/>
                  <a:t>For each packet</a:t>
                </a:r>
              </a:p>
              <a:p>
                <a:pPr lvl="2"/>
                <a:r>
                  <a:rPr lang="en-US" sz="1400" dirty="0"/>
                  <a:t>Count how many n-grams were seen during testing</a:t>
                </a:r>
              </a:p>
              <a:p>
                <a:pPr lvl="2"/>
                <a:r>
                  <a:rPr lang="en-US" sz="1400" dirty="0"/>
                  <a:t>Compute anomaly score</a:t>
                </a:r>
              </a:p>
              <a:p>
                <a:pPr lvl="3"/>
                <a:r>
                  <a:rPr lang="en-US" dirty="0"/>
                  <a:t>Score = </a:t>
                </a:r>
                <a:r>
                  <a:rPr lang="en-US" b="0" i="0">
                    <a:latin typeface="Cambria Math" panose="02040503050406030204" pitchFamily="18" charset="0"/>
                  </a:rPr>
                  <a:t>1/𝑇 </a:t>
                </a:r>
                <a:r>
                  <a:rPr lang="en-US" i="0">
                    <a:latin typeface="Cambria Math" panose="02040503050406030204" pitchFamily="18" charset="0"/>
                  </a:rPr>
                  <a:t>∑</a:t>
                </a:r>
                <a:r>
                  <a:rPr lang="en-US" b="0" i="0">
                    <a:latin typeface="Cambria Math" panose="02040503050406030204" pitchFamily="18" charset="0"/>
                  </a:rPr>
                  <a:t>_(𝑖=1)^𝑇▒〖𝑤𝑖 ∗𝑁_𝑠𝑒𝑒𝑛𝑖〗</a:t>
                </a:r>
                <a:endParaRPr lang="en-US" dirty="0"/>
              </a:p>
              <a:p>
                <a:pPr lvl="2"/>
                <a:r>
                  <a:rPr lang="en-US" sz="1400" dirty="0"/>
                  <a:t>Low score means attack packet</a:t>
                </a:r>
              </a:p>
              <a:p>
                <a:r>
                  <a:rPr lang="en-US" sz="1900" dirty="0"/>
                  <a:t>Decision Rule:</a:t>
                </a:r>
              </a:p>
              <a:p>
                <a:pPr lvl="1"/>
                <a:r>
                  <a:rPr lang="en-US" sz="1600" dirty="0"/>
                  <a:t>Packet is malicious if Score &lt; threshold</a:t>
                </a:r>
              </a:p>
              <a:p>
                <a:endParaRPr lang="de-DE" dirty="0"/>
              </a:p>
            </p:txBody>
          </p:sp>
        </mc:Fallback>
      </mc:AlternateContent>
      <p:sp>
        <p:nvSpPr>
          <p:cNvPr id="4" name="Slide Number Placeholder 3"/>
          <p:cNvSpPr>
            <a:spLocks noGrp="1"/>
          </p:cNvSpPr>
          <p:nvPr>
            <p:ph type="sldNum" sz="quarter" idx="5"/>
          </p:nvPr>
        </p:nvSpPr>
        <p:spPr/>
        <p:txBody>
          <a:bodyPr/>
          <a:lstStyle/>
          <a:p>
            <a:fld id="{17F6ECB0-4EB5-411D-9EB7-90E2340D28B3}" type="slidenum">
              <a:rPr lang="de-DE" smtClean="0"/>
              <a:t>20</a:t>
            </a:fld>
            <a:endParaRPr lang="de-DE"/>
          </a:p>
        </p:txBody>
      </p:sp>
    </p:spTree>
    <p:extLst>
      <p:ext uri="{BB962C8B-B14F-4D97-AF65-F5344CB8AC3E}">
        <p14:creationId xmlns:p14="http://schemas.microsoft.com/office/powerpoint/2010/main" val="592605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840" indent="-285840" defTabSz="914400">
              <a:lnSpc>
                <a:spcPct val="100000"/>
              </a:lnSpc>
              <a:buClr>
                <a:srgbClr val="000000"/>
              </a:buClr>
              <a:buFont typeface="Arial"/>
              <a:buChar char="•"/>
            </a:pPr>
            <a:r>
              <a:rPr lang="en-US" sz="1800" b="0" u="none" strike="noStrike" dirty="0">
                <a:solidFill>
                  <a:schemeClr val="dk1"/>
                </a:solidFill>
                <a:effectLst/>
                <a:uFillTx/>
                <a:latin typeface="Bierstadt"/>
              </a:rPr>
              <a:t>What is GAN?</a:t>
            </a:r>
            <a:endParaRPr lang="en-US" sz="18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Deep learning model with two competing networks. </a:t>
            </a:r>
            <a:endParaRPr lang="en-US" sz="16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Learns the distribution of normal network packets.</a:t>
            </a:r>
            <a:endParaRPr lang="en-US" sz="1600" b="0" u="none" strike="noStrike" dirty="0">
              <a:solidFill>
                <a:srgbClr val="000000"/>
              </a:solidFill>
              <a:effectLst/>
              <a:uFillTx/>
              <a:latin typeface="Arial"/>
            </a:endParaRPr>
          </a:p>
          <a:p>
            <a:pPr defTabSz="914400">
              <a:lnSpc>
                <a:spcPct val="100000"/>
              </a:lnSpc>
            </a:pPr>
            <a:endParaRPr lang="en-US" sz="1800" b="0" u="none" strike="noStrike" dirty="0">
              <a:solidFill>
                <a:srgbClr val="000000"/>
              </a:solidFill>
              <a:effectLst/>
              <a:uFillTx/>
              <a:latin typeface="Arial"/>
            </a:endParaRPr>
          </a:p>
          <a:p>
            <a:pPr marL="285840" indent="-285840" defTabSz="914400">
              <a:lnSpc>
                <a:spcPct val="100000"/>
              </a:lnSpc>
              <a:buClr>
                <a:srgbClr val="000000"/>
              </a:buClr>
              <a:buFont typeface="Arial"/>
              <a:buChar char="•"/>
            </a:pPr>
            <a:r>
              <a:rPr lang="en-US" sz="1800" b="0" u="none" strike="noStrike" dirty="0">
                <a:solidFill>
                  <a:schemeClr val="dk1"/>
                </a:solidFill>
                <a:effectLst/>
                <a:uFillTx/>
                <a:latin typeface="Bierstadt"/>
              </a:rPr>
              <a:t>How GAN is used for anomaly detection? </a:t>
            </a:r>
            <a:endParaRPr lang="en-US" sz="18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Trained mainly on benign traffic.</a:t>
            </a:r>
            <a:endParaRPr lang="en-US" sz="16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Learns what normal packets look like.</a:t>
            </a:r>
            <a:endParaRPr lang="en-US" sz="1600" b="0" u="none" strike="noStrike" dirty="0">
              <a:solidFill>
                <a:srgbClr val="000000"/>
              </a:solidFill>
              <a:effectLst/>
              <a:uFillTx/>
              <a:latin typeface="Arial"/>
            </a:endParaRPr>
          </a:p>
          <a:p>
            <a:pPr marL="743040" lvl="1" indent="-285840" defTabSz="914400">
              <a:lnSpc>
                <a:spcPct val="100000"/>
              </a:lnSpc>
              <a:buClr>
                <a:srgbClr val="000000"/>
              </a:buClr>
              <a:buFont typeface="Arial"/>
              <a:buChar char="•"/>
            </a:pPr>
            <a:r>
              <a:rPr lang="en-US" sz="1600" b="0" u="none" strike="noStrike" dirty="0">
                <a:solidFill>
                  <a:schemeClr val="dk1"/>
                </a:solidFill>
                <a:effectLst/>
                <a:uFillTx/>
                <a:latin typeface="Bierstadt"/>
              </a:rPr>
              <a:t>During testing: </a:t>
            </a:r>
            <a:endParaRPr lang="en-US" sz="1600" b="0" u="none" strike="noStrike" dirty="0">
              <a:solidFill>
                <a:srgbClr val="000000"/>
              </a:solidFill>
              <a:effectLst/>
              <a:uFillTx/>
              <a:latin typeface="Arial"/>
            </a:endParaRPr>
          </a:p>
          <a:p>
            <a:pPr marL="1200240" lvl="2"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Abnormal packets differ from learned distribution</a:t>
            </a:r>
            <a:endParaRPr lang="en-US" sz="1400" b="0" u="none" strike="noStrike" dirty="0">
              <a:solidFill>
                <a:srgbClr val="000000"/>
              </a:solidFill>
              <a:effectLst/>
              <a:uFillTx/>
              <a:latin typeface="Arial"/>
            </a:endParaRPr>
          </a:p>
          <a:p>
            <a:pPr marL="1200240" lvl="2"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Detected using either </a:t>
            </a:r>
            <a:endParaRPr lang="en-US" sz="1400" b="0" u="none" strike="noStrike" dirty="0">
              <a:solidFill>
                <a:srgbClr val="000000"/>
              </a:solidFill>
              <a:effectLst/>
              <a:uFillTx/>
              <a:latin typeface="Arial"/>
            </a:endParaRPr>
          </a:p>
          <a:p>
            <a:pPr marL="1657440" lvl="3"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Discriminator</a:t>
            </a:r>
            <a:endParaRPr lang="en-US" sz="1400" b="0" u="none" strike="noStrike" dirty="0">
              <a:solidFill>
                <a:srgbClr val="000000"/>
              </a:solidFill>
              <a:effectLst/>
              <a:uFillTx/>
              <a:latin typeface="Arial"/>
            </a:endParaRPr>
          </a:p>
          <a:p>
            <a:pPr marL="1657440" lvl="3" indent="-285840" defTabSz="914400">
              <a:lnSpc>
                <a:spcPct val="100000"/>
              </a:lnSpc>
              <a:buClr>
                <a:srgbClr val="000000"/>
              </a:buClr>
              <a:buFont typeface="Arial"/>
              <a:buChar char="•"/>
            </a:pPr>
            <a:r>
              <a:rPr lang="en-US" sz="1400" b="0" u="none" strike="noStrike" dirty="0">
                <a:solidFill>
                  <a:schemeClr val="dk1"/>
                </a:solidFill>
                <a:effectLst/>
                <a:uFillTx/>
                <a:latin typeface="Bierstadt"/>
              </a:rPr>
              <a:t>Generator</a:t>
            </a:r>
            <a:endParaRPr lang="en-US" dirty="0"/>
          </a:p>
          <a:p>
            <a:r>
              <a:rPr lang="en-US" dirty="0"/>
              <a:t>Key idea: </a:t>
            </a:r>
          </a:p>
          <a:p>
            <a:r>
              <a:rPr lang="en-US" dirty="0"/>
              <a:t>We can learn to recognize or generate the normal data, but we can not do the same for anomalies, and this is how we can use them as classifiers.</a:t>
            </a:r>
          </a:p>
          <a:p>
            <a:endParaRPr lang="en-US"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21</a:t>
            </a:fld>
            <a:endParaRPr lang="de-DE"/>
          </a:p>
        </p:txBody>
      </p:sp>
    </p:spTree>
    <p:extLst>
      <p:ext uri="{BB962C8B-B14F-4D97-AF65-F5344CB8AC3E}">
        <p14:creationId xmlns:p14="http://schemas.microsoft.com/office/powerpoint/2010/main" val="152051065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the discriminator?</a:t>
            </a:r>
          </a:p>
          <a:p>
            <a:pPr lvl="1"/>
            <a:r>
              <a:rPr lang="en-US" dirty="0"/>
              <a:t>A CNN-based binary classifier</a:t>
            </a:r>
          </a:p>
          <a:p>
            <a:pPr lvl="1"/>
            <a:r>
              <a:rPr lang="en-US" dirty="0"/>
              <a:t>Distinguishes between:</a:t>
            </a:r>
          </a:p>
          <a:p>
            <a:pPr lvl="2"/>
            <a:r>
              <a:rPr lang="en-US" dirty="0"/>
              <a:t>Real packets from the dataset</a:t>
            </a:r>
          </a:p>
          <a:p>
            <a:pPr lvl="2"/>
            <a:r>
              <a:rPr lang="en-US" dirty="0"/>
              <a:t>Fake packets generated by the generator</a:t>
            </a:r>
          </a:p>
          <a:p>
            <a:endParaRPr lang="en-US" dirty="0"/>
          </a:p>
          <a:p>
            <a:r>
              <a:rPr lang="en-US" dirty="0"/>
              <a:t>What is Generator?</a:t>
            </a:r>
          </a:p>
          <a:p>
            <a:pPr lvl="1"/>
            <a:r>
              <a:rPr lang="en-US" dirty="0"/>
              <a:t>Generates fake network packets</a:t>
            </a:r>
          </a:p>
          <a:p>
            <a:pPr lvl="1"/>
            <a:r>
              <a:rPr lang="en-US" dirty="0"/>
              <a:t>Input:</a:t>
            </a:r>
          </a:p>
          <a:p>
            <a:pPr lvl="2"/>
            <a:r>
              <a:rPr lang="en-US" dirty="0"/>
              <a:t>Random noise vector</a:t>
            </a:r>
          </a:p>
          <a:p>
            <a:pPr lvl="1"/>
            <a:r>
              <a:rPr lang="en-US" dirty="0"/>
              <a:t>Output:</a:t>
            </a:r>
          </a:p>
          <a:p>
            <a:pPr lvl="2"/>
            <a:r>
              <a:rPr lang="en-US" dirty="0"/>
              <a:t>Synthetic packet bytes that resemble real traffic</a:t>
            </a:r>
          </a:p>
          <a:p>
            <a:endParaRPr lang="en-US" dirty="0"/>
          </a:p>
          <a:p>
            <a:endParaRPr lang="en-US" dirty="0"/>
          </a:p>
          <a:p>
            <a:endParaRPr lang="en-US" dirty="0"/>
          </a:p>
          <a:p>
            <a:r>
              <a:rPr lang="en-US" dirty="0"/>
              <a:t>Using the generator as </a:t>
            </a:r>
            <a:r>
              <a:rPr lang="en-US" dirty="0" err="1"/>
              <a:t>classifer</a:t>
            </a:r>
            <a:r>
              <a:rPr lang="en-US" dirty="0"/>
              <a:t> happens in that way: </a:t>
            </a:r>
          </a:p>
          <a:p>
            <a:r>
              <a:rPr lang="en-US" dirty="0"/>
              <a:t>   - The generator is trained to model normal ICS traffic.</a:t>
            </a:r>
          </a:p>
          <a:p>
            <a:r>
              <a:rPr lang="en-US" dirty="0"/>
              <a:t>   - So during inference:</a:t>
            </a:r>
          </a:p>
          <a:p>
            <a:r>
              <a:rPr lang="en-US" dirty="0"/>
              <a:t>       - if the input packet is well reconstructed or well matched, then this should be normal </a:t>
            </a:r>
          </a:p>
          <a:p>
            <a:r>
              <a:rPr lang="en-US" dirty="0"/>
              <a:t>       - if it is poorly reconstructed, then it is anomaly. </a:t>
            </a:r>
          </a:p>
          <a:p>
            <a:r>
              <a:rPr lang="en-US" dirty="0"/>
              <a:t>       - we use mean square distance function to measure how similar are these two packets.</a:t>
            </a:r>
          </a:p>
          <a:p>
            <a:r>
              <a:rPr lang="en-US" dirty="0"/>
              <a:t>Using Discriminator as classifier:</a:t>
            </a:r>
          </a:p>
          <a:p>
            <a:r>
              <a:rPr lang="en-US" dirty="0"/>
              <a:t>   - This is normal, because Discriminator is already binary classifier which is trained to differentiate between benign traffic, and generated traffic.</a:t>
            </a:r>
          </a:p>
          <a:p>
            <a:endParaRPr lang="en-US" dirty="0"/>
          </a:p>
          <a:p>
            <a:r>
              <a:rPr lang="en-US" dirty="0"/>
              <a:t>What does </a:t>
            </a:r>
            <a:r>
              <a:rPr lang="en-US" dirty="0" err="1"/>
              <a:t>upsampling</a:t>
            </a:r>
            <a:r>
              <a:rPr lang="en-US" dirty="0"/>
              <a:t> mean? </a:t>
            </a:r>
          </a:p>
          <a:p>
            <a:r>
              <a:rPr lang="en-US" dirty="0"/>
              <a:t>   - it means increasing in the size or resolution of data so that is has more points than before.</a:t>
            </a:r>
          </a:p>
          <a:p>
            <a:r>
              <a:rPr lang="en-US" dirty="0"/>
              <a:t>   - So in generator its main goal is to increase the length of the feature representation so the model can turn a small, compressed noise vector into a full-length sequence of realistic ICS packet bytes; so after the fully connected layer produces a short, dense feature map, </a:t>
            </a:r>
            <a:r>
              <a:rPr lang="en-US" dirty="0" err="1"/>
              <a:t>upsampling</a:t>
            </a:r>
            <a:r>
              <a:rPr lang="en-US" dirty="0"/>
              <a:t> extends it, giving the following Conv1D layers enough detail from a tiny vector.</a:t>
            </a:r>
          </a:p>
          <a:p>
            <a:r>
              <a:rPr lang="en-US" dirty="0"/>
              <a:t>   - Without </a:t>
            </a:r>
            <a:r>
              <a:rPr lang="en-US" dirty="0" err="1"/>
              <a:t>upsampling</a:t>
            </a:r>
            <a:r>
              <a:rPr lang="en-US" dirty="0"/>
              <a:t>, generator would struggle to produce packets with realistic size and structure. </a:t>
            </a:r>
          </a:p>
          <a:p>
            <a:endParaRPr lang="en-US" dirty="0"/>
          </a:p>
          <a:p>
            <a:endParaRPr lang="en-US" dirty="0"/>
          </a:p>
          <a:p>
            <a:endParaRPr lang="en-US" dirty="0"/>
          </a:p>
          <a:p>
            <a:endParaRPr lang="en-US" dirty="0"/>
          </a:p>
          <a:p>
            <a:endParaRPr lang="en-US" dirty="0"/>
          </a:p>
          <a:p>
            <a:r>
              <a:rPr lang="en-US" dirty="0" err="1"/>
              <a:t>LeakyReLU</a:t>
            </a:r>
            <a:r>
              <a:rPr lang="en-US" dirty="0"/>
              <a:t> usually is used to not give 0 value for –</a:t>
            </a:r>
            <a:r>
              <a:rPr lang="en-US" dirty="0" err="1"/>
              <a:t>ve</a:t>
            </a:r>
            <a:r>
              <a:rPr lang="en-US" dirty="0"/>
              <a:t> points, which roughly helps the neuron not to be completely excluded. </a:t>
            </a:r>
          </a:p>
          <a:p>
            <a:endParaRPr lang="en-US" dirty="0"/>
          </a:p>
          <a:p>
            <a:endParaRPr lang="en-US" dirty="0"/>
          </a:p>
          <a:p>
            <a:endParaRPr lang="en-US" dirty="0"/>
          </a:p>
          <a:p>
            <a:endParaRPr lang="en-US" dirty="0"/>
          </a:p>
          <a:p>
            <a:endParaRPr lang="en-US" dirty="0"/>
          </a:p>
          <a:p>
            <a:endParaRPr lang="en-US"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22</a:t>
            </a:fld>
            <a:endParaRPr lang="de-DE"/>
          </a:p>
        </p:txBody>
      </p:sp>
    </p:spTree>
    <p:extLst>
      <p:ext uri="{BB962C8B-B14F-4D97-AF65-F5344CB8AC3E}">
        <p14:creationId xmlns:p14="http://schemas.microsoft.com/office/powerpoint/2010/main" val="21553194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final method was </a:t>
            </a:r>
            <a:r>
              <a:rPr lang="en-US" dirty="0" err="1"/>
              <a:t>ResNet</a:t>
            </a:r>
            <a:r>
              <a:rPr lang="en-US" dirty="0"/>
              <a:t>:</a:t>
            </a:r>
          </a:p>
          <a:p>
            <a:r>
              <a:rPr lang="en-US" dirty="0"/>
              <a:t>Its core idea is to learn changes to the input instead of relearning everything from scratch.</a:t>
            </a:r>
          </a:p>
          <a:p>
            <a:r>
              <a:rPr lang="en-US" dirty="0"/>
              <a:t>Each residual block takes an input x, passes it through two convolutional layers with batch normalization and </a:t>
            </a:r>
            <a:r>
              <a:rPr lang="en-US" dirty="0" err="1"/>
              <a:t>relu</a:t>
            </a:r>
            <a:r>
              <a:rPr lang="en-US" dirty="0"/>
              <a:t> activation function, and it learns function f(x)</a:t>
            </a:r>
          </a:p>
          <a:p>
            <a:r>
              <a:rPr lang="en-US" dirty="0"/>
              <a:t>Then the residual connection adds the original input to the learned features x + F(X)</a:t>
            </a:r>
          </a:p>
          <a:p>
            <a:r>
              <a:rPr lang="en-US" dirty="0"/>
              <a:t>This shortcut allows information and gradients to flow directly through the network, preventing vanishing gradients and enabling much deeper models. </a:t>
            </a:r>
          </a:p>
          <a:p>
            <a:r>
              <a:rPr lang="en-US" dirty="0"/>
              <a:t>Then at the end of the 4 stages, we pass the output to two fully connected layers, and then uses these high-level features to perform the classification. </a:t>
            </a:r>
          </a:p>
          <a:p>
            <a:endParaRPr lang="en-US" dirty="0"/>
          </a:p>
          <a:p>
            <a:endParaRPr lang="en-US" dirty="0"/>
          </a:p>
          <a:p>
            <a:r>
              <a:rPr lang="en-US" dirty="0"/>
              <a:t>Residual connection is skip connection, so it means that the layer learns a correction on top of its input, so instead of learning H(x), it learns f(x) = H(x) – x, and at the end it produces x + F(X)</a:t>
            </a:r>
          </a:p>
          <a:p>
            <a:endParaRPr lang="en-US" dirty="0"/>
          </a:p>
          <a:p>
            <a:endParaRPr lang="en-US" dirty="0"/>
          </a:p>
          <a:p>
            <a:r>
              <a:rPr lang="en-US" dirty="0"/>
              <a:t>Difference between CONV layers, and FCL? </a:t>
            </a:r>
          </a:p>
          <a:p>
            <a:r>
              <a:rPr lang="en-US" dirty="0"/>
              <a:t>Conv layers look at  small local patterns and reuse the same filter everywhere. </a:t>
            </a:r>
          </a:p>
          <a:p>
            <a:endParaRPr lang="en-US" dirty="0"/>
          </a:p>
          <a:p>
            <a:r>
              <a:rPr lang="en-US" dirty="0"/>
              <a:t>Fully layers connect every input to every output, so they do not care about local structures, instead they combine all extracted features.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23</a:t>
            </a:fld>
            <a:endParaRPr lang="de-DE"/>
          </a:p>
        </p:txBody>
      </p:sp>
    </p:spTree>
    <p:extLst>
      <p:ext uri="{BB962C8B-B14F-4D97-AF65-F5344CB8AC3E}">
        <p14:creationId xmlns:p14="http://schemas.microsoft.com/office/powerpoint/2010/main" val="12051106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-besides performing hyperparameter tuning for each detection method / modeel</a:t>
            </a:r>
          </a:p>
          <a:p>
            <a:r>
              <a:rPr lang="de-DE" dirty="0"/>
              <a:t>-we also worked with 3 different evaluation scenarios</a:t>
            </a:r>
          </a:p>
          <a:p>
            <a:endParaRPr lang="de-DE" dirty="0"/>
          </a:p>
          <a:p>
            <a:r>
              <a:rPr lang="de-DE" dirty="0"/>
              <a:t>In all scenarios the test data includes all attack types and normal data but the training data differs</a:t>
            </a:r>
          </a:p>
          <a:p>
            <a:r>
              <a:rPr lang="de-DE" dirty="0"/>
              <a:t> </a:t>
            </a:r>
          </a:p>
          <a:p>
            <a:r>
              <a:rPr lang="de-DE" dirty="0"/>
              <a:t>-in scenario 1 it only contains normal data</a:t>
            </a:r>
          </a:p>
          <a:p>
            <a:pPr marL="171450" indent="-171450">
              <a:buFont typeface="Symbol" panose="05050102010706020507" pitchFamily="18" charset="2"/>
              <a:buChar char="Þ"/>
            </a:pPr>
            <a:r>
              <a:rPr lang="de-DE" dirty="0"/>
              <a:t>Making it suitable only for the outlier detectors of the classic ML models we used – as well as the autoencoder detection and Gan detection method</a:t>
            </a:r>
          </a:p>
          <a:p>
            <a:pPr marL="171450" indent="-171450">
              <a:buFont typeface="Symbol" panose="05050102010706020507" pitchFamily="18" charset="2"/>
              <a:buChar char="Þ"/>
            </a:pPr>
            <a:endParaRPr lang="de-DE" dirty="0"/>
          </a:p>
          <a:p>
            <a:pPr marL="0" indent="0">
              <a:buFont typeface="Symbol" panose="05050102010706020507" pitchFamily="18" charset="2"/>
              <a:buNone/>
            </a:pPr>
            <a:r>
              <a:rPr lang="de-DE" dirty="0"/>
              <a:t>-scenarios 2 and 3 can be used to evaluate the ML classsifiers that are trained based on normal data and the two deep learning classifiers CNN and ResNet</a:t>
            </a:r>
          </a:p>
          <a:p>
            <a:pPr marL="0" indent="0">
              <a:buFont typeface="Symbol" panose="05050102010706020507" pitchFamily="18" charset="2"/>
              <a:buNone/>
            </a:pPr>
            <a:r>
              <a:rPr lang="de-DE" dirty="0"/>
              <a:t>-scneraio 2: 2 of the attack types are removed for the training </a:t>
            </a:r>
          </a:p>
          <a:p>
            <a:pPr marL="0" indent="0">
              <a:buFont typeface="Symbol" panose="05050102010706020507" pitchFamily="18" charset="2"/>
              <a:buNone/>
            </a:pPr>
            <a:r>
              <a:rPr lang="de-DE" dirty="0"/>
              <a:t>-and in scenario 3 only one attack type is included in the training data</a:t>
            </a:r>
          </a:p>
          <a:p>
            <a:pPr marL="0" indent="0">
              <a:buFont typeface="Symbol" panose="05050102010706020507" pitchFamily="18" charset="2"/>
              <a:buNone/>
            </a:pPr>
            <a:endParaRPr lang="de-DE" dirty="0"/>
          </a:p>
          <a:p>
            <a:pPr marL="0" indent="0">
              <a:buFont typeface="Symbol" panose="05050102010706020507" pitchFamily="18" charset="2"/>
              <a:buNone/>
            </a:pPr>
            <a:endParaRPr lang="de-DE"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26</a:t>
            </a:fld>
            <a:endParaRPr lang="de-DE"/>
          </a:p>
        </p:txBody>
      </p:sp>
    </p:spTree>
    <p:extLst>
      <p:ext uri="{BB962C8B-B14F-4D97-AF65-F5344CB8AC3E}">
        <p14:creationId xmlns:p14="http://schemas.microsoft.com/office/powerpoint/2010/main" val="4985740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training  and test splits were created using K-Folds with 5 iterations</a:t>
            </a:r>
          </a:p>
          <a:p>
            <a:endParaRPr lang="en-US" dirty="0"/>
          </a:p>
          <a:p>
            <a:r>
              <a:rPr lang="en-US" dirty="0"/>
              <a:t>HOW DOES IT WORK in general?</a:t>
            </a:r>
          </a:p>
          <a:p>
            <a:r>
              <a:rPr lang="en-US" dirty="0"/>
              <a:t> Divide the dataset into K equal sized folds</a:t>
            </a:r>
          </a:p>
          <a:p>
            <a:r>
              <a:rPr lang="en-US" dirty="0"/>
              <a:t> Train the model on K-1 folds and test on the remaining fold.</a:t>
            </a:r>
          </a:p>
          <a:p>
            <a:r>
              <a:rPr lang="en-US" dirty="0"/>
              <a:t> Repeat K times, using a different fold as the test set each time.</a:t>
            </a:r>
          </a:p>
          <a:p>
            <a:r>
              <a:rPr lang="en-US" dirty="0"/>
              <a:t>For the evaluations it computes the average performance across all K runs.</a:t>
            </a:r>
          </a:p>
          <a:p>
            <a:endParaRPr lang="en-US"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sz="1200" kern="1200" dirty="0">
                <a:solidFill>
                  <a:schemeClr val="tx1"/>
                </a:solidFill>
                <a:effectLst/>
                <a:latin typeface="+mn-lt"/>
                <a:ea typeface="+mn-ea"/>
                <a:cs typeface="+mn-cs"/>
              </a:rPr>
              <a:t>-&gt; How did we implement it in order to create the specific data for each scenario:</a:t>
            </a:r>
          </a:p>
          <a:p>
            <a:r>
              <a:rPr lang="en-US" dirty="0"/>
              <a:t>&gt;for the experiments we always used k fold with runs (k=5)</a:t>
            </a:r>
          </a:p>
          <a:p>
            <a:endParaRPr lang="en-US" dirty="0"/>
          </a:p>
          <a:p>
            <a:endParaRPr lang="en-US" dirty="0"/>
          </a:p>
          <a:p>
            <a:r>
              <a:rPr lang="en-US" dirty="0"/>
              <a:t>K-fold splits are </a:t>
            </a:r>
            <a:r>
              <a:rPr lang="en-US" b="1" dirty="0"/>
              <a:t>computed separately </a:t>
            </a:r>
            <a:r>
              <a:rPr lang="en-US" dirty="0"/>
              <a:t>for </a:t>
            </a:r>
            <a:r>
              <a:rPr lang="en-US" b="1" dirty="0"/>
              <a:t>benign</a:t>
            </a:r>
            <a:r>
              <a:rPr lang="en-US" dirty="0"/>
              <a:t> (control) data and for </a:t>
            </a:r>
            <a:r>
              <a:rPr lang="en-US" b="1" dirty="0"/>
              <a:t>each attack type</a:t>
            </a:r>
            <a:r>
              <a:rPr lang="en-US" dirty="0"/>
              <a:t>.</a:t>
            </a:r>
            <a:br>
              <a:rPr lang="en-US" dirty="0"/>
            </a:br>
            <a:r>
              <a:rPr lang="en-US" dirty="0"/>
              <a:t>For each run, the </a:t>
            </a:r>
            <a:r>
              <a:rPr lang="en-US" b="1" dirty="0"/>
              <a:t>test set </a:t>
            </a:r>
            <a:r>
              <a:rPr lang="en-US" dirty="0"/>
              <a:t>consists of the </a:t>
            </a:r>
            <a:r>
              <a:rPr lang="en-US" b="1" dirty="0"/>
              <a:t>validation folds </a:t>
            </a:r>
            <a:r>
              <a:rPr lang="en-US" dirty="0"/>
              <a:t>of </a:t>
            </a:r>
            <a:r>
              <a:rPr lang="en-US" b="1" dirty="0"/>
              <a:t>benign</a:t>
            </a:r>
            <a:r>
              <a:rPr lang="en-US" dirty="0"/>
              <a:t> data and </a:t>
            </a:r>
            <a:r>
              <a:rPr lang="en-US" b="1" dirty="0"/>
              <a:t>all attack types.</a:t>
            </a:r>
            <a:br>
              <a:rPr lang="en-US" dirty="0"/>
            </a:br>
            <a:r>
              <a:rPr lang="en-US" dirty="0"/>
              <a:t>The </a:t>
            </a:r>
            <a:r>
              <a:rPr lang="en-US" b="1" dirty="0"/>
              <a:t>training set</a:t>
            </a:r>
            <a:r>
              <a:rPr lang="en-US" dirty="0"/>
              <a:t> always includes all </a:t>
            </a:r>
            <a:r>
              <a:rPr lang="en-US" b="1" dirty="0"/>
              <a:t>benign training folds </a:t>
            </a:r>
            <a:r>
              <a:rPr lang="en-US" dirty="0"/>
              <a:t>and </a:t>
            </a:r>
            <a:r>
              <a:rPr lang="en-US" b="1" dirty="0"/>
              <a:t>only the training folds </a:t>
            </a:r>
            <a:r>
              <a:rPr lang="en-US" dirty="0"/>
              <a:t>of the attack types specified by the </a:t>
            </a:r>
            <a:r>
              <a:rPr lang="en-US" b="1" dirty="0"/>
              <a:t>respective scenario.</a:t>
            </a:r>
          </a:p>
          <a:p>
            <a:endParaRPr lang="en-US" dirty="0"/>
          </a:p>
          <a:p>
            <a:endParaRPr lang="en-US" dirty="0"/>
          </a:p>
          <a:p>
            <a:r>
              <a:rPr lang="en-US" dirty="0"/>
              <a:t>------------------------------------------------------------------------------------</a:t>
            </a:r>
          </a:p>
          <a:p>
            <a:r>
              <a:rPr lang="en-US" dirty="0"/>
              <a:t>Attributes: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Each data point appears EXACTLY ONCE in a test set across all k folds.</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 All folds are disjoint (no index appears in more than one fold).</a:t>
            </a: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 The union of all folds contains every data point exactly once.</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27</a:t>
            </a:fld>
            <a:endParaRPr lang="de-DE"/>
          </a:p>
        </p:txBody>
      </p:sp>
    </p:spTree>
    <p:extLst>
      <p:ext uri="{BB962C8B-B14F-4D97-AF65-F5344CB8AC3E}">
        <p14:creationId xmlns:p14="http://schemas.microsoft.com/office/powerpoint/2010/main" val="38549973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-here you can see the results for the standard ML classifiers</a:t>
            </a:r>
          </a:p>
          <a:p>
            <a:endParaRPr lang="de-DE" dirty="0"/>
          </a:p>
          <a:p>
            <a:r>
              <a:rPr lang="de-DE" dirty="0"/>
              <a:t>-Raw presentation outperformed the reverse engineered representation for each classifier</a:t>
            </a:r>
          </a:p>
          <a:p>
            <a:r>
              <a:rPr lang="de-DE" dirty="0"/>
              <a:t>-kNN and BSVM performed best (in scenario 2)</a:t>
            </a:r>
          </a:p>
          <a:p>
            <a:r>
              <a:rPr lang="de-DE" dirty="0"/>
              <a:t>-kNN best overall</a:t>
            </a:r>
          </a:p>
          <a:p>
            <a:endParaRPr lang="de-DE" dirty="0"/>
          </a:p>
          <a:p>
            <a:r>
              <a:rPr lang="de-DE" dirty="0"/>
              <a:t>-ee only predicted one class =&gt; result 0</a:t>
            </a:r>
          </a:p>
          <a:p>
            <a:endParaRPr lang="de-DE" dirty="0"/>
          </a:p>
          <a:p>
            <a:r>
              <a:rPr lang="de-DE" dirty="0"/>
              <a:t>-evaluation scenario 2 seems to work best, were the models have been traiined on multiple attack data</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29</a:t>
            </a:fld>
            <a:endParaRPr lang="de-DE"/>
          </a:p>
        </p:txBody>
      </p:sp>
    </p:spTree>
    <p:extLst>
      <p:ext uri="{BB962C8B-B14F-4D97-AF65-F5344CB8AC3E}">
        <p14:creationId xmlns:p14="http://schemas.microsoft.com/office/powerpoint/2010/main" val="21669636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-best results for raw (one exception)</a:t>
            </a:r>
          </a:p>
          <a:p>
            <a:endParaRPr lang="de-DE" dirty="0"/>
          </a:p>
          <a:p>
            <a:r>
              <a:rPr lang="de-DE" dirty="0"/>
              <a:t>-consistent results between modes for evaluation scenario 2</a:t>
            </a:r>
          </a:p>
          <a:p>
            <a:endParaRPr lang="de-DE" dirty="0"/>
          </a:p>
          <a:p>
            <a:r>
              <a:rPr lang="de-DE" dirty="0"/>
              <a:t>-always bad results for scenario 3n are outstandingly bad (posibly because of lack of attack data)</a:t>
            </a:r>
          </a:p>
          <a:p>
            <a:endParaRPr lang="de-DE" dirty="0"/>
          </a:p>
          <a:p>
            <a:r>
              <a:rPr lang="de-DE" dirty="0"/>
              <a:t>-F1-score drops for the outlier detectors in scenario 1 </a:t>
            </a:r>
          </a:p>
          <a:p>
            <a:r>
              <a:rPr lang="de-DE" dirty="0"/>
              <a:t>=&gt; Indicating that one of the coutlier detectors perform bad (which is the case for EE)</a:t>
            </a:r>
          </a:p>
          <a:p>
            <a:endParaRPr lang="de-DE" dirty="0"/>
          </a:p>
          <a:p>
            <a:r>
              <a:rPr lang="de-DE" dirty="0"/>
              <a:t>COINCIDEN</a:t>
            </a:r>
          </a:p>
        </p:txBody>
      </p:sp>
      <p:sp>
        <p:nvSpPr>
          <p:cNvPr id="4" name="Slide Number Placeholder 3"/>
          <p:cNvSpPr>
            <a:spLocks noGrp="1"/>
          </p:cNvSpPr>
          <p:nvPr>
            <p:ph type="sldNum" sz="quarter" idx="5"/>
          </p:nvPr>
        </p:nvSpPr>
        <p:spPr/>
        <p:txBody>
          <a:bodyPr/>
          <a:lstStyle/>
          <a:p>
            <a:fld id="{17F6ECB0-4EB5-411D-9EB7-90E2340D28B3}" type="slidenum">
              <a:rPr lang="de-DE" smtClean="0"/>
              <a:t>30</a:t>
            </a:fld>
            <a:endParaRPr lang="de-DE"/>
          </a:p>
        </p:txBody>
      </p:sp>
    </p:spTree>
    <p:extLst>
      <p:ext uri="{BB962C8B-B14F-4D97-AF65-F5344CB8AC3E}">
        <p14:creationId xmlns:p14="http://schemas.microsoft.com/office/powerpoint/2010/main" val="39673090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Autoencoder / SDA</a:t>
            </a:r>
          </a:p>
          <a:p>
            <a:r>
              <a:rPr lang="en-US" b="1" dirty="0"/>
              <a:t>Very strong performance on raw packets (F1 ≈ 0.99)</a:t>
            </a:r>
            <a:r>
              <a:rPr lang="en-US" dirty="0"/>
              <a:t>.</a:t>
            </a:r>
          </a:p>
          <a:p>
            <a:r>
              <a:rPr lang="en-US" dirty="0"/>
              <a:t>Performance remains </a:t>
            </a:r>
            <a:r>
              <a:rPr lang="en-US" b="1" dirty="0"/>
              <a:t>high for re5 and re10</a:t>
            </a:r>
            <a:r>
              <a:rPr lang="en-US" dirty="0"/>
              <a:t>, showing that </a:t>
            </a:r>
            <a:r>
              <a:rPr lang="en-US" b="1" dirty="0"/>
              <a:t>reverse-engineered physical readings still preserve most discriminative information</a:t>
            </a:r>
            <a:r>
              <a:rPr lang="en-US" dirty="0"/>
              <a:t>.</a:t>
            </a:r>
          </a:p>
          <a:p>
            <a:r>
              <a:rPr lang="en-US" dirty="0"/>
              <a:t>Noticeable drop at </a:t>
            </a:r>
            <a:r>
              <a:rPr lang="en-US" b="1" dirty="0"/>
              <a:t>re15</a:t>
            </a:r>
            <a:r>
              <a:rPr lang="en-US" dirty="0"/>
              <a:t>, indicating that </a:t>
            </a:r>
            <a:r>
              <a:rPr lang="en-US" b="1" dirty="0"/>
              <a:t>too much temporal aggregation can dilute anomalies</a:t>
            </a:r>
            <a:r>
              <a:rPr lang="en-US" dirty="0"/>
              <a:t>.</a:t>
            </a:r>
          </a:p>
          <a:p>
            <a:r>
              <a:rPr lang="en-US" b="1" dirty="0"/>
              <a:t>Interpretation:</a:t>
            </a:r>
            <a:br>
              <a:rPr lang="en-US" dirty="0"/>
            </a:br>
            <a:r>
              <a:rPr lang="en-US" dirty="0"/>
              <a:t>Autoencoders are effective because they model </a:t>
            </a:r>
            <a:r>
              <a:rPr lang="en-US" b="1" dirty="0"/>
              <a:t>normal system behavior</a:t>
            </a:r>
            <a:r>
              <a:rPr lang="en-US" dirty="0"/>
              <a:t> directly via reconstruction error.</a:t>
            </a:r>
          </a:p>
          <a:p>
            <a:endParaRPr lang="en-US" dirty="0"/>
          </a:p>
          <a:p>
            <a:endParaRPr lang="en-US" dirty="0"/>
          </a:p>
          <a:p>
            <a:r>
              <a:rPr lang="en-US" b="1" dirty="0"/>
              <a:t>GAN (Discriminator vs Generator)</a:t>
            </a:r>
          </a:p>
          <a:p>
            <a:r>
              <a:rPr lang="en-US" dirty="0"/>
              <a:t>GAN performance is </a:t>
            </a:r>
            <a:r>
              <a:rPr lang="en-US" b="1" dirty="0"/>
              <a:t>unstable and clearly lower</a:t>
            </a:r>
            <a:r>
              <a:rPr lang="en-US" dirty="0"/>
              <a:t> than other methods.</a:t>
            </a:r>
          </a:p>
          <a:p>
            <a:r>
              <a:rPr lang="en-US" dirty="0"/>
              <a:t>The </a:t>
            </a:r>
            <a:r>
              <a:rPr lang="en-US" b="1" dirty="0"/>
              <a:t>discriminator</a:t>
            </a:r>
            <a:r>
              <a:rPr lang="en-US" dirty="0"/>
              <a:t> performs better than the generator, but still poorly compared to SDA and N-grams.</a:t>
            </a:r>
          </a:p>
          <a:p>
            <a:r>
              <a:rPr lang="en-US" dirty="0"/>
              <a:t>Generator-based detection struggles, especially on raw data, and we assume that is because of the difficulty of constructing valid raw packet from noise input. </a:t>
            </a:r>
          </a:p>
          <a:p>
            <a:r>
              <a:rPr lang="en-US" b="1" dirty="0"/>
              <a:t>Interpretation:</a:t>
            </a:r>
            <a:br>
              <a:rPr lang="en-US" dirty="0"/>
            </a:br>
            <a:r>
              <a:rPr lang="en-US" dirty="0"/>
              <a:t>The generator fails because raw network packets are too strict and detailed, making it hard for the GAN to learn and recreate them correctly.</a:t>
            </a:r>
          </a:p>
          <a:p>
            <a:r>
              <a:rPr lang="en-US" dirty="0"/>
              <a:t>Strict means that data must follow very precise and fixed rules.</a:t>
            </a:r>
          </a:p>
          <a:p>
            <a:endParaRPr lang="en-US" dirty="0"/>
          </a:p>
          <a:p>
            <a:r>
              <a:rPr lang="en-US" b="1" dirty="0"/>
              <a:t>N-grams (N = 2 vs 5)</a:t>
            </a:r>
          </a:p>
          <a:p>
            <a:r>
              <a:rPr lang="en-US" b="1" dirty="0"/>
              <a:t>Excellent performance on raw packets (F1 ≈ 0.996)</a:t>
            </a:r>
            <a:r>
              <a:rPr lang="en-US" dirty="0"/>
              <a:t>.</a:t>
            </a:r>
          </a:p>
          <a:p>
            <a:r>
              <a:rPr lang="en-US" dirty="0"/>
              <a:t>F1 drops after reverse engineering but remains </a:t>
            </a:r>
            <a:r>
              <a:rPr lang="en-US" b="1" dirty="0"/>
              <a:t>stable across p = 5, 10, 15</a:t>
            </a:r>
            <a:r>
              <a:rPr lang="en-US" dirty="0"/>
              <a:t>.</a:t>
            </a:r>
          </a:p>
          <a:p>
            <a:r>
              <a:rPr lang="en-US" dirty="0"/>
              <a:t>Similar performance for </a:t>
            </a:r>
            <a:r>
              <a:rPr lang="en-US" b="1" dirty="0"/>
              <a:t>2-gram and 5-gram</a:t>
            </a:r>
            <a:r>
              <a:rPr lang="en-US" dirty="0"/>
              <a:t>, suggesting limited sensitivity to N.</a:t>
            </a:r>
          </a:p>
          <a:p>
            <a:r>
              <a:rPr lang="en-US" b="1" dirty="0"/>
              <a:t>Interpretation:</a:t>
            </a:r>
            <a:br>
              <a:rPr lang="en-US" dirty="0"/>
            </a:br>
            <a:r>
              <a:rPr lang="en-US" dirty="0"/>
              <a:t>N-grams capture </a:t>
            </a:r>
            <a:r>
              <a:rPr lang="en-US" b="1" dirty="0"/>
              <a:t>local byte patterns effectively</a:t>
            </a:r>
            <a:r>
              <a:rPr lang="en-US" dirty="0"/>
              <a:t>, but </a:t>
            </a:r>
            <a:r>
              <a:rPr lang="en-US" b="1" dirty="0"/>
              <a:t>lose discriminative power</a:t>
            </a:r>
            <a:r>
              <a:rPr lang="en-US" dirty="0"/>
              <a:t> when only physical readings are available.</a:t>
            </a:r>
          </a:p>
          <a:p>
            <a:endParaRPr lang="en-US" dirty="0"/>
          </a:p>
          <a:p>
            <a:endParaRPr lang="en-US" dirty="0"/>
          </a:p>
          <a:p>
            <a:endParaRPr lang="en-US" dirty="0"/>
          </a:p>
          <a:p>
            <a:r>
              <a:rPr lang="en-US" b="1" dirty="0"/>
              <a:t>Key takeaways (one-liner)</a:t>
            </a:r>
          </a:p>
          <a:p>
            <a:r>
              <a:rPr lang="en-US" dirty="0"/>
              <a:t>“Autoencoders are the most robust method, N-grams are strong but rely on raw packet structure, and GANs are not well-suited for reliable anomaly detection in ICS byte-level data.”</a:t>
            </a:r>
          </a:p>
          <a:p>
            <a:endParaRPr lang="en-US" dirty="0"/>
          </a:p>
          <a:p>
            <a:endParaRPr lang="en-US" dirty="0"/>
          </a:p>
          <a:p>
            <a:endParaRPr lang="en-US" dirty="0"/>
          </a:p>
          <a:p>
            <a:endParaRPr lang="en-US" dirty="0"/>
          </a:p>
          <a:p>
            <a:r>
              <a:rPr lang="de-DE" dirty="0"/>
              <a:t>SDA is used as a classifier by computing the construction error, if we managed to reconstruct the packet properly, then it is considered as normal, otherwise it is considered as attack, and this can be computed using distance function. </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31</a:t>
            </a:fld>
            <a:endParaRPr lang="de-DE"/>
          </a:p>
        </p:txBody>
      </p:sp>
    </p:spTree>
    <p:extLst>
      <p:ext uri="{BB962C8B-B14F-4D97-AF65-F5344CB8AC3E}">
        <p14:creationId xmlns:p14="http://schemas.microsoft.com/office/powerpoint/2010/main" val="30145864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CNN vs </a:t>
            </a:r>
            <a:r>
              <a:rPr lang="en-US" b="1" dirty="0" err="1"/>
              <a:t>ResNet</a:t>
            </a:r>
            <a:r>
              <a:rPr lang="en-US" b="1" dirty="0"/>
              <a:t> – F1 Score Analysis</a:t>
            </a:r>
          </a:p>
          <a:p>
            <a:r>
              <a:rPr lang="en-US" b="1" dirty="0"/>
              <a:t>CNN performs extremely well on raw packets</a:t>
            </a:r>
            <a:r>
              <a:rPr lang="en-US" dirty="0"/>
              <a:t>, especially in Scenario 2 (F1 ≈ 0.99), showing that convolutional models can directly exploit low-level byte patterns.</a:t>
            </a:r>
          </a:p>
          <a:p>
            <a:r>
              <a:rPr lang="en-US" dirty="0"/>
              <a:t>CNN performance </a:t>
            </a:r>
            <a:r>
              <a:rPr lang="en-US" b="1" dirty="0"/>
              <a:t>drops significantly in Scenario 3</a:t>
            </a:r>
            <a:r>
              <a:rPr lang="en-US" dirty="0"/>
              <a:t>, particularly after reverse engineering, indicating that CNNs are </a:t>
            </a:r>
            <a:r>
              <a:rPr lang="en-US" b="1" dirty="0"/>
              <a:t>sensitive to distribution shifts and reduced packet context, and also difficulty of detecting previously unseen attacking packets</a:t>
            </a:r>
            <a:r>
              <a:rPr lang="en-US" dirty="0"/>
              <a:t>.</a:t>
            </a:r>
          </a:p>
          <a:p>
            <a:r>
              <a:rPr lang="en-US" b="1" dirty="0" err="1"/>
              <a:t>ResNet</a:t>
            </a:r>
            <a:r>
              <a:rPr lang="en-US" b="1" dirty="0"/>
              <a:t> is more stable than CNN</a:t>
            </a:r>
            <a:r>
              <a:rPr lang="en-US" dirty="0"/>
              <a:t> when using reverse-engineered data, especially when </a:t>
            </a:r>
            <a:r>
              <a:rPr lang="en-US" b="1" dirty="0"/>
              <a:t>statistical features are included</a:t>
            </a:r>
            <a:r>
              <a:rPr lang="en-US" dirty="0"/>
              <a:t>.</a:t>
            </a:r>
          </a:p>
          <a:p>
            <a:r>
              <a:rPr lang="en-US" dirty="0"/>
              <a:t>Adding </a:t>
            </a:r>
            <a:r>
              <a:rPr lang="en-US" b="1" dirty="0"/>
              <a:t>statistical features (</a:t>
            </a:r>
            <a:r>
              <a:rPr lang="en-US" b="1" dirty="0" err="1"/>
              <a:t>use_stats</a:t>
            </a:r>
            <a:r>
              <a:rPr lang="en-US" b="1" dirty="0"/>
              <a:t> = 1)</a:t>
            </a:r>
            <a:r>
              <a:rPr lang="en-US" dirty="0"/>
              <a:t> clearly improves </a:t>
            </a:r>
            <a:r>
              <a:rPr lang="en-US" dirty="0" err="1"/>
              <a:t>ResNet</a:t>
            </a:r>
            <a:r>
              <a:rPr lang="en-US" dirty="0"/>
              <a:t> performance, reaching its best F1 when combined with re10 / re15.</a:t>
            </a:r>
          </a:p>
          <a:p>
            <a:r>
              <a:rPr lang="en-US" dirty="0"/>
              <a:t>This shows that </a:t>
            </a:r>
            <a:r>
              <a:rPr lang="en-US" b="1" dirty="0" err="1"/>
              <a:t>ResNet</a:t>
            </a:r>
            <a:r>
              <a:rPr lang="en-US" b="1" dirty="0"/>
              <a:t> benefits from residual connections and auxiliary features</a:t>
            </a:r>
            <a:r>
              <a:rPr lang="en-US" dirty="0"/>
              <a:t>, making it better suited for </a:t>
            </a:r>
            <a:r>
              <a:rPr lang="en-US" b="1" dirty="0"/>
              <a:t>more challenging and realistic scenarios</a:t>
            </a:r>
            <a:r>
              <a:rPr lang="en-US" dirty="0"/>
              <a:t>.</a:t>
            </a:r>
          </a:p>
          <a:p>
            <a:endParaRPr lang="en-US"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32</a:t>
            </a:fld>
            <a:endParaRPr lang="de-DE"/>
          </a:p>
        </p:txBody>
      </p:sp>
    </p:spTree>
    <p:extLst>
      <p:ext uri="{BB962C8B-B14F-4D97-AF65-F5344CB8AC3E}">
        <p14:creationId xmlns:p14="http://schemas.microsoft.com/office/powerpoint/2010/main" val="9684552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dirty="0"/>
              <a:t>N-gram:</a:t>
            </a:r>
          </a:p>
          <a:p>
            <a:pPr lvl="1"/>
            <a:r>
              <a:rPr lang="en-US" sz="1600" dirty="0"/>
              <a:t>Effective and efficient classifiers especially when combined with </a:t>
            </a:r>
            <a:r>
              <a:rPr lang="en-US" sz="1600" b="1" dirty="0"/>
              <a:t>Bloom filters</a:t>
            </a:r>
            <a:r>
              <a:rPr lang="en-US" sz="1600" dirty="0"/>
              <a:t>.</a:t>
            </a:r>
          </a:p>
          <a:p>
            <a:pPr lvl="1"/>
            <a:r>
              <a:rPr lang="en-US" sz="1600" dirty="0"/>
              <a:t>Performance is insensitive to the choice of N. </a:t>
            </a:r>
          </a:p>
          <a:p>
            <a:r>
              <a:rPr lang="en-US" sz="2000" dirty="0"/>
              <a:t>SDA:</a:t>
            </a:r>
          </a:p>
          <a:p>
            <a:pPr lvl="1"/>
            <a:r>
              <a:rPr lang="en-US" sz="1600" dirty="0"/>
              <a:t>Achieves near-perfect F1-scores for raw, re5, and re10.</a:t>
            </a:r>
          </a:p>
          <a:p>
            <a:pPr lvl="1"/>
            <a:r>
              <a:rPr lang="en-US" sz="1600" dirty="0"/>
              <a:t>Indicating that it is successfully learns a compact representations</a:t>
            </a:r>
          </a:p>
          <a:p>
            <a:pPr lvl="1"/>
            <a:r>
              <a:rPr lang="en-US" sz="1600" dirty="0"/>
              <a:t>Can reliably identify deviations as anomalies. </a:t>
            </a:r>
          </a:p>
          <a:p>
            <a:r>
              <a:rPr lang="en-US" sz="1800" dirty="0"/>
              <a:t>GAN:</a:t>
            </a:r>
          </a:p>
          <a:p>
            <a:pPr lvl="1"/>
            <a:r>
              <a:rPr lang="en-US" sz="1600" dirty="0"/>
              <a:t>Poor classification performance (low average F1-Score).</a:t>
            </a:r>
          </a:p>
          <a:p>
            <a:pPr lvl="1"/>
            <a:r>
              <a:rPr lang="en-US" sz="1600" dirty="0"/>
              <a:t>Highly inconsistent results across experiments.</a:t>
            </a:r>
          </a:p>
          <a:p>
            <a:r>
              <a:rPr lang="en-US" sz="1800" dirty="0" err="1"/>
              <a:t>ResNet</a:t>
            </a:r>
            <a:r>
              <a:rPr lang="en-US" sz="1800" dirty="0"/>
              <a:t>: </a:t>
            </a:r>
          </a:p>
          <a:p>
            <a:pPr lvl="1"/>
            <a:r>
              <a:rPr lang="en-US" sz="1600" dirty="0"/>
              <a:t>Performs reasonably on raw bytes (F1 ≈ 80%).</a:t>
            </a:r>
          </a:p>
          <a:p>
            <a:pPr lvl="1"/>
            <a:r>
              <a:rPr lang="en-US" sz="1600" dirty="0"/>
              <a:t>Reverse engineering provides limited benefit when trained on both normal and attack data. </a:t>
            </a:r>
          </a:p>
          <a:p>
            <a:pPr lvl="1"/>
            <a:r>
              <a:rPr lang="en-US" sz="1600" dirty="0"/>
              <a:t>Fails without attack samples, which means not suitable for detecting unseen attacks.</a:t>
            </a:r>
          </a:p>
          <a:p>
            <a:endParaRPr lang="en-US" dirty="0"/>
          </a:p>
          <a:p>
            <a:endParaRPr lang="de-DE" dirty="0"/>
          </a:p>
          <a:p>
            <a:endParaRPr lang="en-US" dirty="0"/>
          </a:p>
          <a:p>
            <a:endParaRPr lang="de-DE" dirty="0"/>
          </a:p>
          <a:p>
            <a:endParaRPr lang="de-DE" dirty="0"/>
          </a:p>
          <a:p>
            <a:r>
              <a:rPr lang="de-DE" dirty="0"/>
              <a:t>----------------------------original slide:</a:t>
            </a:r>
          </a:p>
          <a:p>
            <a:endParaRPr lang="de-DE" dirty="0"/>
          </a:p>
          <a:p>
            <a:r>
              <a:rPr lang="en-US" sz="1800" dirty="0"/>
              <a:t>N-gram:</a:t>
            </a:r>
          </a:p>
          <a:p>
            <a:pPr lvl="1"/>
            <a:r>
              <a:rPr lang="en-US" sz="1600" dirty="0"/>
              <a:t>Effective and efficient classifiers especially when combined with </a:t>
            </a:r>
            <a:r>
              <a:rPr lang="en-US" sz="1600" b="1" dirty="0"/>
              <a:t>Bloom filters</a:t>
            </a:r>
            <a:r>
              <a:rPr lang="en-US" sz="1600" dirty="0"/>
              <a:t>.</a:t>
            </a:r>
          </a:p>
          <a:p>
            <a:pPr lvl="1"/>
            <a:r>
              <a:rPr lang="en-US" sz="1600" dirty="0"/>
              <a:t>Performance is insensitive to the choice of N. </a:t>
            </a:r>
          </a:p>
          <a:p>
            <a:r>
              <a:rPr lang="en-US" sz="2000" dirty="0"/>
              <a:t>SDA:</a:t>
            </a:r>
          </a:p>
          <a:p>
            <a:pPr lvl="1"/>
            <a:r>
              <a:rPr lang="en-US" sz="1600" dirty="0"/>
              <a:t>Achieves near-perfect F1-scores for raw, re5, and re10.</a:t>
            </a:r>
          </a:p>
          <a:p>
            <a:pPr lvl="1"/>
            <a:r>
              <a:rPr lang="en-US" sz="1600" dirty="0"/>
              <a:t>Indicating that it is successfully learns a compact representations</a:t>
            </a:r>
          </a:p>
          <a:p>
            <a:pPr lvl="1"/>
            <a:r>
              <a:rPr lang="en-US" sz="1600" dirty="0"/>
              <a:t>Can reliably identify deviations as anomalies. </a:t>
            </a:r>
          </a:p>
          <a:p>
            <a:r>
              <a:rPr lang="en-US" sz="1800" dirty="0"/>
              <a:t>GAN:</a:t>
            </a:r>
          </a:p>
          <a:p>
            <a:pPr lvl="1"/>
            <a:r>
              <a:rPr lang="en-US" sz="1600" dirty="0"/>
              <a:t>Poor classification performance (low average F1-Score).</a:t>
            </a:r>
          </a:p>
          <a:p>
            <a:pPr lvl="1"/>
            <a:r>
              <a:rPr lang="en-US" sz="1600" dirty="0"/>
              <a:t>Highly inconsistent results across experiments.</a:t>
            </a:r>
          </a:p>
          <a:p>
            <a:r>
              <a:rPr lang="en-US" sz="1800" dirty="0" err="1"/>
              <a:t>ResNet</a:t>
            </a:r>
            <a:r>
              <a:rPr lang="en-US" sz="1800" dirty="0"/>
              <a:t>: </a:t>
            </a:r>
          </a:p>
          <a:p>
            <a:pPr lvl="1"/>
            <a:r>
              <a:rPr lang="en-US" sz="1600" dirty="0"/>
              <a:t>Performs reasonably on raw bytes (F1 ≈ 80%).</a:t>
            </a:r>
          </a:p>
          <a:p>
            <a:pPr lvl="1"/>
            <a:r>
              <a:rPr lang="en-US" sz="1600" dirty="0"/>
              <a:t>Reverse engineering provides limited benefit when trained on both normal and attack data. </a:t>
            </a:r>
          </a:p>
          <a:p>
            <a:pPr lvl="1"/>
            <a:r>
              <a:rPr lang="en-US" sz="1600" dirty="0"/>
              <a:t>Fails without attack samples, which means not suitable for detecting unseen attacks.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34</a:t>
            </a:fld>
            <a:endParaRPr lang="de-DE"/>
          </a:p>
        </p:txBody>
      </p:sp>
    </p:spTree>
    <p:extLst>
      <p:ext uri="{BB962C8B-B14F-4D97-AF65-F5344CB8AC3E}">
        <p14:creationId xmlns:p14="http://schemas.microsoft.com/office/powerpoint/2010/main" val="11076273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BD356-234C-76CC-52D6-A4F8D51284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9DB136-A28B-10BC-3485-6B816BB303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B7D324-F4FE-4773-0B95-EEDA70553C5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We suggest that it is because of having smallest number of samples after aggregation</a:t>
            </a:r>
          </a:p>
          <a:p>
            <a:endParaRPr lang="en-US" dirty="0"/>
          </a:p>
          <a:p>
            <a:endParaRPr lang="de-DE" dirty="0"/>
          </a:p>
        </p:txBody>
      </p:sp>
      <p:sp>
        <p:nvSpPr>
          <p:cNvPr id="4" name="Slide Number Placeholder 3">
            <a:extLst>
              <a:ext uri="{FF2B5EF4-FFF2-40B4-BE49-F238E27FC236}">
                <a16:creationId xmlns:a16="http://schemas.microsoft.com/office/drawing/2014/main" id="{B70628A4-82E3-92C2-CC38-6CF727779D51}"/>
              </a:ext>
            </a:extLst>
          </p:cNvPr>
          <p:cNvSpPr>
            <a:spLocks noGrp="1"/>
          </p:cNvSpPr>
          <p:nvPr>
            <p:ph type="sldNum" sz="quarter" idx="5"/>
          </p:nvPr>
        </p:nvSpPr>
        <p:spPr/>
        <p:txBody>
          <a:bodyPr/>
          <a:lstStyle/>
          <a:p>
            <a:fld id="{17F6ECB0-4EB5-411D-9EB7-90E2340D28B3}" type="slidenum">
              <a:rPr lang="de-DE" smtClean="0"/>
              <a:t>35</a:t>
            </a:fld>
            <a:endParaRPr lang="de-DE"/>
          </a:p>
        </p:txBody>
      </p:sp>
    </p:spTree>
    <p:extLst>
      <p:ext uri="{BB962C8B-B14F-4D97-AF65-F5344CB8AC3E}">
        <p14:creationId xmlns:p14="http://schemas.microsoft.com/office/powerpoint/2010/main" val="26115788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8ABA0-7308-E57E-530B-3E657DC4E3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90DD7-4E07-5BFA-ACED-4C2D03B4D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5A929A-CEB3-4B41-F508-8C8E6E240C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We suggest that it is because of having smallest number of samples after aggregation</a:t>
            </a:r>
          </a:p>
          <a:p>
            <a:endParaRPr lang="en-US" dirty="0"/>
          </a:p>
          <a:p>
            <a:endParaRPr lang="de-DE" dirty="0"/>
          </a:p>
          <a:p>
            <a:r>
              <a:rPr lang="de-DE" dirty="0"/>
              <a:t>Other alternative features can be: </a:t>
            </a:r>
          </a:p>
          <a:p>
            <a:r>
              <a:rPr lang="de-DE" dirty="0"/>
              <a:t>Request-response ratio, n-gram frequency, physical responses sizes, session lengths, frequent bytes.</a:t>
            </a:r>
          </a:p>
        </p:txBody>
      </p:sp>
      <p:sp>
        <p:nvSpPr>
          <p:cNvPr id="4" name="Slide Number Placeholder 3">
            <a:extLst>
              <a:ext uri="{FF2B5EF4-FFF2-40B4-BE49-F238E27FC236}">
                <a16:creationId xmlns:a16="http://schemas.microsoft.com/office/drawing/2014/main" id="{6BA12107-90A8-94F7-653C-7425436E86FF}"/>
              </a:ext>
            </a:extLst>
          </p:cNvPr>
          <p:cNvSpPr>
            <a:spLocks noGrp="1"/>
          </p:cNvSpPr>
          <p:nvPr>
            <p:ph type="sldNum" sz="quarter" idx="5"/>
          </p:nvPr>
        </p:nvSpPr>
        <p:spPr/>
        <p:txBody>
          <a:bodyPr/>
          <a:lstStyle/>
          <a:p>
            <a:fld id="{17F6ECB0-4EB5-411D-9EB7-90E2340D28B3}" type="slidenum">
              <a:rPr lang="de-DE" smtClean="0"/>
              <a:t>36</a:t>
            </a:fld>
            <a:endParaRPr lang="de-DE"/>
          </a:p>
        </p:txBody>
      </p:sp>
    </p:spTree>
    <p:extLst>
      <p:ext uri="{BB962C8B-B14F-4D97-AF65-F5344CB8AC3E}">
        <p14:creationId xmlns:p14="http://schemas.microsoft.com/office/powerpoint/2010/main" val="13494105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-99,8% of the traffic we found inside the electra pcpa files belonged to the S7Comm protocol (according to the port number and header signature we found ) </a:t>
            </a:r>
          </a:p>
          <a:p>
            <a:r>
              <a:rPr lang="de-DE" dirty="0"/>
              <a:t>-other protocols found were mainly responsible for background network traffic (eg NTP for time control and DHCP for management of IP addresses)</a:t>
            </a:r>
          </a:p>
          <a:p>
            <a:r>
              <a:rPr lang="de-DE" dirty="0"/>
              <a:t>-&gt; We also had non-application protocol ere we didnt analyse the protocol </a:t>
            </a:r>
          </a:p>
          <a:p>
            <a:endParaRPr lang="de-DE" dirty="0"/>
          </a:p>
          <a:p>
            <a:r>
              <a:rPr lang="de-DE" dirty="0"/>
              <a:t>-we also measured the packet length and found out that the lognest packet overall was 466 bytes long (ncluding the header)</a:t>
            </a:r>
          </a:p>
          <a:p>
            <a:r>
              <a:rPr lang="de-DE" dirty="0"/>
              <a:t>-the analysis of the frame length (for s7Comm!) exposed some differences between the normal and the attack traffic</a:t>
            </a:r>
          </a:p>
          <a:p>
            <a:r>
              <a:rPr lang="de-DE" dirty="0"/>
              <a:t>-the normal traffic seems to contain some longer outliers compared to the attack traffic (since the median is similar but the mean fram length and standard derivation is higher for the normal packets)</a:t>
            </a:r>
          </a:p>
          <a:p>
            <a:endParaRPr lang="de-DE" dirty="0"/>
          </a:p>
          <a:p>
            <a:r>
              <a:rPr lang="de-DE" dirty="0"/>
              <a:t>-differences also showed in the inter arrival time  were the average was slightly higher in the normal traffic </a:t>
            </a:r>
          </a:p>
          <a:p>
            <a:r>
              <a:rPr lang="de-DE" dirty="0"/>
              <a:t>-also the inter arrival time is way more inconsistent for the attack packets </a:t>
            </a:r>
          </a:p>
          <a:p>
            <a:r>
              <a:rPr lang="de-DE" dirty="0"/>
              <a:t>-IAT was measured within one communication session</a:t>
            </a:r>
          </a:p>
          <a:p>
            <a:endParaRPr lang="de-DE" dirty="0"/>
          </a:p>
          <a:p>
            <a:pPr marL="171450" indent="-171450">
              <a:buFont typeface="Symbol" panose="05050102010706020507" pitchFamily="18" charset="2"/>
              <a:buChar char="Þ"/>
            </a:pPr>
            <a:r>
              <a:rPr lang="de-DE" dirty="0"/>
              <a:t>Grouping by each IP address belonging together</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-normal traffic has some longer outliers</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Normal:</a:t>
            </a:r>
          </a:p>
          <a:p>
            <a:pPr marL="0" indent="0">
              <a:buFont typeface="Symbol" panose="05050102010706020507" pitchFamily="18" charset="2"/>
              <a:buNone/>
            </a:pPr>
            <a:r>
              <a:rPr lang="de-DE" dirty="0"/>
              <a:t>10.10.10.10__10.10.10.20             s7comm           0.076238     0.247161    0.000498</a:t>
            </a:r>
          </a:p>
          <a:p>
            <a:pPr marL="0" indent="0">
              <a:buFont typeface="Symbol" panose="05050102010706020507" pitchFamily="18" charset="2"/>
              <a:buNone/>
            </a:pPr>
            <a:endParaRPr lang="de-DE" dirty="0"/>
          </a:p>
          <a:p>
            <a:pPr marL="0" indent="0">
              <a:buFont typeface="Symbol" panose="05050102010706020507" pitchFamily="18" charset="2"/>
              <a:buNone/>
            </a:pPr>
            <a:r>
              <a:rPr lang="de-DE" dirty="0"/>
              <a:t>Attack:</a:t>
            </a:r>
          </a:p>
          <a:p>
            <a:pPr marL="171450" indent="-171450">
              <a:buFont typeface="Symbol" panose="05050102010706020507" pitchFamily="18" charset="2"/>
              <a:buChar char="Þ"/>
            </a:pPr>
            <a:r>
              <a:rPr lang="de-DE" dirty="0"/>
              <a:t>10.10.10.10__10.10.10.20             s7comm            0.075641     0.245002     0.000505</a:t>
            </a:r>
          </a:p>
          <a:p>
            <a:pPr marL="171450" indent="-171450">
              <a:buFont typeface="Symbol" panose="05050102010706020507" pitchFamily="18" charset="2"/>
              <a:buChar char="Þ"/>
            </a:pPr>
            <a:r>
              <a:rPr lang="de-DE" dirty="0"/>
              <a:t>10.10.10</a:t>
            </a:r>
          </a:p>
          <a:p>
            <a:pPr marL="171450" indent="-171450">
              <a:buFont typeface="Symbol" panose="05050102010706020507" pitchFamily="18" charset="2"/>
              <a:buChar char="Þ"/>
            </a:pPr>
            <a:r>
              <a:rPr lang="de-DE" dirty="0"/>
              <a:t>.10__10.10.10.66             s7comm            0.021749     4.841117     0.001307</a:t>
            </a:r>
          </a:p>
          <a:p>
            <a:pPr marL="171450" indent="-171450">
              <a:buFont typeface="Symbol" panose="05050102010706020507" pitchFamily="18" charset="2"/>
              <a:buChar char="Þ"/>
            </a:pPr>
            <a:endParaRPr lang="de-DE" dirty="0"/>
          </a:p>
          <a:p>
            <a:pPr marL="171450" indent="-171450">
              <a:buFont typeface="Symbol" panose="05050102010706020507" pitchFamily="18" charset="2"/>
              <a:buChar char="Þ"/>
            </a:pPr>
            <a:endParaRPr lang="de-DE"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39</a:t>
            </a:fld>
            <a:endParaRPr lang="de-DE"/>
          </a:p>
        </p:txBody>
      </p:sp>
    </p:spTree>
    <p:extLst>
      <p:ext uri="{BB962C8B-B14F-4D97-AF65-F5344CB8AC3E}">
        <p14:creationId xmlns:p14="http://schemas.microsoft.com/office/powerpoint/2010/main" val="92388377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indent="0">
              <a:lnSpc>
                <a:spcPct val="100000"/>
              </a:lnSpc>
              <a:buNone/>
            </a:pPr>
            <a:r>
              <a:rPr lang="en-US" sz="1200" b="0" u="none" strike="noStrike" dirty="0">
                <a:solidFill>
                  <a:srgbClr val="000000"/>
                </a:solidFill>
                <a:effectLst/>
                <a:uFillTx/>
                <a:latin typeface="Arial"/>
              </a:rPr>
              <a:t>Read about this image from page 13 in the SDA paper:  https://www.jmlr.org/papers/volume11/vincent10a/vincent10a.pdf?source=post_page</a:t>
            </a:r>
          </a:p>
          <a:p>
            <a:pPr indent="0">
              <a:lnSpc>
                <a:spcPct val="100000"/>
              </a:lnSpc>
              <a:buNone/>
            </a:pPr>
            <a:endParaRPr lang="en-US" sz="1200" b="0" u="none" strike="noStrike" dirty="0">
              <a:solidFill>
                <a:srgbClr val="000000"/>
              </a:solidFill>
              <a:effectLst/>
              <a:uFillTx/>
              <a:latin typeface="Arial"/>
            </a:endParaRPr>
          </a:p>
          <a:p>
            <a:pPr indent="0">
              <a:lnSpc>
                <a:spcPct val="100000"/>
              </a:lnSpc>
              <a:buNone/>
            </a:pPr>
            <a:r>
              <a:rPr lang="en-US" sz="1200" b="0" u="none" strike="noStrike" dirty="0">
                <a:solidFill>
                  <a:srgbClr val="000000"/>
                </a:solidFill>
                <a:effectLst/>
                <a:uFillTx/>
                <a:latin typeface="Arial"/>
              </a:rPr>
              <a:t>Latent features are the final compressed internal representation of the input learned by the encoder.</a:t>
            </a:r>
          </a:p>
          <a:p>
            <a:pPr indent="0">
              <a:lnSpc>
                <a:spcPct val="100000"/>
              </a:lnSpc>
              <a:buNone/>
            </a:pPr>
            <a:r>
              <a:rPr lang="en-US" sz="1200" b="0" u="none" strike="noStrike" dirty="0">
                <a:solidFill>
                  <a:srgbClr val="000000"/>
                </a:solidFill>
                <a:effectLst/>
                <a:uFillTx/>
                <a:latin typeface="Arial"/>
              </a:rPr>
              <a:t>We can think of it as what the network believes really matters in the input.</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40</a:t>
            </a:fld>
            <a:endParaRPr lang="de-DE"/>
          </a:p>
        </p:txBody>
      </p:sp>
    </p:spTree>
    <p:extLst>
      <p:ext uri="{BB962C8B-B14F-4D97-AF65-F5344CB8AC3E}">
        <p14:creationId xmlns:p14="http://schemas.microsoft.com/office/powerpoint/2010/main" val="34368782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DE" dirty="0"/>
          </a:p>
          <a:p>
            <a:r>
              <a:rPr lang="de-DE" dirty="0"/>
              <a:t>-the CNN (Convolutional Neural nettwork) was implemented using tensorflow</a:t>
            </a:r>
          </a:p>
          <a:p>
            <a:r>
              <a:rPr lang="de-DE" dirty="0"/>
              <a:t>-it takes the preprocessed datasets as an input (not the features)</a:t>
            </a:r>
          </a:p>
          <a:p>
            <a:r>
              <a:rPr lang="de-DE" dirty="0"/>
              <a:t>-as for the autoencoder, all features need to be provided with the same length – so the packet bytes are being cut/padded again to a length of M </a:t>
            </a:r>
          </a:p>
          <a:p>
            <a:r>
              <a:rPr lang="de-DE" dirty="0"/>
              <a:t>-for the experiments we set M again to the length of the longest packet</a:t>
            </a:r>
          </a:p>
          <a:p>
            <a:endParaRPr lang="de-DE" dirty="0"/>
          </a:p>
          <a:p>
            <a:r>
              <a:rPr lang="de-DE" dirty="0"/>
              <a:t>(Input Shape)</a:t>
            </a:r>
          </a:p>
          <a:p>
            <a:endParaRPr lang="de-DE" dirty="0"/>
          </a:p>
          <a:p>
            <a:r>
              <a:rPr lang="de-DE" b="1" dirty="0"/>
              <a:t>Architecture: </a:t>
            </a:r>
          </a:p>
          <a:p>
            <a:endParaRPr lang="de-DE" b="0" dirty="0"/>
          </a:p>
          <a:p>
            <a:endParaRPr lang="de-DE" b="0" dirty="0"/>
          </a:p>
          <a:p>
            <a:r>
              <a:rPr lang="de-DE" b="0" dirty="0"/>
              <a:t>-Input shape (M,1)</a:t>
            </a:r>
          </a:p>
          <a:p>
            <a:endParaRPr lang="de-DE" b="0" dirty="0"/>
          </a:p>
          <a:p>
            <a:r>
              <a:rPr lang="de-DE" b="0" dirty="0"/>
              <a:t>-each of the first 4 blocks consists of </a:t>
            </a:r>
          </a:p>
          <a:p>
            <a:r>
              <a:rPr lang="de-DE" b="0" dirty="0"/>
              <a:t>	-&gt; two convolustion layers</a:t>
            </a:r>
          </a:p>
          <a:p>
            <a:r>
              <a:rPr lang="de-DE" b="0" dirty="0"/>
              <a:t>		=&gt; essential building block as they löearn patterns from the input data (by applying trainable filters across the sequence)</a:t>
            </a:r>
          </a:p>
          <a:p>
            <a:r>
              <a:rPr lang="de-DE" b="0" dirty="0"/>
              <a:t>	-&gt; two Batch Normalization layeres</a:t>
            </a:r>
          </a:p>
          <a:p>
            <a:r>
              <a:rPr lang="de-DE" b="0" dirty="0"/>
              <a:t>		=&gt; normalize the output of the convolutional layer</a:t>
            </a:r>
          </a:p>
          <a:p>
            <a:r>
              <a:rPr lang="de-DE" b="0" dirty="0"/>
              <a:t>	-&gt; two acitvation fucntions </a:t>
            </a:r>
          </a:p>
          <a:p>
            <a:r>
              <a:rPr lang="de-DE" b="0" dirty="0"/>
              <a:t>		=&gt; introduce non-linearity to the output</a:t>
            </a:r>
          </a:p>
          <a:p>
            <a:r>
              <a:rPr lang="de-DE" b="0" dirty="0"/>
              <a:t>	-&gt; two Dropout Layers</a:t>
            </a:r>
          </a:p>
          <a:p>
            <a:r>
              <a:rPr lang="de-DE" b="0" dirty="0"/>
              <a:t>		=&gt; randomly zeros a fraction of input units to reduce overfitting </a:t>
            </a:r>
          </a:p>
          <a:p>
            <a:endParaRPr lang="de-DE" b="0" dirty="0"/>
          </a:p>
          <a:p>
            <a:r>
              <a:rPr lang="de-DE" b="0" dirty="0"/>
              <a:t>-downsampling is applied between blocks (either MaxPooling after each block or stride-2 at the first convolution of bloks 2-4)</a:t>
            </a:r>
          </a:p>
          <a:p>
            <a:r>
              <a:rPr lang="de-DE" b="0" dirty="0"/>
              <a:t>(main job of the first for blocks is feature detection/extraction)</a:t>
            </a:r>
          </a:p>
          <a:p>
            <a:endParaRPr lang="de-DE" b="0" dirty="0"/>
          </a:p>
          <a:p>
            <a:r>
              <a:rPr lang="de-DE" b="0" i="1" dirty="0">
                <a:solidFill>
                  <a:schemeClr val="accent2">
                    <a:lumMod val="60000"/>
                    <a:lumOff val="40000"/>
                  </a:schemeClr>
                </a:solidFill>
              </a:rPr>
              <a:t>**((=&gt; Output Shape (M,L) – L is channel dimension of conv layer (reduced by downsampling)))</a:t>
            </a:r>
          </a:p>
          <a:p>
            <a:endParaRPr lang="de-DE" b="0" dirty="0"/>
          </a:p>
          <a:p>
            <a:r>
              <a:rPr lang="de-DE" b="0" dirty="0"/>
              <a:t>-after passing the first 4 blocks a Global Average pooling layer is applied </a:t>
            </a:r>
          </a:p>
          <a:p>
            <a:r>
              <a:rPr lang="de-DE" b="0" dirty="0"/>
              <a:t>(it reduces the multidimensional output of the 4 blocks into the expectd 1D shape of the dense layer)</a:t>
            </a:r>
          </a:p>
          <a:p>
            <a:endParaRPr lang="de-DE" b="0" dirty="0"/>
          </a:p>
          <a:p>
            <a:endParaRPr lang="de-DE" b="0" dirty="0"/>
          </a:p>
          <a:p>
            <a:r>
              <a:rPr lang="de-DE" b="0" dirty="0"/>
              <a:t>-then 2 fully connected (dens) layers are applied</a:t>
            </a:r>
          </a:p>
          <a:p>
            <a:r>
              <a:rPr lang="de-DE" b="0" dirty="0"/>
              <a:t>(main job -&gt; integrate features into predictions)</a:t>
            </a:r>
          </a:p>
          <a:p>
            <a:endParaRPr lang="de-DE" b="0" dirty="0"/>
          </a:p>
          <a:p>
            <a:endParaRPr lang="de-DE" b="0" dirty="0"/>
          </a:p>
          <a:p>
            <a:r>
              <a:rPr lang="de-DE" b="0" dirty="0"/>
              <a:t>-the model uses adam optimizer and categorial cross entropy as loss functions</a:t>
            </a:r>
          </a:p>
          <a:p>
            <a:r>
              <a:rPr lang="de-DE" b="0" dirty="0"/>
              <a:t>-for the other parameters (as eg the activation function and the downsampling strategy, globalavergae pooling method or the kernel size and regulators for the conv layer)  have been determined using grid search</a:t>
            </a:r>
          </a:p>
          <a:p>
            <a:endParaRPr lang="de-DE" b="0" dirty="0"/>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41</a:t>
            </a:fld>
            <a:endParaRPr lang="de-DE"/>
          </a:p>
        </p:txBody>
      </p:sp>
    </p:spTree>
    <p:extLst>
      <p:ext uri="{BB962C8B-B14F-4D97-AF65-F5344CB8AC3E}">
        <p14:creationId xmlns:p14="http://schemas.microsoft.com/office/powerpoint/2010/main" val="196372461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-one feature = one byte of the encoded output packet</a:t>
            </a:r>
          </a:p>
          <a:p>
            <a:endParaRPr lang="de-DE" dirty="0"/>
          </a:p>
          <a:p>
            <a:r>
              <a:rPr lang="de-DE" dirty="0"/>
              <a:t>-shows the most important features, measured with permutation importance</a:t>
            </a:r>
          </a:p>
          <a:p>
            <a:r>
              <a:rPr lang="de-DE" dirty="0"/>
              <a:t>-negative values =&gt; feature hurts the performance</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43</a:t>
            </a:fld>
            <a:endParaRPr lang="de-DE"/>
          </a:p>
        </p:txBody>
      </p:sp>
    </p:spTree>
    <p:extLst>
      <p:ext uri="{BB962C8B-B14F-4D97-AF65-F5344CB8AC3E}">
        <p14:creationId xmlns:p14="http://schemas.microsoft.com/office/powerpoint/2010/main" val="27699599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a:t>-s1: overlaps mostly for EE and LOF</a:t>
            </a:r>
          </a:p>
          <a:p>
            <a:r>
              <a:rPr lang="de-DE" dirty="0"/>
              <a:t>-s2: overlaps mostly for RF and BSVM</a:t>
            </a:r>
          </a:p>
          <a:p>
            <a:r>
              <a:rPr lang="de-DE" dirty="0"/>
              <a:t>-.S3: most errors happen for all the 3 classifiers</a:t>
            </a:r>
          </a:p>
          <a:p>
            <a:endParaRPr lang="de-DE" dirty="0"/>
          </a:p>
        </p:txBody>
      </p:sp>
      <p:sp>
        <p:nvSpPr>
          <p:cNvPr id="4" name="Slide Number Placeholder 3"/>
          <p:cNvSpPr>
            <a:spLocks noGrp="1"/>
          </p:cNvSpPr>
          <p:nvPr>
            <p:ph type="sldNum" sz="quarter" idx="5"/>
          </p:nvPr>
        </p:nvSpPr>
        <p:spPr/>
        <p:txBody>
          <a:bodyPr/>
          <a:lstStyle/>
          <a:p>
            <a:fld id="{17F6ECB0-4EB5-411D-9EB7-90E2340D28B3}" type="slidenum">
              <a:rPr lang="de-DE" smtClean="0"/>
              <a:t>45</a:t>
            </a:fld>
            <a:endParaRPr lang="de-DE"/>
          </a:p>
        </p:txBody>
      </p:sp>
    </p:spTree>
    <p:extLst>
      <p:ext uri="{BB962C8B-B14F-4D97-AF65-F5344CB8AC3E}">
        <p14:creationId xmlns:p14="http://schemas.microsoft.com/office/powerpoint/2010/main" val="35265417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seite blau | einfach">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1"/>
                </a:solidFill>
              </a:defRPr>
            </a:lvl1pPr>
          </a:lstStyle>
          <a:p>
            <a:fld id="{95EB1FC5-5990-45F4-AD2A-1858B63D4D2B}" type="datetime6">
              <a:rPr lang="en-US" smtClean="0"/>
              <a:t>March 26</a:t>
            </a:fld>
            <a:endParaRPr lang="de-DE" dirty="0"/>
          </a:p>
        </p:txBody>
      </p:sp>
      <p:sp>
        <p:nvSpPr>
          <p:cNvPr id="4" name="Textplatzhalter 2"/>
          <p:cNvSpPr>
            <a:spLocks noGrp="1"/>
          </p:cNvSpPr>
          <p:nvPr>
            <p:ph type="body" sz="quarter" idx="11" hasCustomPrompt="1"/>
          </p:nvPr>
        </p:nvSpPr>
        <p:spPr>
          <a:xfrm>
            <a:off x="4567238" y="1449387"/>
            <a:ext cx="7048500" cy="3428913"/>
          </a:xfrm>
          <a:prstGeom prst="rect">
            <a:avLst/>
          </a:prstGeom>
        </p:spPr>
        <p:txBody>
          <a:bodyPr lIns="0" tIns="0" rIns="0" bIns="0" anchor="ctr"/>
          <a:lstStyle>
            <a:lvl1pPr marL="0" indent="0">
              <a:buNone/>
              <a:defRPr sz="2200" b="1">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Test</a:t>
            </a:r>
          </a:p>
          <a:p>
            <a:pPr lvl="0"/>
            <a:endParaRPr lang="de-DE" dirty="0"/>
          </a:p>
        </p:txBody>
      </p:sp>
    </p:spTree>
    <p:extLst>
      <p:ext uri="{BB962C8B-B14F-4D97-AF65-F5344CB8AC3E}">
        <p14:creationId xmlns:p14="http://schemas.microsoft.com/office/powerpoint/2010/main" val="114230486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elseite blau | mit Untertitel">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1"/>
                </a:solidFill>
              </a:defRPr>
            </a:lvl1pPr>
          </a:lstStyle>
          <a:p>
            <a:fld id="{7CB2BC34-6B16-40DE-89BB-FFB46058D6CD}" type="datetime6">
              <a:rPr lang="en-US" smtClean="0"/>
              <a:t>March 26</a:t>
            </a:fld>
            <a:endParaRPr lang="de-DE" dirty="0"/>
          </a:p>
        </p:txBody>
      </p:sp>
      <p:sp>
        <p:nvSpPr>
          <p:cNvPr id="5" name="Textplatzhalter 2"/>
          <p:cNvSpPr>
            <a:spLocks noGrp="1"/>
          </p:cNvSpPr>
          <p:nvPr>
            <p:ph type="body" sz="quarter" idx="11" hasCustomPrompt="1"/>
          </p:nvPr>
        </p:nvSpPr>
        <p:spPr>
          <a:xfrm>
            <a:off x="6089994" y="1449388"/>
            <a:ext cx="5525743" cy="1946956"/>
          </a:xfrm>
          <a:prstGeom prst="rect">
            <a:avLst/>
          </a:prstGeom>
        </p:spPr>
        <p:txBody>
          <a:bodyPr lIns="0" tIns="0" rIns="0" bIns="0" anchor="b"/>
          <a:lstStyle>
            <a:lvl1pPr marL="0" indent="0">
              <a:buNone/>
              <a:defRPr sz="2200" b="1">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a:t>TEXTMASTERFORMAT BEARBEITEN</a:t>
            </a:r>
            <a:endParaRPr lang="de-DE" dirty="0"/>
          </a:p>
        </p:txBody>
      </p:sp>
      <p:sp>
        <p:nvSpPr>
          <p:cNvPr id="6" name="Textplatzhalter 2"/>
          <p:cNvSpPr>
            <a:spLocks noGrp="1"/>
          </p:cNvSpPr>
          <p:nvPr>
            <p:ph type="body" sz="quarter" idx="12"/>
          </p:nvPr>
        </p:nvSpPr>
        <p:spPr>
          <a:xfrm>
            <a:off x="6089994" y="3614090"/>
            <a:ext cx="5525743" cy="1946956"/>
          </a:xfrm>
          <a:prstGeom prst="rect">
            <a:avLst/>
          </a:prstGeom>
        </p:spPr>
        <p:txBody>
          <a:bodyPr lIns="0" tIns="0" rIns="0" bIns="0" anchor="t"/>
          <a:lstStyle>
            <a:lvl1pPr marL="0" indent="0">
              <a:buNone/>
              <a:defRPr sz="2200" b="0">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3089309811"/>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seite | einfach">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2"/>
                </a:solidFill>
              </a:defRPr>
            </a:lvl1pPr>
          </a:lstStyle>
          <a:p>
            <a:fld id="{F4AD6D9C-BBE0-4A4C-B118-542AFB14C75D}" type="datetime6">
              <a:rPr lang="en-US" smtClean="0"/>
              <a:t>March 26</a:t>
            </a:fld>
            <a:endParaRPr lang="de-DE" dirty="0"/>
          </a:p>
        </p:txBody>
      </p:sp>
      <p:sp>
        <p:nvSpPr>
          <p:cNvPr id="5" name="Textplatzhalter 2"/>
          <p:cNvSpPr>
            <a:spLocks noGrp="1"/>
          </p:cNvSpPr>
          <p:nvPr>
            <p:ph type="body" sz="quarter" idx="11" hasCustomPrompt="1"/>
          </p:nvPr>
        </p:nvSpPr>
        <p:spPr>
          <a:xfrm>
            <a:off x="4567238" y="1449387"/>
            <a:ext cx="7048500" cy="3428913"/>
          </a:xfrm>
          <a:prstGeom prst="rect">
            <a:avLst/>
          </a:prstGeom>
        </p:spPr>
        <p:txBody>
          <a:bodyPr lIns="0" tIns="0" rIns="0" bIns="0" anchor="ctr"/>
          <a:lstStyle>
            <a:lvl1pPr marL="0" indent="0">
              <a:buNone/>
              <a:defRPr sz="2200" b="1">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266499344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seite | mit Untertitel">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2"/>
                </a:solidFill>
              </a:defRPr>
            </a:lvl1pPr>
          </a:lstStyle>
          <a:p>
            <a:fld id="{AD4C6D5A-A7F2-41F0-BF3D-92F00DE8D490}" type="datetime6">
              <a:rPr lang="en-US" smtClean="0"/>
              <a:t>March 26</a:t>
            </a:fld>
            <a:endParaRPr lang="de-DE" dirty="0"/>
          </a:p>
        </p:txBody>
      </p:sp>
      <p:sp>
        <p:nvSpPr>
          <p:cNvPr id="5" name="Textplatzhalter 2"/>
          <p:cNvSpPr>
            <a:spLocks noGrp="1"/>
          </p:cNvSpPr>
          <p:nvPr>
            <p:ph type="body" sz="quarter" idx="11" hasCustomPrompt="1"/>
          </p:nvPr>
        </p:nvSpPr>
        <p:spPr>
          <a:xfrm>
            <a:off x="6089994" y="1449388"/>
            <a:ext cx="5525743" cy="1946956"/>
          </a:xfrm>
          <a:prstGeom prst="rect">
            <a:avLst/>
          </a:prstGeom>
        </p:spPr>
        <p:txBody>
          <a:bodyPr lIns="0" tIns="0" rIns="0" bIns="0" anchor="b"/>
          <a:lstStyle>
            <a:lvl1pPr marL="0" indent="0">
              <a:buNone/>
              <a:defRPr sz="2200" b="1">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
        <p:nvSpPr>
          <p:cNvPr id="6" name="Textplatzhalter 2"/>
          <p:cNvSpPr>
            <a:spLocks noGrp="1"/>
          </p:cNvSpPr>
          <p:nvPr>
            <p:ph type="body" sz="quarter" idx="12"/>
          </p:nvPr>
        </p:nvSpPr>
        <p:spPr>
          <a:xfrm>
            <a:off x="6089994" y="3614090"/>
            <a:ext cx="5525743" cy="1946956"/>
          </a:xfrm>
          <a:prstGeom prst="rect">
            <a:avLst/>
          </a:prstGeom>
        </p:spPr>
        <p:txBody>
          <a:bodyPr lIns="0" tIns="0" rIns="0" bIns="0" anchor="t"/>
          <a:lstStyle>
            <a:lvl1pPr marL="0" indent="0">
              <a:buNone/>
              <a:defRPr sz="2200" b="0">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3698594694"/>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apitelseite blau">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1"/>
                </a:solidFill>
              </a:defRPr>
            </a:lvl1pPr>
          </a:lstStyle>
          <a:p>
            <a:fld id="{0E73328E-6E53-44B7-9CDE-9AD43A8A8582}" type="datetime6">
              <a:rPr lang="en-US" smtClean="0"/>
              <a:t>March 26</a:t>
            </a:fld>
            <a:endParaRPr lang="de-DE" dirty="0"/>
          </a:p>
        </p:txBody>
      </p:sp>
      <p:sp>
        <p:nvSpPr>
          <p:cNvPr id="7" name="Textplatzhalter 2"/>
          <p:cNvSpPr>
            <a:spLocks noGrp="1"/>
          </p:cNvSpPr>
          <p:nvPr>
            <p:ph type="body" sz="quarter" idx="11" hasCustomPrompt="1"/>
          </p:nvPr>
        </p:nvSpPr>
        <p:spPr>
          <a:xfrm>
            <a:off x="1303813" y="1449388"/>
            <a:ext cx="5525743" cy="1946956"/>
          </a:xfrm>
          <a:prstGeom prst="rect">
            <a:avLst/>
          </a:prstGeom>
        </p:spPr>
        <p:txBody>
          <a:bodyPr lIns="0" tIns="0" rIns="0" bIns="0" anchor="b"/>
          <a:lstStyle>
            <a:lvl1pPr marL="0" indent="0">
              <a:buNone/>
              <a:defRPr sz="2200" b="0">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01</a:t>
            </a:r>
          </a:p>
        </p:txBody>
      </p:sp>
      <p:sp>
        <p:nvSpPr>
          <p:cNvPr id="9" name="Textplatzhalter 2"/>
          <p:cNvSpPr>
            <a:spLocks noGrp="1"/>
          </p:cNvSpPr>
          <p:nvPr>
            <p:ph type="body" sz="quarter" idx="12" hasCustomPrompt="1"/>
          </p:nvPr>
        </p:nvSpPr>
        <p:spPr>
          <a:xfrm>
            <a:off x="1303813" y="3614090"/>
            <a:ext cx="5525743" cy="1946956"/>
          </a:xfrm>
          <a:prstGeom prst="rect">
            <a:avLst/>
          </a:prstGeom>
        </p:spPr>
        <p:txBody>
          <a:bodyPr lIns="0" tIns="0" rIns="0" bIns="0" anchor="t"/>
          <a:lstStyle>
            <a:lvl1pPr marL="0" indent="0">
              <a:buNone/>
              <a:defRPr sz="2200" b="1">
                <a:solidFill>
                  <a:schemeClr val="bg1"/>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481294564"/>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apitelseite weiß">
    <p:spTree>
      <p:nvGrpSpPr>
        <p:cNvPr id="1" name=""/>
        <p:cNvGrpSpPr/>
        <p:nvPr/>
      </p:nvGrpSpPr>
      <p:grpSpPr>
        <a:xfrm>
          <a:off x="0" y="0"/>
          <a:ext cx="0" cy="0"/>
          <a:chOff x="0" y="0"/>
          <a:chExt cx="0" cy="0"/>
        </a:xfrm>
      </p:grpSpPr>
      <p:sp>
        <p:nvSpPr>
          <p:cNvPr id="8" name="Date Placeholder 3"/>
          <p:cNvSpPr>
            <a:spLocks noGrp="1"/>
          </p:cNvSpPr>
          <p:nvPr>
            <p:ph type="dt" sz="half" idx="10"/>
          </p:nvPr>
        </p:nvSpPr>
        <p:spPr>
          <a:xfrm>
            <a:off x="575733" y="6491818"/>
            <a:ext cx="2640000" cy="180000"/>
          </a:xfrm>
          <a:prstGeom prst="rect">
            <a:avLst/>
          </a:prstGeom>
        </p:spPr>
        <p:txBody>
          <a:bodyPr lIns="0" tIns="0" rIns="0" bIns="0"/>
          <a:lstStyle>
            <a:lvl1pPr>
              <a:defRPr sz="1200">
                <a:solidFill>
                  <a:schemeClr val="bg2"/>
                </a:solidFill>
              </a:defRPr>
            </a:lvl1pPr>
          </a:lstStyle>
          <a:p>
            <a:fld id="{09E94A48-AA6E-43C0-832D-D09DFECF9B06}" type="datetime6">
              <a:rPr lang="en-US" smtClean="0"/>
              <a:t>March 26</a:t>
            </a:fld>
            <a:endParaRPr lang="de-DE" dirty="0"/>
          </a:p>
        </p:txBody>
      </p:sp>
      <p:sp>
        <p:nvSpPr>
          <p:cNvPr id="7" name="Textplatzhalter 2"/>
          <p:cNvSpPr>
            <a:spLocks noGrp="1"/>
          </p:cNvSpPr>
          <p:nvPr>
            <p:ph type="body" sz="quarter" idx="11" hasCustomPrompt="1"/>
          </p:nvPr>
        </p:nvSpPr>
        <p:spPr>
          <a:xfrm>
            <a:off x="1303813" y="1449388"/>
            <a:ext cx="5525743" cy="1946956"/>
          </a:xfrm>
          <a:prstGeom prst="rect">
            <a:avLst/>
          </a:prstGeom>
        </p:spPr>
        <p:txBody>
          <a:bodyPr lIns="0" tIns="0" rIns="0" bIns="0" anchor="b"/>
          <a:lstStyle>
            <a:lvl1pPr marL="0" indent="0">
              <a:buNone/>
              <a:defRPr sz="2200" b="0">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01</a:t>
            </a:r>
          </a:p>
        </p:txBody>
      </p:sp>
      <p:sp>
        <p:nvSpPr>
          <p:cNvPr id="9" name="Textplatzhalter 2"/>
          <p:cNvSpPr>
            <a:spLocks noGrp="1"/>
          </p:cNvSpPr>
          <p:nvPr>
            <p:ph type="body" sz="quarter" idx="12" hasCustomPrompt="1"/>
          </p:nvPr>
        </p:nvSpPr>
        <p:spPr>
          <a:xfrm>
            <a:off x="1303813" y="3614090"/>
            <a:ext cx="5525743" cy="1946956"/>
          </a:xfrm>
          <a:prstGeom prst="rect">
            <a:avLst/>
          </a:prstGeom>
        </p:spPr>
        <p:txBody>
          <a:bodyPr lIns="0" tIns="0" rIns="0" bIns="0" anchor="t"/>
          <a:lstStyle>
            <a:lvl1pPr marL="0" indent="0">
              <a:buNone/>
              <a:defRPr sz="2200" b="1">
                <a:solidFill>
                  <a:schemeClr val="bg2"/>
                </a:solidFill>
              </a:defRPr>
            </a:lvl1pPr>
            <a:lvl2pPr marL="457200" indent="0">
              <a:buNone/>
              <a:defRPr sz="2200" b="1">
                <a:solidFill>
                  <a:schemeClr val="bg1"/>
                </a:solidFill>
              </a:defRPr>
            </a:lvl2pPr>
            <a:lvl3pPr marL="914400" indent="0">
              <a:buNone/>
              <a:defRPr sz="2200" b="1">
                <a:solidFill>
                  <a:schemeClr val="bg1"/>
                </a:solidFill>
              </a:defRPr>
            </a:lvl3pPr>
            <a:lvl4pPr marL="1371600" indent="0">
              <a:buNone/>
              <a:defRPr sz="2200" b="1">
                <a:solidFill>
                  <a:schemeClr val="bg1"/>
                </a:solidFill>
              </a:defRPr>
            </a:lvl4pPr>
            <a:lvl5pPr marL="1828800" indent="0">
              <a:buNone/>
              <a:defRPr sz="2200" b="1">
                <a:solidFill>
                  <a:schemeClr val="bg1"/>
                </a:solidFill>
              </a:defRPr>
            </a:lvl5pPr>
          </a:lstStyle>
          <a:p>
            <a:pPr lvl="0"/>
            <a:r>
              <a:rPr lang="de-DE" dirty="0"/>
              <a:t>TEXTMASTERFORMAT BEARBEITEN</a:t>
            </a:r>
          </a:p>
        </p:txBody>
      </p:sp>
    </p:spTree>
    <p:extLst>
      <p:ext uri="{BB962C8B-B14F-4D97-AF65-F5344CB8AC3E}">
        <p14:creationId xmlns:p14="http://schemas.microsoft.com/office/powerpoint/2010/main" val="4043164687"/>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alt Folientitel zweizeilig | ein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A6DBBF05-8230-418C-AE99-A421A2A78E6C}" type="datetime6">
              <a:rPr lang="en-US" smtClean="0"/>
              <a:t>March 26</a:t>
            </a:fld>
            <a:endParaRPr lang="de-DE" dirty="0"/>
          </a:p>
        </p:txBody>
      </p:sp>
      <p:sp>
        <p:nvSpPr>
          <p:cNvPr id="5" name="Footer Placeholder 4"/>
          <p:cNvSpPr>
            <a:spLocks noGrp="1"/>
          </p:cNvSpPr>
          <p:nvPr>
            <p:ph type="ftr" sz="quarter" idx="11"/>
          </p:nvPr>
        </p:nvSpPr>
        <p:spPr/>
        <p:txBody>
          <a:bodyPr/>
          <a:lstStyle/>
          <a:p>
            <a:endParaRPr lang="de-DE" dirty="0"/>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dirty="0"/>
          </a:p>
        </p:txBody>
      </p:sp>
      <p:sp>
        <p:nvSpPr>
          <p:cNvPr id="7"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
        <p:nvSpPr>
          <p:cNvPr id="9" name="Content Placeholder 2"/>
          <p:cNvSpPr>
            <a:spLocks noGrp="1"/>
          </p:cNvSpPr>
          <p:nvPr>
            <p:ph idx="1"/>
          </p:nvPr>
        </p:nvSpPr>
        <p:spPr>
          <a:xfrm>
            <a:off x="575733" y="2348725"/>
            <a:ext cx="1104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4" y="1449388"/>
            <a:ext cx="11040533"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Tree>
    <p:extLst>
      <p:ext uri="{BB962C8B-B14F-4D97-AF65-F5344CB8AC3E}">
        <p14:creationId xmlns:p14="http://schemas.microsoft.com/office/powerpoint/2010/main" val="3951072050"/>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alt Folientitel zweizeilig | zwei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10CA4465-68E6-4B7E-B9F8-E6A4D71288C0}" type="datetime6">
              <a:rPr lang="en-US" smtClean="0"/>
              <a:t>March 26</a:t>
            </a:fld>
            <a:endParaRPr lang="de-DE" dirty="0"/>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10" name="Text Placeholder 2"/>
          <p:cNvSpPr>
            <a:spLocks noGrp="1"/>
          </p:cNvSpPr>
          <p:nvPr>
            <p:ph type="body" idx="14"/>
          </p:nvPr>
        </p:nvSpPr>
        <p:spPr>
          <a:xfrm>
            <a:off x="575733"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2" name="Text Placeholder 2"/>
          <p:cNvSpPr>
            <a:spLocks noGrp="1"/>
          </p:cNvSpPr>
          <p:nvPr>
            <p:ph type="body" idx="15"/>
          </p:nvPr>
        </p:nvSpPr>
        <p:spPr>
          <a:xfrm>
            <a:off x="6329396"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3" name="Content Placeholder 2"/>
          <p:cNvSpPr>
            <a:spLocks noGrp="1"/>
          </p:cNvSpPr>
          <p:nvPr>
            <p:ph idx="1"/>
          </p:nvPr>
        </p:nvSpPr>
        <p:spPr>
          <a:xfrm>
            <a:off x="57573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Content Placeholder 2"/>
          <p:cNvSpPr>
            <a:spLocks noGrp="1"/>
          </p:cNvSpPr>
          <p:nvPr>
            <p:ph idx="16"/>
          </p:nvPr>
        </p:nvSpPr>
        <p:spPr>
          <a:xfrm>
            <a:off x="633540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1"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1030811848"/>
      </p:ext>
    </p:extLst>
  </p:cSld>
  <p:clrMapOvr>
    <a:masterClrMapping/>
  </p:clrMapOvr>
  <p:extLst>
    <p:ext uri="{DCECCB84-F9BA-43D5-87BE-67443E8EF086}">
      <p15:sldGuideLst xmlns:p15="http://schemas.microsoft.com/office/powerpoint/2012/main">
        <p15:guide id="1" pos="3689" userDrawn="1">
          <p15:clr>
            <a:srgbClr val="FBAE40"/>
          </p15:clr>
        </p15:guide>
        <p15:guide id="2" pos="3991" userDrawn="1">
          <p15:clr>
            <a:srgbClr val="FBAE40"/>
          </p15:clr>
        </p15:guide>
        <p15:guide id="3" orient="horz" pos="1298" userDrawn="1">
          <p15:clr>
            <a:srgbClr val="FBAE40"/>
          </p15:clr>
        </p15:guide>
        <p15:guide id="4" orient="horz" pos="148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halt Folientitel zweizeilig | 4 Element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34F6E81-A7D1-4664-A254-CC8A52CF7BED}"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1" name="Content Placeholder 2"/>
          <p:cNvSpPr>
            <a:spLocks noGrp="1"/>
          </p:cNvSpPr>
          <p:nvPr>
            <p:ph idx="15"/>
          </p:nvPr>
        </p:nvSpPr>
        <p:spPr>
          <a:xfrm>
            <a:off x="581739"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2" name="Content Placeholder 2"/>
          <p:cNvSpPr>
            <a:spLocks noGrp="1"/>
          </p:cNvSpPr>
          <p:nvPr>
            <p:ph idx="16"/>
          </p:nvPr>
        </p:nvSpPr>
        <p:spPr>
          <a:xfrm>
            <a:off x="633540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3" name="Content Placeholder 2"/>
          <p:cNvSpPr>
            <a:spLocks noGrp="1"/>
          </p:cNvSpPr>
          <p:nvPr>
            <p:ph idx="17"/>
          </p:nvPr>
        </p:nvSpPr>
        <p:spPr>
          <a:xfrm>
            <a:off x="6341408"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0"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469381957"/>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halt Folientitel zweizeilig | Text + 2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93B8D77E-AFAC-42B3-A52F-0607D5B47C44}"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8257117" y="1449388"/>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8257117" y="3962006"/>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8257117" y="3357969"/>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2"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117168425"/>
      </p:ext>
    </p:extLst>
  </p:cSld>
  <p:clrMapOvr>
    <a:masterClrMapping/>
  </p:clrMapOvr>
  <p:extLst>
    <p:ext uri="{DCECCB84-F9BA-43D5-87BE-67443E8EF086}">
      <p15:sldGuideLst xmlns:p15="http://schemas.microsoft.com/office/powerpoint/2012/main">
        <p15:guide id="1" pos="5049"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Inhalt Folientitel zweizeilig | Text + 1 Bi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E44C0373-96B5-4395-9A26-A58A2AC1F100}"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2"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
        <p:nvSpPr>
          <p:cNvPr id="17" name="Bildplatzhalter 14">
            <a:extLst>
              <a:ext uri="{FF2B5EF4-FFF2-40B4-BE49-F238E27FC236}">
                <a16:creationId xmlns:a16="http://schemas.microsoft.com/office/drawing/2014/main" id="{458B6AAC-E0F2-9444-B6EF-37BDDBF708E4}"/>
              </a:ext>
            </a:extLst>
          </p:cNvPr>
          <p:cNvSpPr>
            <a:spLocks noGrp="1"/>
          </p:cNvSpPr>
          <p:nvPr>
            <p:ph type="pic" sz="quarter" idx="26" hasCustomPrompt="1"/>
          </p:nvPr>
        </p:nvSpPr>
        <p:spPr>
          <a:xfrm>
            <a:off x="8257117" y="1449388"/>
            <a:ext cx="3934883" cy="4312618"/>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8" name="Text Placeholder 2"/>
          <p:cNvSpPr>
            <a:spLocks noGrp="1"/>
          </p:cNvSpPr>
          <p:nvPr>
            <p:ph type="body" idx="27"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Tree>
    <p:extLst>
      <p:ext uri="{BB962C8B-B14F-4D97-AF65-F5344CB8AC3E}">
        <p14:creationId xmlns:p14="http://schemas.microsoft.com/office/powerpoint/2010/main" val="363583636"/>
      </p:ext>
    </p:extLst>
  </p:cSld>
  <p:clrMapOvr>
    <a:masterClrMapping/>
  </p:clrMapOvr>
  <p:extLst>
    <p:ext uri="{DCECCB84-F9BA-43D5-87BE-67443E8EF086}">
      <p15:sldGuideLst xmlns:p15="http://schemas.microsoft.com/office/powerpoint/2012/main">
        <p15:guide id="1" pos="5049">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Inhalt Folientitel zweizeilig | 6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751DA843-B429-4334-8D5C-51FDFAB94B1D}"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575733"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575733"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575733"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575733"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8" name="Bildplatzhalter 14">
            <a:extLst>
              <a:ext uri="{FF2B5EF4-FFF2-40B4-BE49-F238E27FC236}">
                <a16:creationId xmlns:a16="http://schemas.microsoft.com/office/drawing/2014/main" id="{458B6AAC-E0F2-9444-B6EF-37BDDBF708E4}"/>
              </a:ext>
            </a:extLst>
          </p:cNvPr>
          <p:cNvSpPr>
            <a:spLocks noGrp="1"/>
          </p:cNvSpPr>
          <p:nvPr>
            <p:ph type="pic" sz="quarter" idx="26" hasCustomPrompt="1"/>
          </p:nvPr>
        </p:nvSpPr>
        <p:spPr>
          <a:xfrm>
            <a:off x="4416425"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9" name="Bildplatzhalter 14">
            <a:extLst>
              <a:ext uri="{FF2B5EF4-FFF2-40B4-BE49-F238E27FC236}">
                <a16:creationId xmlns:a16="http://schemas.microsoft.com/office/drawing/2014/main" id="{458B6AAC-E0F2-9444-B6EF-37BDDBF708E4}"/>
              </a:ext>
            </a:extLst>
          </p:cNvPr>
          <p:cNvSpPr>
            <a:spLocks noGrp="1"/>
          </p:cNvSpPr>
          <p:nvPr>
            <p:ph type="pic" sz="quarter" idx="27" hasCustomPrompt="1"/>
          </p:nvPr>
        </p:nvSpPr>
        <p:spPr>
          <a:xfrm>
            <a:off x="4416425"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0" name="Text Placeholder 2"/>
          <p:cNvSpPr>
            <a:spLocks noGrp="1"/>
          </p:cNvSpPr>
          <p:nvPr>
            <p:ph type="body" idx="28" hasCustomPrompt="1"/>
          </p:nvPr>
        </p:nvSpPr>
        <p:spPr>
          <a:xfrm>
            <a:off x="4416425"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1" name="Text Placeholder 2"/>
          <p:cNvSpPr>
            <a:spLocks noGrp="1"/>
          </p:cNvSpPr>
          <p:nvPr>
            <p:ph type="body" idx="29" hasCustomPrompt="1"/>
          </p:nvPr>
        </p:nvSpPr>
        <p:spPr>
          <a:xfrm>
            <a:off x="4416425"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2" name="Bildplatzhalter 14">
            <a:extLst>
              <a:ext uri="{FF2B5EF4-FFF2-40B4-BE49-F238E27FC236}">
                <a16:creationId xmlns:a16="http://schemas.microsoft.com/office/drawing/2014/main" id="{458B6AAC-E0F2-9444-B6EF-37BDDBF708E4}"/>
              </a:ext>
            </a:extLst>
          </p:cNvPr>
          <p:cNvSpPr>
            <a:spLocks noGrp="1"/>
          </p:cNvSpPr>
          <p:nvPr>
            <p:ph type="pic" sz="quarter" idx="30" hasCustomPrompt="1"/>
          </p:nvPr>
        </p:nvSpPr>
        <p:spPr>
          <a:xfrm>
            <a:off x="8257117" y="1449388"/>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3" name="Bildplatzhalter 14">
            <a:extLst>
              <a:ext uri="{FF2B5EF4-FFF2-40B4-BE49-F238E27FC236}">
                <a16:creationId xmlns:a16="http://schemas.microsoft.com/office/drawing/2014/main" id="{458B6AAC-E0F2-9444-B6EF-37BDDBF708E4}"/>
              </a:ext>
            </a:extLst>
          </p:cNvPr>
          <p:cNvSpPr>
            <a:spLocks noGrp="1"/>
          </p:cNvSpPr>
          <p:nvPr>
            <p:ph type="pic" sz="quarter" idx="31" hasCustomPrompt="1"/>
          </p:nvPr>
        </p:nvSpPr>
        <p:spPr>
          <a:xfrm>
            <a:off x="8257117" y="3962006"/>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4" name="Text Placeholder 2"/>
          <p:cNvSpPr>
            <a:spLocks noGrp="1"/>
          </p:cNvSpPr>
          <p:nvPr>
            <p:ph type="body" idx="32" hasCustomPrompt="1"/>
          </p:nvPr>
        </p:nvSpPr>
        <p:spPr>
          <a:xfrm>
            <a:off x="8257117" y="5869921"/>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5" name="Text Placeholder 2"/>
          <p:cNvSpPr>
            <a:spLocks noGrp="1"/>
          </p:cNvSpPr>
          <p:nvPr>
            <p:ph type="body" idx="33" hasCustomPrompt="1"/>
          </p:nvPr>
        </p:nvSpPr>
        <p:spPr>
          <a:xfrm>
            <a:off x="8257117" y="3357969"/>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6"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652494627"/>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nhalt Folientitel zweizeilig | blanco">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AC284069-95C2-4E53-8BBA-F755EC1E5995}"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8" name="Title Placeholder 1"/>
          <p:cNvSpPr>
            <a:spLocks noGrp="1"/>
          </p:cNvSpPr>
          <p:nvPr>
            <p:ph type="title"/>
          </p:nvPr>
        </p:nvSpPr>
        <p:spPr>
          <a:xfrm>
            <a:off x="575732" y="368300"/>
            <a:ext cx="7680855" cy="612000"/>
          </a:xfrm>
          <a:prstGeom prst="rect">
            <a:avLst/>
          </a:prstGeom>
        </p:spPr>
        <p:txBody>
          <a:bodyPr vert="horz" wrap="square" lIns="0" tIns="0" rIns="0" bIns="0" rtlCol="0" anchor="t" anchorCtr="0">
            <a:noAutofit/>
          </a:bodyPr>
          <a:lstStyle/>
          <a:p>
            <a:r>
              <a:rPr lang="de-DE" dirty="0"/>
              <a:t>Titelmasterformat durch Klicken bearbeiten</a:t>
            </a:r>
            <a:endParaRPr lang="en-US" dirty="0"/>
          </a:p>
        </p:txBody>
      </p:sp>
    </p:spTree>
    <p:extLst>
      <p:ext uri="{BB962C8B-B14F-4D97-AF65-F5344CB8AC3E}">
        <p14:creationId xmlns:p14="http://schemas.microsoft.com/office/powerpoint/2010/main" val="1449855801"/>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ein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62AD59C8-D2FE-4B11-86E8-BCB009AE8D0E}" type="datetime6">
              <a:rPr lang="en-US" smtClean="0"/>
              <a:t>March 26</a:t>
            </a:fld>
            <a:endParaRPr lang="de-DE" dirty="0"/>
          </a:p>
        </p:txBody>
      </p:sp>
      <p:sp>
        <p:nvSpPr>
          <p:cNvPr id="5" name="Footer Placeholder 4"/>
          <p:cNvSpPr>
            <a:spLocks noGrp="1"/>
          </p:cNvSpPr>
          <p:nvPr>
            <p:ph type="ftr" sz="quarter" idx="11"/>
          </p:nvPr>
        </p:nvSpPr>
        <p:spPr/>
        <p:txBody>
          <a:bodyPr/>
          <a:lstStyle/>
          <a:p>
            <a:endParaRPr lang="de-DE" dirty="0"/>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dirty="0"/>
          </a:p>
        </p:txBody>
      </p:sp>
      <p:sp>
        <p:nvSpPr>
          <p:cNvPr id="9" name="Content Placeholder 2"/>
          <p:cNvSpPr>
            <a:spLocks noGrp="1"/>
          </p:cNvSpPr>
          <p:nvPr>
            <p:ph idx="1"/>
          </p:nvPr>
        </p:nvSpPr>
        <p:spPr>
          <a:xfrm>
            <a:off x="575733" y="2348725"/>
            <a:ext cx="1104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4" y="1449388"/>
            <a:ext cx="11040533"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8"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0"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3921729812"/>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zweispalti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84419E95-5532-4BC2-925F-717586BFEF87}" type="datetime6">
              <a:rPr lang="en-US" smtClean="0"/>
              <a:t>March 26</a:t>
            </a:fld>
            <a:endParaRPr lang="de-DE" dirty="0"/>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10" name="Text Placeholder 2"/>
          <p:cNvSpPr>
            <a:spLocks noGrp="1"/>
          </p:cNvSpPr>
          <p:nvPr>
            <p:ph type="body" idx="14"/>
          </p:nvPr>
        </p:nvSpPr>
        <p:spPr>
          <a:xfrm>
            <a:off x="575733"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2" name="Text Placeholder 2"/>
          <p:cNvSpPr>
            <a:spLocks noGrp="1"/>
          </p:cNvSpPr>
          <p:nvPr>
            <p:ph type="body" idx="15"/>
          </p:nvPr>
        </p:nvSpPr>
        <p:spPr>
          <a:xfrm>
            <a:off x="6329396" y="1449388"/>
            <a:ext cx="52800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3" name="Content Placeholder 2"/>
          <p:cNvSpPr>
            <a:spLocks noGrp="1"/>
          </p:cNvSpPr>
          <p:nvPr>
            <p:ph idx="1"/>
          </p:nvPr>
        </p:nvSpPr>
        <p:spPr>
          <a:xfrm>
            <a:off x="57573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Content Placeholder 2"/>
          <p:cNvSpPr>
            <a:spLocks noGrp="1"/>
          </p:cNvSpPr>
          <p:nvPr>
            <p:ph idx="16"/>
          </p:nvPr>
        </p:nvSpPr>
        <p:spPr>
          <a:xfrm>
            <a:off x="6335403" y="2348725"/>
            <a:ext cx="52800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6"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7" name="Textplatzhalter 2"/>
          <p:cNvSpPr>
            <a:spLocks noGrp="1"/>
          </p:cNvSpPr>
          <p:nvPr>
            <p:ph type="body" sz="quarter" idx="17"/>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551633271"/>
      </p:ext>
    </p:extLst>
  </p:cSld>
  <p:clrMapOvr>
    <a:masterClrMapping/>
  </p:clrMapOvr>
  <p:extLst>
    <p:ext uri="{DCECCB84-F9BA-43D5-87BE-67443E8EF086}">
      <p15:sldGuideLst xmlns:p15="http://schemas.microsoft.com/office/powerpoint/2012/main">
        <p15:guide id="1" pos="3689" userDrawn="1">
          <p15:clr>
            <a:srgbClr val="FBAE40"/>
          </p15:clr>
        </p15:guide>
        <p15:guide id="2" pos="3991" userDrawn="1">
          <p15:clr>
            <a:srgbClr val="FBAE40"/>
          </p15:clr>
        </p15:guide>
        <p15:guide id="3" orient="horz" pos="1298" userDrawn="1">
          <p15:clr>
            <a:srgbClr val="FBAE40"/>
          </p15:clr>
        </p15:guide>
        <p15:guide id="4" orient="horz" pos="148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4 Elemente">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C6EC09A8-D74C-4A5A-9EA3-69CC360D21A9}"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1" name="Content Placeholder 2"/>
          <p:cNvSpPr>
            <a:spLocks noGrp="1"/>
          </p:cNvSpPr>
          <p:nvPr>
            <p:ph idx="15"/>
          </p:nvPr>
        </p:nvSpPr>
        <p:spPr>
          <a:xfrm>
            <a:off x="581739"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2" name="Content Placeholder 2"/>
          <p:cNvSpPr>
            <a:spLocks noGrp="1"/>
          </p:cNvSpPr>
          <p:nvPr>
            <p:ph idx="16"/>
          </p:nvPr>
        </p:nvSpPr>
        <p:spPr>
          <a:xfrm>
            <a:off x="6335403" y="1449387"/>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3" name="Content Placeholder 2"/>
          <p:cNvSpPr>
            <a:spLocks noGrp="1"/>
          </p:cNvSpPr>
          <p:nvPr>
            <p:ph idx="17"/>
          </p:nvPr>
        </p:nvSpPr>
        <p:spPr>
          <a:xfrm>
            <a:off x="6341408" y="4040725"/>
            <a:ext cx="5280000" cy="2268000"/>
          </a:xfrm>
          <a:prstGeom prst="rect">
            <a:avLst/>
          </a:prstGeom>
        </p:spPr>
        <p:txBody>
          <a:bodyPr lIns="0" tIns="0" rIns="0" bIns="0"/>
          <a:lstStyle>
            <a:lvl1pPr marL="0" indent="0">
              <a:buNone/>
              <a:defRPr sz="2200" b="1"/>
            </a:lvl1pPr>
            <a:lvl2pPr>
              <a:defRPr sz="22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5"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6"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871431408"/>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Text + 2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5809577D-6AA8-402A-83EB-7C36B41E1EBD}"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8257117" y="1449388"/>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8257117" y="3962006"/>
            <a:ext cx="3934883"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8257117" y="3357969"/>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6"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7"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55397693"/>
      </p:ext>
    </p:extLst>
  </p:cSld>
  <p:clrMapOvr>
    <a:masterClrMapping/>
  </p:clrMapOvr>
  <p:extLst>
    <p:ext uri="{DCECCB84-F9BA-43D5-87BE-67443E8EF086}">
      <p15:sldGuideLst xmlns:p15="http://schemas.microsoft.com/office/powerpoint/2012/main">
        <p15:guide id="1" pos="504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Inhalt Folientitel einzeilig mit Untertitel | Text + 1 Bild">
    <p:spTree>
      <p:nvGrpSpPr>
        <p:cNvPr id="1" name=""/>
        <p:cNvGrpSpPr/>
        <p:nvPr/>
      </p:nvGrpSpPr>
      <p:grpSpPr>
        <a:xfrm>
          <a:off x="0" y="0"/>
          <a:ext cx="0" cy="0"/>
          <a:chOff x="0" y="0"/>
          <a:chExt cx="0" cy="0"/>
        </a:xfrm>
      </p:grpSpPr>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8257117" y="1449388"/>
            <a:ext cx="3934883" cy="4312618"/>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4" name="Date Placeholder 3"/>
          <p:cNvSpPr>
            <a:spLocks noGrp="1"/>
          </p:cNvSpPr>
          <p:nvPr>
            <p:ph type="dt" sz="half" idx="10"/>
          </p:nvPr>
        </p:nvSpPr>
        <p:spPr/>
        <p:txBody>
          <a:bodyPr/>
          <a:lstStyle/>
          <a:p>
            <a:fld id="{321EFDA2-3600-4086-9A52-9FB00BC787D6}"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9" name="Content Placeholder 2"/>
          <p:cNvSpPr>
            <a:spLocks noGrp="1"/>
          </p:cNvSpPr>
          <p:nvPr>
            <p:ph idx="1"/>
          </p:nvPr>
        </p:nvSpPr>
        <p:spPr>
          <a:xfrm>
            <a:off x="575733" y="2348725"/>
            <a:ext cx="7416800" cy="3960000"/>
          </a:xfrm>
          <a:prstGeom prst="rect">
            <a:avLst/>
          </a:prstGeom>
        </p:spPr>
        <p:txBody>
          <a:bodyPr lIns="0" tIns="0" rIns="0" bIns="0"/>
          <a:lstStyle>
            <a:lvl1pPr marL="342900" indent="-342900">
              <a:buFont typeface="Arial" panose="020B0604020202020204" pitchFamily="34" charset="0"/>
              <a:buChar char="•"/>
              <a:defRPr sz="2000" b="0"/>
            </a:lvl1pPr>
            <a:lvl2pPr>
              <a:defRPr sz="2000"/>
            </a:lvl2pPr>
            <a:lvl3pPr marL="1143000" indent="-228600">
              <a:buFont typeface="Symbol" panose="05050102010706020507" pitchFamily="18" charset="2"/>
              <a:buChar char="-"/>
              <a:defRPr/>
            </a:lvl3pPr>
            <a:lvl4pPr marL="1600200" indent="-228600">
              <a:buFont typeface="Symbol" panose="05050102010706020507" pitchFamily="18" charset="2"/>
              <a:buChar char="-"/>
              <a:defRPr/>
            </a:lvl4pPr>
            <a:lvl5pPr marL="2057400" indent="-228600">
              <a:buFont typeface="Symbol" panose="05050102010706020507" pitchFamily="18" charset="2"/>
              <a:buChar char="-"/>
              <a:defRPr sz="1600"/>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14" name="Text Placeholder 2"/>
          <p:cNvSpPr>
            <a:spLocks noGrp="1"/>
          </p:cNvSpPr>
          <p:nvPr>
            <p:ph type="body" idx="13"/>
          </p:nvPr>
        </p:nvSpPr>
        <p:spPr>
          <a:xfrm>
            <a:off x="575733" y="1449388"/>
            <a:ext cx="7416800" cy="612000"/>
          </a:xfrm>
          <a:prstGeom prst="rect">
            <a:avLst/>
          </a:prstGeom>
        </p:spPr>
        <p:txBody>
          <a:bodyPr lIns="0" tIns="0" rIns="0" bIns="0" anchor="t" anchorCtr="0"/>
          <a:lstStyle>
            <a:lvl1pPr marL="0" indent="0">
              <a:lnSpc>
                <a:spcPct val="100000"/>
              </a:lnSpc>
              <a:spcBef>
                <a:spcPts val="0"/>
              </a:spcBef>
              <a:buNone/>
              <a:defRPr sz="2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Textmasterformat bearbeiten</a:t>
            </a:r>
          </a:p>
        </p:txBody>
      </p:sp>
      <p:sp>
        <p:nvSpPr>
          <p:cNvPr id="11" name="Text Placeholder 2"/>
          <p:cNvSpPr>
            <a:spLocks noGrp="1"/>
          </p:cNvSpPr>
          <p:nvPr>
            <p:ph type="body" idx="24" hasCustomPrompt="1"/>
          </p:nvPr>
        </p:nvSpPr>
        <p:spPr>
          <a:xfrm>
            <a:off x="8257117" y="5869921"/>
            <a:ext cx="3934883"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6"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7"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349876851"/>
      </p:ext>
    </p:extLst>
  </p:cSld>
  <p:clrMapOvr>
    <a:masterClrMapping/>
  </p:clrMapOvr>
  <p:extLst>
    <p:ext uri="{DCECCB84-F9BA-43D5-87BE-67443E8EF086}">
      <p15:sldGuideLst xmlns:p15="http://schemas.microsoft.com/office/powerpoint/2012/main">
        <p15:guide id="1" pos="5049">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6 Bilder">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08B5ABC1-40D0-4E33-9B22-29805A835AE6}"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8" name="Bildplatzhalter 14">
            <a:extLst>
              <a:ext uri="{FF2B5EF4-FFF2-40B4-BE49-F238E27FC236}">
                <a16:creationId xmlns:a16="http://schemas.microsoft.com/office/drawing/2014/main" id="{458B6AAC-E0F2-9444-B6EF-37BDDBF708E4}"/>
              </a:ext>
            </a:extLst>
          </p:cNvPr>
          <p:cNvSpPr>
            <a:spLocks noGrp="1"/>
          </p:cNvSpPr>
          <p:nvPr>
            <p:ph type="pic" sz="quarter" idx="22" hasCustomPrompt="1"/>
          </p:nvPr>
        </p:nvSpPr>
        <p:spPr>
          <a:xfrm>
            <a:off x="575733"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0" name="Bildplatzhalter 14">
            <a:extLst>
              <a:ext uri="{FF2B5EF4-FFF2-40B4-BE49-F238E27FC236}">
                <a16:creationId xmlns:a16="http://schemas.microsoft.com/office/drawing/2014/main" id="{458B6AAC-E0F2-9444-B6EF-37BDDBF708E4}"/>
              </a:ext>
            </a:extLst>
          </p:cNvPr>
          <p:cNvSpPr>
            <a:spLocks noGrp="1"/>
          </p:cNvSpPr>
          <p:nvPr>
            <p:ph type="pic" sz="quarter" idx="23" hasCustomPrompt="1"/>
          </p:nvPr>
        </p:nvSpPr>
        <p:spPr>
          <a:xfrm>
            <a:off x="575733"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1" name="Text Placeholder 2"/>
          <p:cNvSpPr>
            <a:spLocks noGrp="1"/>
          </p:cNvSpPr>
          <p:nvPr>
            <p:ph type="body" idx="24" hasCustomPrompt="1"/>
          </p:nvPr>
        </p:nvSpPr>
        <p:spPr>
          <a:xfrm>
            <a:off x="575733"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3" name="Text Placeholder 2"/>
          <p:cNvSpPr>
            <a:spLocks noGrp="1"/>
          </p:cNvSpPr>
          <p:nvPr>
            <p:ph type="body" idx="25" hasCustomPrompt="1"/>
          </p:nvPr>
        </p:nvSpPr>
        <p:spPr>
          <a:xfrm>
            <a:off x="575733"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18" name="Bildplatzhalter 14">
            <a:extLst>
              <a:ext uri="{FF2B5EF4-FFF2-40B4-BE49-F238E27FC236}">
                <a16:creationId xmlns:a16="http://schemas.microsoft.com/office/drawing/2014/main" id="{458B6AAC-E0F2-9444-B6EF-37BDDBF708E4}"/>
              </a:ext>
            </a:extLst>
          </p:cNvPr>
          <p:cNvSpPr>
            <a:spLocks noGrp="1"/>
          </p:cNvSpPr>
          <p:nvPr>
            <p:ph type="pic" sz="quarter" idx="26" hasCustomPrompt="1"/>
          </p:nvPr>
        </p:nvSpPr>
        <p:spPr>
          <a:xfrm>
            <a:off x="4416425" y="1449388"/>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19" name="Bildplatzhalter 14">
            <a:extLst>
              <a:ext uri="{FF2B5EF4-FFF2-40B4-BE49-F238E27FC236}">
                <a16:creationId xmlns:a16="http://schemas.microsoft.com/office/drawing/2014/main" id="{458B6AAC-E0F2-9444-B6EF-37BDDBF708E4}"/>
              </a:ext>
            </a:extLst>
          </p:cNvPr>
          <p:cNvSpPr>
            <a:spLocks noGrp="1"/>
          </p:cNvSpPr>
          <p:nvPr>
            <p:ph type="pic" sz="quarter" idx="27" hasCustomPrompt="1"/>
          </p:nvPr>
        </p:nvSpPr>
        <p:spPr>
          <a:xfrm>
            <a:off x="4416425" y="3962006"/>
            <a:ext cx="3360000"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0" name="Text Placeholder 2"/>
          <p:cNvSpPr>
            <a:spLocks noGrp="1"/>
          </p:cNvSpPr>
          <p:nvPr>
            <p:ph type="body" idx="28" hasCustomPrompt="1"/>
          </p:nvPr>
        </p:nvSpPr>
        <p:spPr>
          <a:xfrm>
            <a:off x="4416425" y="5869921"/>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1" name="Text Placeholder 2"/>
          <p:cNvSpPr>
            <a:spLocks noGrp="1"/>
          </p:cNvSpPr>
          <p:nvPr>
            <p:ph type="body" idx="29" hasCustomPrompt="1"/>
          </p:nvPr>
        </p:nvSpPr>
        <p:spPr>
          <a:xfrm>
            <a:off x="4416425" y="3357969"/>
            <a:ext cx="3360000"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2" name="Bildplatzhalter 14">
            <a:extLst>
              <a:ext uri="{FF2B5EF4-FFF2-40B4-BE49-F238E27FC236}">
                <a16:creationId xmlns:a16="http://schemas.microsoft.com/office/drawing/2014/main" id="{458B6AAC-E0F2-9444-B6EF-37BDDBF708E4}"/>
              </a:ext>
            </a:extLst>
          </p:cNvPr>
          <p:cNvSpPr>
            <a:spLocks noGrp="1"/>
          </p:cNvSpPr>
          <p:nvPr>
            <p:ph type="pic" sz="quarter" idx="30" hasCustomPrompt="1"/>
          </p:nvPr>
        </p:nvSpPr>
        <p:spPr>
          <a:xfrm>
            <a:off x="8257117" y="1449388"/>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3" name="Bildplatzhalter 14">
            <a:extLst>
              <a:ext uri="{FF2B5EF4-FFF2-40B4-BE49-F238E27FC236}">
                <a16:creationId xmlns:a16="http://schemas.microsoft.com/office/drawing/2014/main" id="{458B6AAC-E0F2-9444-B6EF-37BDDBF708E4}"/>
              </a:ext>
            </a:extLst>
          </p:cNvPr>
          <p:cNvSpPr>
            <a:spLocks noGrp="1"/>
          </p:cNvSpPr>
          <p:nvPr>
            <p:ph type="pic" sz="quarter" idx="31" hasCustomPrompt="1"/>
          </p:nvPr>
        </p:nvSpPr>
        <p:spPr>
          <a:xfrm>
            <a:off x="8257117" y="3962006"/>
            <a:ext cx="3360747" cy="1800000"/>
          </a:xfrm>
          <a:prstGeom prst="rect">
            <a:avLst/>
          </a:prstGeom>
          <a:pattFill prst="pct5">
            <a:fgClr>
              <a:schemeClr val="tx1"/>
            </a:fgClr>
            <a:bgClr>
              <a:schemeClr val="bg1"/>
            </a:bgClr>
          </a:pattFill>
          <a:ln>
            <a:noFill/>
          </a:ln>
        </p:spPr>
        <p:txBody>
          <a:bodyPr anchor="ctr" anchorCtr="0"/>
          <a:lstStyle>
            <a:lvl1pPr marL="0" indent="0" algn="ctr">
              <a:buNone/>
              <a:defRPr sz="1800"/>
            </a:lvl1pPr>
          </a:lstStyle>
          <a:p>
            <a:r>
              <a:rPr lang="de-DE" dirty="0"/>
              <a:t>  Bild durch klicken auf Symbol hinzufügen</a:t>
            </a:r>
          </a:p>
        </p:txBody>
      </p:sp>
      <p:sp>
        <p:nvSpPr>
          <p:cNvPr id="24" name="Text Placeholder 2"/>
          <p:cNvSpPr>
            <a:spLocks noGrp="1"/>
          </p:cNvSpPr>
          <p:nvPr>
            <p:ph type="body" idx="32" hasCustomPrompt="1"/>
          </p:nvPr>
        </p:nvSpPr>
        <p:spPr>
          <a:xfrm>
            <a:off x="8257117" y="5869921"/>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5" name="Text Placeholder 2"/>
          <p:cNvSpPr>
            <a:spLocks noGrp="1"/>
          </p:cNvSpPr>
          <p:nvPr>
            <p:ph type="body" idx="33" hasCustomPrompt="1"/>
          </p:nvPr>
        </p:nvSpPr>
        <p:spPr>
          <a:xfrm>
            <a:off x="8257117" y="3357969"/>
            <a:ext cx="3360747" cy="360000"/>
          </a:xfrm>
          <a:prstGeom prst="rect">
            <a:avLst/>
          </a:prstGeom>
        </p:spPr>
        <p:txBody>
          <a:bodyPr lIns="0" tIns="0" rIns="0" bIns="0" anchor="t" anchorCtr="0"/>
          <a:lstStyle>
            <a:lvl1pPr marL="0" indent="0">
              <a:lnSpc>
                <a:spcPct val="100000"/>
              </a:lnSpc>
              <a:spcBef>
                <a:spcPts val="0"/>
              </a:spcBef>
              <a:buNone/>
              <a:defRPr sz="1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dirty="0"/>
              <a:t>Bildunterschrift</a:t>
            </a:r>
          </a:p>
        </p:txBody>
      </p:sp>
      <p:sp>
        <p:nvSpPr>
          <p:cNvPr id="27" name="Textplatzhalter 2"/>
          <p:cNvSpPr>
            <a:spLocks noGrp="1"/>
          </p:cNvSpPr>
          <p:nvPr>
            <p:ph type="body" sz="quarter" idx="14"/>
          </p:nvPr>
        </p:nvSpPr>
        <p:spPr>
          <a:xfrm>
            <a:off x="575734" y="689013"/>
            <a:ext cx="7165887"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
        <p:nvSpPr>
          <p:cNvPr id="28"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29" name="Textplatzhalter 2"/>
          <p:cNvSpPr>
            <a:spLocks noGrp="1"/>
          </p:cNvSpPr>
          <p:nvPr>
            <p:ph type="body" sz="quarter" idx="3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1386131455"/>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halt Folientitel einzeilig mit Untertitel | blanco">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B0110525-9DA5-4064-8EF4-0710650FC24C}" type="datetime6">
              <a:rPr lang="en-US" smtClean="0"/>
              <a:t>March 26</a:t>
            </a:fld>
            <a:endParaRPr lang="de-DE"/>
          </a:p>
        </p:txBody>
      </p:sp>
      <p:sp>
        <p:nvSpPr>
          <p:cNvPr id="5" name="Footer Placeholder 4"/>
          <p:cNvSpPr>
            <a:spLocks noGrp="1"/>
          </p:cNvSpPr>
          <p:nvPr>
            <p:ph type="ftr" sz="quarter" idx="11"/>
          </p:nvPr>
        </p:nvSpPr>
        <p:spPr/>
        <p:txBody>
          <a:bodyPr/>
          <a:lstStyle/>
          <a:p>
            <a:endParaRPr lang="de-DE"/>
          </a:p>
        </p:txBody>
      </p:sp>
      <p:sp>
        <p:nvSpPr>
          <p:cNvPr id="6" name="Slide Number Placeholder 5"/>
          <p:cNvSpPr>
            <a:spLocks noGrp="1"/>
          </p:cNvSpPr>
          <p:nvPr>
            <p:ph type="sldNum" sz="quarter" idx="12"/>
          </p:nvPr>
        </p:nvSpPr>
        <p:spPr/>
        <p:txBody>
          <a:bodyPr/>
          <a:lstStyle/>
          <a:p>
            <a:fld id="{D3A9EDD9-2578-4372-8132-10947A418667}" type="slidenum">
              <a:rPr lang="de-DE" smtClean="0"/>
              <a:t>‹#›</a:t>
            </a:fld>
            <a:endParaRPr lang="de-DE"/>
          </a:p>
        </p:txBody>
      </p:sp>
      <p:sp>
        <p:nvSpPr>
          <p:cNvPr id="7" name="Title Placeholder 1"/>
          <p:cNvSpPr>
            <a:spLocks noGrp="1"/>
          </p:cNvSpPr>
          <p:nvPr>
            <p:ph type="title"/>
          </p:nvPr>
        </p:nvSpPr>
        <p:spPr>
          <a:xfrm>
            <a:off x="575735" y="368300"/>
            <a:ext cx="7680853" cy="304699"/>
          </a:xfrm>
          <a:prstGeom prst="rect">
            <a:avLst/>
          </a:prstGeom>
        </p:spPr>
        <p:txBody>
          <a:bodyPr vert="horz" wrap="none" lIns="0" tIns="0" rIns="0" bIns="0" rtlCol="0" anchor="t" anchorCtr="0">
            <a:noAutofit/>
          </a:bodyPr>
          <a:lstStyle>
            <a:lvl1pPr>
              <a:defRPr sz="2200">
                <a:solidFill>
                  <a:schemeClr val="bg2"/>
                </a:solidFill>
              </a:defRPr>
            </a:lvl1pPr>
          </a:lstStyle>
          <a:p>
            <a:r>
              <a:rPr lang="de-DE" dirty="0"/>
              <a:t>Titelmasterformat durch Klicken bearbeiten</a:t>
            </a:r>
            <a:endParaRPr lang="en-US" dirty="0"/>
          </a:p>
        </p:txBody>
      </p:sp>
      <p:sp>
        <p:nvSpPr>
          <p:cNvPr id="10" name="Textplatzhalter 2"/>
          <p:cNvSpPr>
            <a:spLocks noGrp="1"/>
          </p:cNvSpPr>
          <p:nvPr>
            <p:ph type="body" sz="quarter" idx="14"/>
          </p:nvPr>
        </p:nvSpPr>
        <p:spPr>
          <a:xfrm>
            <a:off x="575734" y="689013"/>
            <a:ext cx="7680854" cy="319087"/>
          </a:xfrm>
          <a:prstGeom prst="rect">
            <a:avLst/>
          </a:prstGeom>
        </p:spPr>
        <p:txBody>
          <a:bodyPr wrap="none" lIns="0" tIns="0" rIns="0" bIns="0"/>
          <a:lstStyle>
            <a:lvl1pPr marL="0" indent="0">
              <a:buNone/>
              <a:defRPr sz="2000">
                <a:solidFill>
                  <a:schemeClr val="bg2"/>
                </a:solidFill>
              </a:defRPr>
            </a:lvl1pPr>
            <a:lvl2pPr marL="457200" indent="0">
              <a:buNone/>
              <a:defRPr sz="2000">
                <a:solidFill>
                  <a:schemeClr val="bg2"/>
                </a:solidFill>
              </a:defRPr>
            </a:lvl2pPr>
            <a:lvl3pPr marL="914400" indent="0">
              <a:buNone/>
              <a:defRPr sz="2000">
                <a:solidFill>
                  <a:schemeClr val="bg2"/>
                </a:solidFill>
              </a:defRPr>
            </a:lvl3pPr>
            <a:lvl4pPr marL="1371600" indent="0">
              <a:buNone/>
              <a:defRPr sz="2000">
                <a:solidFill>
                  <a:schemeClr val="bg2"/>
                </a:solidFill>
              </a:defRPr>
            </a:lvl4pPr>
            <a:lvl5pPr marL="1828800" indent="0">
              <a:buNone/>
              <a:defRPr sz="2000">
                <a:solidFill>
                  <a:schemeClr val="bg2"/>
                </a:solidFill>
              </a:defRPr>
            </a:lvl5pPr>
          </a:lstStyle>
          <a:p>
            <a:pPr lvl="0"/>
            <a:r>
              <a:rPr lang="de-DE" dirty="0"/>
              <a:t>Textmasterformat bearbeiten</a:t>
            </a:r>
          </a:p>
        </p:txBody>
      </p:sp>
    </p:spTree>
    <p:extLst>
      <p:ext uri="{BB962C8B-B14F-4D97-AF65-F5344CB8AC3E}">
        <p14:creationId xmlns:p14="http://schemas.microsoft.com/office/powerpoint/2010/main" val="2039394992"/>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bschluss">
    <p:spTree>
      <p:nvGrpSpPr>
        <p:cNvPr id="1" name=""/>
        <p:cNvGrpSpPr/>
        <p:nvPr/>
      </p:nvGrpSpPr>
      <p:grpSpPr>
        <a:xfrm>
          <a:off x="0" y="0"/>
          <a:ext cx="0" cy="0"/>
          <a:chOff x="0" y="0"/>
          <a:chExt cx="0" cy="0"/>
        </a:xfrm>
      </p:grpSpPr>
      <p:sp>
        <p:nvSpPr>
          <p:cNvPr id="13" name="Textplatzhalter 12"/>
          <p:cNvSpPr>
            <a:spLocks noGrp="1"/>
          </p:cNvSpPr>
          <p:nvPr>
            <p:ph type="body" sz="quarter" idx="10" hasCustomPrompt="1"/>
          </p:nvPr>
        </p:nvSpPr>
        <p:spPr>
          <a:xfrm>
            <a:off x="575734" y="1854201"/>
            <a:ext cx="11040533" cy="3767667"/>
          </a:xfrm>
          <a:prstGeom prst="rect">
            <a:avLst/>
          </a:prstGeom>
        </p:spPr>
        <p:txBody>
          <a:bodyPr lIns="0" tIns="0" rIns="0" bIns="0" anchor="b"/>
          <a:lstStyle>
            <a:lvl1pPr marL="0" indent="0" algn="l">
              <a:lnSpc>
                <a:spcPct val="100000"/>
              </a:lnSpc>
              <a:spcBef>
                <a:spcPts val="0"/>
              </a:spcBef>
              <a:buNone/>
              <a:defRPr sz="2000" b="0" baseline="0"/>
            </a:lvl1pPr>
            <a:lvl2pPr marL="0" indent="0" algn="l">
              <a:lnSpc>
                <a:spcPct val="100000"/>
              </a:lnSpc>
              <a:spcBef>
                <a:spcPts val="0"/>
              </a:spcBef>
              <a:buNone/>
              <a:defRPr sz="2000"/>
            </a:lvl2pPr>
            <a:lvl3pPr marL="0" indent="0" algn="l">
              <a:lnSpc>
                <a:spcPct val="100000"/>
              </a:lnSpc>
              <a:spcBef>
                <a:spcPts val="0"/>
              </a:spcBef>
              <a:buNone/>
              <a:defRPr sz="2000"/>
            </a:lvl3pPr>
            <a:lvl4pPr marL="0" indent="0" algn="l">
              <a:lnSpc>
                <a:spcPct val="100000"/>
              </a:lnSpc>
              <a:spcBef>
                <a:spcPts val="0"/>
              </a:spcBef>
              <a:buNone/>
              <a:defRPr sz="2000"/>
            </a:lvl4pPr>
            <a:lvl5pPr marL="0" indent="0" algn="l">
              <a:lnSpc>
                <a:spcPct val="100000"/>
              </a:lnSpc>
              <a:spcBef>
                <a:spcPts val="0"/>
              </a:spcBef>
              <a:buNone/>
              <a:defRPr sz="2000"/>
            </a:lvl5pPr>
          </a:lstStyle>
          <a:p>
            <a:pPr lvl="0"/>
            <a:r>
              <a:rPr lang="de-DE" dirty="0"/>
              <a:t>Brandenburg University </a:t>
            </a:r>
            <a:r>
              <a:rPr lang="de-DE" dirty="0" err="1"/>
              <a:t>of</a:t>
            </a:r>
            <a:r>
              <a:rPr lang="de-DE" dirty="0"/>
              <a:t> </a:t>
            </a:r>
            <a:r>
              <a:rPr lang="de-DE"/>
              <a:t>Technology Cottbus - Senftenberg</a:t>
            </a:r>
            <a:endParaRPr lang="de-DE" dirty="0"/>
          </a:p>
          <a:p>
            <a:pPr lvl="0"/>
            <a:r>
              <a:rPr lang="de-DE" dirty="0"/>
              <a:t>Fakultät/Institut/Verwaltungsbereich</a:t>
            </a:r>
          </a:p>
          <a:p>
            <a:pPr lvl="0"/>
            <a:r>
              <a:rPr lang="de-DE" dirty="0"/>
              <a:t>Fachgebiet/Abteilung</a:t>
            </a:r>
          </a:p>
          <a:p>
            <a:pPr lvl="0"/>
            <a:r>
              <a:rPr lang="de-DE" dirty="0"/>
              <a:t>Vorname Name</a:t>
            </a:r>
          </a:p>
          <a:p>
            <a:pPr lvl="0"/>
            <a:endParaRPr lang="de-DE" dirty="0"/>
          </a:p>
          <a:p>
            <a:pPr lvl="0"/>
            <a:r>
              <a:rPr lang="de-DE" dirty="0"/>
              <a:t>Straße Hausnummer</a:t>
            </a:r>
          </a:p>
          <a:p>
            <a:pPr lvl="0"/>
            <a:r>
              <a:rPr lang="de-DE" dirty="0"/>
              <a:t>PLZ/Ort</a:t>
            </a:r>
          </a:p>
          <a:p>
            <a:pPr lvl="0"/>
            <a:r>
              <a:rPr lang="de-DE" dirty="0"/>
              <a:t> </a:t>
            </a:r>
          </a:p>
          <a:p>
            <a:pPr lvl="0"/>
            <a:r>
              <a:rPr lang="de-DE" dirty="0"/>
              <a:t>T	+49 (0)355 69 0000</a:t>
            </a:r>
          </a:p>
          <a:p>
            <a:pPr lvl="0"/>
            <a:r>
              <a:rPr lang="de-DE" dirty="0"/>
              <a:t>E	vorname.name@b-tu.de</a:t>
            </a:r>
          </a:p>
        </p:txBody>
      </p:sp>
    </p:spTree>
    <p:extLst>
      <p:ext uri="{BB962C8B-B14F-4D97-AF65-F5344CB8AC3E}">
        <p14:creationId xmlns:p14="http://schemas.microsoft.com/office/powerpoint/2010/main" val="138356260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4" Type="http://schemas.openxmlformats.org/officeDocument/2006/relationships/image" Target="../media/image2.emf"/></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theme" Target="../theme/theme3.xml"/><Relationship Id="rId1" Type="http://schemas.openxmlformats.org/officeDocument/2006/relationships/slideLayout" Target="../slideLayouts/slideLayout5.xml"/></Relationships>
</file>

<file path=ppt/slideMasters/_rels/slideMaster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theme" Target="../theme/theme4.xml"/><Relationship Id="rId1" Type="http://schemas.openxmlformats.org/officeDocument/2006/relationships/slideLayout" Target="../slideLayouts/slideLayout6.xml"/></Relationships>
</file>

<file path=ppt/slideMasters/_rels/slideMaster5.xml.rels><?xml version="1.0" encoding="UTF-8" standalone="yes"?>
<Relationships xmlns="http://schemas.openxmlformats.org/package/2006/relationships"><Relationship Id="rId8" Type="http://schemas.openxmlformats.org/officeDocument/2006/relationships/theme" Target="../theme/theme5.xml"/><Relationship Id="rId3" Type="http://schemas.openxmlformats.org/officeDocument/2006/relationships/slideLayout" Target="../slideLayouts/slideLayout9.xml"/><Relationship Id="rId7" Type="http://schemas.openxmlformats.org/officeDocument/2006/relationships/slideLayout" Target="../slideLayouts/slideLayout13.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 Id="rId9" Type="http://schemas.openxmlformats.org/officeDocument/2006/relationships/image" Target="../media/image2.emf"/></Relationships>
</file>

<file path=ppt/slideMasters/_rels/slideMaster6.xml.rels><?xml version="1.0" encoding="UTF-8" standalone="yes"?>
<Relationships xmlns="http://schemas.openxmlformats.org/package/2006/relationships"><Relationship Id="rId8" Type="http://schemas.openxmlformats.org/officeDocument/2006/relationships/theme" Target="../theme/theme6.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5" Type="http://schemas.openxmlformats.org/officeDocument/2006/relationships/slideLayout" Target="../slideLayouts/slideLayout18.xml"/><Relationship Id="rId4" Type="http://schemas.openxmlformats.org/officeDocument/2006/relationships/slideLayout" Target="../slideLayouts/slideLayout17.xml"/><Relationship Id="rId9" Type="http://schemas.openxmlformats.org/officeDocument/2006/relationships/image" Target="../media/image2.emf"/></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theme" Target="../theme/theme7.xml"/><Relationship Id="rId1" Type="http://schemas.openxmlformats.org/officeDocument/2006/relationships/slideLayout" Target="../slideLayouts/slideLayout21.xml"/><Relationship Id="rId5" Type="http://schemas.openxmlformats.org/officeDocument/2006/relationships/image" Target="../media/image4.png"/><Relationship Id="rId4"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1"/>
                </a:solidFill>
              </a:defRPr>
            </a:lvl1pPr>
          </a:lstStyle>
          <a:p>
            <a:fld id="{3068E3E9-3AD5-498A-BFB0-B6AD1D84AC0C}" type="datetime6">
              <a:rPr lang="en-US" smtClean="0"/>
              <a:t>March 26</a:t>
            </a:fld>
            <a:endParaRPr lang="de-DE" dirty="0"/>
          </a:p>
        </p:txBody>
      </p:sp>
      <p:grpSp>
        <p:nvGrpSpPr>
          <p:cNvPr id="75" name="Gruppieren 74"/>
          <p:cNvGrpSpPr/>
          <p:nvPr userDrawn="1"/>
        </p:nvGrpSpPr>
        <p:grpSpPr>
          <a:xfrm flipH="1">
            <a:off x="-87790" y="3114675"/>
            <a:ext cx="4521636" cy="3848068"/>
            <a:chOff x="12041354" y="5196642"/>
            <a:chExt cx="8298137" cy="7062001"/>
          </a:xfrm>
        </p:grpSpPr>
        <p:sp>
          <p:nvSpPr>
            <p:cNvPr id="76"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rgbClr val="FFFFFF"/>
              </a:solidFill>
            </a:ln>
          </p:spPr>
          <p:txBody>
            <a:bodyPr wrap="square" lIns="0" tIns="0" rIns="0" bIns="0" rtlCol="0"/>
            <a:lstStyle/>
            <a:p>
              <a:endParaRPr/>
            </a:p>
          </p:txBody>
        </p:sp>
        <p:sp>
          <p:nvSpPr>
            <p:cNvPr id="77"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rgbClr val="FFFFFF"/>
              </a:solidFill>
            </a:ln>
          </p:spPr>
          <p:txBody>
            <a:bodyPr wrap="square" lIns="0" tIns="0" rIns="0" bIns="0" rtlCol="0"/>
            <a:lstStyle/>
            <a:p>
              <a:endParaRPr/>
            </a:p>
          </p:txBody>
        </p:sp>
        <p:sp>
          <p:nvSpPr>
            <p:cNvPr id="78"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rgbClr val="FFFFFF"/>
              </a:solidFill>
            </a:ln>
          </p:spPr>
          <p:txBody>
            <a:bodyPr wrap="square" lIns="0" tIns="0" rIns="0" bIns="0" rtlCol="0"/>
            <a:lstStyle/>
            <a:p>
              <a:endParaRPr/>
            </a:p>
          </p:txBody>
        </p:sp>
      </p:grpSp>
      <p:pic>
        <p:nvPicPr>
          <p:cNvPr id="11" name="Grafik 10"/>
          <p:cNvPicPr>
            <a:picLocks noChangeAspect="1"/>
          </p:cNvPicPr>
          <p:nvPr userDrawn="1"/>
        </p:nvPicPr>
        <p:blipFill rotWithShape="1">
          <a:blip r:embed="rId4" cstate="print">
            <a:extLst>
              <a:ext uri="{28A0092B-C50C-407E-A947-70E740481C1C}">
                <a14:useLocalDpi xmlns:a14="http://schemas.microsoft.com/office/drawing/2010/main" val="0"/>
              </a:ext>
            </a:extLst>
          </a:blip>
          <a:srcRect t="26726"/>
          <a:stretch/>
        </p:blipFill>
        <p:spPr>
          <a:xfrm>
            <a:off x="9117346" y="372627"/>
            <a:ext cx="2520000" cy="420473"/>
          </a:xfrm>
          <a:prstGeom prst="rect">
            <a:avLst/>
          </a:prstGeom>
        </p:spPr>
      </p:pic>
    </p:spTree>
    <p:extLst>
      <p:ext uri="{BB962C8B-B14F-4D97-AF65-F5344CB8AC3E}">
        <p14:creationId xmlns:p14="http://schemas.microsoft.com/office/powerpoint/2010/main" val="3629316789"/>
      </p:ext>
    </p:extLst>
  </p:cSld>
  <p:clrMap bg1="lt1" tx1="dk1" bg2="lt2" tx2="dk2" accent1="accent1" accent2="accent2" accent3="accent3" accent4="accent4" accent5="accent5" accent6="accent6" hlink="hlink" folHlink="folHlink"/>
  <p:sldLayoutIdLst>
    <p:sldLayoutId id="2147483674" r:id="rId1"/>
    <p:sldLayoutId id="2147483713" r:id="rId2"/>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745" userDrawn="1">
          <p15:clr>
            <a:srgbClr val="F26B43"/>
          </p15:clr>
        </p15:guide>
        <p15:guide id="8" orient="horz" pos="4088" userDrawn="1">
          <p15:clr>
            <a:srgbClr val="F26B43"/>
          </p15:clr>
        </p15:guide>
        <p15:guide id="9" pos="6516"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2"/>
                </a:solidFill>
              </a:defRPr>
            </a:lvl1pPr>
          </a:lstStyle>
          <a:p>
            <a:fld id="{3F0902DC-30BC-46C9-9DA4-20568DCAA6F3}" type="datetime6">
              <a:rPr lang="en-US" smtClean="0"/>
              <a:t>March 26</a:t>
            </a:fld>
            <a:endParaRPr lang="de-DE" dirty="0"/>
          </a:p>
        </p:txBody>
      </p:sp>
      <p:grpSp>
        <p:nvGrpSpPr>
          <p:cNvPr id="8" name="Gruppieren 7"/>
          <p:cNvGrpSpPr/>
          <p:nvPr userDrawn="1"/>
        </p:nvGrpSpPr>
        <p:grpSpPr>
          <a:xfrm flipH="1">
            <a:off x="-87790" y="3114675"/>
            <a:ext cx="4521636" cy="3848068"/>
            <a:chOff x="12041354" y="5196642"/>
            <a:chExt cx="8298137" cy="7062001"/>
          </a:xfrm>
        </p:grpSpPr>
        <p:sp>
          <p:nvSpPr>
            <p:cNvPr id="14"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chemeClr val="bg2"/>
              </a:solidFill>
            </a:ln>
          </p:spPr>
          <p:txBody>
            <a:bodyPr wrap="square" lIns="0" tIns="0" rIns="0" bIns="0" rtlCol="0"/>
            <a:lstStyle/>
            <a:p>
              <a:endParaRPr/>
            </a:p>
          </p:txBody>
        </p:sp>
        <p:sp>
          <p:nvSpPr>
            <p:cNvPr id="15"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chemeClr val="bg2"/>
              </a:solidFill>
            </a:ln>
          </p:spPr>
          <p:txBody>
            <a:bodyPr wrap="square" lIns="0" tIns="0" rIns="0" bIns="0" rtlCol="0"/>
            <a:lstStyle/>
            <a:p>
              <a:endParaRPr/>
            </a:p>
          </p:txBody>
        </p:sp>
        <p:sp>
          <p:nvSpPr>
            <p:cNvPr id="16"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chemeClr val="bg2"/>
              </a:solidFill>
            </a:ln>
          </p:spPr>
          <p:txBody>
            <a:bodyPr wrap="square" lIns="0" tIns="0" rIns="0" bIns="0" rtlCol="0"/>
            <a:lstStyle/>
            <a:p>
              <a:endParaRPr/>
            </a:p>
          </p:txBody>
        </p:sp>
      </p:grpSp>
      <p:pic>
        <p:nvPicPr>
          <p:cNvPr id="10" name="Grafik 9"/>
          <p:cNvPicPr>
            <a:picLocks noChangeAspect="1"/>
          </p:cNvPicPr>
          <p:nvPr userDrawn="1"/>
        </p:nvPicPr>
        <p:blipFill rotWithShape="1">
          <a:blip r:embed="rId4"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2201360777"/>
      </p:ext>
    </p:extLst>
  </p:cSld>
  <p:clrMap bg1="lt1" tx1="dk1" bg2="lt2" tx2="dk2" accent1="accent1" accent2="accent2" accent3="accent3" accent4="accent4" accent5="accent5" accent6="accent6" hlink="hlink" folHlink="folHlink"/>
  <p:sldLayoutIdLst>
    <p:sldLayoutId id="2147483690" r:id="rId1"/>
    <p:sldLayoutId id="2147483691" r:id="rId2"/>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2"/>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1"/>
                </a:solidFill>
              </a:defRPr>
            </a:lvl1pPr>
          </a:lstStyle>
          <a:p>
            <a:fld id="{A741E99E-5163-4ED7-9D9F-4066CCFDAA49}" type="datetime6">
              <a:rPr lang="en-US" smtClean="0"/>
              <a:t>March 26</a:t>
            </a:fld>
            <a:endParaRPr lang="de-DE" dirty="0"/>
          </a:p>
        </p:txBody>
      </p:sp>
      <p:grpSp>
        <p:nvGrpSpPr>
          <p:cNvPr id="14" name="Gruppieren 13"/>
          <p:cNvGrpSpPr/>
          <p:nvPr userDrawn="1"/>
        </p:nvGrpSpPr>
        <p:grpSpPr>
          <a:xfrm>
            <a:off x="7731263" y="3114675"/>
            <a:ext cx="4521636" cy="3848068"/>
            <a:chOff x="12041354" y="5196642"/>
            <a:chExt cx="8298137" cy="7062001"/>
          </a:xfrm>
        </p:grpSpPr>
        <p:sp>
          <p:nvSpPr>
            <p:cNvPr id="15"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rgbClr val="FFFFFF"/>
              </a:solidFill>
            </a:ln>
          </p:spPr>
          <p:txBody>
            <a:bodyPr wrap="square" lIns="0" tIns="0" rIns="0" bIns="0" rtlCol="0"/>
            <a:lstStyle/>
            <a:p>
              <a:endParaRPr/>
            </a:p>
          </p:txBody>
        </p:sp>
        <p:sp>
          <p:nvSpPr>
            <p:cNvPr id="16"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rgbClr val="FFFFFF"/>
              </a:solidFill>
            </a:ln>
          </p:spPr>
          <p:txBody>
            <a:bodyPr wrap="square" lIns="0" tIns="0" rIns="0" bIns="0" rtlCol="0"/>
            <a:lstStyle/>
            <a:p>
              <a:endParaRPr/>
            </a:p>
          </p:txBody>
        </p:sp>
        <p:sp>
          <p:nvSpPr>
            <p:cNvPr id="17"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rgbClr val="FFFFFF"/>
              </a:solidFill>
            </a:ln>
          </p:spPr>
          <p:txBody>
            <a:bodyPr wrap="square" lIns="0" tIns="0" rIns="0" bIns="0" rtlCol="0"/>
            <a:lstStyle/>
            <a:p>
              <a:endParaRPr/>
            </a:p>
          </p:txBody>
        </p:sp>
      </p:grpSp>
      <p:pic>
        <p:nvPicPr>
          <p:cNvPr id="8" name="Grafik 7"/>
          <p:cNvPicPr>
            <a:picLocks noChangeAspect="1"/>
          </p:cNvPicPr>
          <p:nvPr userDrawn="1"/>
        </p:nvPicPr>
        <p:blipFill rotWithShape="1">
          <a:blip r:embed="rId3" cstate="print">
            <a:extLst>
              <a:ext uri="{28A0092B-C50C-407E-A947-70E740481C1C}">
                <a14:useLocalDpi xmlns:a14="http://schemas.microsoft.com/office/drawing/2010/main" val="0"/>
              </a:ext>
            </a:extLst>
          </a:blip>
          <a:srcRect t="26726"/>
          <a:stretch/>
        </p:blipFill>
        <p:spPr>
          <a:xfrm>
            <a:off x="9117346" y="372627"/>
            <a:ext cx="2520000" cy="420473"/>
          </a:xfrm>
          <a:prstGeom prst="rect">
            <a:avLst/>
          </a:prstGeom>
        </p:spPr>
      </p:pic>
    </p:spTree>
    <p:extLst>
      <p:ext uri="{BB962C8B-B14F-4D97-AF65-F5344CB8AC3E}">
        <p14:creationId xmlns:p14="http://schemas.microsoft.com/office/powerpoint/2010/main" val="2407001557"/>
      </p:ext>
    </p:extLst>
  </p:cSld>
  <p:clrMap bg1="lt1" tx1="dk1" bg2="lt2" tx2="dk2" accent1="accent1" accent2="accent2" accent3="accent3" accent4="accent4" accent5="accent5" accent6="accent6" hlink="hlink" folHlink="folHlink"/>
  <p:sldLayoutIdLst>
    <p:sldLayoutId id="2147483693" r:id="rId1"/>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9" name="Date Placeholder 3"/>
          <p:cNvSpPr>
            <a:spLocks noGrp="1"/>
          </p:cNvSpPr>
          <p:nvPr>
            <p:ph type="dt" sz="half" idx="2"/>
          </p:nvPr>
        </p:nvSpPr>
        <p:spPr>
          <a:xfrm>
            <a:off x="575733" y="6491818"/>
            <a:ext cx="2640000" cy="180000"/>
          </a:xfrm>
          <a:prstGeom prst="rect">
            <a:avLst/>
          </a:prstGeom>
        </p:spPr>
        <p:txBody>
          <a:bodyPr lIns="0" tIns="0" rIns="0" bIns="0"/>
          <a:lstStyle>
            <a:lvl1pPr>
              <a:defRPr sz="1200">
                <a:solidFill>
                  <a:schemeClr val="bg2"/>
                </a:solidFill>
              </a:defRPr>
            </a:lvl1pPr>
          </a:lstStyle>
          <a:p>
            <a:fld id="{CBBE901B-AF74-4C1D-AAF7-23463812B562}" type="datetime6">
              <a:rPr lang="en-US" smtClean="0"/>
              <a:t>March 26</a:t>
            </a:fld>
            <a:endParaRPr lang="de-DE" dirty="0"/>
          </a:p>
        </p:txBody>
      </p:sp>
      <p:grpSp>
        <p:nvGrpSpPr>
          <p:cNvPr id="14" name="Gruppieren 13"/>
          <p:cNvGrpSpPr/>
          <p:nvPr userDrawn="1"/>
        </p:nvGrpSpPr>
        <p:grpSpPr>
          <a:xfrm>
            <a:off x="7731263" y="3114675"/>
            <a:ext cx="4521636" cy="3848068"/>
            <a:chOff x="12041354" y="5196642"/>
            <a:chExt cx="8298137" cy="7062001"/>
          </a:xfrm>
        </p:grpSpPr>
        <p:sp>
          <p:nvSpPr>
            <p:cNvPr id="15" name="object 29"/>
            <p:cNvSpPr/>
            <p:nvPr userDrawn="1"/>
          </p:nvSpPr>
          <p:spPr>
            <a:xfrm>
              <a:off x="13270036" y="5196642"/>
              <a:ext cx="7069455" cy="7061834"/>
            </a:xfrm>
            <a:custGeom>
              <a:avLst/>
              <a:gdLst/>
              <a:ahLst/>
              <a:cxnLst/>
              <a:rect l="l" t="t" r="r" b="b"/>
              <a:pathLst>
                <a:path w="7069455" h="7061834">
                  <a:moveTo>
                    <a:pt x="6518248" y="580414"/>
                  </a:moveTo>
                  <a:lnTo>
                    <a:pt x="6476353" y="556588"/>
                  </a:lnTo>
                  <a:lnTo>
                    <a:pt x="6434305" y="533278"/>
                  </a:lnTo>
                  <a:lnTo>
                    <a:pt x="6392108" y="510481"/>
                  </a:lnTo>
                  <a:lnTo>
                    <a:pt x="6349765" y="488196"/>
                  </a:lnTo>
                  <a:lnTo>
                    <a:pt x="6307280" y="466424"/>
                  </a:lnTo>
                  <a:lnTo>
                    <a:pt x="6264657" y="445162"/>
                  </a:lnTo>
                  <a:lnTo>
                    <a:pt x="6221899" y="424410"/>
                  </a:lnTo>
                  <a:lnTo>
                    <a:pt x="6179010" y="404166"/>
                  </a:lnTo>
                  <a:lnTo>
                    <a:pt x="6135994" y="384431"/>
                  </a:lnTo>
                  <a:lnTo>
                    <a:pt x="6092855" y="365202"/>
                  </a:lnTo>
                  <a:lnTo>
                    <a:pt x="6049596" y="346479"/>
                  </a:lnTo>
                  <a:lnTo>
                    <a:pt x="6006220" y="328260"/>
                  </a:lnTo>
                  <a:lnTo>
                    <a:pt x="5962732" y="310546"/>
                  </a:lnTo>
                  <a:lnTo>
                    <a:pt x="5919136" y="293334"/>
                  </a:lnTo>
                  <a:lnTo>
                    <a:pt x="5875434" y="276624"/>
                  </a:lnTo>
                  <a:lnTo>
                    <a:pt x="5831631" y="260415"/>
                  </a:lnTo>
                  <a:lnTo>
                    <a:pt x="5787731" y="244706"/>
                  </a:lnTo>
                  <a:lnTo>
                    <a:pt x="5743736" y="229495"/>
                  </a:lnTo>
                  <a:lnTo>
                    <a:pt x="5699651" y="214783"/>
                  </a:lnTo>
                  <a:lnTo>
                    <a:pt x="5655480" y="200567"/>
                  </a:lnTo>
                  <a:lnTo>
                    <a:pt x="5611225" y="186847"/>
                  </a:lnTo>
                  <a:lnTo>
                    <a:pt x="5566892" y="173622"/>
                  </a:lnTo>
                  <a:lnTo>
                    <a:pt x="5522483" y="160891"/>
                  </a:lnTo>
                  <a:lnTo>
                    <a:pt x="5478002" y="148653"/>
                  </a:lnTo>
                  <a:lnTo>
                    <a:pt x="5433453" y="136907"/>
                  </a:lnTo>
                  <a:lnTo>
                    <a:pt x="5388840" y="125652"/>
                  </a:lnTo>
                  <a:lnTo>
                    <a:pt x="5344166" y="114886"/>
                  </a:lnTo>
                  <a:lnTo>
                    <a:pt x="5299435" y="104610"/>
                  </a:lnTo>
                  <a:lnTo>
                    <a:pt x="5254650" y="94821"/>
                  </a:lnTo>
                  <a:lnTo>
                    <a:pt x="5209816" y="85520"/>
                  </a:lnTo>
                  <a:lnTo>
                    <a:pt x="5164936" y="76704"/>
                  </a:lnTo>
                  <a:lnTo>
                    <a:pt x="5120014" y="68374"/>
                  </a:lnTo>
                  <a:lnTo>
                    <a:pt x="5075053" y="60527"/>
                  </a:lnTo>
                  <a:lnTo>
                    <a:pt x="5030057" y="53164"/>
                  </a:lnTo>
                  <a:lnTo>
                    <a:pt x="4985030" y="46282"/>
                  </a:lnTo>
                  <a:lnTo>
                    <a:pt x="4939976" y="39882"/>
                  </a:lnTo>
                  <a:lnTo>
                    <a:pt x="4894898" y="33962"/>
                  </a:lnTo>
                  <a:lnTo>
                    <a:pt x="4849800" y="28520"/>
                  </a:lnTo>
                  <a:lnTo>
                    <a:pt x="4804685" y="23557"/>
                  </a:lnTo>
                  <a:lnTo>
                    <a:pt x="4759558" y="19071"/>
                  </a:lnTo>
                  <a:lnTo>
                    <a:pt x="4714421" y="15061"/>
                  </a:lnTo>
                  <a:lnTo>
                    <a:pt x="4669280" y="11525"/>
                  </a:lnTo>
                  <a:lnTo>
                    <a:pt x="4624136" y="8465"/>
                  </a:lnTo>
                  <a:lnTo>
                    <a:pt x="4578995" y="5877"/>
                  </a:lnTo>
                  <a:lnTo>
                    <a:pt x="4533860" y="3761"/>
                  </a:lnTo>
                  <a:lnTo>
                    <a:pt x="4488734" y="2116"/>
                  </a:lnTo>
                  <a:lnTo>
                    <a:pt x="4443621" y="942"/>
                  </a:lnTo>
                  <a:lnTo>
                    <a:pt x="4398525" y="237"/>
                  </a:lnTo>
                  <a:lnTo>
                    <a:pt x="4353449" y="0"/>
                  </a:lnTo>
                  <a:lnTo>
                    <a:pt x="4308398" y="230"/>
                  </a:lnTo>
                  <a:lnTo>
                    <a:pt x="4263375" y="926"/>
                  </a:lnTo>
                  <a:lnTo>
                    <a:pt x="4218383" y="2087"/>
                  </a:lnTo>
                  <a:lnTo>
                    <a:pt x="4173427" y="3713"/>
                  </a:lnTo>
                  <a:lnTo>
                    <a:pt x="4128509" y="5802"/>
                  </a:lnTo>
                  <a:lnTo>
                    <a:pt x="4083635" y="8353"/>
                  </a:lnTo>
                  <a:lnTo>
                    <a:pt x="4038806" y="11365"/>
                  </a:lnTo>
                  <a:lnTo>
                    <a:pt x="3994028" y="14838"/>
                  </a:lnTo>
                  <a:lnTo>
                    <a:pt x="3949304" y="18769"/>
                  </a:lnTo>
                  <a:lnTo>
                    <a:pt x="3904637" y="23160"/>
                  </a:lnTo>
                  <a:lnTo>
                    <a:pt x="3860031" y="28007"/>
                  </a:lnTo>
                  <a:lnTo>
                    <a:pt x="3815490" y="33310"/>
                  </a:lnTo>
                  <a:lnTo>
                    <a:pt x="3771017" y="39069"/>
                  </a:lnTo>
                  <a:lnTo>
                    <a:pt x="3726617" y="45283"/>
                  </a:lnTo>
                  <a:lnTo>
                    <a:pt x="3682293" y="51949"/>
                  </a:lnTo>
                  <a:lnTo>
                    <a:pt x="3638049" y="59068"/>
                  </a:lnTo>
                  <a:lnTo>
                    <a:pt x="3593887" y="66638"/>
                  </a:lnTo>
                  <a:lnTo>
                    <a:pt x="3549813" y="74659"/>
                  </a:lnTo>
                  <a:lnTo>
                    <a:pt x="3505830" y="83129"/>
                  </a:lnTo>
                  <a:lnTo>
                    <a:pt x="3461941" y="92047"/>
                  </a:lnTo>
                  <a:lnTo>
                    <a:pt x="3418150" y="101413"/>
                  </a:lnTo>
                  <a:lnTo>
                    <a:pt x="3374460" y="111225"/>
                  </a:lnTo>
                  <a:lnTo>
                    <a:pt x="3330877" y="121482"/>
                  </a:lnTo>
                  <a:lnTo>
                    <a:pt x="3287402" y="132184"/>
                  </a:lnTo>
                  <a:lnTo>
                    <a:pt x="3244040" y="143330"/>
                  </a:lnTo>
                  <a:lnTo>
                    <a:pt x="3200795" y="154917"/>
                  </a:lnTo>
                  <a:lnTo>
                    <a:pt x="3157671" y="166947"/>
                  </a:lnTo>
                  <a:lnTo>
                    <a:pt x="3114670" y="179416"/>
                  </a:lnTo>
                  <a:lnTo>
                    <a:pt x="3071797" y="192325"/>
                  </a:lnTo>
                  <a:lnTo>
                    <a:pt x="3029055" y="205673"/>
                  </a:lnTo>
                  <a:lnTo>
                    <a:pt x="2986448" y="219458"/>
                  </a:lnTo>
                  <a:lnTo>
                    <a:pt x="2943980" y="233679"/>
                  </a:lnTo>
                  <a:lnTo>
                    <a:pt x="2901654" y="248336"/>
                  </a:lnTo>
                  <a:lnTo>
                    <a:pt x="2859475" y="263428"/>
                  </a:lnTo>
                  <a:lnTo>
                    <a:pt x="2817445" y="278953"/>
                  </a:lnTo>
                  <a:lnTo>
                    <a:pt x="2775569" y="294911"/>
                  </a:lnTo>
                  <a:lnTo>
                    <a:pt x="2733850" y="311300"/>
                  </a:lnTo>
                  <a:lnTo>
                    <a:pt x="2692291" y="328120"/>
                  </a:lnTo>
                  <a:lnTo>
                    <a:pt x="2650898" y="345369"/>
                  </a:lnTo>
                  <a:lnTo>
                    <a:pt x="2609673" y="363047"/>
                  </a:lnTo>
                  <a:lnTo>
                    <a:pt x="2568619" y="381152"/>
                  </a:lnTo>
                  <a:lnTo>
                    <a:pt x="2527742" y="399684"/>
                  </a:lnTo>
                  <a:lnTo>
                    <a:pt x="2487043" y="418642"/>
                  </a:lnTo>
                  <a:lnTo>
                    <a:pt x="2446528" y="438024"/>
                  </a:lnTo>
                  <a:lnTo>
                    <a:pt x="2406200" y="457830"/>
                  </a:lnTo>
                  <a:lnTo>
                    <a:pt x="2366062" y="478058"/>
                  </a:lnTo>
                  <a:lnTo>
                    <a:pt x="2326118" y="498709"/>
                  </a:lnTo>
                  <a:lnTo>
                    <a:pt x="2286372" y="519779"/>
                  </a:lnTo>
                  <a:lnTo>
                    <a:pt x="2246827" y="541270"/>
                  </a:lnTo>
                  <a:lnTo>
                    <a:pt x="2207488" y="563179"/>
                  </a:lnTo>
                  <a:lnTo>
                    <a:pt x="2168358" y="585506"/>
                  </a:lnTo>
                  <a:lnTo>
                    <a:pt x="2129440" y="608250"/>
                  </a:lnTo>
                  <a:lnTo>
                    <a:pt x="2090738" y="631409"/>
                  </a:lnTo>
                  <a:lnTo>
                    <a:pt x="2052257" y="654983"/>
                  </a:lnTo>
                  <a:lnTo>
                    <a:pt x="2013999" y="678971"/>
                  </a:lnTo>
                  <a:lnTo>
                    <a:pt x="1975969" y="703371"/>
                  </a:lnTo>
                  <a:lnTo>
                    <a:pt x="1938169" y="728183"/>
                  </a:lnTo>
                  <a:lnTo>
                    <a:pt x="1900605" y="753406"/>
                  </a:lnTo>
                  <a:lnTo>
                    <a:pt x="1863279" y="779039"/>
                  </a:lnTo>
                  <a:lnTo>
                    <a:pt x="1826195" y="805080"/>
                  </a:lnTo>
                  <a:lnTo>
                    <a:pt x="1789357" y="831530"/>
                  </a:lnTo>
                  <a:lnTo>
                    <a:pt x="1752768" y="858386"/>
                  </a:lnTo>
                  <a:lnTo>
                    <a:pt x="1716433" y="885648"/>
                  </a:lnTo>
                  <a:lnTo>
                    <a:pt x="1680354" y="913314"/>
                  </a:lnTo>
                  <a:lnTo>
                    <a:pt x="1644536" y="941385"/>
                  </a:lnTo>
                  <a:lnTo>
                    <a:pt x="1608983" y="969858"/>
                  </a:lnTo>
                  <a:lnTo>
                    <a:pt x="1573697" y="998734"/>
                  </a:lnTo>
                  <a:lnTo>
                    <a:pt x="1538684" y="1028010"/>
                  </a:lnTo>
                  <a:lnTo>
                    <a:pt x="1503945" y="1057686"/>
                  </a:lnTo>
                  <a:lnTo>
                    <a:pt x="1469486" y="1087761"/>
                  </a:lnTo>
                  <a:lnTo>
                    <a:pt x="1435309" y="1118233"/>
                  </a:lnTo>
                  <a:lnTo>
                    <a:pt x="1401419" y="1149103"/>
                  </a:lnTo>
                  <a:lnTo>
                    <a:pt x="1367820" y="1180369"/>
                  </a:lnTo>
                  <a:lnTo>
                    <a:pt x="1334514" y="1212029"/>
                  </a:lnTo>
                  <a:lnTo>
                    <a:pt x="1301505" y="1244084"/>
                  </a:lnTo>
                  <a:lnTo>
                    <a:pt x="1268798" y="1276531"/>
                  </a:lnTo>
                  <a:lnTo>
                    <a:pt x="1236396" y="1309371"/>
                  </a:lnTo>
                  <a:lnTo>
                    <a:pt x="1204302" y="1342601"/>
                  </a:lnTo>
                  <a:lnTo>
                    <a:pt x="1172521" y="1376221"/>
                  </a:lnTo>
                  <a:lnTo>
                    <a:pt x="1141056" y="1410230"/>
                  </a:lnTo>
                  <a:lnTo>
                    <a:pt x="1109910" y="1444628"/>
                  </a:lnTo>
                  <a:lnTo>
                    <a:pt x="1079088" y="1479412"/>
                  </a:lnTo>
                  <a:lnTo>
                    <a:pt x="1048593" y="1514582"/>
                  </a:lnTo>
                  <a:lnTo>
                    <a:pt x="1018429" y="1550138"/>
                  </a:lnTo>
                  <a:lnTo>
                    <a:pt x="988599" y="1586077"/>
                  </a:lnTo>
                  <a:lnTo>
                    <a:pt x="959107" y="1622399"/>
                  </a:lnTo>
                  <a:lnTo>
                    <a:pt x="929958" y="1659104"/>
                  </a:lnTo>
                  <a:lnTo>
                    <a:pt x="901154" y="1696190"/>
                  </a:lnTo>
                  <a:lnTo>
                    <a:pt x="872699" y="1733655"/>
                  </a:lnTo>
                  <a:lnTo>
                    <a:pt x="844597" y="1771500"/>
                  </a:lnTo>
                  <a:lnTo>
                    <a:pt x="816852" y="1809723"/>
                  </a:lnTo>
                  <a:lnTo>
                    <a:pt x="789467" y="1848323"/>
                  </a:lnTo>
                  <a:lnTo>
                    <a:pt x="762446" y="1887299"/>
                  </a:lnTo>
                  <a:lnTo>
                    <a:pt x="735793" y="1926650"/>
                  </a:lnTo>
                  <a:lnTo>
                    <a:pt x="709512" y="1966375"/>
                  </a:lnTo>
                  <a:lnTo>
                    <a:pt x="683605" y="2006474"/>
                  </a:lnTo>
                  <a:lnTo>
                    <a:pt x="658077" y="2046944"/>
                  </a:lnTo>
                  <a:lnTo>
                    <a:pt x="632932" y="2087786"/>
                  </a:lnTo>
                  <a:lnTo>
                    <a:pt x="608173" y="2128998"/>
                  </a:lnTo>
                  <a:lnTo>
                    <a:pt x="583804" y="2170579"/>
                  </a:lnTo>
                  <a:lnTo>
                    <a:pt x="559730" y="2212705"/>
                  </a:lnTo>
                  <a:lnTo>
                    <a:pt x="536178" y="2254985"/>
                  </a:lnTo>
                  <a:lnTo>
                    <a:pt x="513147" y="2297416"/>
                  </a:lnTo>
                  <a:lnTo>
                    <a:pt x="490637" y="2339994"/>
                  </a:lnTo>
                  <a:lnTo>
                    <a:pt x="468647" y="2382714"/>
                  </a:lnTo>
                  <a:lnTo>
                    <a:pt x="447174" y="2425574"/>
                  </a:lnTo>
                  <a:lnTo>
                    <a:pt x="426220" y="2468569"/>
                  </a:lnTo>
                  <a:lnTo>
                    <a:pt x="405781" y="2511696"/>
                  </a:lnTo>
                  <a:lnTo>
                    <a:pt x="385858" y="2554950"/>
                  </a:lnTo>
                  <a:lnTo>
                    <a:pt x="366450" y="2598329"/>
                  </a:lnTo>
                  <a:lnTo>
                    <a:pt x="347554" y="2641829"/>
                  </a:lnTo>
                  <a:lnTo>
                    <a:pt x="329172" y="2685445"/>
                  </a:lnTo>
                  <a:lnTo>
                    <a:pt x="311300" y="2729174"/>
                  </a:lnTo>
                  <a:lnTo>
                    <a:pt x="293939" y="2773012"/>
                  </a:lnTo>
                  <a:lnTo>
                    <a:pt x="277087" y="2816955"/>
                  </a:lnTo>
                  <a:lnTo>
                    <a:pt x="260744" y="2861000"/>
                  </a:lnTo>
                  <a:lnTo>
                    <a:pt x="244908" y="2905143"/>
                  </a:lnTo>
                  <a:lnTo>
                    <a:pt x="229578" y="2949380"/>
                  </a:lnTo>
                  <a:lnTo>
                    <a:pt x="214754" y="2993708"/>
                  </a:lnTo>
                  <a:lnTo>
                    <a:pt x="200434" y="3038122"/>
                  </a:lnTo>
                  <a:lnTo>
                    <a:pt x="186617" y="3082619"/>
                  </a:lnTo>
                  <a:lnTo>
                    <a:pt x="173302" y="3127194"/>
                  </a:lnTo>
                  <a:lnTo>
                    <a:pt x="160489" y="3171845"/>
                  </a:lnTo>
                  <a:lnTo>
                    <a:pt x="148176" y="3216568"/>
                  </a:lnTo>
                  <a:lnTo>
                    <a:pt x="136363" y="3261358"/>
                  </a:lnTo>
                  <a:lnTo>
                    <a:pt x="125047" y="3306213"/>
                  </a:lnTo>
                  <a:lnTo>
                    <a:pt x="114229" y="3351127"/>
                  </a:lnTo>
                  <a:lnTo>
                    <a:pt x="103908" y="3396099"/>
                  </a:lnTo>
                  <a:lnTo>
                    <a:pt x="94081" y="3441122"/>
                  </a:lnTo>
                  <a:lnTo>
                    <a:pt x="84749" y="3486195"/>
                  </a:lnTo>
                  <a:lnTo>
                    <a:pt x="75910" y="3531313"/>
                  </a:lnTo>
                  <a:lnTo>
                    <a:pt x="67563" y="3576473"/>
                  </a:lnTo>
                  <a:lnTo>
                    <a:pt x="59707" y="3621670"/>
                  </a:lnTo>
                  <a:lnTo>
                    <a:pt x="52342" y="3666901"/>
                  </a:lnTo>
                  <a:lnTo>
                    <a:pt x="45465" y="3712162"/>
                  </a:lnTo>
                  <a:lnTo>
                    <a:pt x="39077" y="3757450"/>
                  </a:lnTo>
                  <a:lnTo>
                    <a:pt x="33176" y="3802760"/>
                  </a:lnTo>
                  <a:lnTo>
                    <a:pt x="27762" y="3848089"/>
                  </a:lnTo>
                  <a:lnTo>
                    <a:pt x="22832" y="3893433"/>
                  </a:lnTo>
                  <a:lnTo>
                    <a:pt x="18387" y="3938789"/>
                  </a:lnTo>
                  <a:lnTo>
                    <a:pt x="14425" y="3984152"/>
                  </a:lnTo>
                  <a:lnTo>
                    <a:pt x="10945" y="4029519"/>
                  </a:lnTo>
                  <a:lnTo>
                    <a:pt x="7946" y="4074886"/>
                  </a:lnTo>
                  <a:lnTo>
                    <a:pt x="5427" y="4120250"/>
                  </a:lnTo>
                  <a:lnTo>
                    <a:pt x="3387" y="4165606"/>
                  </a:lnTo>
                  <a:lnTo>
                    <a:pt x="1826" y="4210950"/>
                  </a:lnTo>
                  <a:lnTo>
                    <a:pt x="741" y="4256280"/>
                  </a:lnTo>
                  <a:lnTo>
                    <a:pt x="133" y="4301591"/>
                  </a:lnTo>
                  <a:lnTo>
                    <a:pt x="0" y="4346880"/>
                  </a:lnTo>
                  <a:lnTo>
                    <a:pt x="340" y="4392142"/>
                  </a:lnTo>
                  <a:lnTo>
                    <a:pt x="1154" y="4437374"/>
                  </a:lnTo>
                  <a:lnTo>
                    <a:pt x="2440" y="4482573"/>
                  </a:lnTo>
                  <a:lnTo>
                    <a:pt x="4197" y="4527733"/>
                  </a:lnTo>
                  <a:lnTo>
                    <a:pt x="6424" y="4572853"/>
                  </a:lnTo>
                  <a:lnTo>
                    <a:pt x="9120" y="4617928"/>
                  </a:lnTo>
                  <a:lnTo>
                    <a:pt x="12285" y="4662953"/>
                  </a:lnTo>
                  <a:lnTo>
                    <a:pt x="15916" y="4707927"/>
                  </a:lnTo>
                  <a:lnTo>
                    <a:pt x="20013" y="4752843"/>
                  </a:lnTo>
                  <a:lnTo>
                    <a:pt x="24575" y="4797700"/>
                  </a:lnTo>
                  <a:lnTo>
                    <a:pt x="29601" y="4842493"/>
                  </a:lnTo>
                  <a:lnTo>
                    <a:pt x="35091" y="4887218"/>
                  </a:lnTo>
                  <a:lnTo>
                    <a:pt x="41042" y="4931872"/>
                  </a:lnTo>
                  <a:lnTo>
                    <a:pt x="47454" y="4976451"/>
                  </a:lnTo>
                  <a:lnTo>
                    <a:pt x="54326" y="5020950"/>
                  </a:lnTo>
                  <a:lnTo>
                    <a:pt x="61657" y="5065367"/>
                  </a:lnTo>
                  <a:lnTo>
                    <a:pt x="69447" y="5109698"/>
                  </a:lnTo>
                  <a:lnTo>
                    <a:pt x="77693" y="5153939"/>
                  </a:lnTo>
                  <a:lnTo>
                    <a:pt x="86395" y="5198085"/>
                  </a:lnTo>
                  <a:lnTo>
                    <a:pt x="95552" y="5242134"/>
                  </a:lnTo>
                  <a:lnTo>
                    <a:pt x="105162" y="5286081"/>
                  </a:lnTo>
                  <a:lnTo>
                    <a:pt x="115226" y="5329923"/>
                  </a:lnTo>
                  <a:lnTo>
                    <a:pt x="125742" y="5373656"/>
                  </a:lnTo>
                  <a:lnTo>
                    <a:pt x="136709" y="5417277"/>
                  </a:lnTo>
                  <a:lnTo>
                    <a:pt x="148125" y="5460780"/>
                  </a:lnTo>
                  <a:lnTo>
                    <a:pt x="159990" y="5504164"/>
                  </a:lnTo>
                  <a:lnTo>
                    <a:pt x="172304" y="5547423"/>
                  </a:lnTo>
                  <a:lnTo>
                    <a:pt x="185064" y="5590555"/>
                  </a:lnTo>
                  <a:lnTo>
                    <a:pt x="198270" y="5633555"/>
                  </a:lnTo>
                  <a:lnTo>
                    <a:pt x="211921" y="5676420"/>
                  </a:lnTo>
                  <a:lnTo>
                    <a:pt x="226015" y="5719146"/>
                  </a:lnTo>
                  <a:lnTo>
                    <a:pt x="240553" y="5761728"/>
                  </a:lnTo>
                  <a:lnTo>
                    <a:pt x="255532" y="5804165"/>
                  </a:lnTo>
                  <a:lnTo>
                    <a:pt x="270953" y="5846450"/>
                  </a:lnTo>
                  <a:lnTo>
                    <a:pt x="286813" y="5888582"/>
                  </a:lnTo>
                  <a:lnTo>
                    <a:pt x="303112" y="5930556"/>
                  </a:lnTo>
                  <a:lnTo>
                    <a:pt x="319848" y="5972368"/>
                  </a:lnTo>
                  <a:lnTo>
                    <a:pt x="337022" y="6014015"/>
                  </a:lnTo>
                  <a:lnTo>
                    <a:pt x="354631" y="6055492"/>
                  </a:lnTo>
                  <a:lnTo>
                    <a:pt x="372675" y="6096797"/>
                  </a:lnTo>
                  <a:lnTo>
                    <a:pt x="391153" y="6137925"/>
                  </a:lnTo>
                  <a:lnTo>
                    <a:pt x="410063" y="6178873"/>
                  </a:lnTo>
                  <a:lnTo>
                    <a:pt x="429406" y="6219636"/>
                  </a:lnTo>
                  <a:lnTo>
                    <a:pt x="449179" y="6260211"/>
                  </a:lnTo>
                  <a:lnTo>
                    <a:pt x="469382" y="6300595"/>
                  </a:lnTo>
                  <a:lnTo>
                    <a:pt x="490013" y="6340783"/>
                  </a:lnTo>
                  <a:lnTo>
                    <a:pt x="511072" y="6380772"/>
                  </a:lnTo>
                  <a:lnTo>
                    <a:pt x="532558" y="6420557"/>
                  </a:lnTo>
                  <a:lnTo>
                    <a:pt x="554470" y="6460136"/>
                  </a:lnTo>
                  <a:lnTo>
                    <a:pt x="576807" y="6499505"/>
                  </a:lnTo>
                  <a:lnTo>
                    <a:pt x="599567" y="6538659"/>
                  </a:lnTo>
                  <a:lnTo>
                    <a:pt x="622749" y="6577595"/>
                  </a:lnTo>
                  <a:lnTo>
                    <a:pt x="646354" y="6616309"/>
                  </a:lnTo>
                  <a:lnTo>
                    <a:pt x="670379" y="6654798"/>
                  </a:lnTo>
                  <a:lnTo>
                    <a:pt x="694824" y="6693057"/>
                  </a:lnTo>
                  <a:lnTo>
                    <a:pt x="719687" y="6731083"/>
                  </a:lnTo>
                  <a:lnTo>
                    <a:pt x="744968" y="6768873"/>
                  </a:lnTo>
                  <a:lnTo>
                    <a:pt x="770666" y="6806421"/>
                  </a:lnTo>
                  <a:lnTo>
                    <a:pt x="796780" y="6843725"/>
                  </a:lnTo>
                  <a:lnTo>
                    <a:pt x="823308" y="6880782"/>
                  </a:lnTo>
                  <a:lnTo>
                    <a:pt x="850249" y="6917586"/>
                  </a:lnTo>
                  <a:lnTo>
                    <a:pt x="877603" y="6954134"/>
                  </a:lnTo>
                  <a:lnTo>
                    <a:pt x="905369" y="6990423"/>
                  </a:lnTo>
                  <a:lnTo>
                    <a:pt x="933546" y="7026449"/>
                  </a:lnTo>
                  <a:lnTo>
                    <a:pt x="961499" y="7061417"/>
                  </a:lnTo>
                </a:path>
                <a:path w="7069455" h="7061834">
                  <a:moveTo>
                    <a:pt x="7068847" y="955891"/>
                  </a:moveTo>
                  <a:lnTo>
                    <a:pt x="7033545" y="927916"/>
                  </a:lnTo>
                  <a:lnTo>
                    <a:pt x="6996203" y="898982"/>
                  </a:lnTo>
                  <a:lnTo>
                    <a:pt x="6958475" y="870401"/>
                  </a:lnTo>
                  <a:lnTo>
                    <a:pt x="6920361" y="842177"/>
                  </a:lnTo>
                  <a:lnTo>
                    <a:pt x="6881863" y="814314"/>
                  </a:lnTo>
                  <a:lnTo>
                    <a:pt x="6842981" y="786816"/>
                  </a:lnTo>
                  <a:lnTo>
                    <a:pt x="6803717" y="759687"/>
                  </a:lnTo>
                  <a:lnTo>
                    <a:pt x="6764072" y="732929"/>
                  </a:lnTo>
                  <a:lnTo>
                    <a:pt x="6724046" y="706548"/>
                  </a:lnTo>
                  <a:lnTo>
                    <a:pt x="6683641" y="680547"/>
                  </a:lnTo>
                  <a:lnTo>
                    <a:pt x="6642858" y="654929"/>
                  </a:lnTo>
                  <a:lnTo>
                    <a:pt x="6601697" y="629698"/>
                  </a:lnTo>
                  <a:lnTo>
                    <a:pt x="6560160" y="604858"/>
                  </a:lnTo>
                  <a:lnTo>
                    <a:pt x="6518248" y="580414"/>
                  </a:lnTo>
                </a:path>
              </a:pathLst>
            </a:custGeom>
            <a:ln w="38100">
              <a:solidFill>
                <a:schemeClr val="bg2"/>
              </a:solidFill>
            </a:ln>
          </p:spPr>
          <p:txBody>
            <a:bodyPr wrap="square" lIns="0" tIns="0" rIns="0" bIns="0" rtlCol="0"/>
            <a:lstStyle/>
            <a:p>
              <a:endParaRPr/>
            </a:p>
          </p:txBody>
        </p:sp>
        <p:sp>
          <p:nvSpPr>
            <p:cNvPr id="16" name="object 30"/>
            <p:cNvSpPr/>
            <p:nvPr userDrawn="1"/>
          </p:nvSpPr>
          <p:spPr>
            <a:xfrm>
              <a:off x="12041354" y="6104858"/>
              <a:ext cx="8297545" cy="6153785"/>
            </a:xfrm>
            <a:custGeom>
              <a:avLst/>
              <a:gdLst/>
              <a:ahLst/>
              <a:cxnLst/>
              <a:rect l="l" t="t" r="r" b="b"/>
              <a:pathLst>
                <a:path w="8297544" h="6153784">
                  <a:moveTo>
                    <a:pt x="6684390" y="598109"/>
                  </a:moveTo>
                  <a:lnTo>
                    <a:pt x="6642246" y="574066"/>
                  </a:lnTo>
                  <a:lnTo>
                    <a:pt x="6599952" y="550532"/>
                  </a:lnTo>
                  <a:lnTo>
                    <a:pt x="6557511" y="527505"/>
                  </a:lnTo>
                  <a:lnTo>
                    <a:pt x="6514927" y="504984"/>
                  </a:lnTo>
                  <a:lnTo>
                    <a:pt x="6472202" y="482970"/>
                  </a:lnTo>
                  <a:lnTo>
                    <a:pt x="6429341" y="461459"/>
                  </a:lnTo>
                  <a:lnTo>
                    <a:pt x="6386348" y="440453"/>
                  </a:lnTo>
                  <a:lnTo>
                    <a:pt x="6343225" y="419948"/>
                  </a:lnTo>
                  <a:lnTo>
                    <a:pt x="6299976" y="399946"/>
                  </a:lnTo>
                  <a:lnTo>
                    <a:pt x="6256605" y="380444"/>
                  </a:lnTo>
                  <a:lnTo>
                    <a:pt x="6213116" y="361442"/>
                  </a:lnTo>
                  <a:lnTo>
                    <a:pt x="6169512" y="342939"/>
                  </a:lnTo>
                  <a:lnTo>
                    <a:pt x="6125796" y="324934"/>
                  </a:lnTo>
                  <a:lnTo>
                    <a:pt x="6081973" y="307426"/>
                  </a:lnTo>
                  <a:lnTo>
                    <a:pt x="6038045" y="290414"/>
                  </a:lnTo>
                  <a:lnTo>
                    <a:pt x="5994017" y="273896"/>
                  </a:lnTo>
                  <a:lnTo>
                    <a:pt x="5949892" y="257873"/>
                  </a:lnTo>
                  <a:lnTo>
                    <a:pt x="5905673" y="242343"/>
                  </a:lnTo>
                  <a:lnTo>
                    <a:pt x="5861364" y="227304"/>
                  </a:lnTo>
                  <a:lnTo>
                    <a:pt x="5816969" y="212757"/>
                  </a:lnTo>
                  <a:lnTo>
                    <a:pt x="5772490" y="198701"/>
                  </a:lnTo>
                  <a:lnTo>
                    <a:pt x="5727933" y="185133"/>
                  </a:lnTo>
                  <a:lnTo>
                    <a:pt x="5683300" y="172054"/>
                  </a:lnTo>
                  <a:lnTo>
                    <a:pt x="5638595" y="159462"/>
                  </a:lnTo>
                  <a:lnTo>
                    <a:pt x="5593821" y="147357"/>
                  </a:lnTo>
                  <a:lnTo>
                    <a:pt x="5548982" y="135737"/>
                  </a:lnTo>
                  <a:lnTo>
                    <a:pt x="5504082" y="124601"/>
                  </a:lnTo>
                  <a:lnTo>
                    <a:pt x="5459124" y="113949"/>
                  </a:lnTo>
                  <a:lnTo>
                    <a:pt x="5414111" y="103780"/>
                  </a:lnTo>
                  <a:lnTo>
                    <a:pt x="5369048" y="94092"/>
                  </a:lnTo>
                  <a:lnTo>
                    <a:pt x="5323938" y="84885"/>
                  </a:lnTo>
                  <a:lnTo>
                    <a:pt x="5278784" y="76157"/>
                  </a:lnTo>
                  <a:lnTo>
                    <a:pt x="5233590" y="67908"/>
                  </a:lnTo>
                  <a:lnTo>
                    <a:pt x="5188360" y="60137"/>
                  </a:lnTo>
                  <a:lnTo>
                    <a:pt x="5143097" y="52843"/>
                  </a:lnTo>
                  <a:lnTo>
                    <a:pt x="5097804" y="46025"/>
                  </a:lnTo>
                  <a:lnTo>
                    <a:pt x="5052486" y="39682"/>
                  </a:lnTo>
                  <a:lnTo>
                    <a:pt x="5007146" y="33812"/>
                  </a:lnTo>
                  <a:lnTo>
                    <a:pt x="4961787" y="28416"/>
                  </a:lnTo>
                  <a:lnTo>
                    <a:pt x="4916413" y="23491"/>
                  </a:lnTo>
                  <a:lnTo>
                    <a:pt x="4871027" y="19038"/>
                  </a:lnTo>
                  <a:lnTo>
                    <a:pt x="4825634" y="15055"/>
                  </a:lnTo>
                  <a:lnTo>
                    <a:pt x="4780236" y="11541"/>
                  </a:lnTo>
                  <a:lnTo>
                    <a:pt x="4734838" y="8495"/>
                  </a:lnTo>
                  <a:lnTo>
                    <a:pt x="4689442" y="5917"/>
                  </a:lnTo>
                  <a:lnTo>
                    <a:pt x="4644053" y="3804"/>
                  </a:lnTo>
                  <a:lnTo>
                    <a:pt x="4598673" y="2158"/>
                  </a:lnTo>
                  <a:lnTo>
                    <a:pt x="4553308" y="975"/>
                  </a:lnTo>
                  <a:lnTo>
                    <a:pt x="4507959" y="256"/>
                  </a:lnTo>
                  <a:lnTo>
                    <a:pt x="4462631" y="0"/>
                  </a:lnTo>
                  <a:lnTo>
                    <a:pt x="4417327" y="204"/>
                  </a:lnTo>
                  <a:lnTo>
                    <a:pt x="4372051" y="870"/>
                  </a:lnTo>
                  <a:lnTo>
                    <a:pt x="4326806" y="1995"/>
                  </a:lnTo>
                  <a:lnTo>
                    <a:pt x="4281596" y="3579"/>
                  </a:lnTo>
                  <a:lnTo>
                    <a:pt x="4236425" y="5621"/>
                  </a:lnTo>
                  <a:lnTo>
                    <a:pt x="4191296" y="8119"/>
                  </a:lnTo>
                  <a:lnTo>
                    <a:pt x="4146212" y="11073"/>
                  </a:lnTo>
                  <a:lnTo>
                    <a:pt x="4101178" y="14482"/>
                  </a:lnTo>
                  <a:lnTo>
                    <a:pt x="4056196" y="18345"/>
                  </a:lnTo>
                  <a:lnTo>
                    <a:pt x="4011271" y="22660"/>
                  </a:lnTo>
                  <a:lnTo>
                    <a:pt x="3966406" y="27428"/>
                  </a:lnTo>
                  <a:lnTo>
                    <a:pt x="3921604" y="32647"/>
                  </a:lnTo>
                  <a:lnTo>
                    <a:pt x="3876869" y="38315"/>
                  </a:lnTo>
                  <a:lnTo>
                    <a:pt x="3832205" y="44433"/>
                  </a:lnTo>
                  <a:lnTo>
                    <a:pt x="3787615" y="50999"/>
                  </a:lnTo>
                  <a:lnTo>
                    <a:pt x="3743103" y="58012"/>
                  </a:lnTo>
                  <a:lnTo>
                    <a:pt x="3698672" y="65472"/>
                  </a:lnTo>
                  <a:lnTo>
                    <a:pt x="3654326" y="73376"/>
                  </a:lnTo>
                  <a:lnTo>
                    <a:pt x="3610068" y="81725"/>
                  </a:lnTo>
                  <a:lnTo>
                    <a:pt x="3565902" y="90517"/>
                  </a:lnTo>
                  <a:lnTo>
                    <a:pt x="3521832" y="99752"/>
                  </a:lnTo>
                  <a:lnTo>
                    <a:pt x="3477862" y="109428"/>
                  </a:lnTo>
                  <a:lnTo>
                    <a:pt x="3433993" y="119545"/>
                  </a:lnTo>
                  <a:lnTo>
                    <a:pt x="3390232" y="130101"/>
                  </a:lnTo>
                  <a:lnTo>
                    <a:pt x="3346580" y="141096"/>
                  </a:lnTo>
                  <a:lnTo>
                    <a:pt x="3303041" y="152528"/>
                  </a:lnTo>
                  <a:lnTo>
                    <a:pt x="3259620" y="164397"/>
                  </a:lnTo>
                  <a:lnTo>
                    <a:pt x="3216319" y="176702"/>
                  </a:lnTo>
                  <a:lnTo>
                    <a:pt x="3173142" y="189441"/>
                  </a:lnTo>
                  <a:lnTo>
                    <a:pt x="3130093" y="202615"/>
                  </a:lnTo>
                  <a:lnTo>
                    <a:pt x="3087175" y="216221"/>
                  </a:lnTo>
                  <a:lnTo>
                    <a:pt x="3044392" y="230259"/>
                  </a:lnTo>
                  <a:lnTo>
                    <a:pt x="3001748" y="244728"/>
                  </a:lnTo>
                  <a:lnTo>
                    <a:pt x="2959245" y="259627"/>
                  </a:lnTo>
                  <a:lnTo>
                    <a:pt x="2916888" y="274954"/>
                  </a:lnTo>
                  <a:lnTo>
                    <a:pt x="2874680" y="290710"/>
                  </a:lnTo>
                  <a:lnTo>
                    <a:pt x="2832625" y="306894"/>
                  </a:lnTo>
                  <a:lnTo>
                    <a:pt x="2790726" y="323503"/>
                  </a:lnTo>
                  <a:lnTo>
                    <a:pt x="2748987" y="340537"/>
                  </a:lnTo>
                  <a:lnTo>
                    <a:pt x="2707412" y="357996"/>
                  </a:lnTo>
                  <a:lnTo>
                    <a:pt x="2666003" y="375878"/>
                  </a:lnTo>
                  <a:lnTo>
                    <a:pt x="2624765" y="394182"/>
                  </a:lnTo>
                  <a:lnTo>
                    <a:pt x="2583701" y="412908"/>
                  </a:lnTo>
                  <a:lnTo>
                    <a:pt x="2542814" y="432054"/>
                  </a:lnTo>
                  <a:lnTo>
                    <a:pt x="2502109" y="451619"/>
                  </a:lnTo>
                  <a:lnTo>
                    <a:pt x="2461589" y="471603"/>
                  </a:lnTo>
                  <a:lnTo>
                    <a:pt x="2421257" y="492004"/>
                  </a:lnTo>
                  <a:lnTo>
                    <a:pt x="2381117" y="512822"/>
                  </a:lnTo>
                  <a:lnTo>
                    <a:pt x="2341172" y="534056"/>
                  </a:lnTo>
                  <a:lnTo>
                    <a:pt x="2301427" y="555705"/>
                  </a:lnTo>
                  <a:lnTo>
                    <a:pt x="2261884" y="577767"/>
                  </a:lnTo>
                  <a:lnTo>
                    <a:pt x="2222548" y="600241"/>
                  </a:lnTo>
                  <a:lnTo>
                    <a:pt x="2183421" y="623128"/>
                  </a:lnTo>
                  <a:lnTo>
                    <a:pt x="2144508" y="646426"/>
                  </a:lnTo>
                  <a:lnTo>
                    <a:pt x="2105811" y="670133"/>
                  </a:lnTo>
                  <a:lnTo>
                    <a:pt x="2067335" y="694249"/>
                  </a:lnTo>
                  <a:lnTo>
                    <a:pt x="2029083" y="718774"/>
                  </a:lnTo>
                  <a:lnTo>
                    <a:pt x="1991059" y="743705"/>
                  </a:lnTo>
                  <a:lnTo>
                    <a:pt x="1953266" y="769042"/>
                  </a:lnTo>
                  <a:lnTo>
                    <a:pt x="1915708" y="794785"/>
                  </a:lnTo>
                  <a:lnTo>
                    <a:pt x="1878388" y="820931"/>
                  </a:lnTo>
                  <a:lnTo>
                    <a:pt x="1841310" y="847481"/>
                  </a:lnTo>
                  <a:lnTo>
                    <a:pt x="1804477" y="874433"/>
                  </a:lnTo>
                  <a:lnTo>
                    <a:pt x="1767894" y="901787"/>
                  </a:lnTo>
                  <a:lnTo>
                    <a:pt x="1731563" y="929540"/>
                  </a:lnTo>
                  <a:lnTo>
                    <a:pt x="1695488" y="957693"/>
                  </a:lnTo>
                  <a:lnTo>
                    <a:pt x="1659673" y="986245"/>
                  </a:lnTo>
                  <a:lnTo>
                    <a:pt x="1624121" y="1015194"/>
                  </a:lnTo>
                  <a:lnTo>
                    <a:pt x="1588837" y="1044539"/>
                  </a:lnTo>
                  <a:lnTo>
                    <a:pt x="1553822" y="1074280"/>
                  </a:lnTo>
                  <a:lnTo>
                    <a:pt x="1519082" y="1104416"/>
                  </a:lnTo>
                  <a:lnTo>
                    <a:pt x="1484619" y="1134945"/>
                  </a:lnTo>
                  <a:lnTo>
                    <a:pt x="1450438" y="1165867"/>
                  </a:lnTo>
                  <a:lnTo>
                    <a:pt x="1416541" y="1197180"/>
                  </a:lnTo>
                  <a:lnTo>
                    <a:pt x="1382932" y="1228885"/>
                  </a:lnTo>
                  <a:lnTo>
                    <a:pt x="1349616" y="1260979"/>
                  </a:lnTo>
                  <a:lnTo>
                    <a:pt x="1316595" y="1293462"/>
                  </a:lnTo>
                  <a:lnTo>
                    <a:pt x="1283872" y="1326333"/>
                  </a:lnTo>
                  <a:lnTo>
                    <a:pt x="1251453" y="1359591"/>
                  </a:lnTo>
                  <a:lnTo>
                    <a:pt x="1219339" y="1393234"/>
                  </a:lnTo>
                  <a:lnTo>
                    <a:pt x="1187536" y="1427263"/>
                  </a:lnTo>
                  <a:lnTo>
                    <a:pt x="1156045" y="1461676"/>
                  </a:lnTo>
                  <a:lnTo>
                    <a:pt x="1124871" y="1496472"/>
                  </a:lnTo>
                  <a:lnTo>
                    <a:pt x="1094018" y="1531651"/>
                  </a:lnTo>
                  <a:lnTo>
                    <a:pt x="1063489" y="1567210"/>
                  </a:lnTo>
                  <a:lnTo>
                    <a:pt x="1033287" y="1603150"/>
                  </a:lnTo>
                  <a:lnTo>
                    <a:pt x="1003417" y="1639469"/>
                  </a:lnTo>
                  <a:lnTo>
                    <a:pt x="973881" y="1676166"/>
                  </a:lnTo>
                  <a:lnTo>
                    <a:pt x="944683" y="1713240"/>
                  </a:lnTo>
                  <a:lnTo>
                    <a:pt x="915828" y="1750692"/>
                  </a:lnTo>
                  <a:lnTo>
                    <a:pt x="887317" y="1788518"/>
                  </a:lnTo>
                  <a:lnTo>
                    <a:pt x="859156" y="1826719"/>
                  </a:lnTo>
                  <a:lnTo>
                    <a:pt x="831347" y="1865294"/>
                  </a:lnTo>
                  <a:lnTo>
                    <a:pt x="803894" y="1904241"/>
                  </a:lnTo>
                  <a:lnTo>
                    <a:pt x="776801" y="1943560"/>
                  </a:lnTo>
                  <a:lnTo>
                    <a:pt x="750071" y="1983249"/>
                  </a:lnTo>
                  <a:lnTo>
                    <a:pt x="723708" y="2023309"/>
                  </a:lnTo>
                  <a:lnTo>
                    <a:pt x="697715" y="2063737"/>
                  </a:lnTo>
                  <a:lnTo>
                    <a:pt x="672097" y="2104532"/>
                  </a:lnTo>
                  <a:lnTo>
                    <a:pt x="646856" y="2145695"/>
                  </a:lnTo>
                  <a:lnTo>
                    <a:pt x="621995" y="2187224"/>
                  </a:lnTo>
                  <a:lnTo>
                    <a:pt x="597520" y="2229117"/>
                  </a:lnTo>
                  <a:lnTo>
                    <a:pt x="573492" y="2271270"/>
                  </a:lnTo>
                  <a:lnTo>
                    <a:pt x="549973" y="2313573"/>
                  </a:lnTo>
                  <a:lnTo>
                    <a:pt x="526961" y="2356023"/>
                  </a:lnTo>
                  <a:lnTo>
                    <a:pt x="504456" y="2398617"/>
                  </a:lnTo>
                  <a:lnTo>
                    <a:pt x="482455" y="2441351"/>
                  </a:lnTo>
                  <a:lnTo>
                    <a:pt x="460960" y="2484221"/>
                  </a:lnTo>
                  <a:lnTo>
                    <a:pt x="439967" y="2527224"/>
                  </a:lnTo>
                  <a:lnTo>
                    <a:pt x="419477" y="2570357"/>
                  </a:lnTo>
                  <a:lnTo>
                    <a:pt x="399489" y="2613616"/>
                  </a:lnTo>
                  <a:lnTo>
                    <a:pt x="380001" y="2656996"/>
                  </a:lnTo>
                  <a:lnTo>
                    <a:pt x="361013" y="2700496"/>
                  </a:lnTo>
                  <a:lnTo>
                    <a:pt x="342524" y="2744110"/>
                  </a:lnTo>
                  <a:lnTo>
                    <a:pt x="324532" y="2787836"/>
                  </a:lnTo>
                  <a:lnTo>
                    <a:pt x="307037" y="2831670"/>
                  </a:lnTo>
                  <a:lnTo>
                    <a:pt x="290038" y="2875608"/>
                  </a:lnTo>
                  <a:lnTo>
                    <a:pt x="273534" y="2919647"/>
                  </a:lnTo>
                  <a:lnTo>
                    <a:pt x="257524" y="2963783"/>
                  </a:lnTo>
                  <a:lnTo>
                    <a:pt x="242006" y="3008013"/>
                  </a:lnTo>
                  <a:lnTo>
                    <a:pt x="226981" y="3052333"/>
                  </a:lnTo>
                  <a:lnTo>
                    <a:pt x="212447" y="3096740"/>
                  </a:lnTo>
                  <a:lnTo>
                    <a:pt x="198402" y="3141229"/>
                  </a:lnTo>
                  <a:lnTo>
                    <a:pt x="184847" y="3185798"/>
                  </a:lnTo>
                  <a:lnTo>
                    <a:pt x="171780" y="3230443"/>
                  </a:lnTo>
                  <a:lnTo>
                    <a:pt x="159200" y="3275160"/>
                  </a:lnTo>
                  <a:lnTo>
                    <a:pt x="147107" y="3319945"/>
                  </a:lnTo>
                  <a:lnTo>
                    <a:pt x="135499" y="3364796"/>
                  </a:lnTo>
                  <a:lnTo>
                    <a:pt x="124375" y="3409708"/>
                  </a:lnTo>
                  <a:lnTo>
                    <a:pt x="113734" y="3454678"/>
                  </a:lnTo>
                  <a:lnTo>
                    <a:pt x="103576" y="3499702"/>
                  </a:lnTo>
                  <a:lnTo>
                    <a:pt x="93899" y="3544778"/>
                  </a:lnTo>
                  <a:lnTo>
                    <a:pt x="84703" y="3589900"/>
                  </a:lnTo>
                  <a:lnTo>
                    <a:pt x="75986" y="3635067"/>
                  </a:lnTo>
                  <a:lnTo>
                    <a:pt x="67748" y="3680273"/>
                  </a:lnTo>
                  <a:lnTo>
                    <a:pt x="59988" y="3725516"/>
                  </a:lnTo>
                  <a:lnTo>
                    <a:pt x="52704" y="3770792"/>
                  </a:lnTo>
                  <a:lnTo>
                    <a:pt x="45896" y="3816097"/>
                  </a:lnTo>
                  <a:lnTo>
                    <a:pt x="39563" y="3861428"/>
                  </a:lnTo>
                  <a:lnTo>
                    <a:pt x="33704" y="3906781"/>
                  </a:lnTo>
                  <a:lnTo>
                    <a:pt x="28317" y="3952153"/>
                  </a:lnTo>
                  <a:lnTo>
                    <a:pt x="23402" y="3997540"/>
                  </a:lnTo>
                  <a:lnTo>
                    <a:pt x="18959" y="4042939"/>
                  </a:lnTo>
                  <a:lnTo>
                    <a:pt x="14985" y="4088346"/>
                  </a:lnTo>
                  <a:lnTo>
                    <a:pt x="11480" y="4133757"/>
                  </a:lnTo>
                  <a:lnTo>
                    <a:pt x="8443" y="4179169"/>
                  </a:lnTo>
                  <a:lnTo>
                    <a:pt x="5874" y="4224578"/>
                  </a:lnTo>
                  <a:lnTo>
                    <a:pt x="3771" y="4269981"/>
                  </a:lnTo>
                  <a:lnTo>
                    <a:pt x="2132" y="4315374"/>
                  </a:lnTo>
                  <a:lnTo>
                    <a:pt x="958" y="4360753"/>
                  </a:lnTo>
                  <a:lnTo>
                    <a:pt x="248" y="4406116"/>
                  </a:lnTo>
                  <a:lnTo>
                    <a:pt x="0" y="4451458"/>
                  </a:lnTo>
                  <a:lnTo>
                    <a:pt x="213" y="4496776"/>
                  </a:lnTo>
                  <a:lnTo>
                    <a:pt x="886" y="4542066"/>
                  </a:lnTo>
                  <a:lnTo>
                    <a:pt x="2019" y="4587324"/>
                  </a:lnTo>
                  <a:lnTo>
                    <a:pt x="3610" y="4632548"/>
                  </a:lnTo>
                  <a:lnTo>
                    <a:pt x="5659" y="4677734"/>
                  </a:lnTo>
                  <a:lnTo>
                    <a:pt x="8165" y="4722877"/>
                  </a:lnTo>
                  <a:lnTo>
                    <a:pt x="11126" y="4767975"/>
                  </a:lnTo>
                  <a:lnTo>
                    <a:pt x="14542" y="4813024"/>
                  </a:lnTo>
                  <a:lnTo>
                    <a:pt x="18412" y="4858020"/>
                  </a:lnTo>
                  <a:lnTo>
                    <a:pt x="22734" y="4902960"/>
                  </a:lnTo>
                  <a:lnTo>
                    <a:pt x="27508" y="4947840"/>
                  </a:lnTo>
                  <a:lnTo>
                    <a:pt x="32733" y="4992656"/>
                  </a:lnTo>
                  <a:lnTo>
                    <a:pt x="38408" y="5037406"/>
                  </a:lnTo>
                  <a:lnTo>
                    <a:pt x="44532" y="5082085"/>
                  </a:lnTo>
                  <a:lnTo>
                    <a:pt x="51104" y="5126690"/>
                  </a:lnTo>
                  <a:lnTo>
                    <a:pt x="58123" y="5171217"/>
                  </a:lnTo>
                  <a:lnTo>
                    <a:pt x="65588" y="5215663"/>
                  </a:lnTo>
                  <a:lnTo>
                    <a:pt x="73498" y="5260024"/>
                  </a:lnTo>
                  <a:lnTo>
                    <a:pt x="81852" y="5304297"/>
                  </a:lnTo>
                  <a:lnTo>
                    <a:pt x="90650" y="5348477"/>
                  </a:lnTo>
                  <a:lnTo>
                    <a:pt x="99890" y="5392562"/>
                  </a:lnTo>
                  <a:lnTo>
                    <a:pt x="109571" y="5436548"/>
                  </a:lnTo>
                  <a:lnTo>
                    <a:pt x="119692" y="5480432"/>
                  </a:lnTo>
                  <a:lnTo>
                    <a:pt x="130253" y="5524209"/>
                  </a:lnTo>
                  <a:lnTo>
                    <a:pt x="141252" y="5567876"/>
                  </a:lnTo>
                  <a:lnTo>
                    <a:pt x="152688" y="5611430"/>
                  </a:lnTo>
                  <a:lnTo>
                    <a:pt x="164561" y="5654867"/>
                  </a:lnTo>
                  <a:lnTo>
                    <a:pt x="176870" y="5698183"/>
                  </a:lnTo>
                  <a:lnTo>
                    <a:pt x="189613" y="5741375"/>
                  </a:lnTo>
                  <a:lnTo>
                    <a:pt x="202790" y="5784440"/>
                  </a:lnTo>
                  <a:lnTo>
                    <a:pt x="216399" y="5827373"/>
                  </a:lnTo>
                  <a:lnTo>
                    <a:pt x="230441" y="5870171"/>
                  </a:lnTo>
                  <a:lnTo>
                    <a:pt x="244913" y="5912831"/>
                  </a:lnTo>
                  <a:lnTo>
                    <a:pt x="259814" y="5955350"/>
                  </a:lnTo>
                  <a:lnTo>
                    <a:pt x="275145" y="5997722"/>
                  </a:lnTo>
                  <a:lnTo>
                    <a:pt x="290904" y="6039946"/>
                  </a:lnTo>
                  <a:lnTo>
                    <a:pt x="307089" y="6082017"/>
                  </a:lnTo>
                  <a:lnTo>
                    <a:pt x="323701" y="6123931"/>
                  </a:lnTo>
                  <a:lnTo>
                    <a:pt x="335643" y="6153200"/>
                  </a:lnTo>
                </a:path>
                <a:path w="8297544" h="6153784">
                  <a:moveTo>
                    <a:pt x="8297531" y="2197393"/>
                  </a:moveTo>
                  <a:lnTo>
                    <a:pt x="8266865" y="2145860"/>
                  </a:lnTo>
                  <a:lnTo>
                    <a:pt x="8243158" y="2107147"/>
                  </a:lnTo>
                  <a:lnTo>
                    <a:pt x="8219042" y="2068655"/>
                  </a:lnTo>
                  <a:lnTo>
                    <a:pt x="8194519" y="2030387"/>
                  </a:lnTo>
                  <a:lnTo>
                    <a:pt x="8169588" y="1992347"/>
                  </a:lnTo>
                  <a:lnTo>
                    <a:pt x="8144252" y="1954537"/>
                  </a:lnTo>
                  <a:lnTo>
                    <a:pt x="8118511" y="1916963"/>
                  </a:lnTo>
                  <a:lnTo>
                    <a:pt x="8092366" y="1879627"/>
                  </a:lnTo>
                  <a:lnTo>
                    <a:pt x="8065818" y="1842533"/>
                  </a:lnTo>
                  <a:lnTo>
                    <a:pt x="8038867" y="1805684"/>
                  </a:lnTo>
                  <a:lnTo>
                    <a:pt x="8011516" y="1769084"/>
                  </a:lnTo>
                  <a:lnTo>
                    <a:pt x="7983765" y="1732737"/>
                  </a:lnTo>
                  <a:lnTo>
                    <a:pt x="7955614" y="1696646"/>
                  </a:lnTo>
                  <a:lnTo>
                    <a:pt x="7927065" y="1660815"/>
                  </a:lnTo>
                  <a:lnTo>
                    <a:pt x="7898119" y="1625247"/>
                  </a:lnTo>
                  <a:lnTo>
                    <a:pt x="7868776" y="1589946"/>
                  </a:lnTo>
                  <a:lnTo>
                    <a:pt x="7839038" y="1554916"/>
                  </a:lnTo>
                  <a:lnTo>
                    <a:pt x="7808906" y="1520159"/>
                  </a:lnTo>
                  <a:lnTo>
                    <a:pt x="7778380" y="1485681"/>
                  </a:lnTo>
                  <a:lnTo>
                    <a:pt x="7747462" y="1451483"/>
                  </a:lnTo>
                  <a:lnTo>
                    <a:pt x="7716152" y="1417570"/>
                  </a:lnTo>
                  <a:lnTo>
                    <a:pt x="7684451" y="1383946"/>
                  </a:lnTo>
                  <a:lnTo>
                    <a:pt x="7652361" y="1350613"/>
                  </a:lnTo>
                  <a:lnTo>
                    <a:pt x="7619882" y="1317576"/>
                  </a:lnTo>
                  <a:lnTo>
                    <a:pt x="7587016" y="1284837"/>
                  </a:lnTo>
                  <a:lnTo>
                    <a:pt x="7553763" y="1252402"/>
                  </a:lnTo>
                  <a:lnTo>
                    <a:pt x="7520124" y="1220272"/>
                  </a:lnTo>
                  <a:lnTo>
                    <a:pt x="7486100" y="1188453"/>
                  </a:lnTo>
                  <a:lnTo>
                    <a:pt x="7451692" y="1156946"/>
                  </a:lnTo>
                  <a:lnTo>
                    <a:pt x="7416901" y="1125757"/>
                  </a:lnTo>
                  <a:lnTo>
                    <a:pt x="7381728" y="1094887"/>
                  </a:lnTo>
                  <a:lnTo>
                    <a:pt x="7346174" y="1064342"/>
                  </a:lnTo>
                  <a:lnTo>
                    <a:pt x="7310241" y="1034125"/>
                  </a:lnTo>
                  <a:lnTo>
                    <a:pt x="7273928" y="1004238"/>
                  </a:lnTo>
                  <a:lnTo>
                    <a:pt x="7237236" y="974687"/>
                  </a:lnTo>
                  <a:lnTo>
                    <a:pt x="7200168" y="945473"/>
                  </a:lnTo>
                  <a:lnTo>
                    <a:pt x="7162724" y="916602"/>
                  </a:lnTo>
                  <a:lnTo>
                    <a:pt x="7124904" y="888076"/>
                  </a:lnTo>
                  <a:lnTo>
                    <a:pt x="7086709" y="859899"/>
                  </a:lnTo>
                  <a:lnTo>
                    <a:pt x="7048142" y="832074"/>
                  </a:lnTo>
                  <a:lnTo>
                    <a:pt x="7009202" y="804606"/>
                  </a:lnTo>
                  <a:lnTo>
                    <a:pt x="6969890" y="777497"/>
                  </a:lnTo>
                  <a:lnTo>
                    <a:pt x="6930209" y="750752"/>
                  </a:lnTo>
                  <a:lnTo>
                    <a:pt x="6890157" y="724374"/>
                  </a:lnTo>
                  <a:lnTo>
                    <a:pt x="6849737" y="698365"/>
                  </a:lnTo>
                  <a:lnTo>
                    <a:pt x="6808949" y="672731"/>
                  </a:lnTo>
                  <a:lnTo>
                    <a:pt x="6767795" y="647475"/>
                  </a:lnTo>
                  <a:lnTo>
                    <a:pt x="6726275" y="622599"/>
                  </a:lnTo>
                  <a:lnTo>
                    <a:pt x="6684390" y="598109"/>
                  </a:lnTo>
                </a:path>
              </a:pathLst>
            </a:custGeom>
            <a:ln w="38100">
              <a:solidFill>
                <a:schemeClr val="bg2"/>
              </a:solidFill>
            </a:ln>
          </p:spPr>
          <p:txBody>
            <a:bodyPr wrap="square" lIns="0" tIns="0" rIns="0" bIns="0" rtlCol="0"/>
            <a:lstStyle/>
            <a:p>
              <a:endParaRPr/>
            </a:p>
          </p:txBody>
        </p:sp>
        <p:sp>
          <p:nvSpPr>
            <p:cNvPr id="17" name="object 31"/>
            <p:cNvSpPr/>
            <p:nvPr userDrawn="1"/>
          </p:nvSpPr>
          <p:spPr>
            <a:xfrm>
              <a:off x="13709998" y="6396318"/>
              <a:ext cx="6629400" cy="5862320"/>
            </a:xfrm>
            <a:custGeom>
              <a:avLst/>
              <a:gdLst/>
              <a:ahLst/>
              <a:cxnLst/>
              <a:rect l="l" t="t" r="r" b="b"/>
              <a:pathLst>
                <a:path w="6629400" h="5862320">
                  <a:moveTo>
                    <a:pt x="6028090" y="546454"/>
                  </a:moveTo>
                  <a:lnTo>
                    <a:pt x="5986140" y="522363"/>
                  </a:lnTo>
                  <a:lnTo>
                    <a:pt x="5944026" y="498832"/>
                  </a:lnTo>
                  <a:lnTo>
                    <a:pt x="5901752" y="475859"/>
                  </a:lnTo>
                  <a:lnTo>
                    <a:pt x="5859324" y="453444"/>
                  </a:lnTo>
                  <a:lnTo>
                    <a:pt x="5816745" y="431585"/>
                  </a:lnTo>
                  <a:lnTo>
                    <a:pt x="5774019" y="410280"/>
                  </a:lnTo>
                  <a:lnTo>
                    <a:pt x="5731151" y="389530"/>
                  </a:lnTo>
                  <a:lnTo>
                    <a:pt x="5688146" y="369333"/>
                  </a:lnTo>
                  <a:lnTo>
                    <a:pt x="5645007" y="349687"/>
                  </a:lnTo>
                  <a:lnTo>
                    <a:pt x="5601738" y="330591"/>
                  </a:lnTo>
                  <a:lnTo>
                    <a:pt x="5558345" y="312045"/>
                  </a:lnTo>
                  <a:lnTo>
                    <a:pt x="5514831" y="294047"/>
                  </a:lnTo>
                  <a:lnTo>
                    <a:pt x="5471201" y="276595"/>
                  </a:lnTo>
                  <a:lnTo>
                    <a:pt x="5427459" y="259690"/>
                  </a:lnTo>
                  <a:lnTo>
                    <a:pt x="5383609" y="243329"/>
                  </a:lnTo>
                  <a:lnTo>
                    <a:pt x="5339656" y="227512"/>
                  </a:lnTo>
                  <a:lnTo>
                    <a:pt x="5295604" y="212237"/>
                  </a:lnTo>
                  <a:lnTo>
                    <a:pt x="5251457" y="197503"/>
                  </a:lnTo>
                  <a:lnTo>
                    <a:pt x="5207219" y="183309"/>
                  </a:lnTo>
                  <a:lnTo>
                    <a:pt x="5162896" y="169655"/>
                  </a:lnTo>
                  <a:lnTo>
                    <a:pt x="5118490" y="156537"/>
                  </a:lnTo>
                  <a:lnTo>
                    <a:pt x="5074007" y="143957"/>
                  </a:lnTo>
                  <a:lnTo>
                    <a:pt x="5029450" y="131912"/>
                  </a:lnTo>
                  <a:lnTo>
                    <a:pt x="4984825" y="120401"/>
                  </a:lnTo>
                  <a:lnTo>
                    <a:pt x="4940135" y="109423"/>
                  </a:lnTo>
                  <a:lnTo>
                    <a:pt x="4895384" y="98977"/>
                  </a:lnTo>
                  <a:lnTo>
                    <a:pt x="4850578" y="89062"/>
                  </a:lnTo>
                  <a:lnTo>
                    <a:pt x="4805720" y="79677"/>
                  </a:lnTo>
                  <a:lnTo>
                    <a:pt x="4760814" y="70820"/>
                  </a:lnTo>
                  <a:lnTo>
                    <a:pt x="4715865" y="62491"/>
                  </a:lnTo>
                  <a:lnTo>
                    <a:pt x="4670877" y="54688"/>
                  </a:lnTo>
                  <a:lnTo>
                    <a:pt x="4625855" y="47410"/>
                  </a:lnTo>
                  <a:lnTo>
                    <a:pt x="4580802" y="40655"/>
                  </a:lnTo>
                  <a:lnTo>
                    <a:pt x="4535724" y="34424"/>
                  </a:lnTo>
                  <a:lnTo>
                    <a:pt x="4490624" y="28714"/>
                  </a:lnTo>
                  <a:lnTo>
                    <a:pt x="4445506" y="23524"/>
                  </a:lnTo>
                  <a:lnTo>
                    <a:pt x="4400376" y="18854"/>
                  </a:lnTo>
                  <a:lnTo>
                    <a:pt x="4355237" y="14702"/>
                  </a:lnTo>
                  <a:lnTo>
                    <a:pt x="4310093" y="11067"/>
                  </a:lnTo>
                  <a:lnTo>
                    <a:pt x="4264949" y="7948"/>
                  </a:lnTo>
                  <a:lnTo>
                    <a:pt x="4219809" y="5343"/>
                  </a:lnTo>
                  <a:lnTo>
                    <a:pt x="4174678" y="3252"/>
                  </a:lnTo>
                  <a:lnTo>
                    <a:pt x="4129560" y="1673"/>
                  </a:lnTo>
                  <a:lnTo>
                    <a:pt x="4084459" y="606"/>
                  </a:lnTo>
                  <a:lnTo>
                    <a:pt x="4039379" y="48"/>
                  </a:lnTo>
                  <a:lnTo>
                    <a:pt x="3994324" y="0"/>
                  </a:lnTo>
                  <a:lnTo>
                    <a:pt x="3949300" y="459"/>
                  </a:lnTo>
                  <a:lnTo>
                    <a:pt x="3904310" y="1424"/>
                  </a:lnTo>
                  <a:lnTo>
                    <a:pt x="3859359" y="2896"/>
                  </a:lnTo>
                  <a:lnTo>
                    <a:pt x="3814450" y="4871"/>
                  </a:lnTo>
                  <a:lnTo>
                    <a:pt x="3769589" y="7350"/>
                  </a:lnTo>
                  <a:lnTo>
                    <a:pt x="3724779" y="10331"/>
                  </a:lnTo>
                  <a:lnTo>
                    <a:pt x="3680026" y="13812"/>
                  </a:lnTo>
                  <a:lnTo>
                    <a:pt x="3635332" y="17793"/>
                  </a:lnTo>
                  <a:lnTo>
                    <a:pt x="3590702" y="22273"/>
                  </a:lnTo>
                  <a:lnTo>
                    <a:pt x="3546142" y="27250"/>
                  </a:lnTo>
                  <a:lnTo>
                    <a:pt x="3501654" y="32723"/>
                  </a:lnTo>
                  <a:lnTo>
                    <a:pt x="3457243" y="38692"/>
                  </a:lnTo>
                  <a:lnTo>
                    <a:pt x="3412915" y="45154"/>
                  </a:lnTo>
                  <a:lnTo>
                    <a:pt x="3368672" y="52109"/>
                  </a:lnTo>
                  <a:lnTo>
                    <a:pt x="3324519" y="59556"/>
                  </a:lnTo>
                  <a:lnTo>
                    <a:pt x="3280461" y="67493"/>
                  </a:lnTo>
                  <a:lnTo>
                    <a:pt x="3236502" y="75920"/>
                  </a:lnTo>
                  <a:lnTo>
                    <a:pt x="3192646" y="84834"/>
                  </a:lnTo>
                  <a:lnTo>
                    <a:pt x="3148897" y="94236"/>
                  </a:lnTo>
                  <a:lnTo>
                    <a:pt x="3105260" y="104123"/>
                  </a:lnTo>
                  <a:lnTo>
                    <a:pt x="3061739" y="114496"/>
                  </a:lnTo>
                  <a:lnTo>
                    <a:pt x="3018339" y="125351"/>
                  </a:lnTo>
                  <a:lnTo>
                    <a:pt x="2975063" y="136689"/>
                  </a:lnTo>
                  <a:lnTo>
                    <a:pt x="2931916" y="148509"/>
                  </a:lnTo>
                  <a:lnTo>
                    <a:pt x="2888902" y="160808"/>
                  </a:lnTo>
                  <a:lnTo>
                    <a:pt x="2846026" y="173586"/>
                  </a:lnTo>
                  <a:lnTo>
                    <a:pt x="2803292" y="186843"/>
                  </a:lnTo>
                  <a:lnTo>
                    <a:pt x="2760704" y="200575"/>
                  </a:lnTo>
                  <a:lnTo>
                    <a:pt x="2718266" y="214784"/>
                  </a:lnTo>
                  <a:lnTo>
                    <a:pt x="2675983" y="229466"/>
                  </a:lnTo>
                  <a:lnTo>
                    <a:pt x="2633859" y="244622"/>
                  </a:lnTo>
                  <a:lnTo>
                    <a:pt x="2591899" y="260250"/>
                  </a:lnTo>
                  <a:lnTo>
                    <a:pt x="2550106" y="276348"/>
                  </a:lnTo>
                  <a:lnTo>
                    <a:pt x="2508485" y="292917"/>
                  </a:lnTo>
                  <a:lnTo>
                    <a:pt x="2467041" y="309953"/>
                  </a:lnTo>
                  <a:lnTo>
                    <a:pt x="2425777" y="327458"/>
                  </a:lnTo>
                  <a:lnTo>
                    <a:pt x="2384698" y="345428"/>
                  </a:lnTo>
                  <a:lnTo>
                    <a:pt x="2343808" y="363864"/>
                  </a:lnTo>
                  <a:lnTo>
                    <a:pt x="2303112" y="382763"/>
                  </a:lnTo>
                  <a:lnTo>
                    <a:pt x="2262613" y="402126"/>
                  </a:lnTo>
                  <a:lnTo>
                    <a:pt x="2222317" y="421950"/>
                  </a:lnTo>
                  <a:lnTo>
                    <a:pt x="2182227" y="442234"/>
                  </a:lnTo>
                  <a:lnTo>
                    <a:pt x="2142347" y="462978"/>
                  </a:lnTo>
                  <a:lnTo>
                    <a:pt x="2102683" y="484180"/>
                  </a:lnTo>
                  <a:lnTo>
                    <a:pt x="2063238" y="505839"/>
                  </a:lnTo>
                  <a:lnTo>
                    <a:pt x="2024016" y="527954"/>
                  </a:lnTo>
                  <a:lnTo>
                    <a:pt x="1985023" y="550523"/>
                  </a:lnTo>
                  <a:lnTo>
                    <a:pt x="1946261" y="573547"/>
                  </a:lnTo>
                  <a:lnTo>
                    <a:pt x="1907737" y="597022"/>
                  </a:lnTo>
                  <a:lnTo>
                    <a:pt x="1869453" y="620949"/>
                  </a:lnTo>
                  <a:lnTo>
                    <a:pt x="1831414" y="645326"/>
                  </a:lnTo>
                  <a:lnTo>
                    <a:pt x="1793624" y="670152"/>
                  </a:lnTo>
                  <a:lnTo>
                    <a:pt x="1756089" y="695426"/>
                  </a:lnTo>
                  <a:lnTo>
                    <a:pt x="1718811" y="721146"/>
                  </a:lnTo>
                  <a:lnTo>
                    <a:pt x="1681795" y="747312"/>
                  </a:lnTo>
                  <a:lnTo>
                    <a:pt x="1645047" y="773922"/>
                  </a:lnTo>
                  <a:lnTo>
                    <a:pt x="1608569" y="800975"/>
                  </a:lnTo>
                  <a:lnTo>
                    <a:pt x="1572366" y="828471"/>
                  </a:lnTo>
                  <a:lnTo>
                    <a:pt x="1536443" y="856407"/>
                  </a:lnTo>
                  <a:lnTo>
                    <a:pt x="1500804" y="884783"/>
                  </a:lnTo>
                  <a:lnTo>
                    <a:pt x="1465453" y="913598"/>
                  </a:lnTo>
                  <a:lnTo>
                    <a:pt x="1430395" y="942850"/>
                  </a:lnTo>
                  <a:lnTo>
                    <a:pt x="1395633" y="972538"/>
                  </a:lnTo>
                  <a:lnTo>
                    <a:pt x="1361172" y="1002662"/>
                  </a:lnTo>
                  <a:lnTo>
                    <a:pt x="1327017" y="1033219"/>
                  </a:lnTo>
                  <a:lnTo>
                    <a:pt x="1293171" y="1064209"/>
                  </a:lnTo>
                  <a:lnTo>
                    <a:pt x="1259639" y="1095631"/>
                  </a:lnTo>
                  <a:lnTo>
                    <a:pt x="1226426" y="1127484"/>
                  </a:lnTo>
                  <a:lnTo>
                    <a:pt x="1193535" y="1159765"/>
                  </a:lnTo>
                  <a:lnTo>
                    <a:pt x="1160971" y="1192475"/>
                  </a:lnTo>
                  <a:lnTo>
                    <a:pt x="1128738" y="1225612"/>
                  </a:lnTo>
                  <a:lnTo>
                    <a:pt x="1096841" y="1259175"/>
                  </a:lnTo>
                  <a:lnTo>
                    <a:pt x="1065283" y="1293163"/>
                  </a:lnTo>
                  <a:lnTo>
                    <a:pt x="1034069" y="1327574"/>
                  </a:lnTo>
                  <a:lnTo>
                    <a:pt x="1003204" y="1362408"/>
                  </a:lnTo>
                  <a:lnTo>
                    <a:pt x="972692" y="1397663"/>
                  </a:lnTo>
                  <a:lnTo>
                    <a:pt x="942536" y="1433338"/>
                  </a:lnTo>
                  <a:lnTo>
                    <a:pt x="912742" y="1469432"/>
                  </a:lnTo>
                  <a:lnTo>
                    <a:pt x="883314" y="1505944"/>
                  </a:lnTo>
                  <a:lnTo>
                    <a:pt x="854255" y="1542872"/>
                  </a:lnTo>
                  <a:lnTo>
                    <a:pt x="825570" y="1580217"/>
                  </a:lnTo>
                  <a:lnTo>
                    <a:pt x="797265" y="1617975"/>
                  </a:lnTo>
                  <a:lnTo>
                    <a:pt x="769341" y="1656147"/>
                  </a:lnTo>
                  <a:lnTo>
                    <a:pt x="741805" y="1694730"/>
                  </a:lnTo>
                  <a:lnTo>
                    <a:pt x="714661" y="1733725"/>
                  </a:lnTo>
                  <a:lnTo>
                    <a:pt x="687912" y="1773130"/>
                  </a:lnTo>
                  <a:lnTo>
                    <a:pt x="661563" y="1812943"/>
                  </a:lnTo>
                  <a:lnTo>
                    <a:pt x="635618" y="1853163"/>
                  </a:lnTo>
                  <a:lnTo>
                    <a:pt x="610082" y="1893790"/>
                  </a:lnTo>
                  <a:lnTo>
                    <a:pt x="584959" y="1934822"/>
                  </a:lnTo>
                  <a:lnTo>
                    <a:pt x="560253" y="1976258"/>
                  </a:lnTo>
                  <a:lnTo>
                    <a:pt x="535969" y="2018096"/>
                  </a:lnTo>
                  <a:lnTo>
                    <a:pt x="512176" y="2060222"/>
                  </a:lnTo>
                  <a:lnTo>
                    <a:pt x="488939" y="2102513"/>
                  </a:lnTo>
                  <a:lnTo>
                    <a:pt x="466258" y="2144968"/>
                  </a:lnTo>
                  <a:lnTo>
                    <a:pt x="444131" y="2187580"/>
                  </a:lnTo>
                  <a:lnTo>
                    <a:pt x="422558" y="2230345"/>
                  </a:lnTo>
                  <a:lnTo>
                    <a:pt x="401537" y="2273260"/>
                  </a:lnTo>
                  <a:lnTo>
                    <a:pt x="381066" y="2316320"/>
                  </a:lnTo>
                  <a:lnTo>
                    <a:pt x="361146" y="2359521"/>
                  </a:lnTo>
                  <a:lnTo>
                    <a:pt x="341774" y="2402858"/>
                  </a:lnTo>
                  <a:lnTo>
                    <a:pt x="322950" y="2446327"/>
                  </a:lnTo>
                  <a:lnTo>
                    <a:pt x="304672" y="2489923"/>
                  </a:lnTo>
                  <a:lnTo>
                    <a:pt x="286939" y="2533643"/>
                  </a:lnTo>
                  <a:lnTo>
                    <a:pt x="269750" y="2577482"/>
                  </a:lnTo>
                  <a:lnTo>
                    <a:pt x="253105" y="2621435"/>
                  </a:lnTo>
                  <a:lnTo>
                    <a:pt x="237000" y="2665499"/>
                  </a:lnTo>
                  <a:lnTo>
                    <a:pt x="221437" y="2709669"/>
                  </a:lnTo>
                  <a:lnTo>
                    <a:pt x="206412" y="2753940"/>
                  </a:lnTo>
                  <a:lnTo>
                    <a:pt x="191926" y="2798309"/>
                  </a:lnTo>
                  <a:lnTo>
                    <a:pt x="177977" y="2842770"/>
                  </a:lnTo>
                  <a:lnTo>
                    <a:pt x="164564" y="2887320"/>
                  </a:lnTo>
                  <a:lnTo>
                    <a:pt x="151686" y="2931955"/>
                  </a:lnTo>
                  <a:lnTo>
                    <a:pt x="139341" y="2976669"/>
                  </a:lnTo>
                  <a:lnTo>
                    <a:pt x="127528" y="3021459"/>
                  </a:lnTo>
                  <a:lnTo>
                    <a:pt x="116247" y="3066320"/>
                  </a:lnTo>
                  <a:lnTo>
                    <a:pt x="105496" y="3111249"/>
                  </a:lnTo>
                  <a:lnTo>
                    <a:pt x="95273" y="3156240"/>
                  </a:lnTo>
                  <a:lnTo>
                    <a:pt x="85579" y="3201289"/>
                  </a:lnTo>
                  <a:lnTo>
                    <a:pt x="76411" y="3246392"/>
                  </a:lnTo>
                  <a:lnTo>
                    <a:pt x="67768" y="3291545"/>
                  </a:lnTo>
                  <a:lnTo>
                    <a:pt x="59650" y="3336743"/>
                  </a:lnTo>
                  <a:lnTo>
                    <a:pt x="52055" y="3381982"/>
                  </a:lnTo>
                  <a:lnTo>
                    <a:pt x="44982" y="3427258"/>
                  </a:lnTo>
                  <a:lnTo>
                    <a:pt x="38429" y="3472566"/>
                  </a:lnTo>
                  <a:lnTo>
                    <a:pt x="32397" y="3517902"/>
                  </a:lnTo>
                  <a:lnTo>
                    <a:pt x="26882" y="3563261"/>
                  </a:lnTo>
                  <a:lnTo>
                    <a:pt x="21885" y="3608640"/>
                  </a:lnTo>
                  <a:lnTo>
                    <a:pt x="17405" y="3654034"/>
                  </a:lnTo>
                  <a:lnTo>
                    <a:pt x="13439" y="3699438"/>
                  </a:lnTo>
                  <a:lnTo>
                    <a:pt x="9987" y="3744849"/>
                  </a:lnTo>
                  <a:lnTo>
                    <a:pt x="7047" y="3790262"/>
                  </a:lnTo>
                  <a:lnTo>
                    <a:pt x="4619" y="3835672"/>
                  </a:lnTo>
                  <a:lnTo>
                    <a:pt x="2702" y="3881076"/>
                  </a:lnTo>
                  <a:lnTo>
                    <a:pt x="1293" y="3926468"/>
                  </a:lnTo>
                  <a:lnTo>
                    <a:pt x="393" y="3971846"/>
                  </a:lnTo>
                  <a:lnTo>
                    <a:pt x="0" y="4017203"/>
                  </a:lnTo>
                  <a:lnTo>
                    <a:pt x="112" y="4062537"/>
                  </a:lnTo>
                  <a:lnTo>
                    <a:pt x="728" y="4107842"/>
                  </a:lnTo>
                  <a:lnTo>
                    <a:pt x="1848" y="4153114"/>
                  </a:lnTo>
                  <a:lnTo>
                    <a:pt x="3471" y="4198349"/>
                  </a:lnTo>
                  <a:lnTo>
                    <a:pt x="5594" y="4243543"/>
                  </a:lnTo>
                  <a:lnTo>
                    <a:pt x="8217" y="4288692"/>
                  </a:lnTo>
                  <a:lnTo>
                    <a:pt x="11339" y="4333790"/>
                  </a:lnTo>
                  <a:lnTo>
                    <a:pt x="14959" y="4378834"/>
                  </a:lnTo>
                  <a:lnTo>
                    <a:pt x="19075" y="4423819"/>
                  </a:lnTo>
                  <a:lnTo>
                    <a:pt x="23686" y="4468741"/>
                  </a:lnTo>
                  <a:lnTo>
                    <a:pt x="28791" y="4513596"/>
                  </a:lnTo>
                  <a:lnTo>
                    <a:pt x="34389" y="4558379"/>
                  </a:lnTo>
                  <a:lnTo>
                    <a:pt x="40479" y="4603086"/>
                  </a:lnTo>
                  <a:lnTo>
                    <a:pt x="47060" y="4647712"/>
                  </a:lnTo>
                  <a:lnTo>
                    <a:pt x="54130" y="4692254"/>
                  </a:lnTo>
                  <a:lnTo>
                    <a:pt x="61688" y="4736707"/>
                  </a:lnTo>
                  <a:lnTo>
                    <a:pt x="69733" y="4781066"/>
                  </a:lnTo>
                  <a:lnTo>
                    <a:pt x="78264" y="4825328"/>
                  </a:lnTo>
                  <a:lnTo>
                    <a:pt x="87281" y="4869488"/>
                  </a:lnTo>
                  <a:lnTo>
                    <a:pt x="96780" y="4913541"/>
                  </a:lnTo>
                  <a:lnTo>
                    <a:pt x="106762" y="4957484"/>
                  </a:lnTo>
                  <a:lnTo>
                    <a:pt x="117226" y="5001311"/>
                  </a:lnTo>
                  <a:lnTo>
                    <a:pt x="128170" y="5045020"/>
                  </a:lnTo>
                  <a:lnTo>
                    <a:pt x="139592" y="5088604"/>
                  </a:lnTo>
                  <a:lnTo>
                    <a:pt x="151493" y="5132061"/>
                  </a:lnTo>
                  <a:lnTo>
                    <a:pt x="163870" y="5175385"/>
                  </a:lnTo>
                  <a:lnTo>
                    <a:pt x="176722" y="5218572"/>
                  </a:lnTo>
                  <a:lnTo>
                    <a:pt x="190049" y="5261618"/>
                  </a:lnTo>
                  <a:lnTo>
                    <a:pt x="203849" y="5304519"/>
                  </a:lnTo>
                  <a:lnTo>
                    <a:pt x="218122" y="5347271"/>
                  </a:lnTo>
                  <a:lnTo>
                    <a:pt x="232865" y="5389868"/>
                  </a:lnTo>
                  <a:lnTo>
                    <a:pt x="248077" y="5432307"/>
                  </a:lnTo>
                  <a:lnTo>
                    <a:pt x="263758" y="5474583"/>
                  </a:lnTo>
                  <a:lnTo>
                    <a:pt x="279907" y="5516692"/>
                  </a:lnTo>
                  <a:lnTo>
                    <a:pt x="296522" y="5558630"/>
                  </a:lnTo>
                  <a:lnTo>
                    <a:pt x="313602" y="5600392"/>
                  </a:lnTo>
                  <a:lnTo>
                    <a:pt x="331146" y="5641974"/>
                  </a:lnTo>
                  <a:lnTo>
                    <a:pt x="349152" y="5683371"/>
                  </a:lnTo>
                  <a:lnTo>
                    <a:pt x="367620" y="5724580"/>
                  </a:lnTo>
                  <a:lnTo>
                    <a:pt x="386549" y="5765596"/>
                  </a:lnTo>
                  <a:lnTo>
                    <a:pt x="405936" y="5806414"/>
                  </a:lnTo>
                  <a:lnTo>
                    <a:pt x="425782" y="5847031"/>
                  </a:lnTo>
                  <a:lnTo>
                    <a:pt x="433172" y="5861740"/>
                  </a:lnTo>
                </a:path>
                <a:path w="6629400" h="5862320">
                  <a:moveTo>
                    <a:pt x="6628885" y="973206"/>
                  </a:moveTo>
                  <a:lnTo>
                    <a:pt x="6574728" y="927523"/>
                  </a:lnTo>
                  <a:lnTo>
                    <a:pt x="6538336" y="897782"/>
                  </a:lnTo>
                  <a:lnTo>
                    <a:pt x="6501530" y="868411"/>
                  </a:lnTo>
                  <a:lnTo>
                    <a:pt x="6464313" y="839415"/>
                  </a:lnTo>
                  <a:lnTo>
                    <a:pt x="6426686" y="810799"/>
                  </a:lnTo>
                  <a:lnTo>
                    <a:pt x="6388649" y="782566"/>
                  </a:lnTo>
                  <a:lnTo>
                    <a:pt x="6350204" y="754722"/>
                  </a:lnTo>
                  <a:lnTo>
                    <a:pt x="6311352" y="727269"/>
                  </a:lnTo>
                  <a:lnTo>
                    <a:pt x="6272094" y="700214"/>
                  </a:lnTo>
                  <a:lnTo>
                    <a:pt x="6232432" y="673559"/>
                  </a:lnTo>
                  <a:lnTo>
                    <a:pt x="6192366" y="647310"/>
                  </a:lnTo>
                  <a:lnTo>
                    <a:pt x="6151898" y="621471"/>
                  </a:lnTo>
                  <a:lnTo>
                    <a:pt x="6111028" y="596045"/>
                  </a:lnTo>
                  <a:lnTo>
                    <a:pt x="6069759" y="571038"/>
                  </a:lnTo>
                  <a:lnTo>
                    <a:pt x="6028090" y="546454"/>
                  </a:lnTo>
                </a:path>
              </a:pathLst>
            </a:custGeom>
            <a:ln w="38100">
              <a:solidFill>
                <a:schemeClr val="bg2"/>
              </a:solidFill>
            </a:ln>
          </p:spPr>
          <p:txBody>
            <a:bodyPr wrap="square" lIns="0" tIns="0" rIns="0" bIns="0" rtlCol="0"/>
            <a:lstStyle/>
            <a:p>
              <a:endParaRPr/>
            </a:p>
          </p:txBody>
        </p:sp>
      </p:grpSp>
      <p:pic>
        <p:nvPicPr>
          <p:cNvPr id="10" name="Grafik 9"/>
          <p:cNvPicPr>
            <a:picLocks noChangeAspect="1"/>
          </p:cNvPicPr>
          <p:nvPr userDrawn="1"/>
        </p:nvPicPr>
        <p:blipFill rotWithShape="1">
          <a:blip r:embed="rId3"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3173176957"/>
      </p:ext>
    </p:extLst>
  </p:cSld>
  <p:clrMap bg1="lt1" tx1="dk1" bg2="lt2" tx2="dk2" accent1="accent1" accent2="accent2" accent3="accent3" accent4="accent4" accent5="accent5" accent6="accent6" hlink="hlink" folHlink="folHlink"/>
  <p:sldLayoutIdLst>
    <p:sldLayoutId id="2147483677" r:id="rId1"/>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575733" y="6491818"/>
            <a:ext cx="2640000" cy="180000"/>
          </a:xfrm>
          <a:prstGeom prst="rect">
            <a:avLst/>
          </a:prstGeom>
        </p:spPr>
        <p:txBody>
          <a:bodyPr vert="horz" lIns="0" tIns="0" rIns="0" bIns="0" rtlCol="0" anchor="t" anchorCtr="0"/>
          <a:lstStyle>
            <a:lvl1pPr algn="l">
              <a:defRPr sz="1200">
                <a:solidFill>
                  <a:schemeClr val="tx1">
                    <a:tint val="75000"/>
                  </a:schemeClr>
                </a:solidFill>
              </a:defRPr>
            </a:lvl1pPr>
          </a:lstStyle>
          <a:p>
            <a:fld id="{D0B7C083-9008-4FCB-B3FD-66BE3C83E7B3}" type="datetime6">
              <a:rPr lang="en-US" smtClean="0"/>
              <a:t>March 26</a:t>
            </a:fld>
            <a:endParaRPr lang="de-DE" dirty="0"/>
          </a:p>
        </p:txBody>
      </p:sp>
      <p:sp>
        <p:nvSpPr>
          <p:cNvPr id="5" name="Footer Placeholder 4"/>
          <p:cNvSpPr>
            <a:spLocks noGrp="1"/>
          </p:cNvSpPr>
          <p:nvPr>
            <p:ph type="ftr" sz="quarter" idx="3"/>
          </p:nvPr>
        </p:nvSpPr>
        <p:spPr>
          <a:xfrm>
            <a:off x="4181211" y="6493406"/>
            <a:ext cx="5712000" cy="180000"/>
          </a:xfrm>
          <a:prstGeom prst="rect">
            <a:avLst/>
          </a:prstGeom>
        </p:spPr>
        <p:txBody>
          <a:bodyPr vert="horz" lIns="0" tIns="0" rIns="0" bIns="0" rtlCol="0" anchor="t" anchorCtr="0"/>
          <a:lstStyle>
            <a:lvl1pPr algn="ctr">
              <a:defRPr sz="1200">
                <a:solidFill>
                  <a:schemeClr val="tx1">
                    <a:tint val="75000"/>
                  </a:schemeClr>
                </a:solidFill>
              </a:defRPr>
            </a:lvl1pPr>
          </a:lstStyle>
          <a:p>
            <a:endParaRPr lang="de-DE" dirty="0"/>
          </a:p>
        </p:txBody>
      </p:sp>
      <p:sp>
        <p:nvSpPr>
          <p:cNvPr id="6" name="Slide Number Placeholder 5"/>
          <p:cNvSpPr>
            <a:spLocks noGrp="1"/>
          </p:cNvSpPr>
          <p:nvPr>
            <p:ph type="sldNum" sz="quarter" idx="4"/>
          </p:nvPr>
        </p:nvSpPr>
        <p:spPr>
          <a:xfrm>
            <a:off x="10858688" y="6491817"/>
            <a:ext cx="757579" cy="180000"/>
          </a:xfrm>
          <a:prstGeom prst="rect">
            <a:avLst/>
          </a:prstGeom>
        </p:spPr>
        <p:txBody>
          <a:bodyPr vert="horz" lIns="0" tIns="0" rIns="0" bIns="0" rtlCol="0" anchor="t" anchorCtr="0"/>
          <a:lstStyle>
            <a:lvl1pPr algn="r">
              <a:defRPr sz="1200">
                <a:solidFill>
                  <a:schemeClr val="tx1">
                    <a:tint val="75000"/>
                  </a:schemeClr>
                </a:solidFill>
              </a:defRPr>
            </a:lvl1pPr>
          </a:lstStyle>
          <a:p>
            <a:fld id="{D3A9EDD9-2578-4372-8132-10947A418667}" type="slidenum">
              <a:rPr lang="de-DE" smtClean="0"/>
              <a:pPr/>
              <a:t>‹#›</a:t>
            </a:fld>
            <a:endParaRPr lang="de-DE" dirty="0"/>
          </a:p>
        </p:txBody>
      </p:sp>
      <p:pic>
        <p:nvPicPr>
          <p:cNvPr id="9" name="Grafik 8"/>
          <p:cNvPicPr>
            <a:picLocks noChangeAspect="1"/>
          </p:cNvPicPr>
          <p:nvPr userDrawn="1"/>
        </p:nvPicPr>
        <p:blipFill rotWithShape="1">
          <a:blip r:embed="rId9"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1272761185"/>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9" r:id="rId3"/>
    <p:sldLayoutId id="2147483670" r:id="rId4"/>
    <p:sldLayoutId id="2147483715" r:id="rId5"/>
    <p:sldLayoutId id="2147483672" r:id="rId6"/>
    <p:sldLayoutId id="2147483671" r:id="rId7"/>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575733" y="6491818"/>
            <a:ext cx="2640000" cy="180000"/>
          </a:xfrm>
          <a:prstGeom prst="rect">
            <a:avLst/>
          </a:prstGeom>
        </p:spPr>
        <p:txBody>
          <a:bodyPr vert="horz" lIns="0" tIns="0" rIns="0" bIns="0" rtlCol="0" anchor="t" anchorCtr="0"/>
          <a:lstStyle>
            <a:lvl1pPr algn="l">
              <a:defRPr sz="1200">
                <a:solidFill>
                  <a:schemeClr val="tx1">
                    <a:tint val="75000"/>
                  </a:schemeClr>
                </a:solidFill>
              </a:defRPr>
            </a:lvl1pPr>
          </a:lstStyle>
          <a:p>
            <a:fld id="{ECBEE868-B5DF-4BA4-AAD9-01114B5A394D}" type="datetime6">
              <a:rPr lang="en-US" smtClean="0"/>
              <a:t>March 26</a:t>
            </a:fld>
            <a:endParaRPr lang="de-DE" dirty="0"/>
          </a:p>
        </p:txBody>
      </p:sp>
      <p:sp>
        <p:nvSpPr>
          <p:cNvPr id="5" name="Footer Placeholder 4"/>
          <p:cNvSpPr>
            <a:spLocks noGrp="1"/>
          </p:cNvSpPr>
          <p:nvPr>
            <p:ph type="ftr" sz="quarter" idx="3"/>
          </p:nvPr>
        </p:nvSpPr>
        <p:spPr>
          <a:xfrm>
            <a:off x="4181211" y="6493406"/>
            <a:ext cx="5712000" cy="180000"/>
          </a:xfrm>
          <a:prstGeom prst="rect">
            <a:avLst/>
          </a:prstGeom>
        </p:spPr>
        <p:txBody>
          <a:bodyPr vert="horz" lIns="0" tIns="0" rIns="0" bIns="0" rtlCol="0" anchor="t" anchorCtr="0"/>
          <a:lstStyle>
            <a:lvl1pPr algn="ctr">
              <a:defRPr sz="1200">
                <a:solidFill>
                  <a:schemeClr val="tx1">
                    <a:tint val="75000"/>
                  </a:schemeClr>
                </a:solidFill>
              </a:defRPr>
            </a:lvl1pPr>
          </a:lstStyle>
          <a:p>
            <a:endParaRPr lang="de-DE" dirty="0"/>
          </a:p>
        </p:txBody>
      </p:sp>
      <p:sp>
        <p:nvSpPr>
          <p:cNvPr id="6" name="Slide Number Placeholder 5"/>
          <p:cNvSpPr>
            <a:spLocks noGrp="1"/>
          </p:cNvSpPr>
          <p:nvPr>
            <p:ph type="sldNum" sz="quarter" idx="4"/>
          </p:nvPr>
        </p:nvSpPr>
        <p:spPr>
          <a:xfrm>
            <a:off x="10858688" y="6491817"/>
            <a:ext cx="757579" cy="180000"/>
          </a:xfrm>
          <a:prstGeom prst="rect">
            <a:avLst/>
          </a:prstGeom>
        </p:spPr>
        <p:txBody>
          <a:bodyPr vert="horz" lIns="0" tIns="0" rIns="0" bIns="0" rtlCol="0" anchor="t" anchorCtr="0"/>
          <a:lstStyle>
            <a:lvl1pPr algn="r">
              <a:defRPr sz="1200">
                <a:solidFill>
                  <a:schemeClr val="tx1">
                    <a:tint val="75000"/>
                  </a:schemeClr>
                </a:solidFill>
              </a:defRPr>
            </a:lvl1pPr>
          </a:lstStyle>
          <a:p>
            <a:fld id="{D3A9EDD9-2578-4372-8132-10947A418667}" type="slidenum">
              <a:rPr lang="de-DE" smtClean="0"/>
              <a:pPr/>
              <a:t>‹#›</a:t>
            </a:fld>
            <a:endParaRPr lang="de-DE" dirty="0"/>
          </a:p>
        </p:txBody>
      </p:sp>
      <p:pic>
        <p:nvPicPr>
          <p:cNvPr id="7" name="Grafik 6"/>
          <p:cNvPicPr>
            <a:picLocks noChangeAspect="1"/>
          </p:cNvPicPr>
          <p:nvPr userDrawn="1"/>
        </p:nvPicPr>
        <p:blipFill rotWithShape="1">
          <a:blip r:embed="rId9"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spTree>
    <p:extLst>
      <p:ext uri="{BB962C8B-B14F-4D97-AF65-F5344CB8AC3E}">
        <p14:creationId xmlns:p14="http://schemas.microsoft.com/office/powerpoint/2010/main" val="2560228201"/>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714" r:id="rId5"/>
    <p:sldLayoutId id="2147483699" r:id="rId6"/>
    <p:sldLayoutId id="2147483700" r:id="rId7"/>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9" name="Grafik 8"/>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10793790" y="5690695"/>
            <a:ext cx="885600" cy="885600"/>
          </a:xfrm>
          <a:prstGeom prst="rect">
            <a:avLst/>
          </a:prstGeom>
        </p:spPr>
      </p:pic>
      <p:sp>
        <p:nvSpPr>
          <p:cNvPr id="10" name="Titel 5"/>
          <p:cNvSpPr txBox="1">
            <a:spLocks/>
          </p:cNvSpPr>
          <p:nvPr userDrawn="1"/>
        </p:nvSpPr>
        <p:spPr>
          <a:xfrm>
            <a:off x="452074" y="6205616"/>
            <a:ext cx="5060977" cy="395149"/>
          </a:xfrm>
          <a:prstGeom prst="rect">
            <a:avLst/>
          </a:prstGeom>
        </p:spPr>
        <p:txBody>
          <a:bodyPr/>
          <a:lstStyle>
            <a:lvl1pPr algn="l" defTabSz="914400" rtl="0" eaLnBrk="1" latinLnBrk="0" hangingPunct="1">
              <a:lnSpc>
                <a:spcPct val="90000"/>
              </a:lnSpc>
              <a:spcBef>
                <a:spcPct val="0"/>
              </a:spcBef>
              <a:buNone/>
              <a:defRPr sz="2200" b="1" i="0" kern="1200" cap="all" baseline="0">
                <a:solidFill>
                  <a:schemeClr val="tx2"/>
                </a:solidFill>
                <a:latin typeface="+mj-lt"/>
                <a:ea typeface="+mj-ea"/>
                <a:cs typeface="+mj-cs"/>
              </a:defRPr>
            </a:lvl1pPr>
          </a:lstStyle>
          <a:p>
            <a:r>
              <a:rPr lang="de-DE" sz="2200" cap="none" dirty="0">
                <a:solidFill>
                  <a:schemeClr val="tx1"/>
                </a:solidFill>
              </a:rPr>
              <a:t>www.b-tu.de/en</a:t>
            </a:r>
          </a:p>
        </p:txBody>
      </p:sp>
      <p:pic>
        <p:nvPicPr>
          <p:cNvPr id="7" name="Grafik 6"/>
          <p:cNvPicPr>
            <a:picLocks noChangeAspect="1"/>
          </p:cNvPicPr>
          <p:nvPr userDrawn="1"/>
        </p:nvPicPr>
        <p:blipFill rotWithShape="1">
          <a:blip r:embed="rId4" cstate="print">
            <a:extLst>
              <a:ext uri="{28A0092B-C50C-407E-A947-70E740481C1C}">
                <a14:useLocalDpi xmlns:a14="http://schemas.microsoft.com/office/drawing/2010/main" val="0"/>
              </a:ext>
            </a:extLst>
          </a:blip>
          <a:srcRect t="26148"/>
          <a:stretch/>
        </p:blipFill>
        <p:spPr>
          <a:xfrm>
            <a:off x="9096210" y="372534"/>
            <a:ext cx="2519528" cy="423711"/>
          </a:xfrm>
          <a:prstGeom prst="rect">
            <a:avLst/>
          </a:prstGeom>
        </p:spPr>
      </p:pic>
      <p:pic>
        <p:nvPicPr>
          <p:cNvPr id="8" name="Grafik 7">
            <a:extLst>
              <a:ext uri="{FF2B5EF4-FFF2-40B4-BE49-F238E27FC236}">
                <a16:creationId xmlns:a16="http://schemas.microsoft.com/office/drawing/2014/main" id="{7B9015C4-F819-4E44-A286-96BD0D437457}"/>
              </a:ext>
            </a:extLst>
          </p:cNvPr>
          <p:cNvPicPr>
            <a:picLocks noChangeAspect="1"/>
          </p:cNvPicPr>
          <p:nvPr userDrawn="1"/>
        </p:nvPicPr>
        <p:blipFill>
          <a:blip r:embed="rId5" cstate="print">
            <a:extLst>
              <a:ext uri="{28A0092B-C50C-407E-A947-70E740481C1C}">
                <a14:useLocalDpi xmlns:a14="http://schemas.microsoft.com/office/drawing/2010/main" val="0"/>
              </a:ext>
            </a:extLst>
          </a:blip>
          <a:srcRect/>
          <a:stretch/>
        </p:blipFill>
        <p:spPr>
          <a:xfrm>
            <a:off x="576263" y="368300"/>
            <a:ext cx="1925819" cy="396875"/>
          </a:xfrm>
          <a:prstGeom prst="rect">
            <a:avLst/>
          </a:prstGeom>
        </p:spPr>
      </p:pic>
    </p:spTree>
    <p:extLst>
      <p:ext uri="{BB962C8B-B14F-4D97-AF65-F5344CB8AC3E}">
        <p14:creationId xmlns:p14="http://schemas.microsoft.com/office/powerpoint/2010/main" val="2621534473"/>
      </p:ext>
    </p:extLst>
  </p:cSld>
  <p:clrMap bg1="lt1" tx1="dk1" bg2="lt2" tx2="dk2" accent1="accent1" accent2="accent2" accent3="accent3" accent4="accent4" accent5="accent5" accent6="accent6" hlink="hlink" folHlink="folHlink"/>
  <p:sldLayoutIdLst>
    <p:sldLayoutId id="2147483680" r:id="rId1"/>
  </p:sldLayoutIdLst>
  <p:hf hdr="0"/>
  <p:txStyles>
    <p:title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orient="horz" pos="3974" userDrawn="1">
          <p15:clr>
            <a:srgbClr val="F26B43"/>
          </p15:clr>
        </p15:guide>
        <p15:guide id="3" orient="horz" pos="618" userDrawn="1">
          <p15:clr>
            <a:srgbClr val="F26B43"/>
          </p15:clr>
        </p15:guide>
        <p15:guide id="4" pos="363" userDrawn="1">
          <p15:clr>
            <a:srgbClr val="F26B43"/>
          </p15:clr>
        </p15:guide>
        <p15:guide id="5" pos="7317" userDrawn="1">
          <p15:clr>
            <a:srgbClr val="F26B43"/>
          </p15:clr>
        </p15:guide>
        <p15:guide id="6" orient="horz" pos="913" userDrawn="1">
          <p15:clr>
            <a:srgbClr val="F26B43"/>
          </p15:clr>
        </p15:guide>
        <p15:guide id="7" pos="5201" userDrawn="1">
          <p15:clr>
            <a:srgbClr val="F26B43"/>
          </p15:clr>
        </p15:guide>
        <p15:guide id="8" orient="horz" pos="4088" userDrawn="1">
          <p15:clr>
            <a:srgbClr val="F26B43"/>
          </p15:clr>
        </p15:guide>
        <p15:guide id="9" pos="622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1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3.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14.xml"/><Relationship Id="rId1" Type="http://schemas.openxmlformats.org/officeDocument/2006/relationships/slideLayout" Target="../slideLayouts/slideLayout14.xml"/><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image" Target="../media/image25.png"/><Relationship Id="rId1" Type="http://schemas.openxmlformats.org/officeDocument/2006/relationships/slideLayout" Target="../slideLayouts/slideLayout14.xml"/><Relationship Id="rId6" Type="http://schemas.openxmlformats.org/officeDocument/2006/relationships/image" Target="../media/image29.png"/><Relationship Id="rId5" Type="http://schemas.openxmlformats.org/officeDocument/2006/relationships/image" Target="../media/image28.svg"/><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4.xml"/><Relationship Id="rId5" Type="http://schemas.openxmlformats.org/officeDocument/2006/relationships/image" Target="../media/image40.png"/><Relationship Id="rId4" Type="http://schemas.openxmlformats.org/officeDocument/2006/relationships/image" Target="../media/image39.png"/></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1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r>
              <a:rPr lang="de-DE" dirty="0"/>
              <a:t>March 2026</a:t>
            </a:r>
          </a:p>
          <a:p>
            <a:endParaRPr lang="de-DE" dirty="0"/>
          </a:p>
        </p:txBody>
      </p:sp>
      <p:sp>
        <p:nvSpPr>
          <p:cNvPr id="4" name="Textplatzhalter 3"/>
          <p:cNvSpPr>
            <a:spLocks noGrp="1"/>
          </p:cNvSpPr>
          <p:nvPr>
            <p:ph type="body" sz="quarter" idx="11"/>
          </p:nvPr>
        </p:nvSpPr>
        <p:spPr>
          <a:xfrm>
            <a:off x="4203866" y="1449388"/>
            <a:ext cx="7411872" cy="1946956"/>
          </a:xfrm>
        </p:spPr>
        <p:txBody>
          <a:bodyPr/>
          <a:lstStyle/>
          <a:p>
            <a:r>
              <a:rPr lang="en-US" sz="2400" dirty="0"/>
              <a:t>Adversarial Machine Learning Use of Reverse Engineering for Anomaly Detection in Industrial Control Systems</a:t>
            </a:r>
            <a:endParaRPr lang="de-DE" dirty="0"/>
          </a:p>
        </p:txBody>
      </p:sp>
      <p:sp>
        <p:nvSpPr>
          <p:cNvPr id="5" name="Textplatzhalter 4"/>
          <p:cNvSpPr>
            <a:spLocks noGrp="1"/>
          </p:cNvSpPr>
          <p:nvPr>
            <p:ph type="body" sz="quarter" idx="12"/>
          </p:nvPr>
        </p:nvSpPr>
        <p:spPr>
          <a:xfrm>
            <a:off x="5612922" y="3614090"/>
            <a:ext cx="6002816" cy="1946956"/>
          </a:xfrm>
        </p:spPr>
        <p:txBody>
          <a:bodyPr/>
          <a:lstStyle/>
          <a:p>
            <a:r>
              <a:rPr lang="en-US" sz="2400" i="1" dirty="0"/>
              <a:t>Study Project</a:t>
            </a:r>
          </a:p>
          <a:p>
            <a:r>
              <a:rPr lang="en-US" sz="2400" i="1" dirty="0"/>
              <a:t>Presenters: Abdelaziz </a:t>
            </a:r>
            <a:r>
              <a:rPr lang="en-US" sz="2400" i="1" dirty="0" err="1"/>
              <a:t>Neamatallah</a:t>
            </a:r>
            <a:r>
              <a:rPr lang="en-US" sz="2400" i="1" dirty="0"/>
              <a:t>, B.Sc.</a:t>
            </a:r>
          </a:p>
          <a:p>
            <a:r>
              <a:rPr lang="en-US" sz="2400" i="1" dirty="0"/>
              <a:t>Coauthor: Anna Dembowski, B.Sc.</a:t>
            </a:r>
            <a:endParaRPr lang="en-US" sz="2400" dirty="0"/>
          </a:p>
          <a:p>
            <a:endParaRPr lang="de-DE" dirty="0"/>
          </a:p>
        </p:txBody>
      </p:sp>
    </p:spTree>
    <p:extLst>
      <p:ext uri="{BB962C8B-B14F-4D97-AF65-F5344CB8AC3E}">
        <p14:creationId xmlns:p14="http://schemas.microsoft.com/office/powerpoint/2010/main" val="6100518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91118-8A73-F7AF-AAA4-C123D4485AD3}"/>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704DC51E-677A-0DA8-FDDD-14C8DFFCDEAE}"/>
              </a:ext>
            </a:extLst>
          </p:cNvPr>
          <p:cNvSpPr>
            <a:spLocks noGrp="1"/>
          </p:cNvSpPr>
          <p:nvPr>
            <p:ph type="dt" sz="half" idx="10"/>
          </p:nvPr>
        </p:nvSpPr>
        <p:spPr/>
        <p:txBody>
          <a:bodyPr/>
          <a:lstStyle/>
          <a:p>
            <a:fld id="{1A532143-E611-456E-90D1-A4ACF038A7C5}" type="datetime6">
              <a:rPr lang="en-US" smtClean="0"/>
              <a:t>March 26</a:t>
            </a:fld>
            <a:endParaRPr lang="de-DE" dirty="0"/>
          </a:p>
        </p:txBody>
      </p:sp>
      <p:sp>
        <p:nvSpPr>
          <p:cNvPr id="24" name="Fußzeilenplatzhalter 23">
            <a:extLst>
              <a:ext uri="{FF2B5EF4-FFF2-40B4-BE49-F238E27FC236}">
                <a16:creationId xmlns:a16="http://schemas.microsoft.com/office/drawing/2014/main" id="{D4B005D0-EA83-93FD-3688-7A7869BFC048}"/>
              </a:ext>
            </a:extLst>
          </p:cNvPr>
          <p:cNvSpPr>
            <a:spLocks noGrp="1"/>
          </p:cNvSpPr>
          <p:nvPr>
            <p:ph type="ftr" sz="quarter" idx="11"/>
          </p:nvPr>
        </p:nvSpPr>
        <p:spPr/>
        <p:txBody>
          <a:bodyPr/>
          <a:lstStyle/>
          <a:p>
            <a:endParaRPr lang="de-DE" dirty="0"/>
          </a:p>
        </p:txBody>
      </p:sp>
      <p:sp>
        <p:nvSpPr>
          <p:cNvPr id="25" name="Foliennummernplatzhalter 24">
            <a:extLst>
              <a:ext uri="{FF2B5EF4-FFF2-40B4-BE49-F238E27FC236}">
                <a16:creationId xmlns:a16="http://schemas.microsoft.com/office/drawing/2014/main" id="{81ABE55C-CAC8-CA1E-721E-2D8BC919B641}"/>
              </a:ext>
            </a:extLst>
          </p:cNvPr>
          <p:cNvSpPr>
            <a:spLocks noGrp="1"/>
          </p:cNvSpPr>
          <p:nvPr>
            <p:ph type="sldNum" sz="quarter" idx="12"/>
          </p:nvPr>
        </p:nvSpPr>
        <p:spPr/>
        <p:txBody>
          <a:bodyPr/>
          <a:lstStyle/>
          <a:p>
            <a:fld id="{D3A9EDD9-2578-4372-8132-10947A418667}" type="slidenum">
              <a:rPr lang="de-DE" smtClean="0"/>
              <a:t>2</a:t>
            </a:fld>
            <a:endParaRPr lang="de-DE"/>
          </a:p>
        </p:txBody>
      </p:sp>
      <p:sp>
        <p:nvSpPr>
          <p:cNvPr id="5" name="Titel 4">
            <a:extLst>
              <a:ext uri="{FF2B5EF4-FFF2-40B4-BE49-F238E27FC236}">
                <a16:creationId xmlns:a16="http://schemas.microsoft.com/office/drawing/2014/main" id="{A0D6AB0F-A937-8766-CEFA-2FD5A157F6EC}"/>
              </a:ext>
            </a:extLst>
          </p:cNvPr>
          <p:cNvSpPr>
            <a:spLocks noGrp="1"/>
          </p:cNvSpPr>
          <p:nvPr>
            <p:ph type="title"/>
          </p:nvPr>
        </p:nvSpPr>
        <p:spPr/>
        <p:txBody>
          <a:bodyPr/>
          <a:lstStyle/>
          <a:p>
            <a:r>
              <a:rPr lang="de-DE" dirty="0"/>
              <a:t>Agenda</a:t>
            </a:r>
          </a:p>
        </p:txBody>
      </p:sp>
      <p:sp>
        <p:nvSpPr>
          <p:cNvPr id="6" name="Inhaltsplatzhalter 5">
            <a:extLst>
              <a:ext uri="{FF2B5EF4-FFF2-40B4-BE49-F238E27FC236}">
                <a16:creationId xmlns:a16="http://schemas.microsoft.com/office/drawing/2014/main" id="{1B0992F0-6233-C7B7-047E-50644DE126B3}"/>
              </a:ext>
            </a:extLst>
          </p:cNvPr>
          <p:cNvSpPr>
            <a:spLocks noGrp="1"/>
          </p:cNvSpPr>
          <p:nvPr>
            <p:ph idx="1"/>
          </p:nvPr>
        </p:nvSpPr>
        <p:spPr>
          <a:xfrm>
            <a:off x="575732" y="1083697"/>
            <a:ext cx="11040000" cy="5105218"/>
          </a:xfrm>
        </p:spPr>
        <p:txBody>
          <a:bodyPr/>
          <a:lstStyle/>
          <a:p>
            <a:pPr>
              <a:buFont typeface="Wingdings" panose="05000000000000000000" pitchFamily="2" charset="2"/>
              <a:buChar char="§"/>
            </a:pPr>
            <a:r>
              <a:rPr lang="de-DE" sz="2400" dirty="0">
                <a:solidFill>
                  <a:schemeClr val="tx1">
                    <a:lumMod val="50000"/>
                  </a:schemeClr>
                </a:solidFill>
              </a:rPr>
              <a:t>Motivation and Problem Statement</a:t>
            </a:r>
          </a:p>
          <a:p>
            <a:pPr>
              <a:buFont typeface="Wingdings" panose="05000000000000000000" pitchFamily="2" charset="2"/>
              <a:buChar char="§"/>
            </a:pPr>
            <a:r>
              <a:rPr lang="de-DE" sz="2400" dirty="0">
                <a:solidFill>
                  <a:schemeClr val="tx1">
                    <a:lumMod val="50000"/>
                  </a:schemeClr>
                </a:solidFill>
              </a:rPr>
              <a:t>Datasets </a:t>
            </a:r>
          </a:p>
          <a:p>
            <a:pPr>
              <a:buFont typeface="Wingdings" panose="05000000000000000000" pitchFamily="2" charset="2"/>
              <a:buChar char="§"/>
            </a:pPr>
            <a:r>
              <a:rPr lang="de-DE" sz="2400" dirty="0">
                <a:solidFill>
                  <a:schemeClr val="tx1">
                    <a:lumMod val="50000"/>
                  </a:schemeClr>
                </a:solidFill>
              </a:rPr>
              <a:t>Methodology</a:t>
            </a:r>
          </a:p>
          <a:p>
            <a:pPr lvl="2">
              <a:buFont typeface="Wingdings" panose="05000000000000000000" pitchFamily="2" charset="2"/>
              <a:buChar char="§"/>
            </a:pPr>
            <a:r>
              <a:rPr lang="de-DE" sz="2200" dirty="0">
                <a:solidFill>
                  <a:schemeClr val="tx1">
                    <a:lumMod val="50000"/>
                  </a:schemeClr>
                </a:solidFill>
              </a:rPr>
              <a:t>Experimental Procedure Overview</a:t>
            </a:r>
          </a:p>
          <a:p>
            <a:pPr lvl="2">
              <a:buFont typeface="Wingdings" panose="05000000000000000000" pitchFamily="2" charset="2"/>
              <a:buChar char="§"/>
            </a:pPr>
            <a:r>
              <a:rPr lang="de-DE" sz="2200" dirty="0">
                <a:solidFill>
                  <a:schemeClr val="tx1">
                    <a:lumMod val="50000"/>
                  </a:schemeClr>
                </a:solidFill>
              </a:rPr>
              <a:t>Dataset </a:t>
            </a:r>
            <a:r>
              <a:rPr lang="de-DE" sz="2200" dirty="0"/>
              <a:t>Preprocessing</a:t>
            </a:r>
            <a:endParaRPr lang="de-DE" sz="2200" dirty="0">
              <a:solidFill>
                <a:schemeClr val="tx1">
                  <a:lumMod val="50000"/>
                </a:schemeClr>
              </a:solidFill>
            </a:endParaRPr>
          </a:p>
          <a:p>
            <a:pPr lvl="2">
              <a:buFont typeface="Wingdings" panose="05000000000000000000" pitchFamily="2" charset="2"/>
              <a:buChar char="§"/>
            </a:pPr>
            <a:r>
              <a:rPr lang="de-DE" sz="2200" dirty="0">
                <a:solidFill>
                  <a:schemeClr val="tx1">
                    <a:lumMod val="50000"/>
                  </a:schemeClr>
                </a:solidFill>
              </a:rPr>
              <a:t>Reverse Engineering</a:t>
            </a:r>
          </a:p>
          <a:p>
            <a:pPr lvl="2">
              <a:buFont typeface="Wingdings" panose="05000000000000000000" pitchFamily="2" charset="2"/>
              <a:buChar char="§"/>
            </a:pPr>
            <a:r>
              <a:rPr lang="de-DE" sz="2200" dirty="0">
                <a:solidFill>
                  <a:schemeClr val="tx1">
                    <a:lumMod val="50000"/>
                  </a:schemeClr>
                </a:solidFill>
              </a:rPr>
              <a:t>Feature Extraction (SDA)</a:t>
            </a:r>
          </a:p>
          <a:p>
            <a:pPr lvl="2">
              <a:buFont typeface="Wingdings" panose="05000000000000000000" pitchFamily="2" charset="2"/>
              <a:buChar char="§"/>
            </a:pPr>
            <a:r>
              <a:rPr lang="de-DE" sz="2200" dirty="0">
                <a:solidFill>
                  <a:schemeClr val="tx1">
                    <a:lumMod val="50000"/>
                  </a:schemeClr>
                </a:solidFill>
              </a:rPr>
              <a:t>Anomaly Detection Methods</a:t>
            </a:r>
          </a:p>
          <a:p>
            <a:pPr lvl="2">
              <a:buFont typeface="Wingdings" panose="05000000000000000000" pitchFamily="2" charset="2"/>
              <a:buChar char="§"/>
            </a:pPr>
            <a:r>
              <a:rPr lang="de-DE" sz="2200" dirty="0">
                <a:solidFill>
                  <a:schemeClr val="tx1">
                    <a:lumMod val="50000"/>
                  </a:schemeClr>
                </a:solidFill>
              </a:rPr>
              <a:t>Evaluation Strategy </a:t>
            </a:r>
          </a:p>
          <a:p>
            <a:pPr>
              <a:buFont typeface="Wingdings" panose="05000000000000000000" pitchFamily="2" charset="2"/>
              <a:buChar char="§"/>
            </a:pPr>
            <a:r>
              <a:rPr lang="de-DE" sz="2400" dirty="0">
                <a:solidFill>
                  <a:schemeClr val="tx1">
                    <a:lumMod val="50000"/>
                  </a:schemeClr>
                </a:solidFill>
              </a:rPr>
              <a:t>Results</a:t>
            </a:r>
          </a:p>
          <a:p>
            <a:pPr>
              <a:buFont typeface="Wingdings" panose="05000000000000000000" pitchFamily="2" charset="2"/>
              <a:buChar char="§"/>
            </a:pPr>
            <a:r>
              <a:rPr lang="de-DE" sz="2400" dirty="0">
                <a:solidFill>
                  <a:schemeClr val="tx1">
                    <a:lumMod val="50000"/>
                  </a:schemeClr>
                </a:solidFill>
              </a:rPr>
              <a:t>Summary &amp; Conclusion</a:t>
            </a:r>
          </a:p>
        </p:txBody>
      </p:sp>
    </p:spTree>
    <p:extLst>
      <p:ext uri="{BB962C8B-B14F-4D97-AF65-F5344CB8AC3E}">
        <p14:creationId xmlns:p14="http://schemas.microsoft.com/office/powerpoint/2010/main" val="35332690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C3D139-EAC9-AAC0-DD79-7C813BE4CE77}"/>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C12CCDFA-30FE-B3AE-37E2-6B45C1BDC1C0}"/>
              </a:ext>
            </a:extLst>
          </p:cNvPr>
          <p:cNvSpPr>
            <a:spLocks noGrp="1"/>
          </p:cNvSpPr>
          <p:nvPr>
            <p:ph type="dt" sz="half" idx="10"/>
          </p:nvPr>
        </p:nvSpPr>
        <p:spPr/>
        <p:txBody>
          <a:bodyPr/>
          <a:lstStyle/>
          <a:p>
            <a:fld id="{6C2C9B1D-7EB6-4706-8916-48F72A84216C}" type="datetime6">
              <a:rPr lang="en-US" smtClean="0"/>
              <a:t>March 26</a:t>
            </a:fld>
            <a:endParaRPr lang="de-DE" dirty="0"/>
          </a:p>
        </p:txBody>
      </p:sp>
      <p:sp>
        <p:nvSpPr>
          <p:cNvPr id="24" name="Fußzeilenplatzhalter 23">
            <a:extLst>
              <a:ext uri="{FF2B5EF4-FFF2-40B4-BE49-F238E27FC236}">
                <a16:creationId xmlns:a16="http://schemas.microsoft.com/office/drawing/2014/main" id="{9A4ED521-579A-1528-B591-7120E2767CD6}"/>
              </a:ext>
            </a:extLst>
          </p:cNvPr>
          <p:cNvSpPr>
            <a:spLocks noGrp="1"/>
          </p:cNvSpPr>
          <p:nvPr>
            <p:ph type="ftr" sz="quarter" idx="11"/>
          </p:nvPr>
        </p:nvSpPr>
        <p:spPr/>
        <p:txBody>
          <a:bodyPr/>
          <a:lstStyle/>
          <a:p>
            <a:endParaRPr lang="de-DE"/>
          </a:p>
        </p:txBody>
      </p:sp>
      <p:sp>
        <p:nvSpPr>
          <p:cNvPr id="25" name="Foliennummernplatzhalter 24">
            <a:extLst>
              <a:ext uri="{FF2B5EF4-FFF2-40B4-BE49-F238E27FC236}">
                <a16:creationId xmlns:a16="http://schemas.microsoft.com/office/drawing/2014/main" id="{3836A50A-05E0-0A86-6767-4F9B7219DBB5}"/>
              </a:ext>
            </a:extLst>
          </p:cNvPr>
          <p:cNvSpPr>
            <a:spLocks noGrp="1"/>
          </p:cNvSpPr>
          <p:nvPr>
            <p:ph type="sldNum" sz="quarter" idx="12"/>
          </p:nvPr>
        </p:nvSpPr>
        <p:spPr/>
        <p:txBody>
          <a:bodyPr/>
          <a:lstStyle/>
          <a:p>
            <a:fld id="{D3A9EDD9-2578-4372-8132-10947A418667}" type="slidenum">
              <a:rPr lang="de-DE" smtClean="0"/>
              <a:t>3</a:t>
            </a:fld>
            <a:endParaRPr lang="de-DE"/>
          </a:p>
        </p:txBody>
      </p:sp>
      <p:sp>
        <p:nvSpPr>
          <p:cNvPr id="5" name="Titel 4">
            <a:extLst>
              <a:ext uri="{FF2B5EF4-FFF2-40B4-BE49-F238E27FC236}">
                <a16:creationId xmlns:a16="http://schemas.microsoft.com/office/drawing/2014/main" id="{2868AEA2-EAB6-703D-C372-02BF44491084}"/>
              </a:ext>
            </a:extLst>
          </p:cNvPr>
          <p:cNvSpPr>
            <a:spLocks noGrp="1"/>
          </p:cNvSpPr>
          <p:nvPr>
            <p:ph type="title"/>
          </p:nvPr>
        </p:nvSpPr>
        <p:spPr/>
        <p:txBody>
          <a:bodyPr/>
          <a:lstStyle/>
          <a:p>
            <a:r>
              <a:rPr lang="de-DE" dirty="0"/>
              <a:t>Motivation and problem statement</a:t>
            </a:r>
          </a:p>
        </p:txBody>
      </p:sp>
      <p:sp>
        <p:nvSpPr>
          <p:cNvPr id="2" name="Content Placeholder 2">
            <a:extLst>
              <a:ext uri="{FF2B5EF4-FFF2-40B4-BE49-F238E27FC236}">
                <a16:creationId xmlns:a16="http://schemas.microsoft.com/office/drawing/2014/main" id="{60A66185-608B-3A69-C405-50723A63960D}"/>
              </a:ext>
            </a:extLst>
          </p:cNvPr>
          <p:cNvSpPr txBox="1">
            <a:spLocks/>
          </p:cNvSpPr>
          <p:nvPr/>
        </p:nvSpPr>
        <p:spPr>
          <a:xfrm>
            <a:off x="583699" y="184594"/>
            <a:ext cx="11040535" cy="4196159"/>
          </a:xfrm>
          <a:prstGeom prst="rect">
            <a:avLst/>
          </a:prstGeom>
        </p:spPr>
        <p:txBody>
          <a:bodyPr lIns="0" tIns="0" rIns="0" bIns="0" anchor="ctr">
            <a:normAutofit/>
          </a:bodyPr>
          <a:lstStyle>
            <a:lvl1pPr marL="342900" indent="-342900" algn="l" defTabSz="914400" rtl="0" eaLnBrk="1" latinLnBrk="0" hangingPunct="1">
              <a:lnSpc>
                <a:spcPct val="90000"/>
              </a:lnSpc>
              <a:spcBef>
                <a:spcPts val="1000"/>
              </a:spcBef>
              <a:buFont typeface="Arial" panose="020B0604020202020204" pitchFamily="34" charset="0"/>
              <a:buChar char="•"/>
              <a:defRPr sz="2000" b="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Symbol" panose="05050102010706020507" pitchFamily="18" charset="2"/>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Symbol" panose="05050102010706020507" pitchFamily="18" charset="2"/>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Symbol" panose="05050102010706020507" pitchFamily="18"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sz="2400" dirty="0">
              <a:solidFill>
                <a:schemeClr val="tx1">
                  <a:lumMod val="50000"/>
                </a:schemeClr>
              </a:solidFill>
            </a:endParaRPr>
          </a:p>
          <a:p>
            <a:pPr marL="0" indent="0">
              <a:buNone/>
            </a:pPr>
            <a:r>
              <a:rPr lang="en-US" sz="2400" dirty="0">
                <a:solidFill>
                  <a:schemeClr val="tx1">
                    <a:lumMod val="50000"/>
                  </a:schemeClr>
                </a:solidFill>
              </a:rPr>
              <a:t>Industrial Control Systems (ICS) monitor and control critical infrastructure (e.g. power grids, water systems, and chemical plants).</a:t>
            </a:r>
          </a:p>
          <a:p>
            <a:pPr marL="0" indent="0">
              <a:buNone/>
            </a:pPr>
            <a:endParaRPr lang="en-US" sz="2400" dirty="0">
              <a:solidFill>
                <a:schemeClr val="tx1">
                  <a:lumMod val="50000"/>
                </a:schemeClr>
              </a:solidFill>
            </a:endParaRPr>
          </a:p>
          <a:p>
            <a:pPr marL="0" indent="0">
              <a:buNone/>
            </a:pPr>
            <a:r>
              <a:rPr lang="en-US" sz="2400" dirty="0">
                <a:solidFill>
                  <a:schemeClr val="tx1">
                    <a:lumMod val="50000"/>
                  </a:schemeClr>
                </a:solidFill>
              </a:rPr>
              <a:t>Intrusion detection in ICS is challenging due to:</a:t>
            </a:r>
          </a:p>
          <a:p>
            <a:pPr lvl="1"/>
            <a:r>
              <a:rPr lang="en-US" sz="2400" dirty="0">
                <a:solidFill>
                  <a:schemeClr val="tx1">
                    <a:lumMod val="50000"/>
                  </a:schemeClr>
                </a:solidFill>
              </a:rPr>
              <a:t>Proprietary and non-standardized industrial protocols.</a:t>
            </a:r>
          </a:p>
          <a:p>
            <a:pPr lvl="1"/>
            <a:r>
              <a:rPr lang="en-US" sz="2400" dirty="0">
                <a:solidFill>
                  <a:schemeClr val="tx1">
                    <a:lumMod val="50000"/>
                  </a:schemeClr>
                </a:solidFill>
              </a:rPr>
              <a:t>Lack of protocol specifications for deep packet inspection.</a:t>
            </a:r>
          </a:p>
        </p:txBody>
      </p:sp>
      <p:sp>
        <p:nvSpPr>
          <p:cNvPr id="3" name="TextBox 2">
            <a:extLst>
              <a:ext uri="{FF2B5EF4-FFF2-40B4-BE49-F238E27FC236}">
                <a16:creationId xmlns:a16="http://schemas.microsoft.com/office/drawing/2014/main" id="{1EF1B48D-13B9-0FCD-15B5-EEFDEEC722E4}"/>
              </a:ext>
            </a:extLst>
          </p:cNvPr>
          <p:cNvSpPr txBox="1"/>
          <p:nvPr/>
        </p:nvSpPr>
        <p:spPr>
          <a:xfrm>
            <a:off x="583699" y="4255251"/>
            <a:ext cx="10604254" cy="1569660"/>
          </a:xfrm>
          <a:prstGeom prst="rect">
            <a:avLst/>
          </a:prstGeom>
          <a:noFill/>
          <a:ln>
            <a:solidFill>
              <a:schemeClr val="tx2"/>
            </a:solidFill>
          </a:ln>
        </p:spPr>
        <p:txBody>
          <a:bodyPr wrap="square" rtlCol="0">
            <a:spAutoFit/>
          </a:bodyPr>
          <a:lstStyle/>
          <a:p>
            <a:r>
              <a:rPr lang="en-US" sz="2400" b="1" dirty="0">
                <a:solidFill>
                  <a:schemeClr val="tx1">
                    <a:lumMod val="50000"/>
                  </a:schemeClr>
                </a:solidFill>
              </a:rPr>
              <a:t>Main Question:</a:t>
            </a:r>
          </a:p>
          <a:p>
            <a:r>
              <a:rPr lang="en-US" sz="2400" dirty="0">
                <a:solidFill>
                  <a:schemeClr val="tx1">
                    <a:lumMod val="50000"/>
                  </a:schemeClr>
                </a:solidFill>
              </a:rPr>
              <a:t>Can anomaly detection methods be designed to operate without relying on protocol knowledge and achieve good performance on reverse engineered traffic?</a:t>
            </a:r>
          </a:p>
        </p:txBody>
      </p:sp>
    </p:spTree>
    <p:extLst>
      <p:ext uri="{BB962C8B-B14F-4D97-AF65-F5344CB8AC3E}">
        <p14:creationId xmlns:p14="http://schemas.microsoft.com/office/powerpoint/2010/main" val="4091732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anim calcmode="lin" valueType="num">
                                      <p:cBhvr additive="base">
                                        <p:cTn id="7" dur="500" fill="hold"/>
                                        <p:tgtEl>
                                          <p:spTgt spid="2">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2">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anim calcmode="lin" valueType="num">
                                      <p:cBhvr additive="base">
                                        <p:cTn id="13" dur="500" fill="hold"/>
                                        <p:tgtEl>
                                          <p:spTgt spid="2">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2">
                                            <p:txEl>
                                              <p:pRg st="3" end="3"/>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anim calcmode="lin" valueType="num">
                                      <p:cBhvr additive="base">
                                        <p:cTn id="17" dur="500" fill="hold"/>
                                        <p:tgtEl>
                                          <p:spTgt spid="2">
                                            <p:txEl>
                                              <p:pRg st="4" end="4"/>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2">
                                            <p:txEl>
                                              <p:pRg st="4" end="4"/>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anim calcmode="lin" valueType="num">
                                      <p:cBhvr additive="base">
                                        <p:cTn id="21" dur="500" fill="hold"/>
                                        <p:tgtEl>
                                          <p:spTgt spid="2">
                                            <p:txEl>
                                              <p:pRg st="5" end="5"/>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2">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gtEl>
                                        <p:attrNameLst>
                                          <p:attrName>style.visibility</p:attrName>
                                        </p:attrNameLst>
                                      </p:cBhvr>
                                      <p:to>
                                        <p:strVal val="visible"/>
                                      </p:to>
                                    </p:set>
                                    <p:anim calcmode="lin" valueType="num">
                                      <p:cBhvr additive="base">
                                        <p:cTn id="27" dur="500" fill="hold"/>
                                        <p:tgtEl>
                                          <p:spTgt spid="3"/>
                                        </p:tgtEl>
                                        <p:attrNameLst>
                                          <p:attrName>ppt_x</p:attrName>
                                        </p:attrNameLst>
                                      </p:cBhvr>
                                      <p:tavLst>
                                        <p:tav tm="0">
                                          <p:val>
                                            <p:strVal val="#ppt_x"/>
                                          </p:val>
                                        </p:tav>
                                        <p:tav tm="100000">
                                          <p:val>
                                            <p:strVal val="#ppt_x"/>
                                          </p:val>
                                        </p:tav>
                                      </p:tavLst>
                                    </p:anim>
                                    <p:anim calcmode="lin" valueType="num">
                                      <p:cBhvr additive="base">
                                        <p:cTn id="2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C002B-D9EB-DE8A-C466-37BD600499A5}"/>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9A1BD863-59A7-E1FC-0626-8AA67B637544}"/>
              </a:ext>
            </a:extLst>
          </p:cNvPr>
          <p:cNvSpPr>
            <a:spLocks noGrp="1"/>
          </p:cNvSpPr>
          <p:nvPr>
            <p:ph type="dt" sz="half" idx="10"/>
          </p:nvPr>
        </p:nvSpPr>
        <p:spPr/>
        <p:txBody>
          <a:bodyPr/>
          <a:lstStyle/>
          <a:p>
            <a:fld id="{700C4019-5312-4627-8584-9B18D25042CA}" type="datetime6">
              <a:rPr lang="en-US" smtClean="0"/>
              <a:t>March 26</a:t>
            </a:fld>
            <a:endParaRPr lang="de-DE" dirty="0"/>
          </a:p>
        </p:txBody>
      </p:sp>
      <p:sp>
        <p:nvSpPr>
          <p:cNvPr id="24" name="Fußzeilenplatzhalter 23">
            <a:extLst>
              <a:ext uri="{FF2B5EF4-FFF2-40B4-BE49-F238E27FC236}">
                <a16:creationId xmlns:a16="http://schemas.microsoft.com/office/drawing/2014/main" id="{5C5B4E0E-DCDA-EB92-E70A-2AAC32F9793E}"/>
              </a:ext>
            </a:extLst>
          </p:cNvPr>
          <p:cNvSpPr>
            <a:spLocks noGrp="1"/>
          </p:cNvSpPr>
          <p:nvPr>
            <p:ph type="ftr" sz="quarter" idx="11"/>
          </p:nvPr>
        </p:nvSpPr>
        <p:spPr/>
        <p:txBody>
          <a:bodyPr/>
          <a:lstStyle/>
          <a:p>
            <a:r>
              <a:rPr lang="de-DE" dirty="0"/>
              <a:t>OT: Operational Technology, ML: Machine learning DL: Deep learning</a:t>
            </a:r>
          </a:p>
          <a:p>
            <a:endParaRPr lang="de-DE" dirty="0"/>
          </a:p>
          <a:p>
            <a:endParaRPr lang="de-DE" dirty="0"/>
          </a:p>
          <a:p>
            <a:endParaRPr lang="de-DE" dirty="0"/>
          </a:p>
        </p:txBody>
      </p:sp>
      <p:sp>
        <p:nvSpPr>
          <p:cNvPr id="25" name="Foliennummernplatzhalter 24">
            <a:extLst>
              <a:ext uri="{FF2B5EF4-FFF2-40B4-BE49-F238E27FC236}">
                <a16:creationId xmlns:a16="http://schemas.microsoft.com/office/drawing/2014/main" id="{A6F78234-3EB0-5502-FED3-5A49F4006841}"/>
              </a:ext>
            </a:extLst>
          </p:cNvPr>
          <p:cNvSpPr>
            <a:spLocks noGrp="1"/>
          </p:cNvSpPr>
          <p:nvPr>
            <p:ph type="sldNum" sz="quarter" idx="12"/>
          </p:nvPr>
        </p:nvSpPr>
        <p:spPr/>
        <p:txBody>
          <a:bodyPr/>
          <a:lstStyle/>
          <a:p>
            <a:fld id="{D3A9EDD9-2578-4372-8132-10947A418667}" type="slidenum">
              <a:rPr lang="de-DE" smtClean="0"/>
              <a:t>4</a:t>
            </a:fld>
            <a:endParaRPr lang="de-DE"/>
          </a:p>
        </p:txBody>
      </p:sp>
      <p:sp>
        <p:nvSpPr>
          <p:cNvPr id="5" name="Titel 4">
            <a:extLst>
              <a:ext uri="{FF2B5EF4-FFF2-40B4-BE49-F238E27FC236}">
                <a16:creationId xmlns:a16="http://schemas.microsoft.com/office/drawing/2014/main" id="{D13C86F1-F233-7B81-DF5A-AEDF3957E05A}"/>
              </a:ext>
            </a:extLst>
          </p:cNvPr>
          <p:cNvSpPr>
            <a:spLocks noGrp="1"/>
          </p:cNvSpPr>
          <p:nvPr>
            <p:ph type="title"/>
          </p:nvPr>
        </p:nvSpPr>
        <p:spPr/>
        <p:txBody>
          <a:bodyPr/>
          <a:lstStyle/>
          <a:p>
            <a:r>
              <a:rPr lang="de-DE" dirty="0"/>
              <a:t>Motivation and problem statement</a:t>
            </a:r>
          </a:p>
        </p:txBody>
      </p:sp>
      <p:sp>
        <p:nvSpPr>
          <p:cNvPr id="6" name="Inhaltsplatzhalter 5">
            <a:extLst>
              <a:ext uri="{FF2B5EF4-FFF2-40B4-BE49-F238E27FC236}">
                <a16:creationId xmlns:a16="http://schemas.microsoft.com/office/drawing/2014/main" id="{9F7FA30B-6668-0CAB-6229-57DE5E88CD95}"/>
              </a:ext>
            </a:extLst>
          </p:cNvPr>
          <p:cNvSpPr>
            <a:spLocks noGrp="1"/>
          </p:cNvSpPr>
          <p:nvPr>
            <p:ph idx="1"/>
          </p:nvPr>
        </p:nvSpPr>
        <p:spPr>
          <a:xfrm>
            <a:off x="576267" y="1988346"/>
            <a:ext cx="11040000" cy="3253018"/>
          </a:xfrm>
        </p:spPr>
        <p:txBody>
          <a:bodyPr/>
          <a:lstStyle/>
          <a:p>
            <a:pPr marL="0" indent="0">
              <a:buNone/>
            </a:pPr>
            <a:r>
              <a:rPr lang="en-US" b="1" dirty="0">
                <a:solidFill>
                  <a:schemeClr val="tx1">
                    <a:lumMod val="50000"/>
                  </a:schemeClr>
                </a:solidFill>
              </a:rPr>
              <a:t>What?</a:t>
            </a:r>
          </a:p>
          <a:p>
            <a:pPr lvl="1"/>
            <a:r>
              <a:rPr lang="en-US" dirty="0">
                <a:solidFill>
                  <a:schemeClr val="tx1">
                    <a:lumMod val="50000"/>
                  </a:schemeClr>
                </a:solidFill>
              </a:rPr>
              <a:t>Statistical analysis.</a:t>
            </a:r>
          </a:p>
          <a:p>
            <a:pPr lvl="1"/>
            <a:r>
              <a:rPr lang="en-US" dirty="0">
                <a:solidFill>
                  <a:schemeClr val="tx1">
                    <a:lumMod val="50000"/>
                  </a:schemeClr>
                </a:solidFill>
              </a:rPr>
              <a:t>Reverse engineer packets to obtain protocol chunks.</a:t>
            </a:r>
          </a:p>
          <a:p>
            <a:pPr lvl="1"/>
            <a:r>
              <a:rPr lang="en-US" dirty="0">
                <a:solidFill>
                  <a:schemeClr val="tx1">
                    <a:lumMod val="50000"/>
                  </a:schemeClr>
                </a:solidFill>
              </a:rPr>
              <a:t>Train ML and DL classifiers.</a:t>
            </a:r>
          </a:p>
          <a:p>
            <a:pPr marL="0" indent="0">
              <a:buNone/>
            </a:pPr>
            <a:r>
              <a:rPr lang="en-US" b="1" dirty="0">
                <a:solidFill>
                  <a:schemeClr val="tx1">
                    <a:lumMod val="50000"/>
                  </a:schemeClr>
                </a:solidFill>
              </a:rPr>
              <a:t>Why? </a:t>
            </a:r>
          </a:p>
          <a:p>
            <a:pPr lvl="1"/>
            <a:r>
              <a:rPr lang="en-US" dirty="0">
                <a:solidFill>
                  <a:schemeClr val="tx1">
                    <a:lumMod val="50000"/>
                  </a:schemeClr>
                </a:solidFill>
              </a:rPr>
              <a:t>Enable anomaly detection for ICS without access to protocol specifications. </a:t>
            </a:r>
          </a:p>
          <a:p>
            <a:pPr marL="0" indent="0">
              <a:buNone/>
            </a:pPr>
            <a:endParaRPr lang="de-DE" dirty="0"/>
          </a:p>
        </p:txBody>
      </p:sp>
    </p:spTree>
    <p:extLst>
      <p:ext uri="{BB962C8B-B14F-4D97-AF65-F5344CB8AC3E}">
        <p14:creationId xmlns:p14="http://schemas.microsoft.com/office/powerpoint/2010/main" val="3434918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 calcmode="lin" valueType="num">
                                      <p:cBhvr additive="base">
                                        <p:cTn id="7" dur="500" fill="hold"/>
                                        <p:tgtEl>
                                          <p:spTgt spid="6">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6">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xEl>
                                              <p:pRg st="1" end="1"/>
                                            </p:txEl>
                                          </p:spTgt>
                                        </p:tgtEl>
                                        <p:attrNameLst>
                                          <p:attrName>style.visibility</p:attrName>
                                        </p:attrNameLst>
                                      </p:cBhvr>
                                      <p:to>
                                        <p:strVal val="visible"/>
                                      </p:to>
                                    </p:set>
                                    <p:anim calcmode="lin" valueType="num">
                                      <p:cBhvr additive="base">
                                        <p:cTn id="13" dur="500" fill="hold"/>
                                        <p:tgtEl>
                                          <p:spTgt spid="6">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6">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anim calcmode="lin" valueType="num">
                                      <p:cBhvr additive="base">
                                        <p:cTn id="19" dur="500" fill="hold"/>
                                        <p:tgtEl>
                                          <p:spTgt spid="6">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6">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6">
                                            <p:txEl>
                                              <p:pRg st="3" end="3"/>
                                            </p:txEl>
                                          </p:spTgt>
                                        </p:tgtEl>
                                        <p:attrNameLst>
                                          <p:attrName>style.visibility</p:attrName>
                                        </p:attrNameLst>
                                      </p:cBhvr>
                                      <p:to>
                                        <p:strVal val="visible"/>
                                      </p:to>
                                    </p:set>
                                    <p:anim calcmode="lin" valueType="num">
                                      <p:cBhvr additive="base">
                                        <p:cTn id="25" dur="500" fill="hold"/>
                                        <p:tgtEl>
                                          <p:spTgt spid="6">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6">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xEl>
                                              <p:pRg st="4" end="4"/>
                                            </p:txEl>
                                          </p:spTgt>
                                        </p:tgtEl>
                                        <p:attrNameLst>
                                          <p:attrName>style.visibility</p:attrName>
                                        </p:attrNameLst>
                                      </p:cBhvr>
                                      <p:to>
                                        <p:strVal val="visible"/>
                                      </p:to>
                                    </p:set>
                                    <p:anim calcmode="lin" valueType="num">
                                      <p:cBhvr additive="base">
                                        <p:cTn id="31" dur="500" fill="hold"/>
                                        <p:tgtEl>
                                          <p:spTgt spid="6">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6">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6">
                                            <p:txEl>
                                              <p:pRg st="5" end="5"/>
                                            </p:txEl>
                                          </p:spTgt>
                                        </p:tgtEl>
                                        <p:attrNameLst>
                                          <p:attrName>style.visibility</p:attrName>
                                        </p:attrNameLst>
                                      </p:cBhvr>
                                      <p:to>
                                        <p:strVal val="visible"/>
                                      </p:to>
                                    </p:set>
                                    <p:anim calcmode="lin" valueType="num">
                                      <p:cBhvr additive="base">
                                        <p:cTn id="37" dur="500" fill="hold"/>
                                        <p:tgtEl>
                                          <p:spTgt spid="6">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6">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D75F02-C2DD-C1EF-1107-9535667E4CC8}"/>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EC35CCB-1D29-B96B-4225-9871D2FE0DDD}"/>
              </a:ext>
            </a:extLst>
          </p:cNvPr>
          <p:cNvSpPr>
            <a:spLocks noGrp="1"/>
          </p:cNvSpPr>
          <p:nvPr>
            <p:ph type="dt" sz="half" idx="10"/>
          </p:nvPr>
        </p:nvSpPr>
        <p:spPr/>
        <p:txBody>
          <a:bodyPr/>
          <a:lstStyle/>
          <a:p>
            <a:fld id="{D4B4CF52-F7D6-44F7-B9DF-EE5638D0BD3E}" type="datetime6">
              <a:rPr lang="en-US" smtClean="0"/>
              <a:t>March 26</a:t>
            </a:fld>
            <a:endParaRPr lang="de-DE" dirty="0"/>
          </a:p>
        </p:txBody>
      </p:sp>
      <p:sp>
        <p:nvSpPr>
          <p:cNvPr id="4" name="Foliennummernplatzhalter 3">
            <a:extLst>
              <a:ext uri="{FF2B5EF4-FFF2-40B4-BE49-F238E27FC236}">
                <a16:creationId xmlns:a16="http://schemas.microsoft.com/office/drawing/2014/main" id="{8FE5BCC7-33A9-4483-E23F-D7F40B6B0AD9}"/>
              </a:ext>
            </a:extLst>
          </p:cNvPr>
          <p:cNvSpPr>
            <a:spLocks noGrp="1"/>
          </p:cNvSpPr>
          <p:nvPr>
            <p:ph type="sldNum" sz="quarter" idx="12"/>
          </p:nvPr>
        </p:nvSpPr>
        <p:spPr/>
        <p:txBody>
          <a:bodyPr/>
          <a:lstStyle/>
          <a:p>
            <a:fld id="{D3A9EDD9-2578-4372-8132-10947A418667}" type="slidenum">
              <a:rPr lang="de-DE" smtClean="0"/>
              <a:t>5</a:t>
            </a:fld>
            <a:endParaRPr lang="de-DE"/>
          </a:p>
        </p:txBody>
      </p:sp>
      <p:sp>
        <p:nvSpPr>
          <p:cNvPr id="9" name="Titel 8">
            <a:extLst>
              <a:ext uri="{FF2B5EF4-FFF2-40B4-BE49-F238E27FC236}">
                <a16:creationId xmlns:a16="http://schemas.microsoft.com/office/drawing/2014/main" id="{65E1508A-4404-5964-2BD4-68E085463727}"/>
              </a:ext>
            </a:extLst>
          </p:cNvPr>
          <p:cNvSpPr>
            <a:spLocks noGrp="1"/>
          </p:cNvSpPr>
          <p:nvPr>
            <p:ph type="title"/>
          </p:nvPr>
        </p:nvSpPr>
        <p:spPr/>
        <p:txBody>
          <a:bodyPr/>
          <a:lstStyle/>
          <a:p>
            <a:r>
              <a:rPr lang="de-DE" dirty="0"/>
              <a:t>Datasets</a:t>
            </a:r>
          </a:p>
        </p:txBody>
      </p:sp>
      <p:sp>
        <p:nvSpPr>
          <p:cNvPr id="12" name="Textplatzhalter 11">
            <a:extLst>
              <a:ext uri="{FF2B5EF4-FFF2-40B4-BE49-F238E27FC236}">
                <a16:creationId xmlns:a16="http://schemas.microsoft.com/office/drawing/2014/main" id="{2CFFFD04-CA3B-B884-C4C2-7434CE39246A}"/>
              </a:ext>
            </a:extLst>
          </p:cNvPr>
          <p:cNvSpPr>
            <a:spLocks noGrp="1"/>
          </p:cNvSpPr>
          <p:nvPr>
            <p:ph type="body" sz="quarter" idx="14"/>
          </p:nvPr>
        </p:nvSpPr>
        <p:spPr>
          <a:xfrm>
            <a:off x="575733" y="706179"/>
            <a:ext cx="7680854" cy="319087"/>
          </a:xfrm>
        </p:spPr>
        <p:txBody>
          <a:bodyPr/>
          <a:lstStyle/>
          <a:p>
            <a:endParaRPr lang="de-DE" dirty="0"/>
          </a:p>
        </p:txBody>
      </p:sp>
      <p:graphicFrame>
        <p:nvGraphicFramePr>
          <p:cNvPr id="7" name="Table 6">
            <a:extLst>
              <a:ext uri="{FF2B5EF4-FFF2-40B4-BE49-F238E27FC236}">
                <a16:creationId xmlns:a16="http://schemas.microsoft.com/office/drawing/2014/main" id="{C69C2EEA-2EC8-08B6-3BFA-F8B7B73CA839}"/>
              </a:ext>
            </a:extLst>
          </p:cNvPr>
          <p:cNvGraphicFramePr>
            <a:graphicFrameLocks noGrp="1"/>
          </p:cNvGraphicFramePr>
          <p:nvPr>
            <p:extLst>
              <p:ext uri="{D42A27DB-BD31-4B8C-83A1-F6EECF244321}">
                <p14:modId xmlns:p14="http://schemas.microsoft.com/office/powerpoint/2010/main" val="3141306690"/>
              </p:ext>
            </p:extLst>
          </p:nvPr>
        </p:nvGraphicFramePr>
        <p:xfrm>
          <a:off x="540108" y="1064078"/>
          <a:ext cx="9055011" cy="5300512"/>
        </p:xfrm>
        <a:graphic>
          <a:graphicData uri="http://schemas.openxmlformats.org/drawingml/2006/table">
            <a:tbl>
              <a:tblPr firstRow="1" bandRow="1">
                <a:tableStyleId>{073A0DAA-6AF3-43AB-8588-CEC1D06C72B9}</a:tableStyleId>
              </a:tblPr>
              <a:tblGrid>
                <a:gridCol w="3018337">
                  <a:extLst>
                    <a:ext uri="{9D8B030D-6E8A-4147-A177-3AD203B41FA5}">
                      <a16:colId xmlns:a16="http://schemas.microsoft.com/office/drawing/2014/main" val="2069146935"/>
                    </a:ext>
                  </a:extLst>
                </a:gridCol>
                <a:gridCol w="3024087">
                  <a:extLst>
                    <a:ext uri="{9D8B030D-6E8A-4147-A177-3AD203B41FA5}">
                      <a16:colId xmlns:a16="http://schemas.microsoft.com/office/drawing/2014/main" val="199355563"/>
                    </a:ext>
                  </a:extLst>
                </a:gridCol>
                <a:gridCol w="3012587">
                  <a:extLst>
                    <a:ext uri="{9D8B030D-6E8A-4147-A177-3AD203B41FA5}">
                      <a16:colId xmlns:a16="http://schemas.microsoft.com/office/drawing/2014/main" val="761172939"/>
                    </a:ext>
                  </a:extLst>
                </a:gridCol>
              </a:tblGrid>
              <a:tr h="455696">
                <a:tc>
                  <a:txBody>
                    <a:bodyPr/>
                    <a:lstStyle/>
                    <a:p>
                      <a:endParaRPr lang="de-DE" dirty="0"/>
                    </a:p>
                  </a:txBody>
                  <a:tcPr/>
                </a:tc>
                <a:tc>
                  <a:txBody>
                    <a:bodyPr/>
                    <a:lstStyle/>
                    <a:p>
                      <a:r>
                        <a:rPr lang="de-DE" dirty="0"/>
                        <a:t>Electra S7Comm</a:t>
                      </a:r>
                      <a:r>
                        <a:rPr lang="en-US" dirty="0"/>
                        <a:t>¹</a:t>
                      </a:r>
                      <a:endParaRPr lang="de-DE" dirty="0"/>
                    </a:p>
                  </a:txBody>
                  <a:tcPr/>
                </a:tc>
                <a:tc>
                  <a:txBody>
                    <a:bodyPr/>
                    <a:lstStyle/>
                    <a:p>
                      <a:r>
                        <a:rPr lang="de-DE" dirty="0"/>
                        <a:t>2017QUTS7Comm²</a:t>
                      </a:r>
                    </a:p>
                  </a:txBody>
                  <a:tcPr/>
                </a:tc>
                <a:extLst>
                  <a:ext uri="{0D108BD9-81ED-4DB2-BD59-A6C34878D82A}">
                    <a16:rowId xmlns:a16="http://schemas.microsoft.com/office/drawing/2014/main" val="1995744574"/>
                  </a:ext>
                </a:extLst>
              </a:tr>
              <a:tr h="537268">
                <a:tc>
                  <a:txBody>
                    <a:bodyPr/>
                    <a:lstStyle/>
                    <a:p>
                      <a:r>
                        <a:rPr lang="de-DE" b="1" dirty="0"/>
                        <a:t>Publisher</a:t>
                      </a:r>
                    </a:p>
                  </a:txBody>
                  <a:tcPr/>
                </a:tc>
                <a:tc>
                  <a:txBody>
                    <a:bodyPr/>
                    <a:lstStyle/>
                    <a:p>
                      <a:r>
                        <a:rPr lang="en-US" dirty="0"/>
                        <a:t>University of Murcia (UM), Spain</a:t>
                      </a:r>
                      <a:endParaRPr lang="de-DE" dirty="0">
                        <a:latin typeface="+mn-lt"/>
                      </a:endParaRPr>
                    </a:p>
                  </a:txBody>
                  <a:tcPr/>
                </a:tc>
                <a:tc>
                  <a:txBody>
                    <a:bodyPr/>
                    <a:lstStyle/>
                    <a:p>
                      <a:r>
                        <a:rPr lang="de-DE" dirty="0"/>
                        <a:t>Queensland University of Technology</a:t>
                      </a:r>
                      <a:endParaRPr lang="de-DE" dirty="0">
                        <a:latin typeface="+mn-lt"/>
                      </a:endParaRPr>
                    </a:p>
                  </a:txBody>
                  <a:tcPr/>
                </a:tc>
                <a:extLst>
                  <a:ext uri="{0D108BD9-81ED-4DB2-BD59-A6C34878D82A}">
                    <a16:rowId xmlns:a16="http://schemas.microsoft.com/office/drawing/2014/main" val="88917737"/>
                  </a:ext>
                </a:extLst>
              </a:tr>
              <a:tr h="537268">
                <a:tc>
                  <a:txBody>
                    <a:bodyPr/>
                    <a:lstStyle/>
                    <a:p>
                      <a:r>
                        <a:rPr lang="de-DE" b="1" dirty="0"/>
                        <a:t>Generation</a:t>
                      </a:r>
                    </a:p>
                  </a:txBody>
                  <a:tcPr/>
                </a:tc>
                <a:tc>
                  <a:txBody>
                    <a:bodyPr/>
                    <a:lstStyle/>
                    <a:p>
                      <a:r>
                        <a:rPr lang="de-DE" dirty="0"/>
                        <a:t>Collected From Realistic Testbeds</a:t>
                      </a:r>
                      <a:endParaRPr lang="de-DE" dirty="0">
                        <a:latin typeface="+mn-lt"/>
                      </a:endParaRPr>
                    </a:p>
                  </a:txBody>
                  <a:tcPr/>
                </a:tc>
                <a:tc>
                  <a:txBody>
                    <a:bodyPr/>
                    <a:lstStyle/>
                    <a:p>
                      <a:r>
                        <a:rPr lang="de-DE" dirty="0"/>
                        <a:t>Generated in Controlled Laboratory Environment</a:t>
                      </a:r>
                      <a:endParaRPr lang="de-DE" dirty="0">
                        <a:latin typeface="+mn-lt"/>
                      </a:endParaRPr>
                    </a:p>
                  </a:txBody>
                  <a:tcPr/>
                </a:tc>
                <a:extLst>
                  <a:ext uri="{0D108BD9-81ED-4DB2-BD59-A6C34878D82A}">
                    <a16:rowId xmlns:a16="http://schemas.microsoft.com/office/drawing/2014/main" val="3250482927"/>
                  </a:ext>
                </a:extLst>
              </a:tr>
              <a:tr h="537268">
                <a:tc>
                  <a:txBody>
                    <a:bodyPr/>
                    <a:lstStyle/>
                    <a:p>
                      <a:r>
                        <a:rPr lang="de-DE" b="1" dirty="0"/>
                        <a:t>Size</a:t>
                      </a:r>
                    </a:p>
                  </a:txBody>
                  <a:tcPr/>
                </a:tc>
                <a:tc>
                  <a:txBody>
                    <a:bodyPr/>
                    <a:lstStyle/>
                    <a:p>
                      <a:r>
                        <a:rPr lang="de-DE" dirty="0"/>
                        <a:t>387.098.466 packets (~30 GB)</a:t>
                      </a:r>
                      <a:endParaRPr lang="de-DE" dirty="0">
                        <a:latin typeface="+mn-lt"/>
                      </a:endParaRPr>
                    </a:p>
                  </a:txBody>
                  <a:tcPr/>
                </a:tc>
                <a:tc>
                  <a:txBody>
                    <a:bodyPr/>
                    <a:lstStyle/>
                    <a:p>
                      <a:r>
                        <a:rPr lang="en-US" dirty="0"/>
                        <a:t>5.830.642 packets (~1,5 GB)</a:t>
                      </a:r>
                    </a:p>
                    <a:p>
                      <a:endParaRPr lang="de-DE" dirty="0">
                        <a:latin typeface="+mn-lt"/>
                      </a:endParaRPr>
                    </a:p>
                  </a:txBody>
                  <a:tcPr/>
                </a:tc>
                <a:extLst>
                  <a:ext uri="{0D108BD9-81ED-4DB2-BD59-A6C34878D82A}">
                    <a16:rowId xmlns:a16="http://schemas.microsoft.com/office/drawing/2014/main" val="4194435555"/>
                  </a:ext>
                </a:extLst>
              </a:tr>
              <a:tr h="537268">
                <a:tc>
                  <a:txBody>
                    <a:bodyPr/>
                    <a:lstStyle/>
                    <a:p>
                      <a:r>
                        <a:rPr lang="de-DE" b="1" dirty="0"/>
                        <a:t>Compoisition</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31,7% Attack</a:t>
                      </a:r>
                    </a:p>
                    <a:p>
                      <a:r>
                        <a:rPr lang="de-DE" dirty="0"/>
                        <a:t>63,3% Benign</a:t>
                      </a:r>
                      <a:endParaRPr lang="de-DE" dirty="0">
                        <a:latin typeface="+mn-lt"/>
                      </a:endParaRPr>
                    </a:p>
                  </a:txBody>
                  <a:tcPr/>
                </a:tc>
                <a:tc>
                  <a:txBody>
                    <a:bodyPr/>
                    <a:lstStyle/>
                    <a:p>
                      <a:r>
                        <a:rPr lang="en-US" b="0" dirty="0"/>
                        <a:t>85,1% Attack</a:t>
                      </a:r>
                    </a:p>
                    <a:p>
                      <a:r>
                        <a:rPr lang="en-US" dirty="0"/>
                        <a:t>14,9% Benign</a:t>
                      </a:r>
                      <a:endParaRPr lang="de-DE" dirty="0">
                        <a:latin typeface="+mn-lt"/>
                      </a:endParaRPr>
                    </a:p>
                  </a:txBody>
                  <a:tcPr/>
                </a:tc>
                <a:extLst>
                  <a:ext uri="{0D108BD9-81ED-4DB2-BD59-A6C34878D82A}">
                    <a16:rowId xmlns:a16="http://schemas.microsoft.com/office/drawing/2014/main" val="647427074"/>
                  </a:ext>
                </a:extLst>
              </a:tr>
              <a:tr h="455696">
                <a:tc>
                  <a:txBody>
                    <a:bodyPr/>
                    <a:lstStyle/>
                    <a:p>
                      <a:r>
                        <a:rPr lang="de-DE" b="1" dirty="0"/>
                        <a:t>Format</a:t>
                      </a:r>
                    </a:p>
                  </a:txBody>
                  <a:tcPr/>
                </a:tc>
                <a:tc>
                  <a:txBody>
                    <a:bodyPr/>
                    <a:lstStyle/>
                    <a:p>
                      <a:r>
                        <a:rPr lang="de-DE" dirty="0"/>
                        <a:t>CSV (preprocessed)</a:t>
                      </a:r>
                      <a:endParaRPr lang="de-DE" dirty="0">
                        <a:latin typeface="+mn-lt"/>
                      </a:endParaRPr>
                    </a:p>
                  </a:txBody>
                  <a:tcPr/>
                </a:tc>
                <a:tc>
                  <a:txBody>
                    <a:bodyPr/>
                    <a:lstStyle/>
                    <a:p>
                      <a:r>
                        <a:rPr lang="de-DE" dirty="0"/>
                        <a:t>PCAP Files</a:t>
                      </a:r>
                      <a:endParaRPr lang="de-DE" dirty="0">
                        <a:latin typeface="+mn-lt"/>
                      </a:endParaRPr>
                    </a:p>
                  </a:txBody>
                  <a:tcPr/>
                </a:tc>
                <a:extLst>
                  <a:ext uri="{0D108BD9-81ED-4DB2-BD59-A6C34878D82A}">
                    <a16:rowId xmlns:a16="http://schemas.microsoft.com/office/drawing/2014/main" val="3903473235"/>
                  </a:ext>
                </a:extLst>
              </a:tr>
              <a:tr h="767526">
                <a:tc>
                  <a:txBody>
                    <a:bodyPr/>
                    <a:lstStyle/>
                    <a:p>
                      <a:r>
                        <a:rPr lang="en-US" b="1" dirty="0"/>
                        <a:t>Primary use in Project</a:t>
                      </a:r>
                      <a:endParaRPr lang="de-DE" b="1" dirty="0"/>
                    </a:p>
                  </a:txBody>
                  <a:tcPr/>
                </a:tc>
                <a:tc>
                  <a:txBody>
                    <a:bodyPr/>
                    <a:lstStyle/>
                    <a:p>
                      <a:r>
                        <a:rPr lang="de-DE" dirty="0"/>
                        <a:t>Initial Analysis</a:t>
                      </a:r>
                      <a:endParaRPr lang="de-DE" dirty="0">
                        <a:latin typeface="+mn-lt"/>
                      </a:endParaRPr>
                    </a:p>
                  </a:txBody>
                  <a:tcPr/>
                </a:tc>
                <a:tc>
                  <a:txBody>
                    <a:bodyPr/>
                    <a:lstStyle/>
                    <a:p>
                      <a:r>
                        <a:rPr lang="de-DE" dirty="0"/>
                        <a:t>Initial Analysis, Reverse Engineering &amp; Execution of Experiments</a:t>
                      </a:r>
                      <a:endParaRPr lang="de-DE" dirty="0">
                        <a:latin typeface="+mn-lt"/>
                      </a:endParaRPr>
                    </a:p>
                  </a:txBody>
                  <a:tcPr/>
                </a:tc>
                <a:extLst>
                  <a:ext uri="{0D108BD9-81ED-4DB2-BD59-A6C34878D82A}">
                    <a16:rowId xmlns:a16="http://schemas.microsoft.com/office/drawing/2014/main" val="2296733147"/>
                  </a:ext>
                </a:extLst>
              </a:tr>
              <a:tr h="537268">
                <a:tc>
                  <a:txBody>
                    <a:bodyPr/>
                    <a:lstStyle/>
                    <a:p>
                      <a:r>
                        <a:rPr lang="de-DE" b="1" dirty="0"/>
                        <a:t>Protocols</a:t>
                      </a:r>
                    </a:p>
                  </a:txBody>
                  <a:tcPr/>
                </a:tc>
                <a:tc>
                  <a:txBody>
                    <a:bodyPr/>
                    <a:lstStyle/>
                    <a:p>
                      <a:r>
                        <a:rPr lang="de-DE" dirty="0"/>
                        <a:t>Only s7Comm</a:t>
                      </a:r>
                      <a:endParaRPr lang="de-DE" dirty="0">
                        <a:latin typeface="+mn-lt"/>
                      </a:endParaRPr>
                    </a:p>
                  </a:txBody>
                  <a:tcPr/>
                </a:tc>
                <a:tc>
                  <a:txBody>
                    <a:bodyPr/>
                    <a:lstStyle/>
                    <a:p>
                      <a:r>
                        <a:rPr lang="de-DE" dirty="0"/>
                        <a:t>Different Protocols (mainly S7Comm)</a:t>
                      </a:r>
                      <a:endParaRPr lang="de-DE" dirty="0">
                        <a:latin typeface="+mn-lt"/>
                      </a:endParaRPr>
                    </a:p>
                  </a:txBody>
                  <a:tcPr/>
                </a:tc>
                <a:extLst>
                  <a:ext uri="{0D108BD9-81ED-4DB2-BD59-A6C34878D82A}">
                    <a16:rowId xmlns:a16="http://schemas.microsoft.com/office/drawing/2014/main" val="3221931698"/>
                  </a:ext>
                </a:extLst>
              </a:tr>
            </a:tbl>
          </a:graphicData>
        </a:graphic>
      </p:graphicFrame>
      <p:sp>
        <p:nvSpPr>
          <p:cNvPr id="3" name="Footer Placeholder 2">
            <a:extLst>
              <a:ext uri="{FF2B5EF4-FFF2-40B4-BE49-F238E27FC236}">
                <a16:creationId xmlns:a16="http://schemas.microsoft.com/office/drawing/2014/main" id="{C4565741-7F2B-06DF-B269-D97FA168515F}"/>
              </a:ext>
            </a:extLst>
          </p:cNvPr>
          <p:cNvSpPr>
            <a:spLocks noGrp="1"/>
          </p:cNvSpPr>
          <p:nvPr>
            <p:ph type="ftr" sz="quarter" idx="11"/>
          </p:nvPr>
        </p:nvSpPr>
        <p:spPr/>
        <p:txBody>
          <a:bodyPr/>
          <a:lstStyle/>
          <a:p>
            <a:r>
              <a:rPr lang="de-DE" sz="1000" dirty="0"/>
              <a:t>1 - http://perception.inf.um.es/ICS-datasets/csv/electra_s7comm.zip </a:t>
            </a:r>
          </a:p>
          <a:p>
            <a:r>
              <a:rPr lang="de-DE" sz="1000" dirty="0"/>
              <a:t>2 - https://github.com/qut-infosec/2017QUT_S7comm </a:t>
            </a:r>
          </a:p>
          <a:p>
            <a:endParaRPr lang="de-DE" sz="1000" dirty="0"/>
          </a:p>
        </p:txBody>
      </p:sp>
    </p:spTree>
    <p:extLst>
      <p:ext uri="{BB962C8B-B14F-4D97-AF65-F5344CB8AC3E}">
        <p14:creationId xmlns:p14="http://schemas.microsoft.com/office/powerpoint/2010/main" val="27174850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2ABAA8-1398-CCFB-B87D-2742E1B2B298}"/>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D427799-073A-387B-8F07-492ECDF86D09}"/>
              </a:ext>
            </a:extLst>
          </p:cNvPr>
          <p:cNvSpPr>
            <a:spLocks noGrp="1"/>
          </p:cNvSpPr>
          <p:nvPr>
            <p:ph type="dt" sz="half" idx="10"/>
          </p:nvPr>
        </p:nvSpPr>
        <p:spPr/>
        <p:txBody>
          <a:bodyPr/>
          <a:lstStyle/>
          <a:p>
            <a:fld id="{919EE074-DB3E-40D2-8FFC-E6396AA3CA53}" type="datetime6">
              <a:rPr lang="en-US" smtClean="0"/>
              <a:t>March 26</a:t>
            </a:fld>
            <a:endParaRPr lang="de-DE" dirty="0"/>
          </a:p>
        </p:txBody>
      </p:sp>
      <p:sp>
        <p:nvSpPr>
          <p:cNvPr id="3" name="Fußzeilenplatzhalter 2">
            <a:extLst>
              <a:ext uri="{FF2B5EF4-FFF2-40B4-BE49-F238E27FC236}">
                <a16:creationId xmlns:a16="http://schemas.microsoft.com/office/drawing/2014/main" id="{A80781F9-E919-1DED-45C0-3CE0475A1DF4}"/>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04928C9C-2813-3BF0-31FF-B970392EC934}"/>
              </a:ext>
            </a:extLst>
          </p:cNvPr>
          <p:cNvSpPr>
            <a:spLocks noGrp="1"/>
          </p:cNvSpPr>
          <p:nvPr>
            <p:ph type="sldNum" sz="quarter" idx="12"/>
          </p:nvPr>
        </p:nvSpPr>
        <p:spPr/>
        <p:txBody>
          <a:bodyPr/>
          <a:lstStyle/>
          <a:p>
            <a:fld id="{D3A9EDD9-2578-4372-8132-10947A418667}" type="slidenum">
              <a:rPr lang="de-DE" smtClean="0"/>
              <a:t>6</a:t>
            </a:fld>
            <a:endParaRPr lang="de-DE"/>
          </a:p>
        </p:txBody>
      </p:sp>
      <p:sp>
        <p:nvSpPr>
          <p:cNvPr id="9" name="Titel 8">
            <a:extLst>
              <a:ext uri="{FF2B5EF4-FFF2-40B4-BE49-F238E27FC236}">
                <a16:creationId xmlns:a16="http://schemas.microsoft.com/office/drawing/2014/main" id="{0D62F29F-7289-8D45-F121-4913AFB8F980}"/>
              </a:ext>
            </a:extLst>
          </p:cNvPr>
          <p:cNvSpPr>
            <a:spLocks noGrp="1"/>
          </p:cNvSpPr>
          <p:nvPr>
            <p:ph type="title"/>
          </p:nvPr>
        </p:nvSpPr>
        <p:spPr/>
        <p:txBody>
          <a:bodyPr/>
          <a:lstStyle/>
          <a:p>
            <a:r>
              <a:rPr lang="de-DE" sz="2400" dirty="0"/>
              <a:t>Datasets</a:t>
            </a:r>
            <a:endParaRPr lang="de-DE" dirty="0"/>
          </a:p>
        </p:txBody>
      </p:sp>
      <p:graphicFrame>
        <p:nvGraphicFramePr>
          <p:cNvPr id="5" name="Chart 4">
            <a:extLst>
              <a:ext uri="{FF2B5EF4-FFF2-40B4-BE49-F238E27FC236}">
                <a16:creationId xmlns:a16="http://schemas.microsoft.com/office/drawing/2014/main" id="{7815E069-87DD-57B9-3322-58A52C4C0D3D}"/>
              </a:ext>
            </a:extLst>
          </p:cNvPr>
          <p:cNvGraphicFramePr/>
          <p:nvPr>
            <p:extLst>
              <p:ext uri="{D42A27DB-BD31-4B8C-83A1-F6EECF244321}">
                <p14:modId xmlns:p14="http://schemas.microsoft.com/office/powerpoint/2010/main" val="1489138378"/>
              </p:ext>
            </p:extLst>
          </p:nvPr>
        </p:nvGraphicFramePr>
        <p:xfrm>
          <a:off x="4805632" y="1685396"/>
          <a:ext cx="6431845" cy="412749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80D14D2A-1E8A-A8CD-DBCE-38EB728C7BBB}"/>
              </a:ext>
            </a:extLst>
          </p:cNvPr>
          <p:cNvGraphicFramePr/>
          <p:nvPr>
            <p:extLst>
              <p:ext uri="{D42A27DB-BD31-4B8C-83A1-F6EECF244321}">
                <p14:modId xmlns:p14="http://schemas.microsoft.com/office/powerpoint/2010/main" val="247511580"/>
              </p:ext>
            </p:extLst>
          </p:nvPr>
        </p:nvGraphicFramePr>
        <p:xfrm>
          <a:off x="619840" y="1955131"/>
          <a:ext cx="4523874" cy="2947737"/>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platzhalter 10">
            <a:extLst>
              <a:ext uri="{FF2B5EF4-FFF2-40B4-BE49-F238E27FC236}">
                <a16:creationId xmlns:a16="http://schemas.microsoft.com/office/drawing/2014/main" id="{F78A52CC-177D-92E2-D600-1454C73C8EE8}"/>
              </a:ext>
            </a:extLst>
          </p:cNvPr>
          <p:cNvSpPr>
            <a:spLocks noGrp="1"/>
          </p:cNvSpPr>
          <p:nvPr>
            <p:ph type="body" sz="quarter" idx="14"/>
          </p:nvPr>
        </p:nvSpPr>
        <p:spPr>
          <a:xfrm>
            <a:off x="576263" y="688975"/>
            <a:ext cx="7680325" cy="319088"/>
          </a:xfrm>
        </p:spPr>
        <p:txBody>
          <a:bodyPr/>
          <a:lstStyle/>
          <a:p>
            <a:r>
              <a:rPr lang="de-DE" dirty="0"/>
              <a:t>QUTS7Comm(2017) Class and Attack Distribution</a:t>
            </a:r>
          </a:p>
          <a:p>
            <a:endParaRPr lang="de-DE" dirty="0"/>
          </a:p>
        </p:txBody>
      </p:sp>
      <p:sp>
        <p:nvSpPr>
          <p:cNvPr id="8" name="TextBox 7">
            <a:extLst>
              <a:ext uri="{FF2B5EF4-FFF2-40B4-BE49-F238E27FC236}">
                <a16:creationId xmlns:a16="http://schemas.microsoft.com/office/drawing/2014/main" id="{631335EE-A469-0639-AD31-AB7A3A25ED25}"/>
              </a:ext>
            </a:extLst>
          </p:cNvPr>
          <p:cNvSpPr txBox="1"/>
          <p:nvPr/>
        </p:nvSpPr>
        <p:spPr>
          <a:xfrm>
            <a:off x="575733" y="5219700"/>
            <a:ext cx="4639205" cy="523220"/>
          </a:xfrm>
          <a:prstGeom prst="rect">
            <a:avLst/>
          </a:prstGeom>
          <a:noFill/>
        </p:spPr>
        <p:txBody>
          <a:bodyPr wrap="square" rtlCol="0">
            <a:spAutoFit/>
          </a:bodyPr>
          <a:lstStyle/>
          <a:p>
            <a:pPr marL="285750" indent="-285750">
              <a:buFont typeface="Arial" panose="020B0604020202020204" pitchFamily="34" charset="0"/>
              <a:buChar char="•"/>
            </a:pPr>
            <a:r>
              <a:rPr lang="de-DE" sz="1400" dirty="0"/>
              <a:t>99,8% of traffic belongs to  S7Comm protocol (minor background traffic includes DHCPv6, NTP, mDNS)</a:t>
            </a:r>
          </a:p>
        </p:txBody>
      </p:sp>
    </p:spTree>
    <p:extLst>
      <p:ext uri="{BB962C8B-B14F-4D97-AF65-F5344CB8AC3E}">
        <p14:creationId xmlns:p14="http://schemas.microsoft.com/office/powerpoint/2010/main" val="15261010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6E28B2-23D2-9CFE-CCEC-BB24A0F01E5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932D370-BDF2-124B-D09F-CCEF16D486C7}"/>
              </a:ext>
            </a:extLst>
          </p:cNvPr>
          <p:cNvSpPr>
            <a:spLocks noGrp="1"/>
          </p:cNvSpPr>
          <p:nvPr>
            <p:ph type="dt" sz="half" idx="10"/>
          </p:nvPr>
        </p:nvSpPr>
        <p:spPr/>
        <p:txBody>
          <a:bodyPr/>
          <a:lstStyle/>
          <a:p>
            <a:fld id="{370C030B-7870-41CD-B148-D44FA45BD501}" type="datetime6">
              <a:rPr lang="en-US" smtClean="0"/>
              <a:t>March 26</a:t>
            </a:fld>
            <a:endParaRPr lang="de-DE" dirty="0"/>
          </a:p>
        </p:txBody>
      </p:sp>
      <p:sp>
        <p:nvSpPr>
          <p:cNvPr id="5" name="Textplatzhalter 4">
            <a:extLst>
              <a:ext uri="{FF2B5EF4-FFF2-40B4-BE49-F238E27FC236}">
                <a16:creationId xmlns:a16="http://schemas.microsoft.com/office/drawing/2014/main" id="{C3261A60-41FC-6372-5BE6-7842AE10A438}"/>
              </a:ext>
            </a:extLst>
          </p:cNvPr>
          <p:cNvSpPr>
            <a:spLocks noGrp="1"/>
          </p:cNvSpPr>
          <p:nvPr>
            <p:ph type="body" sz="quarter" idx="12"/>
          </p:nvPr>
        </p:nvSpPr>
        <p:spPr/>
        <p:txBody>
          <a:bodyPr/>
          <a:lstStyle/>
          <a:p>
            <a:r>
              <a:rPr lang="de-DE" dirty="0"/>
              <a:t>Methodology</a:t>
            </a:r>
          </a:p>
        </p:txBody>
      </p:sp>
      <p:sp>
        <p:nvSpPr>
          <p:cNvPr id="4" name="Foliennummernplatzhalter 3">
            <a:extLst>
              <a:ext uri="{FF2B5EF4-FFF2-40B4-BE49-F238E27FC236}">
                <a16:creationId xmlns:a16="http://schemas.microsoft.com/office/drawing/2014/main" id="{1E50B096-627E-5D8F-D9A1-E86CCACAFA8B}"/>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7</a:t>
            </a:fld>
            <a:endParaRPr lang="de-DE"/>
          </a:p>
        </p:txBody>
      </p:sp>
      <p:sp>
        <p:nvSpPr>
          <p:cNvPr id="7" name="Text Placeholder 6">
            <a:extLst>
              <a:ext uri="{FF2B5EF4-FFF2-40B4-BE49-F238E27FC236}">
                <a16:creationId xmlns:a16="http://schemas.microsoft.com/office/drawing/2014/main" id="{6CFFEB0A-614F-55C9-9F16-739304E95D78}"/>
              </a:ext>
            </a:extLst>
          </p:cNvPr>
          <p:cNvSpPr>
            <a:spLocks noGrp="1"/>
          </p:cNvSpPr>
          <p:nvPr>
            <p:ph type="body" sz="quarter" idx="11"/>
          </p:nvPr>
        </p:nvSpPr>
        <p:spPr/>
        <p:txBody>
          <a:bodyPr/>
          <a:lstStyle/>
          <a:p>
            <a:endParaRPr lang="de-DE"/>
          </a:p>
        </p:txBody>
      </p:sp>
    </p:spTree>
    <p:extLst>
      <p:ext uri="{BB962C8B-B14F-4D97-AF65-F5344CB8AC3E}">
        <p14:creationId xmlns:p14="http://schemas.microsoft.com/office/powerpoint/2010/main" val="23081320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DD54C-1420-0E5D-4150-C6E6E42DA56F}"/>
            </a:ext>
          </a:extLst>
        </p:cNvPr>
        <p:cNvGrpSpPr/>
        <p:nvPr/>
      </p:nvGrpSpPr>
      <p:grpSpPr>
        <a:xfrm>
          <a:off x="0" y="0"/>
          <a:ext cx="0" cy="0"/>
          <a:chOff x="0" y="0"/>
          <a:chExt cx="0" cy="0"/>
        </a:xfrm>
      </p:grpSpPr>
      <p:sp>
        <p:nvSpPr>
          <p:cNvPr id="23" name="Datumsplatzhalter 22">
            <a:extLst>
              <a:ext uri="{FF2B5EF4-FFF2-40B4-BE49-F238E27FC236}">
                <a16:creationId xmlns:a16="http://schemas.microsoft.com/office/drawing/2014/main" id="{8A094F38-DA37-EF61-E42F-E9429D2892FC}"/>
              </a:ext>
            </a:extLst>
          </p:cNvPr>
          <p:cNvSpPr>
            <a:spLocks noGrp="1"/>
          </p:cNvSpPr>
          <p:nvPr>
            <p:ph type="dt" sz="half" idx="10"/>
          </p:nvPr>
        </p:nvSpPr>
        <p:spPr/>
        <p:txBody>
          <a:bodyPr/>
          <a:lstStyle/>
          <a:p>
            <a:fld id="{1ED135A3-9A03-47D1-9B14-EF9C0227673F}" type="datetime6">
              <a:rPr lang="en-US" smtClean="0"/>
              <a:t>March 26</a:t>
            </a:fld>
            <a:endParaRPr lang="de-DE" dirty="0"/>
          </a:p>
        </p:txBody>
      </p:sp>
      <p:sp>
        <p:nvSpPr>
          <p:cNvPr id="24" name="Fußzeilenplatzhalter 23">
            <a:extLst>
              <a:ext uri="{FF2B5EF4-FFF2-40B4-BE49-F238E27FC236}">
                <a16:creationId xmlns:a16="http://schemas.microsoft.com/office/drawing/2014/main" id="{CFB60B61-A65F-3045-5B61-FAD1E529D7E6}"/>
              </a:ext>
            </a:extLst>
          </p:cNvPr>
          <p:cNvSpPr>
            <a:spLocks noGrp="1"/>
          </p:cNvSpPr>
          <p:nvPr>
            <p:ph type="ftr" sz="quarter" idx="11"/>
          </p:nvPr>
        </p:nvSpPr>
        <p:spPr>
          <a:xfrm>
            <a:off x="4130411" y="6308725"/>
            <a:ext cx="5712000" cy="363092"/>
          </a:xfrm>
        </p:spPr>
        <p:txBody>
          <a:bodyPr/>
          <a:lstStyle/>
          <a:p>
            <a:r>
              <a:rPr lang="de-DE" dirty="0"/>
              <a:t>SVM: Support vector machine, GAN: Generative adversial networks</a:t>
            </a:r>
          </a:p>
          <a:p>
            <a:r>
              <a:rPr lang="de-DE" dirty="0"/>
              <a:t>CNN: Convolutional neural network, RE: Reverse engineered dataset representation</a:t>
            </a:r>
          </a:p>
        </p:txBody>
      </p:sp>
      <p:sp>
        <p:nvSpPr>
          <p:cNvPr id="25" name="Foliennummernplatzhalter 24">
            <a:extLst>
              <a:ext uri="{FF2B5EF4-FFF2-40B4-BE49-F238E27FC236}">
                <a16:creationId xmlns:a16="http://schemas.microsoft.com/office/drawing/2014/main" id="{97BDC5A2-2DDD-E69F-8CA3-0FB34D4F81B0}"/>
              </a:ext>
            </a:extLst>
          </p:cNvPr>
          <p:cNvSpPr>
            <a:spLocks noGrp="1"/>
          </p:cNvSpPr>
          <p:nvPr>
            <p:ph type="sldNum" sz="quarter" idx="12"/>
          </p:nvPr>
        </p:nvSpPr>
        <p:spPr/>
        <p:txBody>
          <a:bodyPr/>
          <a:lstStyle/>
          <a:p>
            <a:fld id="{D3A9EDD9-2578-4372-8132-10947A418667}" type="slidenum">
              <a:rPr lang="de-DE" smtClean="0"/>
              <a:t>8</a:t>
            </a:fld>
            <a:endParaRPr lang="de-DE"/>
          </a:p>
        </p:txBody>
      </p:sp>
      <p:sp>
        <p:nvSpPr>
          <p:cNvPr id="44" name="Title 1">
            <a:extLst>
              <a:ext uri="{FF2B5EF4-FFF2-40B4-BE49-F238E27FC236}">
                <a16:creationId xmlns:a16="http://schemas.microsoft.com/office/drawing/2014/main" id="{B8F036F4-0995-AA37-E367-763880030695}"/>
              </a:ext>
            </a:extLst>
          </p:cNvPr>
          <p:cNvSpPr>
            <a:spLocks noGrp="1"/>
          </p:cNvSpPr>
          <p:nvPr>
            <p:ph type="title"/>
          </p:nvPr>
        </p:nvSpPr>
        <p:spPr>
          <a:xfrm>
            <a:off x="261991" y="416297"/>
            <a:ext cx="10515600" cy="511131"/>
          </a:xfrm>
        </p:spPr>
        <p:txBody>
          <a:bodyPr/>
          <a:lstStyle/>
          <a:p>
            <a:r>
              <a:rPr lang="de-DE" dirty="0"/>
              <a:t>Experimental Procedure overview</a:t>
            </a:r>
          </a:p>
        </p:txBody>
      </p:sp>
      <p:sp>
        <p:nvSpPr>
          <p:cNvPr id="45" name="TextBox 44">
            <a:extLst>
              <a:ext uri="{FF2B5EF4-FFF2-40B4-BE49-F238E27FC236}">
                <a16:creationId xmlns:a16="http://schemas.microsoft.com/office/drawing/2014/main" id="{463D864E-FCB8-C585-00A7-391BF5A0DD7E}"/>
              </a:ext>
            </a:extLst>
          </p:cNvPr>
          <p:cNvSpPr txBox="1"/>
          <p:nvPr/>
        </p:nvSpPr>
        <p:spPr>
          <a:xfrm>
            <a:off x="315240" y="1703042"/>
            <a:ext cx="1213371" cy="461665"/>
          </a:xfrm>
          <a:prstGeom prst="rect">
            <a:avLst/>
          </a:prstGeom>
          <a:noFill/>
          <a:ln>
            <a:solidFill>
              <a:schemeClr val="tx1"/>
            </a:solidFill>
          </a:ln>
        </p:spPr>
        <p:txBody>
          <a:bodyPr wrap="square" rtlCol="0">
            <a:spAutoFit/>
          </a:bodyPr>
          <a:lstStyle/>
          <a:p>
            <a:r>
              <a:rPr lang="de-DE" sz="1200" dirty="0"/>
              <a:t>QUTS7Comm</a:t>
            </a:r>
          </a:p>
          <a:p>
            <a:r>
              <a:rPr lang="de-DE" sz="1200" dirty="0"/>
              <a:t>(2017)</a:t>
            </a:r>
          </a:p>
        </p:txBody>
      </p:sp>
      <p:sp>
        <p:nvSpPr>
          <p:cNvPr id="46" name="TextBox 45">
            <a:extLst>
              <a:ext uri="{FF2B5EF4-FFF2-40B4-BE49-F238E27FC236}">
                <a16:creationId xmlns:a16="http://schemas.microsoft.com/office/drawing/2014/main" id="{FA6032CF-21A1-B179-D77E-89D67B62F5B8}"/>
              </a:ext>
            </a:extLst>
          </p:cNvPr>
          <p:cNvSpPr txBox="1"/>
          <p:nvPr/>
        </p:nvSpPr>
        <p:spPr>
          <a:xfrm>
            <a:off x="4438733" y="1844992"/>
            <a:ext cx="904944" cy="830997"/>
          </a:xfrm>
          <a:prstGeom prst="rect">
            <a:avLst/>
          </a:prstGeom>
          <a:noFill/>
          <a:ln>
            <a:solidFill>
              <a:schemeClr val="tx1"/>
            </a:solidFill>
          </a:ln>
        </p:spPr>
        <p:txBody>
          <a:bodyPr wrap="square" rtlCol="0">
            <a:spAutoFit/>
          </a:bodyPr>
          <a:lstStyle/>
          <a:p>
            <a:r>
              <a:rPr lang="de-DE" sz="1200" dirty="0"/>
              <a:t>Raw</a:t>
            </a:r>
          </a:p>
          <a:p>
            <a:r>
              <a:rPr lang="de-DE" sz="1200" dirty="0"/>
              <a:t>RE5</a:t>
            </a:r>
          </a:p>
          <a:p>
            <a:r>
              <a:rPr lang="de-DE" sz="1200" dirty="0"/>
              <a:t>RE10</a:t>
            </a:r>
          </a:p>
          <a:p>
            <a:r>
              <a:rPr lang="de-DE" sz="1200" dirty="0"/>
              <a:t>RE15</a:t>
            </a:r>
          </a:p>
        </p:txBody>
      </p:sp>
      <p:sp>
        <p:nvSpPr>
          <p:cNvPr id="47" name="TextBox 46">
            <a:extLst>
              <a:ext uri="{FF2B5EF4-FFF2-40B4-BE49-F238E27FC236}">
                <a16:creationId xmlns:a16="http://schemas.microsoft.com/office/drawing/2014/main" id="{10760743-1988-A528-F1FD-D9D5A50B4397}"/>
              </a:ext>
            </a:extLst>
          </p:cNvPr>
          <p:cNvSpPr txBox="1"/>
          <p:nvPr/>
        </p:nvSpPr>
        <p:spPr>
          <a:xfrm>
            <a:off x="2867025" y="2260491"/>
            <a:ext cx="433229" cy="276999"/>
          </a:xfrm>
          <a:prstGeom prst="rect">
            <a:avLst/>
          </a:prstGeom>
          <a:noFill/>
          <a:ln>
            <a:solidFill>
              <a:schemeClr val="tx1"/>
            </a:solidFill>
          </a:ln>
        </p:spPr>
        <p:txBody>
          <a:bodyPr wrap="square" rtlCol="0">
            <a:spAutoFit/>
          </a:bodyPr>
          <a:lstStyle/>
          <a:p>
            <a:r>
              <a:rPr lang="de-DE" sz="1200" dirty="0"/>
              <a:t>RE</a:t>
            </a:r>
          </a:p>
        </p:txBody>
      </p:sp>
      <p:sp>
        <p:nvSpPr>
          <p:cNvPr id="50" name="TextBox 49">
            <a:extLst>
              <a:ext uri="{FF2B5EF4-FFF2-40B4-BE49-F238E27FC236}">
                <a16:creationId xmlns:a16="http://schemas.microsoft.com/office/drawing/2014/main" id="{03A61821-4D6C-E363-9C05-26FEC4F296C6}"/>
              </a:ext>
            </a:extLst>
          </p:cNvPr>
          <p:cNvSpPr txBox="1"/>
          <p:nvPr/>
        </p:nvSpPr>
        <p:spPr>
          <a:xfrm>
            <a:off x="6721091" y="2036421"/>
            <a:ext cx="1161941" cy="461665"/>
          </a:xfrm>
          <a:prstGeom prst="rect">
            <a:avLst/>
          </a:prstGeom>
          <a:noFill/>
          <a:ln>
            <a:solidFill>
              <a:schemeClr val="tx1"/>
            </a:solidFill>
          </a:ln>
        </p:spPr>
        <p:txBody>
          <a:bodyPr wrap="square" rtlCol="0">
            <a:spAutoFit/>
          </a:bodyPr>
          <a:lstStyle/>
          <a:p>
            <a:r>
              <a:rPr lang="de-DE" sz="1200" dirty="0"/>
              <a:t>Traditional  ML Detection</a:t>
            </a:r>
          </a:p>
        </p:txBody>
      </p:sp>
      <p:cxnSp>
        <p:nvCxnSpPr>
          <p:cNvPr id="51" name="Straight Arrow Connector 50">
            <a:extLst>
              <a:ext uri="{FF2B5EF4-FFF2-40B4-BE49-F238E27FC236}">
                <a16:creationId xmlns:a16="http://schemas.microsoft.com/office/drawing/2014/main" id="{99F0CB87-EC78-748E-23D0-80FD25AAAB70}"/>
              </a:ext>
            </a:extLst>
          </p:cNvPr>
          <p:cNvCxnSpPr>
            <a:cxnSpLocks/>
            <a:stCxn id="45" idx="3"/>
          </p:cNvCxnSpPr>
          <p:nvPr/>
        </p:nvCxnSpPr>
        <p:spPr>
          <a:xfrm flipV="1">
            <a:off x="1528611" y="1933874"/>
            <a:ext cx="2951398"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2" name="Straight Arrow Connector 51">
            <a:extLst>
              <a:ext uri="{FF2B5EF4-FFF2-40B4-BE49-F238E27FC236}">
                <a16:creationId xmlns:a16="http://schemas.microsoft.com/office/drawing/2014/main" id="{9B2F599B-CEC4-1384-4162-1B9D02649264}"/>
              </a:ext>
            </a:extLst>
          </p:cNvPr>
          <p:cNvCxnSpPr>
            <a:cxnSpLocks/>
            <a:stCxn id="45" idx="3"/>
            <a:endCxn id="47" idx="1"/>
          </p:cNvCxnSpPr>
          <p:nvPr/>
        </p:nvCxnSpPr>
        <p:spPr>
          <a:xfrm>
            <a:off x="1528611" y="1933875"/>
            <a:ext cx="1338414" cy="465116"/>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4" name="Straight Arrow Connector 53">
            <a:extLst>
              <a:ext uri="{FF2B5EF4-FFF2-40B4-BE49-F238E27FC236}">
                <a16:creationId xmlns:a16="http://schemas.microsoft.com/office/drawing/2014/main" id="{D0A33E6B-650D-C811-818C-2C1023C0B908}"/>
              </a:ext>
            </a:extLst>
          </p:cNvPr>
          <p:cNvCxnSpPr>
            <a:cxnSpLocks/>
            <a:stCxn id="47" idx="3"/>
            <a:endCxn id="46" idx="1"/>
          </p:cNvCxnSpPr>
          <p:nvPr/>
        </p:nvCxnSpPr>
        <p:spPr>
          <a:xfrm flipV="1">
            <a:off x="3300254" y="2260491"/>
            <a:ext cx="1138479" cy="1385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5" name="Straight Arrow Connector 54">
            <a:extLst>
              <a:ext uri="{FF2B5EF4-FFF2-40B4-BE49-F238E27FC236}">
                <a16:creationId xmlns:a16="http://schemas.microsoft.com/office/drawing/2014/main" id="{0F63B3DF-52F3-058B-F8CA-DF6BB5AC213B}"/>
              </a:ext>
            </a:extLst>
          </p:cNvPr>
          <p:cNvCxnSpPr>
            <a:cxnSpLocks/>
            <a:stCxn id="47" idx="3"/>
          </p:cNvCxnSpPr>
          <p:nvPr/>
        </p:nvCxnSpPr>
        <p:spPr>
          <a:xfrm flipV="1">
            <a:off x="3300254" y="2383724"/>
            <a:ext cx="1138479" cy="1526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6" name="Straight Arrow Connector 55">
            <a:extLst>
              <a:ext uri="{FF2B5EF4-FFF2-40B4-BE49-F238E27FC236}">
                <a16:creationId xmlns:a16="http://schemas.microsoft.com/office/drawing/2014/main" id="{A1DEDF41-A25A-5DF2-0231-E9C50FC616FC}"/>
              </a:ext>
            </a:extLst>
          </p:cNvPr>
          <p:cNvCxnSpPr>
            <a:cxnSpLocks/>
            <a:stCxn id="47" idx="3"/>
          </p:cNvCxnSpPr>
          <p:nvPr/>
        </p:nvCxnSpPr>
        <p:spPr>
          <a:xfrm>
            <a:off x="3300254" y="2398991"/>
            <a:ext cx="1121676" cy="12125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57" name="Straight Arrow Connector 56">
            <a:extLst>
              <a:ext uri="{FF2B5EF4-FFF2-40B4-BE49-F238E27FC236}">
                <a16:creationId xmlns:a16="http://schemas.microsoft.com/office/drawing/2014/main" id="{F5D72694-959E-EB3C-2EC6-448AC9F4F1A0}"/>
              </a:ext>
            </a:extLst>
          </p:cNvPr>
          <p:cNvCxnSpPr>
            <a:cxnSpLocks/>
            <a:stCxn id="46" idx="3"/>
            <a:endCxn id="50" idx="1"/>
          </p:cNvCxnSpPr>
          <p:nvPr/>
        </p:nvCxnSpPr>
        <p:spPr>
          <a:xfrm>
            <a:off x="5343677" y="2260491"/>
            <a:ext cx="1377414" cy="676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58" name="TextBox 57">
            <a:extLst>
              <a:ext uri="{FF2B5EF4-FFF2-40B4-BE49-F238E27FC236}">
                <a16:creationId xmlns:a16="http://schemas.microsoft.com/office/drawing/2014/main" id="{107322D2-713D-A9C8-B913-CA1FF12331E5}"/>
              </a:ext>
            </a:extLst>
          </p:cNvPr>
          <p:cNvSpPr txBox="1"/>
          <p:nvPr/>
        </p:nvSpPr>
        <p:spPr>
          <a:xfrm>
            <a:off x="6730614" y="2557075"/>
            <a:ext cx="1044243" cy="830997"/>
          </a:xfrm>
          <a:prstGeom prst="rect">
            <a:avLst/>
          </a:prstGeom>
          <a:noFill/>
          <a:ln>
            <a:solidFill>
              <a:schemeClr val="tx1"/>
            </a:solidFill>
          </a:ln>
        </p:spPr>
        <p:txBody>
          <a:bodyPr wrap="square" rtlCol="0">
            <a:spAutoFit/>
          </a:bodyPr>
          <a:lstStyle/>
          <a:p>
            <a:r>
              <a:rPr lang="de-DE" sz="1200" dirty="0"/>
              <a:t>Other anomaly detection methods</a:t>
            </a:r>
          </a:p>
        </p:txBody>
      </p:sp>
      <p:sp>
        <p:nvSpPr>
          <p:cNvPr id="59" name="TextBox 58">
            <a:extLst>
              <a:ext uri="{FF2B5EF4-FFF2-40B4-BE49-F238E27FC236}">
                <a16:creationId xmlns:a16="http://schemas.microsoft.com/office/drawing/2014/main" id="{0F73BE0D-AA99-3D5C-DC6A-591D9BD82844}"/>
              </a:ext>
            </a:extLst>
          </p:cNvPr>
          <p:cNvSpPr txBox="1"/>
          <p:nvPr/>
        </p:nvSpPr>
        <p:spPr>
          <a:xfrm>
            <a:off x="6721091" y="3464259"/>
            <a:ext cx="1044243" cy="646331"/>
          </a:xfrm>
          <a:prstGeom prst="rect">
            <a:avLst/>
          </a:prstGeom>
          <a:noFill/>
          <a:ln>
            <a:solidFill>
              <a:schemeClr val="tx1"/>
            </a:solidFill>
          </a:ln>
        </p:spPr>
        <p:txBody>
          <a:bodyPr wrap="square" rtlCol="0">
            <a:spAutoFit/>
          </a:bodyPr>
          <a:lstStyle/>
          <a:p>
            <a:r>
              <a:rPr lang="de-DE" sz="1200" dirty="0"/>
              <a:t>Deep learning classifiers</a:t>
            </a:r>
          </a:p>
        </p:txBody>
      </p:sp>
      <p:cxnSp>
        <p:nvCxnSpPr>
          <p:cNvPr id="60" name="Straight Arrow Connector 59">
            <a:extLst>
              <a:ext uri="{FF2B5EF4-FFF2-40B4-BE49-F238E27FC236}">
                <a16:creationId xmlns:a16="http://schemas.microsoft.com/office/drawing/2014/main" id="{B915E89F-F440-EA01-9B47-CD1E6EF7654A}"/>
              </a:ext>
            </a:extLst>
          </p:cNvPr>
          <p:cNvCxnSpPr>
            <a:cxnSpLocks/>
            <a:stCxn id="46" idx="3"/>
            <a:endCxn id="58" idx="1"/>
          </p:cNvCxnSpPr>
          <p:nvPr/>
        </p:nvCxnSpPr>
        <p:spPr>
          <a:xfrm>
            <a:off x="5343677" y="2260491"/>
            <a:ext cx="1386937" cy="71208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1" name="Straight Arrow Connector 60">
            <a:extLst>
              <a:ext uri="{FF2B5EF4-FFF2-40B4-BE49-F238E27FC236}">
                <a16:creationId xmlns:a16="http://schemas.microsoft.com/office/drawing/2014/main" id="{BB4F9ECB-A983-7D94-11F6-3C3024491641}"/>
              </a:ext>
            </a:extLst>
          </p:cNvPr>
          <p:cNvCxnSpPr>
            <a:cxnSpLocks/>
            <a:stCxn id="46" idx="3"/>
            <a:endCxn id="59" idx="1"/>
          </p:cNvCxnSpPr>
          <p:nvPr/>
        </p:nvCxnSpPr>
        <p:spPr>
          <a:xfrm>
            <a:off x="5343677" y="2260491"/>
            <a:ext cx="1377414" cy="152693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63" name="TextBox 62">
            <a:extLst>
              <a:ext uri="{FF2B5EF4-FFF2-40B4-BE49-F238E27FC236}">
                <a16:creationId xmlns:a16="http://schemas.microsoft.com/office/drawing/2014/main" id="{849AFD15-5E29-3FF2-AAB6-2EC231C69C05}"/>
              </a:ext>
            </a:extLst>
          </p:cNvPr>
          <p:cNvSpPr txBox="1"/>
          <p:nvPr/>
        </p:nvSpPr>
        <p:spPr>
          <a:xfrm>
            <a:off x="8018188" y="1224724"/>
            <a:ext cx="1859756" cy="646331"/>
          </a:xfrm>
          <a:prstGeom prst="rect">
            <a:avLst/>
          </a:prstGeom>
          <a:ln>
            <a:solidFill>
              <a:schemeClr val="bg2"/>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285750" indent="-285750">
              <a:buFont typeface="Symbol" panose="05050102010706020507" pitchFamily="18" charset="2"/>
              <a:buChar char="-"/>
            </a:pPr>
            <a:r>
              <a:rPr lang="de-DE" sz="1200" dirty="0"/>
              <a:t>One-class SVM</a:t>
            </a:r>
          </a:p>
          <a:p>
            <a:pPr marL="285750" indent="-285750">
              <a:buFont typeface="Symbol" panose="05050102010706020507" pitchFamily="18" charset="2"/>
              <a:buChar char="-"/>
            </a:pPr>
            <a:r>
              <a:rPr lang="de-DE" sz="1200" dirty="0"/>
              <a:t>Local Outlier Factor</a:t>
            </a:r>
          </a:p>
          <a:p>
            <a:pPr marL="285750" indent="-285750">
              <a:buFont typeface="Symbol" panose="05050102010706020507" pitchFamily="18" charset="2"/>
              <a:buChar char="-"/>
            </a:pPr>
            <a:r>
              <a:rPr lang="de-DE" sz="1200" dirty="0"/>
              <a:t>Elliptic Envelope</a:t>
            </a:r>
          </a:p>
        </p:txBody>
      </p:sp>
      <p:sp>
        <p:nvSpPr>
          <p:cNvPr id="64" name="TextBox 63">
            <a:extLst>
              <a:ext uri="{FF2B5EF4-FFF2-40B4-BE49-F238E27FC236}">
                <a16:creationId xmlns:a16="http://schemas.microsoft.com/office/drawing/2014/main" id="{729C4E18-E49A-439E-3164-16D00E8A2CDC}"/>
              </a:ext>
            </a:extLst>
          </p:cNvPr>
          <p:cNvSpPr txBox="1"/>
          <p:nvPr/>
        </p:nvSpPr>
        <p:spPr>
          <a:xfrm>
            <a:off x="8018188" y="1937326"/>
            <a:ext cx="1859756" cy="646331"/>
          </a:xfrm>
          <a:prstGeom prst="rect">
            <a:avLst/>
          </a:prstGeom>
          <a:ln>
            <a:solidFill>
              <a:schemeClr val="accent4"/>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171450" indent="-171450">
              <a:buFont typeface="Symbol" panose="05050102010706020507" pitchFamily="18" charset="2"/>
              <a:buChar char="-"/>
            </a:pPr>
            <a:r>
              <a:rPr lang="de-DE" sz="1200" dirty="0"/>
              <a:t>KNN</a:t>
            </a:r>
          </a:p>
          <a:p>
            <a:pPr marL="171450" indent="-171450">
              <a:buFont typeface="Symbol" panose="05050102010706020507" pitchFamily="18" charset="2"/>
              <a:buChar char="-"/>
            </a:pPr>
            <a:r>
              <a:rPr lang="de-DE" sz="1200" dirty="0"/>
              <a:t>Binary SVM</a:t>
            </a:r>
          </a:p>
          <a:p>
            <a:pPr marL="171450" indent="-171450">
              <a:buFont typeface="Symbol" panose="05050102010706020507" pitchFamily="18" charset="2"/>
              <a:buChar char="-"/>
            </a:pPr>
            <a:r>
              <a:rPr lang="de-DE" sz="1200" dirty="0"/>
              <a:t>Random Forest</a:t>
            </a:r>
          </a:p>
        </p:txBody>
      </p:sp>
      <p:sp>
        <p:nvSpPr>
          <p:cNvPr id="65" name="TextBox 64">
            <a:extLst>
              <a:ext uri="{FF2B5EF4-FFF2-40B4-BE49-F238E27FC236}">
                <a16:creationId xmlns:a16="http://schemas.microsoft.com/office/drawing/2014/main" id="{B943F5A2-E0FE-1780-F26C-1A4D0B3BD679}"/>
              </a:ext>
            </a:extLst>
          </p:cNvPr>
          <p:cNvSpPr txBox="1"/>
          <p:nvPr/>
        </p:nvSpPr>
        <p:spPr>
          <a:xfrm>
            <a:off x="8018188" y="2646416"/>
            <a:ext cx="1859756" cy="646331"/>
          </a:xfrm>
          <a:prstGeom prst="rect">
            <a:avLst/>
          </a:prstGeom>
          <a:ln>
            <a:solidFill>
              <a:schemeClr val="bg2"/>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285750" indent="-285750">
              <a:buFont typeface="Symbol" panose="05050102010706020507" pitchFamily="18" charset="2"/>
              <a:buChar char="-"/>
            </a:pPr>
            <a:r>
              <a:rPr lang="de-DE" sz="1200" dirty="0"/>
              <a:t>SDA</a:t>
            </a:r>
          </a:p>
          <a:p>
            <a:pPr marL="285750" indent="-285750">
              <a:buFont typeface="Symbol" panose="05050102010706020507" pitchFamily="18" charset="2"/>
              <a:buChar char="-"/>
            </a:pPr>
            <a:r>
              <a:rPr lang="de-DE" sz="1200" dirty="0"/>
              <a:t>N-Gram </a:t>
            </a:r>
          </a:p>
          <a:p>
            <a:pPr marL="285750" indent="-285750">
              <a:buFont typeface="Symbol" panose="05050102010706020507" pitchFamily="18" charset="2"/>
              <a:buChar char="-"/>
            </a:pPr>
            <a:r>
              <a:rPr lang="de-DE" sz="1200" dirty="0"/>
              <a:t>GAN</a:t>
            </a:r>
          </a:p>
        </p:txBody>
      </p:sp>
      <p:sp>
        <p:nvSpPr>
          <p:cNvPr id="66" name="TextBox 65">
            <a:extLst>
              <a:ext uri="{FF2B5EF4-FFF2-40B4-BE49-F238E27FC236}">
                <a16:creationId xmlns:a16="http://schemas.microsoft.com/office/drawing/2014/main" id="{10EB36A8-3224-8FE8-9147-76E667729F7A}"/>
              </a:ext>
            </a:extLst>
          </p:cNvPr>
          <p:cNvSpPr txBox="1"/>
          <p:nvPr/>
        </p:nvSpPr>
        <p:spPr>
          <a:xfrm>
            <a:off x="8022946" y="3556591"/>
            <a:ext cx="1859756" cy="461665"/>
          </a:xfrm>
          <a:prstGeom prst="rect">
            <a:avLst/>
          </a:prstGeom>
          <a:ln>
            <a:solidFill>
              <a:schemeClr val="accent4"/>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pPr marL="285750" indent="-285750">
              <a:buFont typeface="Symbol" panose="05050102010706020507" pitchFamily="18" charset="2"/>
              <a:buChar char="-"/>
            </a:pPr>
            <a:r>
              <a:rPr lang="de-DE" sz="1200" dirty="0"/>
              <a:t>CNN</a:t>
            </a:r>
          </a:p>
          <a:p>
            <a:pPr marL="285750" indent="-285750">
              <a:buFont typeface="Symbol" panose="05050102010706020507" pitchFamily="18" charset="2"/>
              <a:buChar char="-"/>
            </a:pPr>
            <a:r>
              <a:rPr lang="de-DE" sz="1200" dirty="0">
                <a:solidFill>
                  <a:schemeClr val="tx1"/>
                </a:solidFill>
              </a:rPr>
              <a:t>ResNet</a:t>
            </a:r>
          </a:p>
        </p:txBody>
      </p:sp>
      <p:sp>
        <p:nvSpPr>
          <p:cNvPr id="67" name="TextBox 66">
            <a:extLst>
              <a:ext uri="{FF2B5EF4-FFF2-40B4-BE49-F238E27FC236}">
                <a16:creationId xmlns:a16="http://schemas.microsoft.com/office/drawing/2014/main" id="{06120D58-CBD3-63E8-2E14-8255184E0DFF}"/>
              </a:ext>
            </a:extLst>
          </p:cNvPr>
          <p:cNvSpPr txBox="1"/>
          <p:nvPr/>
        </p:nvSpPr>
        <p:spPr>
          <a:xfrm>
            <a:off x="10130797" y="1465926"/>
            <a:ext cx="1124091" cy="830997"/>
          </a:xfrm>
          <a:prstGeom prst="rect">
            <a:avLst/>
          </a:prstGeom>
          <a:ln>
            <a:solidFill>
              <a:schemeClr val="tx1"/>
            </a:solidFill>
          </a:ln>
        </p:spPr>
        <p:style>
          <a:lnRef idx="2">
            <a:schemeClr val="accent4"/>
          </a:lnRef>
          <a:fillRef idx="1">
            <a:schemeClr val="lt1"/>
          </a:fillRef>
          <a:effectRef idx="0">
            <a:schemeClr val="accent4"/>
          </a:effectRef>
          <a:fontRef idx="minor">
            <a:schemeClr val="dk1"/>
          </a:fontRef>
        </p:style>
        <p:txBody>
          <a:bodyPr wrap="square" rtlCol="0">
            <a:spAutoFit/>
          </a:bodyPr>
          <a:lstStyle/>
          <a:p>
            <a:r>
              <a:rPr lang="de-DE" sz="1200" dirty="0"/>
              <a:t>Ensemble </a:t>
            </a:r>
          </a:p>
          <a:p>
            <a:r>
              <a:rPr lang="de-DE" sz="1200" dirty="0"/>
              <a:t>Classifier </a:t>
            </a:r>
          </a:p>
          <a:p>
            <a:r>
              <a:rPr lang="de-DE" sz="1200" dirty="0"/>
              <a:t>(</a:t>
            </a:r>
            <a:r>
              <a:rPr lang="de-DE" sz="1200" dirty="0">
                <a:solidFill>
                  <a:schemeClr val="bg2"/>
                </a:solidFill>
              </a:rPr>
              <a:t>One-class</a:t>
            </a:r>
            <a:r>
              <a:rPr lang="de-DE" sz="1200" dirty="0"/>
              <a:t>/ </a:t>
            </a:r>
            <a:r>
              <a:rPr lang="de-DE" sz="1200" dirty="0">
                <a:solidFill>
                  <a:schemeClr val="accent4"/>
                </a:solidFill>
              </a:rPr>
              <a:t>Multiclass</a:t>
            </a:r>
            <a:r>
              <a:rPr lang="de-DE" sz="1200" dirty="0"/>
              <a:t>)</a:t>
            </a:r>
          </a:p>
        </p:txBody>
      </p:sp>
      <p:cxnSp>
        <p:nvCxnSpPr>
          <p:cNvPr id="68" name="Straight Arrow Connector 67">
            <a:extLst>
              <a:ext uri="{FF2B5EF4-FFF2-40B4-BE49-F238E27FC236}">
                <a16:creationId xmlns:a16="http://schemas.microsoft.com/office/drawing/2014/main" id="{3E093326-E130-B123-2170-3180D4B84A37}"/>
              </a:ext>
            </a:extLst>
          </p:cNvPr>
          <p:cNvCxnSpPr>
            <a:cxnSpLocks/>
            <a:stCxn id="50" idx="3"/>
          </p:cNvCxnSpPr>
          <p:nvPr/>
        </p:nvCxnSpPr>
        <p:spPr>
          <a:xfrm flipV="1">
            <a:off x="7883032" y="1438347"/>
            <a:ext cx="149441" cy="82890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9" name="Straight Arrow Connector 68">
            <a:extLst>
              <a:ext uri="{FF2B5EF4-FFF2-40B4-BE49-F238E27FC236}">
                <a16:creationId xmlns:a16="http://schemas.microsoft.com/office/drawing/2014/main" id="{B899B633-1EE7-9884-4DBA-D6A598E341F2}"/>
              </a:ext>
            </a:extLst>
          </p:cNvPr>
          <p:cNvCxnSpPr>
            <a:cxnSpLocks/>
            <a:stCxn id="50" idx="3"/>
            <a:endCxn id="64" idx="1"/>
          </p:cNvCxnSpPr>
          <p:nvPr/>
        </p:nvCxnSpPr>
        <p:spPr>
          <a:xfrm flipV="1">
            <a:off x="7883032" y="2260492"/>
            <a:ext cx="135156" cy="676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0" name="Straight Arrow Connector 69">
            <a:extLst>
              <a:ext uri="{FF2B5EF4-FFF2-40B4-BE49-F238E27FC236}">
                <a16:creationId xmlns:a16="http://schemas.microsoft.com/office/drawing/2014/main" id="{E24644D5-0DC0-3A8F-784C-AC7D9B7B7742}"/>
              </a:ext>
            </a:extLst>
          </p:cNvPr>
          <p:cNvCxnSpPr>
            <a:cxnSpLocks/>
            <a:stCxn id="63" idx="3"/>
            <a:endCxn id="67" idx="1"/>
          </p:cNvCxnSpPr>
          <p:nvPr/>
        </p:nvCxnSpPr>
        <p:spPr>
          <a:xfrm>
            <a:off x="9877944" y="1547890"/>
            <a:ext cx="252853" cy="333535"/>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1" name="Straight Arrow Connector 70">
            <a:extLst>
              <a:ext uri="{FF2B5EF4-FFF2-40B4-BE49-F238E27FC236}">
                <a16:creationId xmlns:a16="http://schemas.microsoft.com/office/drawing/2014/main" id="{8684D1B8-9352-AD69-AECE-1376921C0BEF}"/>
              </a:ext>
            </a:extLst>
          </p:cNvPr>
          <p:cNvCxnSpPr>
            <a:cxnSpLocks/>
            <a:stCxn id="64" idx="3"/>
            <a:endCxn id="67" idx="1"/>
          </p:cNvCxnSpPr>
          <p:nvPr/>
        </p:nvCxnSpPr>
        <p:spPr>
          <a:xfrm flipV="1">
            <a:off x="9877944" y="1881425"/>
            <a:ext cx="252853" cy="379067"/>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2" name="Straight Arrow Connector 71">
            <a:extLst>
              <a:ext uri="{FF2B5EF4-FFF2-40B4-BE49-F238E27FC236}">
                <a16:creationId xmlns:a16="http://schemas.microsoft.com/office/drawing/2014/main" id="{1E576635-5811-CF6E-F1C6-A416E7A0D041}"/>
              </a:ext>
            </a:extLst>
          </p:cNvPr>
          <p:cNvCxnSpPr>
            <a:cxnSpLocks/>
            <a:stCxn id="58" idx="3"/>
            <a:endCxn id="65" idx="1"/>
          </p:cNvCxnSpPr>
          <p:nvPr/>
        </p:nvCxnSpPr>
        <p:spPr>
          <a:xfrm flipV="1">
            <a:off x="7774857" y="2969582"/>
            <a:ext cx="243331" cy="2992"/>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3" name="Straight Arrow Connector 72">
            <a:extLst>
              <a:ext uri="{FF2B5EF4-FFF2-40B4-BE49-F238E27FC236}">
                <a16:creationId xmlns:a16="http://schemas.microsoft.com/office/drawing/2014/main" id="{E58BF8CA-2F94-6929-5692-DBC65DB28694}"/>
              </a:ext>
            </a:extLst>
          </p:cNvPr>
          <p:cNvCxnSpPr>
            <a:cxnSpLocks/>
            <a:stCxn id="59" idx="3"/>
            <a:endCxn id="66" idx="1"/>
          </p:cNvCxnSpPr>
          <p:nvPr/>
        </p:nvCxnSpPr>
        <p:spPr>
          <a:xfrm flipV="1">
            <a:off x="7765334" y="3787424"/>
            <a:ext cx="257612" cy="1"/>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4" name="Right Brace 73">
            <a:extLst>
              <a:ext uri="{FF2B5EF4-FFF2-40B4-BE49-F238E27FC236}">
                <a16:creationId xmlns:a16="http://schemas.microsoft.com/office/drawing/2014/main" id="{0E6414CD-2C9E-6C7D-39FE-3CE695918E48}"/>
              </a:ext>
            </a:extLst>
          </p:cNvPr>
          <p:cNvSpPr/>
          <p:nvPr/>
        </p:nvSpPr>
        <p:spPr>
          <a:xfrm rot="16200000">
            <a:off x="8795978" y="2629738"/>
            <a:ext cx="764631" cy="3870163"/>
          </a:xfrm>
          <a:prstGeom prst="rightBrace">
            <a:avLst/>
          </a:prstGeom>
        </p:spPr>
        <p:style>
          <a:lnRef idx="2">
            <a:schemeClr val="dk1"/>
          </a:lnRef>
          <a:fillRef idx="0">
            <a:schemeClr val="dk1"/>
          </a:fillRef>
          <a:effectRef idx="1">
            <a:schemeClr val="dk1"/>
          </a:effectRef>
          <a:fontRef idx="minor">
            <a:schemeClr val="tx1"/>
          </a:fontRef>
        </p:style>
        <p:txBody>
          <a:bodyPr rtlCol="0" anchor="ctr"/>
          <a:lstStyle/>
          <a:p>
            <a:pPr algn="ctr"/>
            <a:endParaRPr lang="de-DE"/>
          </a:p>
        </p:txBody>
      </p:sp>
      <p:sp>
        <p:nvSpPr>
          <p:cNvPr id="75" name="TextBox 74">
            <a:extLst>
              <a:ext uri="{FF2B5EF4-FFF2-40B4-BE49-F238E27FC236}">
                <a16:creationId xmlns:a16="http://schemas.microsoft.com/office/drawing/2014/main" id="{9EABB6E7-5A76-F505-BD57-20FF9BB7432C}"/>
              </a:ext>
            </a:extLst>
          </p:cNvPr>
          <p:cNvSpPr txBox="1"/>
          <p:nvPr/>
        </p:nvSpPr>
        <p:spPr>
          <a:xfrm>
            <a:off x="7317661" y="4761674"/>
            <a:ext cx="3715145" cy="1015663"/>
          </a:xfrm>
          <a:prstGeom prst="rect">
            <a:avLst/>
          </a:prstGeom>
          <a:noFill/>
        </p:spPr>
        <p:txBody>
          <a:bodyPr wrap="square" rtlCol="0">
            <a:spAutoFit/>
          </a:bodyPr>
          <a:lstStyle/>
          <a:p>
            <a:r>
              <a:rPr lang="de-DE" sz="1200" dirty="0"/>
              <a:t>K-Fold cross-validation with (k=5) on different evaluation scenarios:</a:t>
            </a:r>
          </a:p>
          <a:p>
            <a:pPr marL="285750" indent="-285750">
              <a:buFont typeface="Symbol" panose="05050102010706020507" pitchFamily="18" charset="2"/>
              <a:buChar char="-"/>
            </a:pPr>
            <a:r>
              <a:rPr lang="de-DE" sz="1200" dirty="0">
                <a:solidFill>
                  <a:schemeClr val="bg2"/>
                </a:solidFill>
              </a:rPr>
              <a:t>Scenario 1</a:t>
            </a:r>
          </a:p>
          <a:p>
            <a:pPr marL="285750" indent="-285750">
              <a:buFont typeface="Symbol" panose="05050102010706020507" pitchFamily="18" charset="2"/>
              <a:buChar char="-"/>
            </a:pPr>
            <a:r>
              <a:rPr lang="de-DE" sz="1200" dirty="0">
                <a:solidFill>
                  <a:schemeClr val="accent4"/>
                </a:solidFill>
              </a:rPr>
              <a:t>Scenario 2</a:t>
            </a:r>
          </a:p>
          <a:p>
            <a:pPr marL="285750" indent="-285750">
              <a:buFont typeface="Symbol" panose="05050102010706020507" pitchFamily="18" charset="2"/>
              <a:buChar char="-"/>
            </a:pPr>
            <a:r>
              <a:rPr lang="de-DE" sz="1200" dirty="0">
                <a:solidFill>
                  <a:schemeClr val="accent4"/>
                </a:solidFill>
              </a:rPr>
              <a:t>Scenario 3</a:t>
            </a:r>
          </a:p>
        </p:txBody>
      </p:sp>
      <p:sp>
        <p:nvSpPr>
          <p:cNvPr id="76" name="Rectangle 75">
            <a:extLst>
              <a:ext uri="{FF2B5EF4-FFF2-40B4-BE49-F238E27FC236}">
                <a16:creationId xmlns:a16="http://schemas.microsoft.com/office/drawing/2014/main" id="{61A58857-A45C-2BAE-2963-E4EA7D1314BA}"/>
              </a:ext>
            </a:extLst>
          </p:cNvPr>
          <p:cNvSpPr/>
          <p:nvPr/>
        </p:nvSpPr>
        <p:spPr>
          <a:xfrm>
            <a:off x="813531" y="4689188"/>
            <a:ext cx="253961" cy="185461"/>
          </a:xfrm>
          <a:prstGeom prst="rect">
            <a:avLst/>
          </a:prstGeom>
          <a:solidFill>
            <a:schemeClr val="bg2"/>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7" name="Rectangle 76">
            <a:extLst>
              <a:ext uri="{FF2B5EF4-FFF2-40B4-BE49-F238E27FC236}">
                <a16:creationId xmlns:a16="http://schemas.microsoft.com/office/drawing/2014/main" id="{315E2671-31A7-9183-5A8D-CB8D192B9EAA}"/>
              </a:ext>
            </a:extLst>
          </p:cNvPr>
          <p:cNvSpPr/>
          <p:nvPr/>
        </p:nvSpPr>
        <p:spPr>
          <a:xfrm>
            <a:off x="802807" y="5087769"/>
            <a:ext cx="253961" cy="185461"/>
          </a:xfrm>
          <a:prstGeom prst="rect">
            <a:avLst/>
          </a:prstGeom>
          <a:solidFill>
            <a:schemeClr val="accent4"/>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8" name="TextBox 77">
            <a:extLst>
              <a:ext uri="{FF2B5EF4-FFF2-40B4-BE49-F238E27FC236}">
                <a16:creationId xmlns:a16="http://schemas.microsoft.com/office/drawing/2014/main" id="{FD19F525-43B7-A31A-0330-8FF0EE657516}"/>
              </a:ext>
            </a:extLst>
          </p:cNvPr>
          <p:cNvSpPr txBox="1"/>
          <p:nvPr/>
        </p:nvSpPr>
        <p:spPr>
          <a:xfrm>
            <a:off x="1052445" y="4670136"/>
            <a:ext cx="5834083" cy="276999"/>
          </a:xfrm>
          <a:prstGeom prst="rect">
            <a:avLst/>
          </a:prstGeom>
          <a:noFill/>
        </p:spPr>
        <p:txBody>
          <a:bodyPr wrap="square" rtlCol="0">
            <a:spAutoFit/>
          </a:bodyPr>
          <a:lstStyle/>
          <a:p>
            <a:r>
              <a:rPr lang="de-DE" sz="1200" dirty="0"/>
              <a:t>= Trained on benign/control data only</a:t>
            </a:r>
          </a:p>
        </p:txBody>
      </p:sp>
      <p:sp>
        <p:nvSpPr>
          <p:cNvPr id="79" name="TextBox 78">
            <a:extLst>
              <a:ext uri="{FF2B5EF4-FFF2-40B4-BE49-F238E27FC236}">
                <a16:creationId xmlns:a16="http://schemas.microsoft.com/office/drawing/2014/main" id="{DD7C2DD0-1460-FFA0-BE6A-4990141A8FC7}"/>
              </a:ext>
            </a:extLst>
          </p:cNvPr>
          <p:cNvSpPr txBox="1"/>
          <p:nvPr/>
        </p:nvSpPr>
        <p:spPr>
          <a:xfrm>
            <a:off x="1052445" y="5061837"/>
            <a:ext cx="4562212" cy="276999"/>
          </a:xfrm>
          <a:prstGeom prst="rect">
            <a:avLst/>
          </a:prstGeom>
          <a:noFill/>
        </p:spPr>
        <p:txBody>
          <a:bodyPr wrap="square" rtlCol="0">
            <a:spAutoFit/>
          </a:bodyPr>
          <a:lstStyle/>
          <a:p>
            <a:r>
              <a:rPr lang="de-DE" sz="1200" dirty="0"/>
              <a:t>= Trained on benign/control and attack data</a:t>
            </a:r>
          </a:p>
        </p:txBody>
      </p:sp>
      <p:sp>
        <p:nvSpPr>
          <p:cNvPr id="5" name="TextBox 4">
            <a:extLst>
              <a:ext uri="{FF2B5EF4-FFF2-40B4-BE49-F238E27FC236}">
                <a16:creationId xmlns:a16="http://schemas.microsoft.com/office/drawing/2014/main" id="{09E2A060-AB36-5EAC-95B3-542270E47B72}"/>
              </a:ext>
            </a:extLst>
          </p:cNvPr>
          <p:cNvSpPr txBox="1"/>
          <p:nvPr/>
        </p:nvSpPr>
        <p:spPr>
          <a:xfrm>
            <a:off x="2339433" y="1701181"/>
            <a:ext cx="1752600" cy="215444"/>
          </a:xfrm>
          <a:prstGeom prst="rect">
            <a:avLst/>
          </a:prstGeom>
          <a:noFill/>
        </p:spPr>
        <p:txBody>
          <a:bodyPr wrap="square" rtlCol="0">
            <a:spAutoFit/>
          </a:bodyPr>
          <a:lstStyle/>
          <a:p>
            <a:r>
              <a:rPr lang="de-DE" sz="800" dirty="0"/>
              <a:t>Dataset Preprocessing</a:t>
            </a:r>
          </a:p>
        </p:txBody>
      </p:sp>
      <p:sp>
        <p:nvSpPr>
          <p:cNvPr id="7" name="TextBox 6">
            <a:extLst>
              <a:ext uri="{FF2B5EF4-FFF2-40B4-BE49-F238E27FC236}">
                <a16:creationId xmlns:a16="http://schemas.microsoft.com/office/drawing/2014/main" id="{509093EA-D8AF-9591-C95A-C08281027C65}"/>
              </a:ext>
            </a:extLst>
          </p:cNvPr>
          <p:cNvSpPr txBox="1"/>
          <p:nvPr/>
        </p:nvSpPr>
        <p:spPr>
          <a:xfrm>
            <a:off x="1393455" y="2276116"/>
            <a:ext cx="1318989" cy="338554"/>
          </a:xfrm>
          <a:prstGeom prst="rect">
            <a:avLst/>
          </a:prstGeom>
          <a:noFill/>
        </p:spPr>
        <p:txBody>
          <a:bodyPr wrap="square">
            <a:spAutoFit/>
          </a:bodyPr>
          <a:lstStyle/>
          <a:p>
            <a:r>
              <a:rPr lang="de-DE" sz="800" dirty="0">
                <a:solidFill>
                  <a:schemeClr val="tx1">
                    <a:lumMod val="75000"/>
                  </a:schemeClr>
                </a:solidFill>
              </a:rPr>
              <a:t>Dataset Preprocessing &amp; Reverse Engineering</a:t>
            </a:r>
          </a:p>
        </p:txBody>
      </p:sp>
      <p:sp>
        <p:nvSpPr>
          <p:cNvPr id="9" name="TextBox 8">
            <a:extLst>
              <a:ext uri="{FF2B5EF4-FFF2-40B4-BE49-F238E27FC236}">
                <a16:creationId xmlns:a16="http://schemas.microsoft.com/office/drawing/2014/main" id="{60FD8D01-0219-8AAC-B254-AD0DE3EA3D4E}"/>
              </a:ext>
            </a:extLst>
          </p:cNvPr>
          <p:cNvSpPr txBox="1"/>
          <p:nvPr/>
        </p:nvSpPr>
        <p:spPr>
          <a:xfrm>
            <a:off x="3435410" y="2493421"/>
            <a:ext cx="904944" cy="338554"/>
          </a:xfrm>
          <a:prstGeom prst="rect">
            <a:avLst/>
          </a:prstGeom>
          <a:noFill/>
        </p:spPr>
        <p:txBody>
          <a:bodyPr wrap="square">
            <a:spAutoFit/>
          </a:bodyPr>
          <a:lstStyle/>
          <a:p>
            <a:r>
              <a:rPr lang="de-DE" sz="800" dirty="0"/>
              <a:t>concatination </a:t>
            </a:r>
          </a:p>
          <a:p>
            <a:r>
              <a:rPr lang="de-DE" sz="800" dirty="0"/>
              <a:t>of bytes</a:t>
            </a:r>
          </a:p>
        </p:txBody>
      </p:sp>
      <p:sp>
        <p:nvSpPr>
          <p:cNvPr id="27" name="TextBox 26">
            <a:extLst>
              <a:ext uri="{FF2B5EF4-FFF2-40B4-BE49-F238E27FC236}">
                <a16:creationId xmlns:a16="http://schemas.microsoft.com/office/drawing/2014/main" id="{905EF6FD-D6C3-ACBC-7A00-D572BBC36BCF}"/>
              </a:ext>
            </a:extLst>
          </p:cNvPr>
          <p:cNvSpPr txBox="1"/>
          <p:nvPr/>
        </p:nvSpPr>
        <p:spPr>
          <a:xfrm>
            <a:off x="5422142" y="1737862"/>
            <a:ext cx="1143000" cy="338554"/>
          </a:xfrm>
          <a:prstGeom prst="rect">
            <a:avLst/>
          </a:prstGeom>
          <a:noFill/>
        </p:spPr>
        <p:txBody>
          <a:bodyPr wrap="square">
            <a:spAutoFit/>
          </a:bodyPr>
          <a:lstStyle/>
          <a:p>
            <a:r>
              <a:rPr lang="de-DE" sz="800" dirty="0"/>
              <a:t>Feature </a:t>
            </a:r>
          </a:p>
          <a:p>
            <a:r>
              <a:rPr lang="de-DE" sz="800" dirty="0"/>
              <a:t>Extraction (SDA) </a:t>
            </a:r>
          </a:p>
        </p:txBody>
      </p:sp>
    </p:spTree>
    <p:extLst>
      <p:ext uri="{BB962C8B-B14F-4D97-AF65-F5344CB8AC3E}">
        <p14:creationId xmlns:p14="http://schemas.microsoft.com/office/powerpoint/2010/main" val="31795577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593FC6-4C59-50F3-AA7B-89A5A2AD831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DB336CD-39FF-CBD6-962C-DFEAA084DA23}"/>
              </a:ext>
            </a:extLst>
          </p:cNvPr>
          <p:cNvSpPr>
            <a:spLocks noGrp="1"/>
          </p:cNvSpPr>
          <p:nvPr>
            <p:ph type="dt" sz="half" idx="10"/>
          </p:nvPr>
        </p:nvSpPr>
        <p:spPr/>
        <p:txBody>
          <a:bodyPr/>
          <a:lstStyle/>
          <a:p>
            <a:fld id="{BA4F9BCA-8D5B-4DA3-979F-C6E1829029F9}" type="datetime6">
              <a:rPr lang="en-US" smtClean="0"/>
              <a:t>March 26</a:t>
            </a:fld>
            <a:endParaRPr lang="de-DE" dirty="0"/>
          </a:p>
        </p:txBody>
      </p:sp>
      <p:sp>
        <p:nvSpPr>
          <p:cNvPr id="3" name="Textplatzhalter 2">
            <a:extLst>
              <a:ext uri="{FF2B5EF4-FFF2-40B4-BE49-F238E27FC236}">
                <a16:creationId xmlns:a16="http://schemas.microsoft.com/office/drawing/2014/main" id="{DCBCC348-928C-E837-711B-4458B77477EF}"/>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D953179D-866E-9955-BDC8-8F7F78F01F30}"/>
              </a:ext>
            </a:extLst>
          </p:cNvPr>
          <p:cNvSpPr>
            <a:spLocks noGrp="1"/>
          </p:cNvSpPr>
          <p:nvPr>
            <p:ph type="body" sz="quarter" idx="12"/>
          </p:nvPr>
        </p:nvSpPr>
        <p:spPr/>
        <p:txBody>
          <a:bodyPr/>
          <a:lstStyle/>
          <a:p>
            <a:r>
              <a:rPr lang="de-DE" dirty="0"/>
              <a:t>Dataset Preprocessing</a:t>
            </a:r>
          </a:p>
        </p:txBody>
      </p:sp>
    </p:spTree>
    <p:extLst>
      <p:ext uri="{BB962C8B-B14F-4D97-AF65-F5344CB8AC3E}">
        <p14:creationId xmlns:p14="http://schemas.microsoft.com/office/powerpoint/2010/main" val="28104883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E780C-5836-1811-CBFD-5FA622E3BAB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1966E606-BC25-2FC1-26E2-3C98B0B155B8}"/>
              </a:ext>
            </a:extLst>
          </p:cNvPr>
          <p:cNvSpPr>
            <a:spLocks noGrp="1"/>
          </p:cNvSpPr>
          <p:nvPr>
            <p:ph type="dt" sz="half" idx="10"/>
          </p:nvPr>
        </p:nvSpPr>
        <p:spPr/>
        <p:txBody>
          <a:bodyPr/>
          <a:lstStyle/>
          <a:p>
            <a:fld id="{16752640-F463-42E3-8CB6-C94345BB41A2}" type="datetime6">
              <a:rPr lang="en-US" smtClean="0"/>
              <a:t>March 26</a:t>
            </a:fld>
            <a:endParaRPr lang="de-DE" dirty="0"/>
          </a:p>
        </p:txBody>
      </p:sp>
      <p:sp>
        <p:nvSpPr>
          <p:cNvPr id="3" name="Fußzeilenplatzhalter 2">
            <a:extLst>
              <a:ext uri="{FF2B5EF4-FFF2-40B4-BE49-F238E27FC236}">
                <a16:creationId xmlns:a16="http://schemas.microsoft.com/office/drawing/2014/main" id="{A5DEBF13-7940-73DE-0B37-548195AECC59}"/>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DAE125BC-1A36-18C5-1FDE-1E507A39EC39}"/>
              </a:ext>
            </a:extLst>
          </p:cNvPr>
          <p:cNvSpPr>
            <a:spLocks noGrp="1"/>
          </p:cNvSpPr>
          <p:nvPr>
            <p:ph type="sldNum" sz="quarter" idx="12"/>
          </p:nvPr>
        </p:nvSpPr>
        <p:spPr/>
        <p:txBody>
          <a:bodyPr/>
          <a:lstStyle/>
          <a:p>
            <a:fld id="{D3A9EDD9-2578-4372-8132-10947A418667}" type="slidenum">
              <a:rPr lang="de-DE" smtClean="0"/>
              <a:t>10</a:t>
            </a:fld>
            <a:endParaRPr lang="de-DE"/>
          </a:p>
        </p:txBody>
      </p:sp>
      <p:sp>
        <p:nvSpPr>
          <p:cNvPr id="11" name="Textplatzhalter 10">
            <a:extLst>
              <a:ext uri="{FF2B5EF4-FFF2-40B4-BE49-F238E27FC236}">
                <a16:creationId xmlns:a16="http://schemas.microsoft.com/office/drawing/2014/main" id="{838A4C82-0CE7-6245-0658-92428BD2C623}"/>
              </a:ext>
            </a:extLst>
          </p:cNvPr>
          <p:cNvSpPr>
            <a:spLocks noGrp="1"/>
          </p:cNvSpPr>
          <p:nvPr>
            <p:ph type="body" idx="13"/>
          </p:nvPr>
        </p:nvSpPr>
        <p:spPr/>
        <p:txBody>
          <a:bodyPr/>
          <a:lstStyle/>
          <a:p>
            <a:endParaRPr lang="de-DE"/>
          </a:p>
        </p:txBody>
      </p:sp>
      <p:sp>
        <p:nvSpPr>
          <p:cNvPr id="9" name="Titel 8">
            <a:extLst>
              <a:ext uri="{FF2B5EF4-FFF2-40B4-BE49-F238E27FC236}">
                <a16:creationId xmlns:a16="http://schemas.microsoft.com/office/drawing/2014/main" id="{97CAFC9E-5E72-89D4-7252-E5070F8ED786}"/>
              </a:ext>
            </a:extLst>
          </p:cNvPr>
          <p:cNvSpPr>
            <a:spLocks noGrp="1"/>
          </p:cNvSpPr>
          <p:nvPr>
            <p:ph type="title"/>
          </p:nvPr>
        </p:nvSpPr>
        <p:spPr/>
        <p:txBody>
          <a:bodyPr/>
          <a:lstStyle/>
          <a:p>
            <a:r>
              <a:rPr lang="de-DE" dirty="0"/>
              <a:t>Dataset Preprocessing</a:t>
            </a:r>
          </a:p>
        </p:txBody>
      </p:sp>
      <p:graphicFrame>
        <p:nvGraphicFramePr>
          <p:cNvPr id="5" name="Content Placeholder 2">
            <a:extLst>
              <a:ext uri="{FF2B5EF4-FFF2-40B4-BE49-F238E27FC236}">
                <a16:creationId xmlns:a16="http://schemas.microsoft.com/office/drawing/2014/main" id="{C97B63E0-8BEC-4602-BFD0-4C2481FA69A5}"/>
              </a:ext>
            </a:extLst>
          </p:cNvPr>
          <p:cNvGraphicFramePr>
            <a:graphicFrameLocks noGrp="1"/>
          </p:cNvGraphicFramePr>
          <p:nvPr>
            <p:ph idx="1"/>
            <p:extLst>
              <p:ext uri="{D42A27DB-BD31-4B8C-83A1-F6EECF244321}">
                <p14:modId xmlns:p14="http://schemas.microsoft.com/office/powerpoint/2010/main" val="3038055846"/>
              </p:ext>
            </p:extLst>
          </p:nvPr>
        </p:nvGraphicFramePr>
        <p:xfrm>
          <a:off x="575733" y="1650980"/>
          <a:ext cx="10927829" cy="41928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Arrow: Right 5">
            <a:extLst>
              <a:ext uri="{FF2B5EF4-FFF2-40B4-BE49-F238E27FC236}">
                <a16:creationId xmlns:a16="http://schemas.microsoft.com/office/drawing/2014/main" id="{A66A5E37-CB02-1B8B-9FE3-296F6BF918A0}"/>
              </a:ext>
            </a:extLst>
          </p:cNvPr>
          <p:cNvSpPr/>
          <p:nvPr/>
        </p:nvSpPr>
        <p:spPr>
          <a:xfrm>
            <a:off x="8256588" y="5207020"/>
            <a:ext cx="713792" cy="13995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Box 6">
            <a:extLst>
              <a:ext uri="{FF2B5EF4-FFF2-40B4-BE49-F238E27FC236}">
                <a16:creationId xmlns:a16="http://schemas.microsoft.com/office/drawing/2014/main" id="{9E818860-8E72-39A6-626A-F0BC36254436}"/>
              </a:ext>
            </a:extLst>
          </p:cNvPr>
          <p:cNvSpPr txBox="1"/>
          <p:nvPr/>
        </p:nvSpPr>
        <p:spPr>
          <a:xfrm>
            <a:off x="8970380" y="5031167"/>
            <a:ext cx="2783470" cy="523220"/>
          </a:xfrm>
          <a:prstGeom prst="rect">
            <a:avLst/>
          </a:prstGeom>
          <a:noFill/>
        </p:spPr>
        <p:txBody>
          <a:bodyPr wrap="square" rtlCol="0">
            <a:spAutoFit/>
          </a:bodyPr>
          <a:lstStyle/>
          <a:p>
            <a:r>
              <a:rPr lang="de-DE" sz="1400" dirty="0"/>
              <a:t>Keyword identified </a:t>
            </a:r>
          </a:p>
          <a:p>
            <a:r>
              <a:rPr lang="de-DE" sz="1400" dirty="0"/>
              <a:t>through reverse engineering</a:t>
            </a:r>
          </a:p>
        </p:txBody>
      </p:sp>
      <p:sp>
        <p:nvSpPr>
          <p:cNvPr id="13" name="Text Placeholder 12">
            <a:extLst>
              <a:ext uri="{FF2B5EF4-FFF2-40B4-BE49-F238E27FC236}">
                <a16:creationId xmlns:a16="http://schemas.microsoft.com/office/drawing/2014/main" id="{75578F4C-980B-24E7-8559-0C60EB2FEA41}"/>
              </a:ext>
            </a:extLst>
          </p:cNvPr>
          <p:cNvSpPr>
            <a:spLocks noGrp="1"/>
          </p:cNvSpPr>
          <p:nvPr>
            <p:ph type="body" sz="quarter" idx="14"/>
          </p:nvPr>
        </p:nvSpPr>
        <p:spPr/>
        <p:txBody>
          <a:bodyPr/>
          <a:lstStyle/>
          <a:p>
            <a:endParaRPr lang="de-DE"/>
          </a:p>
        </p:txBody>
      </p:sp>
    </p:spTree>
    <p:extLst>
      <p:ext uri="{BB962C8B-B14F-4D97-AF65-F5344CB8AC3E}">
        <p14:creationId xmlns:p14="http://schemas.microsoft.com/office/powerpoint/2010/main" val="14724149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E9BE0-36E8-B4D4-CB01-BEFC86D3280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A4E4E78-C16D-B393-6E42-6DDED8D3DD2C}"/>
              </a:ext>
            </a:extLst>
          </p:cNvPr>
          <p:cNvSpPr>
            <a:spLocks noGrp="1"/>
          </p:cNvSpPr>
          <p:nvPr>
            <p:ph type="dt" sz="half" idx="10"/>
          </p:nvPr>
        </p:nvSpPr>
        <p:spPr/>
        <p:txBody>
          <a:bodyPr/>
          <a:lstStyle/>
          <a:p>
            <a:fld id="{FDF3F250-D804-4E56-8BEB-29F11C362BD6}" type="datetime6">
              <a:rPr lang="en-US" smtClean="0"/>
              <a:t>March 26</a:t>
            </a:fld>
            <a:endParaRPr lang="de-DE" dirty="0"/>
          </a:p>
        </p:txBody>
      </p:sp>
      <p:sp>
        <p:nvSpPr>
          <p:cNvPr id="3" name="Fußzeilenplatzhalter 2">
            <a:extLst>
              <a:ext uri="{FF2B5EF4-FFF2-40B4-BE49-F238E27FC236}">
                <a16:creationId xmlns:a16="http://schemas.microsoft.com/office/drawing/2014/main" id="{E034F761-674F-F4AB-C2EA-05249B8A0A3C}"/>
              </a:ext>
            </a:extLst>
          </p:cNvPr>
          <p:cNvSpPr>
            <a:spLocks noGrp="1"/>
          </p:cNvSpPr>
          <p:nvPr>
            <p:ph type="ftr" sz="quarter" idx="11"/>
          </p:nvPr>
        </p:nvSpPr>
        <p:spPr/>
        <p:txBody>
          <a:bodyPr/>
          <a:lstStyle/>
          <a:p>
            <a:r>
              <a:rPr lang="de-DE" dirty="0"/>
              <a:t>Best candidate is found correctly at position 12.</a:t>
            </a:r>
          </a:p>
        </p:txBody>
      </p:sp>
      <p:sp>
        <p:nvSpPr>
          <p:cNvPr id="4" name="Foliennummernplatzhalter 3">
            <a:extLst>
              <a:ext uri="{FF2B5EF4-FFF2-40B4-BE49-F238E27FC236}">
                <a16:creationId xmlns:a16="http://schemas.microsoft.com/office/drawing/2014/main" id="{CF3D9509-7910-A9A6-F286-2B94ACF6CC87}"/>
              </a:ext>
            </a:extLst>
          </p:cNvPr>
          <p:cNvSpPr>
            <a:spLocks noGrp="1"/>
          </p:cNvSpPr>
          <p:nvPr>
            <p:ph type="sldNum" sz="quarter" idx="12"/>
          </p:nvPr>
        </p:nvSpPr>
        <p:spPr/>
        <p:txBody>
          <a:bodyPr/>
          <a:lstStyle/>
          <a:p>
            <a:fld id="{D3A9EDD9-2578-4372-8132-10947A418667}" type="slidenum">
              <a:rPr lang="de-DE" smtClean="0"/>
              <a:t>11</a:t>
            </a:fld>
            <a:endParaRPr lang="de-DE"/>
          </a:p>
        </p:txBody>
      </p:sp>
      <p:sp>
        <p:nvSpPr>
          <p:cNvPr id="9" name="Titel 8">
            <a:extLst>
              <a:ext uri="{FF2B5EF4-FFF2-40B4-BE49-F238E27FC236}">
                <a16:creationId xmlns:a16="http://schemas.microsoft.com/office/drawing/2014/main" id="{B5CEE154-2DB7-8B91-06A7-7AF30D661CF2}"/>
              </a:ext>
            </a:extLst>
          </p:cNvPr>
          <p:cNvSpPr>
            <a:spLocks noGrp="1"/>
          </p:cNvSpPr>
          <p:nvPr>
            <p:ph type="title"/>
          </p:nvPr>
        </p:nvSpPr>
        <p:spPr/>
        <p:txBody>
          <a:bodyPr/>
          <a:lstStyle/>
          <a:p>
            <a:r>
              <a:rPr lang="de-DE" sz="2400" dirty="0"/>
              <a:t>Reverse Engineering</a:t>
            </a:r>
            <a:endParaRPr lang="de-DE" dirty="0"/>
          </a:p>
        </p:txBody>
      </p:sp>
      <p:sp>
        <p:nvSpPr>
          <p:cNvPr id="12" name="Textplatzhalter 11">
            <a:extLst>
              <a:ext uri="{FF2B5EF4-FFF2-40B4-BE49-F238E27FC236}">
                <a16:creationId xmlns:a16="http://schemas.microsoft.com/office/drawing/2014/main" id="{EDADB6E2-B242-03AE-5B8B-02E4488EE264}"/>
              </a:ext>
            </a:extLst>
          </p:cNvPr>
          <p:cNvSpPr>
            <a:spLocks noGrp="1"/>
          </p:cNvSpPr>
          <p:nvPr>
            <p:ph type="body" sz="quarter" idx="14"/>
          </p:nvPr>
        </p:nvSpPr>
        <p:spPr/>
        <p:txBody>
          <a:bodyPr/>
          <a:lstStyle/>
          <a:p>
            <a:r>
              <a:rPr lang="de-DE" dirty="0"/>
              <a:t>– Identify candidate payload fields</a:t>
            </a:r>
          </a:p>
        </p:txBody>
      </p:sp>
      <p:pic>
        <p:nvPicPr>
          <p:cNvPr id="5" name="Content Placeholder 4">
            <a:extLst>
              <a:ext uri="{FF2B5EF4-FFF2-40B4-BE49-F238E27FC236}">
                <a16:creationId xmlns:a16="http://schemas.microsoft.com/office/drawing/2014/main" id="{1349F89A-B275-4ECC-0E41-4E96A3F358E3}"/>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575733" y="1210984"/>
            <a:ext cx="4926675" cy="2533190"/>
          </a:xfrm>
        </p:spPr>
      </p:pic>
      <p:pic>
        <p:nvPicPr>
          <p:cNvPr id="6" name="Picture 5">
            <a:extLst>
              <a:ext uri="{FF2B5EF4-FFF2-40B4-BE49-F238E27FC236}">
                <a16:creationId xmlns:a16="http://schemas.microsoft.com/office/drawing/2014/main" id="{B4FC99DF-50BD-DC7A-0DE1-EE928589FA56}"/>
              </a:ext>
            </a:extLst>
          </p:cNvPr>
          <p:cNvPicPr>
            <a:picLocks noChangeAspect="1"/>
          </p:cNvPicPr>
          <p:nvPr/>
        </p:nvPicPr>
        <p:blipFill>
          <a:blip r:embed="rId4" cstate="print">
            <a:extLst>
              <a:ext uri="{28A0092B-C50C-407E-A947-70E740481C1C}">
                <a14:useLocalDpi xmlns:a14="http://schemas.microsoft.com/office/drawing/2010/main" val="0"/>
              </a:ext>
            </a:extLst>
          </a:blip>
          <a:srcRect b="26687"/>
          <a:stretch>
            <a:fillRect/>
          </a:stretch>
        </p:blipFill>
        <p:spPr>
          <a:xfrm>
            <a:off x="553046" y="3835991"/>
            <a:ext cx="4972051" cy="1845131"/>
          </a:xfrm>
          <a:prstGeom prst="rect">
            <a:avLst/>
          </a:prstGeom>
        </p:spPr>
      </p:pic>
      <p:sp>
        <p:nvSpPr>
          <p:cNvPr id="7" name="Rectangle 6">
            <a:extLst>
              <a:ext uri="{FF2B5EF4-FFF2-40B4-BE49-F238E27FC236}">
                <a16:creationId xmlns:a16="http://schemas.microsoft.com/office/drawing/2014/main" id="{0D334547-3814-A189-7CA2-D436626FBF35}"/>
              </a:ext>
            </a:extLst>
          </p:cNvPr>
          <p:cNvSpPr/>
          <p:nvPr/>
        </p:nvSpPr>
        <p:spPr>
          <a:xfrm>
            <a:off x="2400899" y="1505997"/>
            <a:ext cx="107950" cy="417512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de-DE"/>
          </a:p>
        </p:txBody>
      </p:sp>
      <p:sp>
        <p:nvSpPr>
          <p:cNvPr id="8" name="TextBox 7">
            <a:extLst>
              <a:ext uri="{FF2B5EF4-FFF2-40B4-BE49-F238E27FC236}">
                <a16:creationId xmlns:a16="http://schemas.microsoft.com/office/drawing/2014/main" id="{1BD6EDD9-83A5-D997-7335-4E926F8205C8}"/>
              </a:ext>
            </a:extLst>
          </p:cNvPr>
          <p:cNvSpPr txBox="1"/>
          <p:nvPr/>
        </p:nvSpPr>
        <p:spPr>
          <a:xfrm>
            <a:off x="521299" y="3586233"/>
            <a:ext cx="450850" cy="369332"/>
          </a:xfrm>
          <a:prstGeom prst="rect">
            <a:avLst/>
          </a:prstGeom>
          <a:noFill/>
        </p:spPr>
        <p:txBody>
          <a:bodyPr wrap="square" rtlCol="0">
            <a:spAutoFit/>
          </a:bodyPr>
          <a:lstStyle/>
          <a:p>
            <a:r>
              <a:rPr lang="de-DE" dirty="0"/>
              <a:t>...</a:t>
            </a:r>
          </a:p>
        </p:txBody>
      </p:sp>
      <p:sp>
        <p:nvSpPr>
          <p:cNvPr id="13" name="TextBox 12">
            <a:extLst>
              <a:ext uri="{FF2B5EF4-FFF2-40B4-BE49-F238E27FC236}">
                <a16:creationId xmlns:a16="http://schemas.microsoft.com/office/drawing/2014/main" id="{69FBE0BF-70EE-FA4B-6E06-ED95249BBF38}"/>
              </a:ext>
            </a:extLst>
          </p:cNvPr>
          <p:cNvSpPr txBox="1"/>
          <p:nvPr/>
        </p:nvSpPr>
        <p:spPr>
          <a:xfrm>
            <a:off x="1307641" y="5919600"/>
            <a:ext cx="2163233" cy="369332"/>
          </a:xfrm>
          <a:prstGeom prst="rect">
            <a:avLst/>
          </a:prstGeom>
          <a:noFill/>
        </p:spPr>
        <p:txBody>
          <a:bodyPr wrap="square" rtlCol="0">
            <a:spAutoFit/>
          </a:bodyPr>
          <a:lstStyle/>
          <a:p>
            <a:r>
              <a:rPr lang="de-DE" dirty="0"/>
              <a:t>keyword candidate</a:t>
            </a:r>
          </a:p>
        </p:txBody>
      </p:sp>
      <p:cxnSp>
        <p:nvCxnSpPr>
          <p:cNvPr id="14" name="Straight Arrow Connector 13">
            <a:extLst>
              <a:ext uri="{FF2B5EF4-FFF2-40B4-BE49-F238E27FC236}">
                <a16:creationId xmlns:a16="http://schemas.microsoft.com/office/drawing/2014/main" id="{A1690DF7-E1BF-34DD-0E3B-84AD95584171}"/>
              </a:ext>
            </a:extLst>
          </p:cNvPr>
          <p:cNvCxnSpPr>
            <a:cxnSpLocks/>
          </p:cNvCxnSpPr>
          <p:nvPr/>
        </p:nvCxnSpPr>
        <p:spPr>
          <a:xfrm flipV="1">
            <a:off x="2442174" y="5735966"/>
            <a:ext cx="0" cy="27059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7BD074BE-9124-10A1-572A-5FA3145DABC8}"/>
              </a:ext>
            </a:extLst>
          </p:cNvPr>
          <p:cNvSpPr txBox="1"/>
          <p:nvPr/>
        </p:nvSpPr>
        <p:spPr>
          <a:xfrm>
            <a:off x="5832336" y="1518182"/>
            <a:ext cx="5213056" cy="830997"/>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sz="1600" b="1" dirty="0"/>
              <a:t>Goal:</a:t>
            </a:r>
          </a:p>
          <a:p>
            <a:r>
              <a:rPr lang="en-US" sz="1600" dirty="0"/>
              <a:t>Identify payload regions that most likely contain physical readings.</a:t>
            </a:r>
          </a:p>
        </p:txBody>
      </p:sp>
      <p:sp>
        <p:nvSpPr>
          <p:cNvPr id="16" name="TextBox 15">
            <a:extLst>
              <a:ext uri="{FF2B5EF4-FFF2-40B4-BE49-F238E27FC236}">
                <a16:creationId xmlns:a16="http://schemas.microsoft.com/office/drawing/2014/main" id="{40A0FDA9-4183-F6D0-009A-527A3371CC4D}"/>
              </a:ext>
            </a:extLst>
          </p:cNvPr>
          <p:cNvSpPr txBox="1"/>
          <p:nvPr/>
        </p:nvSpPr>
        <p:spPr>
          <a:xfrm>
            <a:off x="5765431" y="3010547"/>
            <a:ext cx="5905269" cy="2092881"/>
          </a:xfrm>
          <a:prstGeom prst="rect">
            <a:avLst/>
          </a:prstGeom>
          <a:noFill/>
        </p:spPr>
        <p:txBody>
          <a:bodyPr wrap="square" rtlCol="0">
            <a:spAutoFit/>
          </a:bodyPr>
          <a:lstStyle/>
          <a:p>
            <a:pPr marL="342900" indent="-342900">
              <a:buFont typeface="+mj-lt"/>
              <a:buAutoNum type="arabicPeriod"/>
            </a:pPr>
            <a:r>
              <a:rPr lang="de-DE" sz="1600" dirty="0"/>
              <a:t>Group into communication sessions (based on            session ID and inter-arrival time)</a:t>
            </a:r>
          </a:p>
          <a:p>
            <a:pPr marL="342900" indent="-342900">
              <a:buFont typeface="+mj-lt"/>
              <a:buAutoNum type="arabicPeriod"/>
            </a:pPr>
            <a:r>
              <a:rPr lang="de-DE" sz="1600" dirty="0"/>
              <a:t>Perform sequence alignment (for client</a:t>
            </a:r>
            <a:r>
              <a:rPr lang="de-DE" sz="1600" dirty="0">
                <a:sym typeface="Wingdings" panose="05000000000000000000" pitchFamily="2" charset="2"/>
              </a:rPr>
              <a:t>-to-</a:t>
            </a:r>
            <a:r>
              <a:rPr lang="de-DE" sz="1600" dirty="0"/>
              <a:t>server and server-to-client traffic over all sessions)</a:t>
            </a:r>
          </a:p>
          <a:p>
            <a:pPr marL="342900" indent="-342900">
              <a:buFont typeface="+mj-lt"/>
              <a:buAutoNum type="arabicPeriod"/>
            </a:pPr>
            <a:r>
              <a:rPr lang="de-DE" sz="1600" dirty="0"/>
              <a:t>Identify static vs. dynamic byte positions and merge static fields across alignments</a:t>
            </a:r>
          </a:p>
          <a:p>
            <a:pPr marL="342900" indent="-342900">
              <a:buFont typeface="+mj-lt"/>
              <a:buAutoNum type="arabicPeriod"/>
            </a:pPr>
            <a:r>
              <a:rPr lang="de-DE" sz="1600" dirty="0"/>
              <a:t>Cluster dynamic fields from keyword candidates</a:t>
            </a:r>
          </a:p>
          <a:p>
            <a:pPr marL="342900" indent="-342900">
              <a:buAutoNum type="arabicPeriod"/>
            </a:pPr>
            <a:endParaRPr lang="de-DE" dirty="0"/>
          </a:p>
        </p:txBody>
      </p:sp>
    </p:spTree>
    <p:extLst>
      <p:ext uri="{BB962C8B-B14F-4D97-AF65-F5344CB8AC3E}">
        <p14:creationId xmlns:p14="http://schemas.microsoft.com/office/powerpoint/2010/main" val="6971116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5A495-770C-EED8-E082-DA3E3F4A75FF}"/>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17D14E2C-1169-66BF-1C76-E0B49BEB2E4E}"/>
              </a:ext>
            </a:extLst>
          </p:cNvPr>
          <p:cNvSpPr>
            <a:spLocks noGrp="1"/>
          </p:cNvSpPr>
          <p:nvPr>
            <p:ph type="dt" sz="half" idx="10"/>
          </p:nvPr>
        </p:nvSpPr>
        <p:spPr/>
        <p:txBody>
          <a:bodyPr/>
          <a:lstStyle/>
          <a:p>
            <a:fld id="{34F32B4A-C3BA-4D6F-A1BA-3F86C4E778AE}" type="datetime6">
              <a:rPr lang="en-US" smtClean="0"/>
              <a:t>March 26</a:t>
            </a:fld>
            <a:endParaRPr lang="de-DE" dirty="0"/>
          </a:p>
        </p:txBody>
      </p:sp>
      <p:sp>
        <p:nvSpPr>
          <p:cNvPr id="3" name="Fußzeilenplatzhalter 2">
            <a:extLst>
              <a:ext uri="{FF2B5EF4-FFF2-40B4-BE49-F238E27FC236}">
                <a16:creationId xmlns:a16="http://schemas.microsoft.com/office/drawing/2014/main" id="{40DA2AD2-63CB-AC2F-AE12-26A8998D3ABE}"/>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741352A-2E84-5C7D-502B-02DE32C9B810}"/>
              </a:ext>
            </a:extLst>
          </p:cNvPr>
          <p:cNvSpPr>
            <a:spLocks noGrp="1"/>
          </p:cNvSpPr>
          <p:nvPr>
            <p:ph type="sldNum" sz="quarter" idx="12"/>
          </p:nvPr>
        </p:nvSpPr>
        <p:spPr/>
        <p:txBody>
          <a:bodyPr/>
          <a:lstStyle/>
          <a:p>
            <a:fld id="{D3A9EDD9-2578-4372-8132-10947A418667}" type="slidenum">
              <a:rPr lang="de-DE" smtClean="0"/>
              <a:t>12</a:t>
            </a:fld>
            <a:endParaRPr lang="de-DE"/>
          </a:p>
        </p:txBody>
      </p:sp>
      <p:sp>
        <p:nvSpPr>
          <p:cNvPr id="9" name="Titel 8">
            <a:extLst>
              <a:ext uri="{FF2B5EF4-FFF2-40B4-BE49-F238E27FC236}">
                <a16:creationId xmlns:a16="http://schemas.microsoft.com/office/drawing/2014/main" id="{BCFBEF57-E828-87D5-6995-54F1A11EF875}"/>
              </a:ext>
            </a:extLst>
          </p:cNvPr>
          <p:cNvSpPr>
            <a:spLocks noGrp="1"/>
          </p:cNvSpPr>
          <p:nvPr>
            <p:ph type="title"/>
          </p:nvPr>
        </p:nvSpPr>
        <p:spPr/>
        <p:txBody>
          <a:bodyPr/>
          <a:lstStyle/>
          <a:p>
            <a:r>
              <a:rPr lang="de-DE" dirty="0"/>
              <a:t>Reverse Engineering</a:t>
            </a:r>
          </a:p>
        </p:txBody>
      </p:sp>
      <p:sp>
        <p:nvSpPr>
          <p:cNvPr id="12" name="Textplatzhalter 11">
            <a:extLst>
              <a:ext uri="{FF2B5EF4-FFF2-40B4-BE49-F238E27FC236}">
                <a16:creationId xmlns:a16="http://schemas.microsoft.com/office/drawing/2014/main" id="{FF47D225-EA83-1003-4A25-F5C7FDE4C82E}"/>
              </a:ext>
            </a:extLst>
          </p:cNvPr>
          <p:cNvSpPr>
            <a:spLocks noGrp="1"/>
          </p:cNvSpPr>
          <p:nvPr>
            <p:ph type="body" sz="quarter" idx="14"/>
          </p:nvPr>
        </p:nvSpPr>
        <p:spPr/>
        <p:txBody>
          <a:bodyPr/>
          <a:lstStyle/>
          <a:p>
            <a:r>
              <a:rPr lang="de-DE" dirty="0"/>
              <a:t>–</a:t>
            </a:r>
            <a:r>
              <a:rPr lang="en-US" dirty="0"/>
              <a:t> Clustering and best candidate detection </a:t>
            </a:r>
            <a:endParaRPr lang="de-DE" dirty="0"/>
          </a:p>
        </p:txBody>
      </p:sp>
      <p:sp>
        <p:nvSpPr>
          <p:cNvPr id="5" name="Content Placeholder 2">
            <a:extLst>
              <a:ext uri="{FF2B5EF4-FFF2-40B4-BE49-F238E27FC236}">
                <a16:creationId xmlns:a16="http://schemas.microsoft.com/office/drawing/2014/main" id="{BFBF3079-8ECC-6BED-9814-9C9E900C6510}"/>
              </a:ext>
            </a:extLst>
          </p:cNvPr>
          <p:cNvSpPr>
            <a:spLocks noGrp="1"/>
          </p:cNvSpPr>
          <p:nvPr>
            <p:ph idx="1"/>
          </p:nvPr>
        </p:nvSpPr>
        <p:spPr>
          <a:xfrm>
            <a:off x="575733" y="1190171"/>
            <a:ext cx="6906491" cy="4916097"/>
          </a:xfrm>
        </p:spPr>
        <p:txBody>
          <a:bodyPr anchor="ctr">
            <a:normAutofit/>
          </a:bodyPr>
          <a:lstStyle/>
          <a:p>
            <a:r>
              <a:rPr lang="en-US" sz="1800"/>
              <a:t>Define constrains to filter out keyword candidates</a:t>
            </a:r>
          </a:p>
          <a:p>
            <a:r>
              <a:rPr lang="en-US" sz="1800"/>
              <a:t>Our constraints:</a:t>
            </a:r>
          </a:p>
          <a:p>
            <a:pPr marL="800100" lvl="1" indent="-342900">
              <a:buFont typeface="+mj-lt"/>
              <a:buAutoNum type="arabicPeriod"/>
            </a:pPr>
            <a:r>
              <a:rPr lang="en-US" sz="1600"/>
              <a:t>Max keyword length</a:t>
            </a:r>
          </a:p>
          <a:p>
            <a:pPr marL="800100" lvl="1" indent="-342900">
              <a:buFont typeface="+mj-lt"/>
              <a:buAutoNum type="arabicPeriod"/>
            </a:pPr>
            <a:r>
              <a:rPr lang="en-US" sz="1600"/>
              <a:t>For the remaining candidates, we compute the following as probabilities: </a:t>
            </a:r>
          </a:p>
          <a:p>
            <a:pPr marL="1257300" lvl="2" indent="-342900">
              <a:buFont typeface="+mj-lt"/>
              <a:buAutoNum type="arabicPeriod"/>
            </a:pPr>
            <a:r>
              <a:rPr lang="en-US" sz="1400"/>
              <a:t>Message similarity (Pm).</a:t>
            </a:r>
          </a:p>
          <a:p>
            <a:pPr marL="1257300" lvl="2" indent="-342900">
              <a:buFont typeface="+mj-lt"/>
              <a:buAutoNum type="arabicPeriod"/>
            </a:pPr>
            <a:r>
              <a:rPr lang="en-US" sz="1400"/>
              <a:t>Remote coupling (Pr).</a:t>
            </a:r>
          </a:p>
          <a:p>
            <a:pPr marL="1257300" lvl="2" indent="-342900">
              <a:buFont typeface="+mj-lt"/>
              <a:buAutoNum type="arabicPeriod"/>
            </a:pPr>
            <a:r>
              <a:rPr lang="en-US" sz="1400"/>
              <a:t>Structure coherence (Ps)</a:t>
            </a:r>
          </a:p>
          <a:p>
            <a:r>
              <a:rPr lang="en-US" sz="1800"/>
              <a:t>Compute the joint probability:</a:t>
            </a:r>
          </a:p>
          <a:p>
            <a:pPr lvl="1"/>
            <a:r>
              <a:rPr lang="en-US" sz="1600"/>
              <a:t>Pt = (Pm * Pr * Ps)</a:t>
            </a:r>
          </a:p>
          <a:p>
            <a:pPr lvl="1"/>
            <a:r>
              <a:rPr lang="en-US" sz="1600"/>
              <a:t>Assuming that these probabilities are independent. </a:t>
            </a:r>
          </a:p>
          <a:p>
            <a:r>
              <a:rPr lang="en-US" sz="1800"/>
              <a:t>Best keyword should be the one with the  highest joint probability. </a:t>
            </a:r>
          </a:p>
          <a:p>
            <a:pPr marL="800100" lvl="1" indent="-342900">
              <a:buFont typeface="+mj-lt"/>
              <a:buAutoNum type="arabicPeriod"/>
            </a:pPr>
            <a:endParaRPr lang="en-US" sz="1600" dirty="0"/>
          </a:p>
        </p:txBody>
      </p:sp>
      <p:pic>
        <p:nvPicPr>
          <p:cNvPr id="7" name="Picture 6">
            <a:extLst>
              <a:ext uri="{FF2B5EF4-FFF2-40B4-BE49-F238E27FC236}">
                <a16:creationId xmlns:a16="http://schemas.microsoft.com/office/drawing/2014/main" id="{BE4D46F4-B09D-EC83-A286-A3D809B39608}"/>
              </a:ext>
            </a:extLst>
          </p:cNvPr>
          <p:cNvPicPr>
            <a:picLocks noChangeAspect="1"/>
          </p:cNvPicPr>
          <p:nvPr/>
        </p:nvPicPr>
        <p:blipFill>
          <a:blip r:embed="rId3"/>
          <a:stretch>
            <a:fillRect/>
          </a:stretch>
        </p:blipFill>
        <p:spPr>
          <a:xfrm>
            <a:off x="7259194" y="2367006"/>
            <a:ext cx="4480601" cy="2914677"/>
          </a:xfrm>
          <a:prstGeom prst="rect">
            <a:avLst/>
          </a:prstGeom>
        </p:spPr>
      </p:pic>
    </p:spTree>
    <p:extLst>
      <p:ext uri="{BB962C8B-B14F-4D97-AF65-F5344CB8AC3E}">
        <p14:creationId xmlns:p14="http://schemas.microsoft.com/office/powerpoint/2010/main" val="3986654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anim calcmode="lin" valueType="num">
                                      <p:cBhvr additive="base">
                                        <p:cTn id="17"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5">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anim calcmode="lin" valueType="num">
                                      <p:cBhvr additive="base">
                                        <p:cTn id="21"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5">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5">
                                            <p:txEl>
                                              <p:pRg st="4" end="4"/>
                                            </p:txEl>
                                          </p:spTgt>
                                        </p:tgtEl>
                                        <p:attrNameLst>
                                          <p:attrName>style.visibility</p:attrName>
                                        </p:attrNameLst>
                                      </p:cBhvr>
                                      <p:to>
                                        <p:strVal val="visible"/>
                                      </p:to>
                                    </p:set>
                                    <p:anim calcmode="lin" valueType="num">
                                      <p:cBhvr additive="base">
                                        <p:cTn id="2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5">
                                            <p:txEl>
                                              <p:pRg st="5" end="5"/>
                                            </p:txEl>
                                          </p:spTgt>
                                        </p:tgtEl>
                                        <p:attrNameLst>
                                          <p:attrName>style.visibility</p:attrName>
                                        </p:attrNameLst>
                                      </p:cBhvr>
                                      <p:to>
                                        <p:strVal val="visible"/>
                                      </p:to>
                                    </p:set>
                                    <p:anim calcmode="lin" valueType="num">
                                      <p:cBhvr additive="base">
                                        <p:cTn id="2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5">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5">
                                            <p:txEl>
                                              <p:pRg st="6" end="6"/>
                                            </p:txEl>
                                          </p:spTgt>
                                        </p:tgtEl>
                                        <p:attrNameLst>
                                          <p:attrName>style.visibility</p:attrName>
                                        </p:attrNameLst>
                                      </p:cBhvr>
                                      <p:to>
                                        <p:strVal val="visible"/>
                                      </p:to>
                                    </p:set>
                                    <p:anim calcmode="lin" valueType="num">
                                      <p:cBhvr additive="base">
                                        <p:cTn id="3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2" presetClass="entr" presetSubtype="4" fill="hold" grpId="0" nodeType="clickEffect">
                                  <p:stCondLst>
                                    <p:cond delay="0"/>
                                  </p:stCondLst>
                                  <p:childTnLst>
                                    <p:set>
                                      <p:cBhvr>
                                        <p:cTn id="38" dur="1" fill="hold">
                                          <p:stCondLst>
                                            <p:cond delay="0"/>
                                          </p:stCondLst>
                                        </p:cTn>
                                        <p:tgtEl>
                                          <p:spTgt spid="5">
                                            <p:txEl>
                                              <p:pRg st="7" end="7"/>
                                            </p:txEl>
                                          </p:spTgt>
                                        </p:tgtEl>
                                        <p:attrNameLst>
                                          <p:attrName>style.visibility</p:attrName>
                                        </p:attrNameLst>
                                      </p:cBhvr>
                                      <p:to>
                                        <p:strVal val="visible"/>
                                      </p:to>
                                    </p:set>
                                    <p:anim calcmode="lin" valueType="num">
                                      <p:cBhvr additive="base">
                                        <p:cTn id="39"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5">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5">
                                            <p:txEl>
                                              <p:pRg st="8" end="8"/>
                                            </p:txEl>
                                          </p:spTgt>
                                        </p:tgtEl>
                                        <p:attrNameLst>
                                          <p:attrName>style.visibility</p:attrName>
                                        </p:attrNameLst>
                                      </p:cBhvr>
                                      <p:to>
                                        <p:strVal val="visible"/>
                                      </p:to>
                                    </p:set>
                                    <p:anim calcmode="lin" valueType="num">
                                      <p:cBhvr additive="base">
                                        <p:cTn id="4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5">
                                            <p:txEl>
                                              <p:pRg st="9" end="9"/>
                                            </p:txEl>
                                          </p:spTgt>
                                        </p:tgtEl>
                                        <p:attrNameLst>
                                          <p:attrName>style.visibility</p:attrName>
                                        </p:attrNameLst>
                                      </p:cBhvr>
                                      <p:to>
                                        <p:strVal val="visible"/>
                                      </p:to>
                                    </p:set>
                                    <p:anim calcmode="lin" valueType="num">
                                      <p:cBhvr additive="base">
                                        <p:cTn id="47" dur="500" fill="hold"/>
                                        <p:tgtEl>
                                          <p:spTgt spid="5">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5">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5">
                                            <p:txEl>
                                              <p:pRg st="10" end="10"/>
                                            </p:txEl>
                                          </p:spTgt>
                                        </p:tgtEl>
                                        <p:attrNameLst>
                                          <p:attrName>style.visibility</p:attrName>
                                        </p:attrNameLst>
                                      </p:cBhvr>
                                      <p:to>
                                        <p:strVal val="visible"/>
                                      </p:to>
                                    </p:set>
                                    <p:anim calcmode="lin" valueType="num">
                                      <p:cBhvr additive="base">
                                        <p:cTn id="53" dur="500" fill="hold"/>
                                        <p:tgtEl>
                                          <p:spTgt spid="5">
                                            <p:txEl>
                                              <p:pRg st="10" end="10"/>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19DECB-2FFE-9F4A-8133-E5C98C16F37C}"/>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37906CB6-CF97-2348-61D6-2D21F33DE729}"/>
              </a:ext>
            </a:extLst>
          </p:cNvPr>
          <p:cNvSpPr>
            <a:spLocks noGrp="1"/>
          </p:cNvSpPr>
          <p:nvPr>
            <p:ph type="dt" sz="half" idx="10"/>
          </p:nvPr>
        </p:nvSpPr>
        <p:spPr/>
        <p:txBody>
          <a:bodyPr/>
          <a:lstStyle/>
          <a:p>
            <a:fld id="{931C60CA-C1F2-4275-B593-DA8354493789}" type="datetime6">
              <a:rPr lang="en-US" smtClean="0"/>
              <a:t>March 26</a:t>
            </a:fld>
            <a:endParaRPr lang="de-DE" dirty="0"/>
          </a:p>
        </p:txBody>
      </p:sp>
      <p:sp>
        <p:nvSpPr>
          <p:cNvPr id="3" name="Fußzeilenplatzhalter 2">
            <a:extLst>
              <a:ext uri="{FF2B5EF4-FFF2-40B4-BE49-F238E27FC236}">
                <a16:creationId xmlns:a16="http://schemas.microsoft.com/office/drawing/2014/main" id="{F6854DAA-5C72-DCCC-5BAF-33DBAC079151}"/>
              </a:ext>
            </a:extLst>
          </p:cNvPr>
          <p:cNvSpPr>
            <a:spLocks noGrp="1"/>
          </p:cNvSpPr>
          <p:nvPr>
            <p:ph type="ftr" sz="quarter" idx="11"/>
          </p:nvPr>
        </p:nvSpPr>
        <p:spPr/>
        <p:txBody>
          <a:bodyPr/>
          <a:lstStyle/>
          <a:p>
            <a:endParaRPr lang="de-DE" dirty="0"/>
          </a:p>
        </p:txBody>
      </p:sp>
      <p:sp>
        <p:nvSpPr>
          <p:cNvPr id="4" name="Foliennummernplatzhalter 3">
            <a:extLst>
              <a:ext uri="{FF2B5EF4-FFF2-40B4-BE49-F238E27FC236}">
                <a16:creationId xmlns:a16="http://schemas.microsoft.com/office/drawing/2014/main" id="{9E9078C6-15F4-F09A-10C7-561B39D6906B}"/>
              </a:ext>
            </a:extLst>
          </p:cNvPr>
          <p:cNvSpPr>
            <a:spLocks noGrp="1"/>
          </p:cNvSpPr>
          <p:nvPr>
            <p:ph type="sldNum" sz="quarter" idx="12"/>
          </p:nvPr>
        </p:nvSpPr>
        <p:spPr/>
        <p:txBody>
          <a:bodyPr/>
          <a:lstStyle/>
          <a:p>
            <a:fld id="{D3A9EDD9-2578-4372-8132-10947A418667}" type="slidenum">
              <a:rPr lang="de-DE" smtClean="0"/>
              <a:t>13</a:t>
            </a:fld>
            <a:endParaRPr lang="de-DE"/>
          </a:p>
        </p:txBody>
      </p:sp>
      <p:sp>
        <p:nvSpPr>
          <p:cNvPr id="9" name="Titel 8">
            <a:extLst>
              <a:ext uri="{FF2B5EF4-FFF2-40B4-BE49-F238E27FC236}">
                <a16:creationId xmlns:a16="http://schemas.microsoft.com/office/drawing/2014/main" id="{A5BE031D-658F-0148-42E4-6B8C08DB4FB3}"/>
              </a:ext>
            </a:extLst>
          </p:cNvPr>
          <p:cNvSpPr>
            <a:spLocks noGrp="1"/>
          </p:cNvSpPr>
          <p:nvPr>
            <p:ph type="title"/>
          </p:nvPr>
        </p:nvSpPr>
        <p:spPr/>
        <p:txBody>
          <a:bodyPr/>
          <a:lstStyle/>
          <a:p>
            <a:r>
              <a:rPr lang="de-DE" dirty="0"/>
              <a:t>Reverse engineering</a:t>
            </a:r>
          </a:p>
        </p:txBody>
      </p:sp>
      <p:sp>
        <p:nvSpPr>
          <p:cNvPr id="12" name="Textplatzhalter 11">
            <a:extLst>
              <a:ext uri="{FF2B5EF4-FFF2-40B4-BE49-F238E27FC236}">
                <a16:creationId xmlns:a16="http://schemas.microsoft.com/office/drawing/2014/main" id="{FDE99FEE-1079-AC52-12E0-177D623466B9}"/>
              </a:ext>
            </a:extLst>
          </p:cNvPr>
          <p:cNvSpPr>
            <a:spLocks noGrp="1"/>
          </p:cNvSpPr>
          <p:nvPr>
            <p:ph type="body" sz="quarter" idx="14"/>
          </p:nvPr>
        </p:nvSpPr>
        <p:spPr/>
        <p:txBody>
          <a:bodyPr/>
          <a:lstStyle/>
          <a:p>
            <a:r>
              <a:rPr lang="de-DE" dirty="0"/>
              <a:t>– Concatination of physical reading data</a:t>
            </a:r>
          </a:p>
        </p:txBody>
      </p:sp>
      <p:sp>
        <p:nvSpPr>
          <p:cNvPr id="5" name="Content Placeholder 2">
            <a:extLst>
              <a:ext uri="{FF2B5EF4-FFF2-40B4-BE49-F238E27FC236}">
                <a16:creationId xmlns:a16="http://schemas.microsoft.com/office/drawing/2014/main" id="{44582B14-B18A-920B-1DF7-7B5306AB6BCA}"/>
              </a:ext>
            </a:extLst>
          </p:cNvPr>
          <p:cNvSpPr>
            <a:spLocks noGrp="1"/>
          </p:cNvSpPr>
          <p:nvPr>
            <p:ph idx="1"/>
          </p:nvPr>
        </p:nvSpPr>
        <p:spPr>
          <a:xfrm>
            <a:off x="575733" y="1888762"/>
            <a:ext cx="3429000" cy="3410712"/>
          </a:xfrm>
        </p:spPr>
        <p:txBody>
          <a:bodyPr anchor="t">
            <a:normAutofit fontScale="85000" lnSpcReduction="10000"/>
          </a:bodyPr>
          <a:lstStyle/>
          <a:p>
            <a:pPr>
              <a:spcBef>
                <a:spcPts val="1001"/>
              </a:spcBef>
              <a:buClr>
                <a:srgbClr val="000000"/>
              </a:buClr>
              <a:buFont typeface="Arial"/>
              <a:buChar char="•"/>
            </a:pPr>
            <a:r>
              <a:rPr lang="en-US" sz="1700" dirty="0">
                <a:latin typeface="Bierstadt"/>
              </a:rPr>
              <a:t>Concatenation of physical reading sequence</a:t>
            </a:r>
          </a:p>
          <a:p>
            <a:pPr lvl="1">
              <a:spcBef>
                <a:spcPts val="1001"/>
              </a:spcBef>
              <a:buClr>
                <a:srgbClr val="000000"/>
              </a:buClr>
              <a:buFont typeface="Arial"/>
              <a:buChar char="•"/>
            </a:pPr>
            <a:r>
              <a:rPr lang="en-US" sz="1700" dirty="0">
                <a:latin typeface="Bierstadt"/>
              </a:rPr>
              <a:t>Extraction of the physical reading directly after the best candidate.  </a:t>
            </a:r>
          </a:p>
          <a:p>
            <a:pPr lvl="1">
              <a:spcBef>
                <a:spcPts val="1001"/>
              </a:spcBef>
              <a:buClr>
                <a:srgbClr val="000000"/>
              </a:buClr>
              <a:buFont typeface="Arial"/>
              <a:buChar char="•"/>
            </a:pPr>
            <a:r>
              <a:rPr lang="en-US" sz="1700" dirty="0">
                <a:latin typeface="Bierstadt"/>
              </a:rPr>
              <a:t>Define parameter </a:t>
            </a:r>
            <a:r>
              <a:rPr lang="en-US" sz="1700" b="1" dirty="0">
                <a:latin typeface="Bierstadt"/>
              </a:rPr>
              <a:t>p</a:t>
            </a:r>
            <a:r>
              <a:rPr lang="en-US" sz="1700" dirty="0">
                <a:latin typeface="Bierstadt"/>
              </a:rPr>
              <a:t>.</a:t>
            </a:r>
          </a:p>
          <a:p>
            <a:pPr lvl="1">
              <a:spcBef>
                <a:spcPts val="499"/>
              </a:spcBef>
              <a:buClr>
                <a:srgbClr val="000000"/>
              </a:buClr>
              <a:buFont typeface="Arial"/>
              <a:buChar char="•"/>
            </a:pPr>
            <a:r>
              <a:rPr lang="en-US" sz="1700" dirty="0">
                <a:latin typeface="Bierstadt"/>
              </a:rPr>
              <a:t>Concatenation of the physical readings  of every </a:t>
            </a:r>
            <a:r>
              <a:rPr lang="en-US" sz="1700" b="1" i="1" dirty="0">
                <a:latin typeface="Bierstadt"/>
              </a:rPr>
              <a:t>p</a:t>
            </a:r>
            <a:r>
              <a:rPr lang="en-US" sz="1700" dirty="0">
                <a:latin typeface="Bierstadt"/>
              </a:rPr>
              <a:t> consecutive packets into one packet.</a:t>
            </a:r>
          </a:p>
          <a:p>
            <a:pPr lvl="1">
              <a:spcBef>
                <a:spcPts val="499"/>
              </a:spcBef>
              <a:buClr>
                <a:srgbClr val="000000"/>
              </a:buClr>
              <a:buFont typeface="Arial"/>
              <a:buChar char="•"/>
            </a:pPr>
            <a:r>
              <a:rPr lang="en-US" sz="1700" dirty="0">
                <a:latin typeface="Bierstadt"/>
              </a:rPr>
              <a:t>Goals:</a:t>
            </a:r>
          </a:p>
          <a:p>
            <a:pPr lvl="2">
              <a:spcBef>
                <a:spcPts val="499"/>
              </a:spcBef>
              <a:buClr>
                <a:srgbClr val="000000"/>
              </a:buClr>
              <a:buFont typeface="Arial"/>
              <a:buChar char="•"/>
            </a:pPr>
            <a:r>
              <a:rPr lang="en-US" sz="1700" dirty="0">
                <a:latin typeface="Bierstadt"/>
              </a:rPr>
              <a:t>Focus only on physical readings as features.</a:t>
            </a:r>
          </a:p>
          <a:p>
            <a:pPr lvl="2">
              <a:spcBef>
                <a:spcPts val="499"/>
              </a:spcBef>
              <a:buClr>
                <a:srgbClr val="000000"/>
              </a:buClr>
              <a:buFont typeface="Arial"/>
              <a:buChar char="•"/>
            </a:pPr>
            <a:r>
              <a:rPr lang="en-US" sz="1700" dirty="0">
                <a:latin typeface="Bierstadt"/>
              </a:rPr>
              <a:t>Reconstruct context of physical readings.</a:t>
            </a:r>
          </a:p>
          <a:p>
            <a:pPr lvl="2">
              <a:spcBef>
                <a:spcPts val="499"/>
              </a:spcBef>
              <a:buClr>
                <a:srgbClr val="000000"/>
              </a:buClr>
              <a:buFont typeface="Arial"/>
              <a:buChar char="•"/>
            </a:pPr>
            <a:r>
              <a:rPr lang="en-US" sz="1700" dirty="0">
                <a:latin typeface="Bierstadt"/>
              </a:rPr>
              <a:t>Evaluate the impact of different values of p.</a:t>
            </a:r>
          </a:p>
          <a:p>
            <a:endParaRPr lang="de-DE" sz="1700" dirty="0"/>
          </a:p>
        </p:txBody>
      </p:sp>
      <p:pic>
        <p:nvPicPr>
          <p:cNvPr id="6" name="Picture 5">
            <a:extLst>
              <a:ext uri="{FF2B5EF4-FFF2-40B4-BE49-F238E27FC236}">
                <a16:creationId xmlns:a16="http://schemas.microsoft.com/office/drawing/2014/main" id="{F6CD897D-D2CB-0D16-07F1-4A222D7334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7051" y="1738792"/>
            <a:ext cx="7496270" cy="3710653"/>
          </a:xfrm>
          <a:prstGeom prst="rect">
            <a:avLst/>
          </a:prstGeom>
        </p:spPr>
      </p:pic>
      <p:sp>
        <p:nvSpPr>
          <p:cNvPr id="7" name="TextBox 6">
            <a:extLst>
              <a:ext uri="{FF2B5EF4-FFF2-40B4-BE49-F238E27FC236}">
                <a16:creationId xmlns:a16="http://schemas.microsoft.com/office/drawing/2014/main" id="{47E57942-8E0C-BEB8-2591-392173B774A9}"/>
              </a:ext>
            </a:extLst>
          </p:cNvPr>
          <p:cNvSpPr txBox="1"/>
          <p:nvPr/>
        </p:nvSpPr>
        <p:spPr>
          <a:xfrm>
            <a:off x="5515697" y="1553138"/>
            <a:ext cx="1745673" cy="371308"/>
          </a:xfrm>
          <a:prstGeom prst="rect">
            <a:avLst/>
          </a:prstGeom>
          <a:noFill/>
        </p:spPr>
        <p:txBody>
          <a:bodyPr wrap="square" rtlCol="0">
            <a:spAutoFit/>
          </a:bodyPr>
          <a:lstStyle/>
          <a:p>
            <a:r>
              <a:rPr lang="en-US" dirty="0"/>
              <a:t>Raw data</a:t>
            </a:r>
          </a:p>
        </p:txBody>
      </p:sp>
      <p:sp>
        <p:nvSpPr>
          <p:cNvPr id="8" name="TextBox 7">
            <a:extLst>
              <a:ext uri="{FF2B5EF4-FFF2-40B4-BE49-F238E27FC236}">
                <a16:creationId xmlns:a16="http://schemas.microsoft.com/office/drawing/2014/main" id="{DC25CBA0-9E2D-6F25-2020-940CA940E3DF}"/>
              </a:ext>
            </a:extLst>
          </p:cNvPr>
          <p:cNvSpPr txBox="1"/>
          <p:nvPr/>
        </p:nvSpPr>
        <p:spPr>
          <a:xfrm>
            <a:off x="9608127" y="1972094"/>
            <a:ext cx="1745673" cy="371308"/>
          </a:xfrm>
          <a:prstGeom prst="rect">
            <a:avLst/>
          </a:prstGeom>
          <a:noFill/>
        </p:spPr>
        <p:txBody>
          <a:bodyPr wrap="square" rtlCol="0">
            <a:spAutoFit/>
          </a:bodyPr>
          <a:lstStyle/>
          <a:p>
            <a:r>
              <a:rPr lang="en-US" dirty="0"/>
              <a:t>RE data</a:t>
            </a:r>
          </a:p>
        </p:txBody>
      </p:sp>
    </p:spTree>
    <p:extLst>
      <p:ext uri="{BB962C8B-B14F-4D97-AF65-F5344CB8AC3E}">
        <p14:creationId xmlns:p14="http://schemas.microsoft.com/office/powerpoint/2010/main" val="57899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anim calcmode="lin" valueType="num">
                                      <p:cBhvr additive="base">
                                        <p:cTn id="19"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3" end="3"/>
                                            </p:txEl>
                                          </p:spTgt>
                                        </p:tgtEl>
                                        <p:attrNameLst>
                                          <p:attrName>style.visibility</p:attrName>
                                        </p:attrNameLst>
                                      </p:cBhvr>
                                      <p:to>
                                        <p:strVal val="visible"/>
                                      </p:to>
                                    </p:set>
                                    <p:anim calcmode="lin" valueType="num">
                                      <p:cBhvr additive="base">
                                        <p:cTn id="25"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anim calcmode="lin" valueType="num">
                                      <p:cBhvr additive="base">
                                        <p:cTn id="31" dur="500" fill="hold"/>
                                        <p:tgtEl>
                                          <p:spTgt spid="6"/>
                                        </p:tgtEl>
                                        <p:attrNameLst>
                                          <p:attrName>ppt_x</p:attrName>
                                        </p:attrNameLst>
                                      </p:cBhvr>
                                      <p:tavLst>
                                        <p:tav tm="0">
                                          <p:val>
                                            <p:strVal val="#ppt_x"/>
                                          </p:val>
                                        </p:tav>
                                        <p:tav tm="100000">
                                          <p:val>
                                            <p:strVal val="#ppt_x"/>
                                          </p:val>
                                        </p:tav>
                                      </p:tavLst>
                                    </p:anim>
                                    <p:anim calcmode="lin" valueType="num">
                                      <p:cBhvr additive="base">
                                        <p:cTn id="32" dur="500" fill="hold"/>
                                        <p:tgtEl>
                                          <p:spTgt spid="6"/>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7"/>
                                        </p:tgtEl>
                                        <p:attrNameLst>
                                          <p:attrName>style.visibility</p:attrName>
                                        </p:attrNameLst>
                                      </p:cBhvr>
                                      <p:to>
                                        <p:strVal val="visible"/>
                                      </p:to>
                                    </p:set>
                                    <p:anim calcmode="lin" valueType="num">
                                      <p:cBhvr additive="base">
                                        <p:cTn id="35" dur="500" fill="hold"/>
                                        <p:tgtEl>
                                          <p:spTgt spid="7"/>
                                        </p:tgtEl>
                                        <p:attrNameLst>
                                          <p:attrName>ppt_x</p:attrName>
                                        </p:attrNameLst>
                                      </p:cBhvr>
                                      <p:tavLst>
                                        <p:tav tm="0">
                                          <p:val>
                                            <p:strVal val="#ppt_x"/>
                                          </p:val>
                                        </p:tav>
                                        <p:tav tm="100000">
                                          <p:val>
                                            <p:strVal val="#ppt_x"/>
                                          </p:val>
                                        </p:tav>
                                      </p:tavLst>
                                    </p:anim>
                                    <p:anim calcmode="lin" valueType="num">
                                      <p:cBhvr additive="base">
                                        <p:cTn id="36" dur="500" fill="hold"/>
                                        <p:tgtEl>
                                          <p:spTgt spid="7"/>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8"/>
                                        </p:tgtEl>
                                        <p:attrNameLst>
                                          <p:attrName>style.visibility</p:attrName>
                                        </p:attrNameLst>
                                      </p:cBhvr>
                                      <p:to>
                                        <p:strVal val="visible"/>
                                      </p:to>
                                    </p:set>
                                    <p:anim calcmode="lin" valueType="num">
                                      <p:cBhvr additive="base">
                                        <p:cTn id="39" dur="500" fill="hold"/>
                                        <p:tgtEl>
                                          <p:spTgt spid="8"/>
                                        </p:tgtEl>
                                        <p:attrNameLst>
                                          <p:attrName>ppt_x</p:attrName>
                                        </p:attrNameLst>
                                      </p:cBhvr>
                                      <p:tavLst>
                                        <p:tav tm="0">
                                          <p:val>
                                            <p:strVal val="#ppt_x"/>
                                          </p:val>
                                        </p:tav>
                                        <p:tav tm="100000">
                                          <p:val>
                                            <p:strVal val="#ppt_x"/>
                                          </p:val>
                                        </p:tav>
                                      </p:tavLst>
                                    </p:anim>
                                    <p:anim calcmode="lin" valueType="num">
                                      <p:cBhvr additive="base">
                                        <p:cTn id="4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nodeType="clickEffect">
                                  <p:stCondLst>
                                    <p:cond delay="0"/>
                                  </p:stCondLst>
                                  <p:childTnLst>
                                    <p:set>
                                      <p:cBhvr>
                                        <p:cTn id="44" dur="1" fill="hold">
                                          <p:stCondLst>
                                            <p:cond delay="0"/>
                                          </p:stCondLst>
                                        </p:cTn>
                                        <p:tgtEl>
                                          <p:spTgt spid="5">
                                            <p:txEl>
                                              <p:pRg st="4" end="4"/>
                                            </p:txEl>
                                          </p:spTgt>
                                        </p:tgtEl>
                                        <p:attrNameLst>
                                          <p:attrName>style.visibility</p:attrName>
                                        </p:attrNameLst>
                                      </p:cBhvr>
                                      <p:to>
                                        <p:strVal val="visible"/>
                                      </p:to>
                                    </p:set>
                                    <p:anim calcmode="lin" valueType="num">
                                      <p:cBhvr additive="base">
                                        <p:cTn id="4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5">
                                            <p:txEl>
                                              <p:pRg st="4" end="4"/>
                                            </p:txEl>
                                          </p:spTgt>
                                        </p:tgtEl>
                                        <p:attrNameLst>
                                          <p:attrName>ppt_y</p:attrName>
                                        </p:attrNameLst>
                                      </p:cBhvr>
                                      <p:tavLst>
                                        <p:tav tm="0">
                                          <p:val>
                                            <p:strVal val="1+#ppt_h/2"/>
                                          </p:val>
                                        </p:tav>
                                        <p:tav tm="100000">
                                          <p:val>
                                            <p:strVal val="#ppt_y"/>
                                          </p:val>
                                        </p:tav>
                                      </p:tavLst>
                                    </p:anim>
                                  </p:childTnLst>
                                </p:cTn>
                              </p:par>
                              <p:par>
                                <p:cTn id="47" presetID="2" presetClass="entr" presetSubtype="4" fill="hold" nodeType="withEffect">
                                  <p:stCondLst>
                                    <p:cond delay="0"/>
                                  </p:stCondLst>
                                  <p:childTnLst>
                                    <p:set>
                                      <p:cBhvr>
                                        <p:cTn id="48" dur="1" fill="hold">
                                          <p:stCondLst>
                                            <p:cond delay="0"/>
                                          </p:stCondLst>
                                        </p:cTn>
                                        <p:tgtEl>
                                          <p:spTgt spid="5">
                                            <p:txEl>
                                              <p:pRg st="5" end="5"/>
                                            </p:txEl>
                                          </p:spTgt>
                                        </p:tgtEl>
                                        <p:attrNameLst>
                                          <p:attrName>style.visibility</p:attrName>
                                        </p:attrNameLst>
                                      </p:cBhvr>
                                      <p:to>
                                        <p:strVal val="visible"/>
                                      </p:to>
                                    </p:set>
                                    <p:anim calcmode="lin" valueType="num">
                                      <p:cBhvr additive="base">
                                        <p:cTn id="4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5" end="5"/>
                                            </p:txEl>
                                          </p:spTgt>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5">
                                            <p:txEl>
                                              <p:pRg st="6" end="6"/>
                                            </p:txEl>
                                          </p:spTgt>
                                        </p:tgtEl>
                                        <p:attrNameLst>
                                          <p:attrName>style.visibility</p:attrName>
                                        </p:attrNameLst>
                                      </p:cBhvr>
                                      <p:to>
                                        <p:strVal val="visible"/>
                                      </p:to>
                                    </p:set>
                                    <p:anim calcmode="lin" valueType="num">
                                      <p:cBhvr additive="base">
                                        <p:cTn id="5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6" end="6"/>
                                            </p:txEl>
                                          </p:spTgt>
                                        </p:tgtEl>
                                        <p:attrNameLst>
                                          <p:attrName>ppt_y</p:attrName>
                                        </p:attrNameLst>
                                      </p:cBhvr>
                                      <p:tavLst>
                                        <p:tav tm="0">
                                          <p:val>
                                            <p:strVal val="1+#ppt_h/2"/>
                                          </p:val>
                                        </p:tav>
                                        <p:tav tm="100000">
                                          <p:val>
                                            <p:strVal val="#ppt_y"/>
                                          </p:val>
                                        </p:tav>
                                      </p:tavLst>
                                    </p:anim>
                                  </p:childTnLst>
                                </p:cTn>
                              </p:par>
                              <p:par>
                                <p:cTn id="55" presetID="2" presetClass="entr" presetSubtype="4" fill="hold" nodeType="withEffect">
                                  <p:stCondLst>
                                    <p:cond delay="0"/>
                                  </p:stCondLst>
                                  <p:childTnLst>
                                    <p:set>
                                      <p:cBhvr>
                                        <p:cTn id="56" dur="1" fill="hold">
                                          <p:stCondLst>
                                            <p:cond delay="0"/>
                                          </p:stCondLst>
                                        </p:cTn>
                                        <p:tgtEl>
                                          <p:spTgt spid="5">
                                            <p:txEl>
                                              <p:pRg st="7" end="7"/>
                                            </p:txEl>
                                          </p:spTgt>
                                        </p:tgtEl>
                                        <p:attrNameLst>
                                          <p:attrName>style.visibility</p:attrName>
                                        </p:attrNameLst>
                                      </p:cBhvr>
                                      <p:to>
                                        <p:strVal val="visible"/>
                                      </p:to>
                                    </p:set>
                                    <p:anim calcmode="lin" valueType="num">
                                      <p:cBhvr additive="base">
                                        <p:cTn id="57"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CDA52FB-277F-F34A-17E9-C3AD58B0D0CB}"/>
              </a:ext>
            </a:extLst>
          </p:cNvPr>
          <p:cNvSpPr>
            <a:spLocks noGrp="1"/>
          </p:cNvSpPr>
          <p:nvPr>
            <p:ph type="dt" sz="half" idx="10"/>
          </p:nvPr>
        </p:nvSpPr>
        <p:spPr/>
        <p:txBody>
          <a:bodyPr/>
          <a:lstStyle/>
          <a:p>
            <a:fld id="{84419E95-5532-4BC2-925F-717586BFEF87}" type="datetime6">
              <a:rPr lang="en-US" smtClean="0"/>
              <a:t>March 26</a:t>
            </a:fld>
            <a:endParaRPr lang="de-DE" dirty="0"/>
          </a:p>
        </p:txBody>
      </p:sp>
      <p:sp>
        <p:nvSpPr>
          <p:cNvPr id="3" name="Footer Placeholder 2">
            <a:extLst>
              <a:ext uri="{FF2B5EF4-FFF2-40B4-BE49-F238E27FC236}">
                <a16:creationId xmlns:a16="http://schemas.microsoft.com/office/drawing/2014/main" id="{5D50A967-3DC5-7F84-7620-BF89648D9F7C}"/>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2F6B6832-AC57-B76E-D53E-3A3719B9F6DC}"/>
              </a:ext>
            </a:extLst>
          </p:cNvPr>
          <p:cNvSpPr>
            <a:spLocks noGrp="1"/>
          </p:cNvSpPr>
          <p:nvPr>
            <p:ph type="sldNum" sz="quarter" idx="12"/>
          </p:nvPr>
        </p:nvSpPr>
        <p:spPr/>
        <p:txBody>
          <a:bodyPr/>
          <a:lstStyle/>
          <a:p>
            <a:fld id="{D3A9EDD9-2578-4372-8132-10947A418667}" type="slidenum">
              <a:rPr lang="de-DE" smtClean="0"/>
              <a:t>14</a:t>
            </a:fld>
            <a:endParaRPr lang="de-DE"/>
          </a:p>
        </p:txBody>
      </p:sp>
      <p:sp>
        <p:nvSpPr>
          <p:cNvPr id="5" name="Text Placeholder 4">
            <a:extLst>
              <a:ext uri="{FF2B5EF4-FFF2-40B4-BE49-F238E27FC236}">
                <a16:creationId xmlns:a16="http://schemas.microsoft.com/office/drawing/2014/main" id="{CAEA62CC-66C7-0EBF-94D6-12FD1B30D314}"/>
              </a:ext>
            </a:extLst>
          </p:cNvPr>
          <p:cNvSpPr>
            <a:spLocks noGrp="1"/>
          </p:cNvSpPr>
          <p:nvPr>
            <p:ph type="body" idx="14"/>
          </p:nvPr>
        </p:nvSpPr>
        <p:spPr/>
        <p:txBody>
          <a:bodyPr/>
          <a:lstStyle/>
          <a:p>
            <a:endParaRPr lang="en-US" dirty="0"/>
          </a:p>
        </p:txBody>
      </p:sp>
      <p:pic>
        <p:nvPicPr>
          <p:cNvPr id="12" name="Content Placeholder 11">
            <a:extLst>
              <a:ext uri="{FF2B5EF4-FFF2-40B4-BE49-F238E27FC236}">
                <a16:creationId xmlns:a16="http://schemas.microsoft.com/office/drawing/2014/main" id="{2568A6E3-9BFB-5DC8-C01D-218DC520BCD7}"/>
              </a:ext>
            </a:extLst>
          </p:cNvPr>
          <p:cNvPicPr>
            <a:picLocks noGrp="1" noChangeAspect="1"/>
          </p:cNvPicPr>
          <p:nvPr>
            <p:ph idx="1"/>
          </p:nvPr>
        </p:nvPicPr>
        <p:blipFill>
          <a:blip r:embed="rId2"/>
          <a:stretch>
            <a:fillRect/>
          </a:stretch>
        </p:blipFill>
        <p:spPr>
          <a:xfrm>
            <a:off x="97463" y="2659565"/>
            <a:ext cx="11926146" cy="1912434"/>
          </a:xfrm>
          <a:prstGeom prst="rect">
            <a:avLst/>
          </a:prstGeom>
        </p:spPr>
      </p:pic>
      <p:sp>
        <p:nvSpPr>
          <p:cNvPr id="9" name="Title 8">
            <a:extLst>
              <a:ext uri="{FF2B5EF4-FFF2-40B4-BE49-F238E27FC236}">
                <a16:creationId xmlns:a16="http://schemas.microsoft.com/office/drawing/2014/main" id="{AE22EB60-F320-DCAE-3661-6C3EC339A7A7}"/>
              </a:ext>
            </a:extLst>
          </p:cNvPr>
          <p:cNvSpPr>
            <a:spLocks noGrp="1"/>
          </p:cNvSpPr>
          <p:nvPr>
            <p:ph type="title"/>
          </p:nvPr>
        </p:nvSpPr>
        <p:spPr/>
        <p:txBody>
          <a:bodyPr/>
          <a:lstStyle/>
          <a:p>
            <a:r>
              <a:rPr lang="en-US" dirty="0"/>
              <a:t>S7comm Protocol structure</a:t>
            </a:r>
          </a:p>
        </p:txBody>
      </p:sp>
      <p:sp>
        <p:nvSpPr>
          <p:cNvPr id="10" name="Text Placeholder 9">
            <a:extLst>
              <a:ext uri="{FF2B5EF4-FFF2-40B4-BE49-F238E27FC236}">
                <a16:creationId xmlns:a16="http://schemas.microsoft.com/office/drawing/2014/main" id="{624C5BC2-8624-BDE4-18DB-8EDD47CBE6F2}"/>
              </a:ext>
            </a:extLst>
          </p:cNvPr>
          <p:cNvSpPr>
            <a:spLocks noGrp="1"/>
          </p:cNvSpPr>
          <p:nvPr>
            <p:ph type="body" sz="quarter" idx="17"/>
          </p:nvPr>
        </p:nvSpPr>
        <p:spPr/>
        <p:txBody>
          <a:bodyPr/>
          <a:lstStyle/>
          <a:p>
            <a:endParaRPr lang="en-US"/>
          </a:p>
        </p:txBody>
      </p:sp>
      <p:sp>
        <p:nvSpPr>
          <p:cNvPr id="13" name="TextBox 12">
            <a:extLst>
              <a:ext uri="{FF2B5EF4-FFF2-40B4-BE49-F238E27FC236}">
                <a16:creationId xmlns:a16="http://schemas.microsoft.com/office/drawing/2014/main" id="{59EAE97F-BC32-FDDB-2EC1-D14CEFAF8502}"/>
              </a:ext>
            </a:extLst>
          </p:cNvPr>
          <p:cNvSpPr txBox="1"/>
          <p:nvPr/>
        </p:nvSpPr>
        <p:spPr>
          <a:xfrm>
            <a:off x="9893211" y="5170176"/>
            <a:ext cx="1481559" cy="646331"/>
          </a:xfrm>
          <a:prstGeom prst="rect">
            <a:avLst/>
          </a:prstGeom>
          <a:noFill/>
        </p:spPr>
        <p:txBody>
          <a:bodyPr wrap="square" rtlCol="0">
            <a:spAutoFit/>
          </a:bodyPr>
          <a:lstStyle/>
          <a:p>
            <a:r>
              <a:rPr lang="en-US" dirty="0"/>
              <a:t>Best candidate</a:t>
            </a:r>
          </a:p>
        </p:txBody>
      </p:sp>
      <p:sp>
        <p:nvSpPr>
          <p:cNvPr id="14" name="Arrow: Down 13">
            <a:extLst>
              <a:ext uri="{FF2B5EF4-FFF2-40B4-BE49-F238E27FC236}">
                <a16:creationId xmlns:a16="http://schemas.microsoft.com/office/drawing/2014/main" id="{3D4942BA-2A62-F232-6D91-10B892D6423B}"/>
              </a:ext>
            </a:extLst>
          </p:cNvPr>
          <p:cNvSpPr/>
          <p:nvPr/>
        </p:nvSpPr>
        <p:spPr>
          <a:xfrm rot="10800000">
            <a:off x="10046825" y="4622231"/>
            <a:ext cx="370390" cy="49771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593191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E56BA-7BE6-E901-3AB7-2CBFC232170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EAC7D430-F16C-AF54-295B-4C778EC63954}"/>
              </a:ext>
            </a:extLst>
          </p:cNvPr>
          <p:cNvSpPr>
            <a:spLocks noGrp="1"/>
          </p:cNvSpPr>
          <p:nvPr>
            <p:ph type="dt" sz="half" idx="10"/>
          </p:nvPr>
        </p:nvSpPr>
        <p:spPr/>
        <p:txBody>
          <a:bodyPr/>
          <a:lstStyle/>
          <a:p>
            <a:fld id="{41D17ACF-6668-4750-8935-F537B7B7711B}" type="datetime6">
              <a:rPr lang="en-US" smtClean="0"/>
              <a:t>March 26</a:t>
            </a:fld>
            <a:endParaRPr lang="de-DE" dirty="0"/>
          </a:p>
        </p:txBody>
      </p:sp>
      <p:sp>
        <p:nvSpPr>
          <p:cNvPr id="3" name="Textplatzhalter 2">
            <a:extLst>
              <a:ext uri="{FF2B5EF4-FFF2-40B4-BE49-F238E27FC236}">
                <a16:creationId xmlns:a16="http://schemas.microsoft.com/office/drawing/2014/main" id="{ADCBA5CA-B0E6-BBCB-862F-493AE1681549}"/>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4138604C-3591-C2D2-DB95-3E1310D0FA8D}"/>
              </a:ext>
            </a:extLst>
          </p:cNvPr>
          <p:cNvSpPr>
            <a:spLocks noGrp="1"/>
          </p:cNvSpPr>
          <p:nvPr>
            <p:ph type="body" sz="quarter" idx="12"/>
          </p:nvPr>
        </p:nvSpPr>
        <p:spPr/>
        <p:txBody>
          <a:bodyPr/>
          <a:lstStyle/>
          <a:p>
            <a:r>
              <a:rPr lang="de-DE" dirty="0"/>
              <a:t>Feature Extraction</a:t>
            </a:r>
          </a:p>
        </p:txBody>
      </p:sp>
    </p:spTree>
    <p:extLst>
      <p:ext uri="{BB962C8B-B14F-4D97-AF65-F5344CB8AC3E}">
        <p14:creationId xmlns:p14="http://schemas.microsoft.com/office/powerpoint/2010/main" val="4455108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B6E0-5AF3-26D9-A475-04A9E79BDF30}"/>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FCA2D52-C46C-3029-16AC-636AF7AC6D46}"/>
              </a:ext>
            </a:extLst>
          </p:cNvPr>
          <p:cNvSpPr>
            <a:spLocks noGrp="1"/>
          </p:cNvSpPr>
          <p:nvPr>
            <p:ph type="dt" sz="half" idx="10"/>
          </p:nvPr>
        </p:nvSpPr>
        <p:spPr/>
        <p:txBody>
          <a:bodyPr/>
          <a:lstStyle/>
          <a:p>
            <a:fld id="{EB0FA057-1FAF-4092-AC62-7296BB1E72B2}" type="datetime6">
              <a:rPr lang="en-US" smtClean="0"/>
              <a:t>March 26</a:t>
            </a:fld>
            <a:endParaRPr lang="de-DE" dirty="0"/>
          </a:p>
        </p:txBody>
      </p:sp>
      <p:sp>
        <p:nvSpPr>
          <p:cNvPr id="4" name="Foliennummernplatzhalter 3">
            <a:extLst>
              <a:ext uri="{FF2B5EF4-FFF2-40B4-BE49-F238E27FC236}">
                <a16:creationId xmlns:a16="http://schemas.microsoft.com/office/drawing/2014/main" id="{5D3378E5-885E-B3D2-9D00-FEBEC7E647B6}"/>
              </a:ext>
            </a:extLst>
          </p:cNvPr>
          <p:cNvSpPr>
            <a:spLocks noGrp="1"/>
          </p:cNvSpPr>
          <p:nvPr>
            <p:ph type="sldNum" sz="quarter" idx="12"/>
          </p:nvPr>
        </p:nvSpPr>
        <p:spPr/>
        <p:txBody>
          <a:bodyPr/>
          <a:lstStyle/>
          <a:p>
            <a:fld id="{D3A9EDD9-2578-4372-8132-10947A418667}" type="slidenum">
              <a:rPr lang="de-DE" smtClean="0"/>
              <a:t>16</a:t>
            </a:fld>
            <a:endParaRPr lang="de-DE"/>
          </a:p>
        </p:txBody>
      </p:sp>
      <p:sp>
        <p:nvSpPr>
          <p:cNvPr id="9" name="Titel 8">
            <a:extLst>
              <a:ext uri="{FF2B5EF4-FFF2-40B4-BE49-F238E27FC236}">
                <a16:creationId xmlns:a16="http://schemas.microsoft.com/office/drawing/2014/main" id="{0F17EE2C-2ED7-FB53-9543-556B4738B695}"/>
              </a:ext>
            </a:extLst>
          </p:cNvPr>
          <p:cNvSpPr>
            <a:spLocks noGrp="1"/>
          </p:cNvSpPr>
          <p:nvPr>
            <p:ph type="title"/>
          </p:nvPr>
        </p:nvSpPr>
        <p:spPr/>
        <p:txBody>
          <a:bodyPr/>
          <a:lstStyle/>
          <a:p>
            <a:r>
              <a:rPr lang="de-DE" dirty="0"/>
              <a:t>Feature Extraction</a:t>
            </a:r>
          </a:p>
        </p:txBody>
      </p:sp>
      <p:sp>
        <p:nvSpPr>
          <p:cNvPr id="12" name="Textplatzhalter 11">
            <a:extLst>
              <a:ext uri="{FF2B5EF4-FFF2-40B4-BE49-F238E27FC236}">
                <a16:creationId xmlns:a16="http://schemas.microsoft.com/office/drawing/2014/main" id="{0DFE4013-4C26-B127-35D3-0A1522873D20}"/>
              </a:ext>
            </a:extLst>
          </p:cNvPr>
          <p:cNvSpPr>
            <a:spLocks noGrp="1"/>
          </p:cNvSpPr>
          <p:nvPr>
            <p:ph type="body" sz="quarter" idx="14"/>
          </p:nvPr>
        </p:nvSpPr>
        <p:spPr/>
        <p:txBody>
          <a:bodyPr/>
          <a:lstStyle/>
          <a:p>
            <a:endParaRPr lang="de-DE" dirty="0"/>
          </a:p>
        </p:txBody>
      </p:sp>
      <p:sp>
        <p:nvSpPr>
          <p:cNvPr id="5" name="TextBox 4">
            <a:extLst>
              <a:ext uri="{FF2B5EF4-FFF2-40B4-BE49-F238E27FC236}">
                <a16:creationId xmlns:a16="http://schemas.microsoft.com/office/drawing/2014/main" id="{812AB2F0-B0D2-31B7-CC47-D0C443D6496E}"/>
              </a:ext>
            </a:extLst>
          </p:cNvPr>
          <p:cNvSpPr txBox="1"/>
          <p:nvPr/>
        </p:nvSpPr>
        <p:spPr>
          <a:xfrm>
            <a:off x="7168883" y="1989409"/>
            <a:ext cx="4007383" cy="584775"/>
          </a:xfrm>
          <a:prstGeom prst="rect">
            <a:avLst/>
          </a:prstGeom>
          <a:noFill/>
        </p:spPr>
        <p:txBody>
          <a:bodyPr wrap="square" rtlCol="0">
            <a:spAutoFit/>
          </a:bodyPr>
          <a:lstStyle/>
          <a:p>
            <a:r>
              <a:rPr lang="de-DE" sz="1600" b="1" dirty="0"/>
              <a:t>Input: </a:t>
            </a:r>
            <a:r>
              <a:rPr lang="de-DE" sz="1600" dirty="0"/>
              <a:t>Byte-vectors from  Raw/RE representations (RE5/RE10/RE15)</a:t>
            </a:r>
          </a:p>
        </p:txBody>
      </p:sp>
      <p:sp>
        <p:nvSpPr>
          <p:cNvPr id="6" name="TextBox 5">
            <a:extLst>
              <a:ext uri="{FF2B5EF4-FFF2-40B4-BE49-F238E27FC236}">
                <a16:creationId xmlns:a16="http://schemas.microsoft.com/office/drawing/2014/main" id="{9C1214C3-11E9-864C-9BC5-CAB0B73A2277}"/>
              </a:ext>
            </a:extLst>
          </p:cNvPr>
          <p:cNvSpPr txBox="1"/>
          <p:nvPr/>
        </p:nvSpPr>
        <p:spPr>
          <a:xfrm>
            <a:off x="9123758" y="2606035"/>
            <a:ext cx="2573777" cy="461665"/>
          </a:xfrm>
          <a:prstGeom prst="rect">
            <a:avLst/>
          </a:prstGeom>
          <a:noFill/>
        </p:spPr>
        <p:txBody>
          <a:bodyPr wrap="square" rtlCol="0">
            <a:spAutoFit/>
          </a:bodyPr>
          <a:lstStyle/>
          <a:p>
            <a:pPr marL="285750" indent="-285750">
              <a:buFont typeface="Symbol" panose="05050102010706020507" pitchFamily="18" charset="2"/>
              <a:buChar char="-"/>
            </a:pPr>
            <a:r>
              <a:rPr lang="de-DE" sz="1200" dirty="0"/>
              <a:t>Pad/Truncate to length M</a:t>
            </a:r>
          </a:p>
          <a:p>
            <a:pPr marL="285750" indent="-285750">
              <a:buFont typeface="Symbol" panose="05050102010706020507" pitchFamily="18" charset="2"/>
              <a:buChar char="-"/>
            </a:pPr>
            <a:r>
              <a:rPr lang="de-DE" sz="1200" dirty="0"/>
              <a:t>Normalize byte values to [0/1]</a:t>
            </a:r>
          </a:p>
        </p:txBody>
      </p:sp>
      <p:sp>
        <p:nvSpPr>
          <p:cNvPr id="7" name="TextBox 6">
            <a:extLst>
              <a:ext uri="{FF2B5EF4-FFF2-40B4-BE49-F238E27FC236}">
                <a16:creationId xmlns:a16="http://schemas.microsoft.com/office/drawing/2014/main" id="{7E8A4A32-7477-BC6D-C04F-8D8519915C1B}"/>
              </a:ext>
            </a:extLst>
          </p:cNvPr>
          <p:cNvSpPr txBox="1"/>
          <p:nvPr/>
        </p:nvSpPr>
        <p:spPr>
          <a:xfrm>
            <a:off x="7705725" y="3408131"/>
            <a:ext cx="2933700" cy="523220"/>
          </a:xfrm>
          <a:prstGeom prst="rect">
            <a:avLst/>
          </a:prstGeom>
          <a:noFill/>
          <a:ln>
            <a:solidFill>
              <a:schemeClr val="tx1"/>
            </a:solidFill>
          </a:ln>
        </p:spPr>
        <p:txBody>
          <a:bodyPr wrap="square">
            <a:spAutoFit/>
          </a:bodyPr>
          <a:lstStyle/>
          <a:p>
            <a:r>
              <a:rPr lang="de-DE" sz="1400" dirty="0"/>
              <a:t>SDA* (trained on benign samples) </a:t>
            </a:r>
          </a:p>
          <a:p>
            <a:r>
              <a:rPr lang="de-DE" sz="1400" b="1" dirty="0"/>
              <a:t>       Encoder </a:t>
            </a:r>
            <a:r>
              <a:rPr lang="de-DE" sz="1400" dirty="0"/>
              <a:t>(bottleneck layer)</a:t>
            </a:r>
          </a:p>
        </p:txBody>
      </p:sp>
      <p:sp>
        <p:nvSpPr>
          <p:cNvPr id="8" name="TextBox 7">
            <a:extLst>
              <a:ext uri="{FF2B5EF4-FFF2-40B4-BE49-F238E27FC236}">
                <a16:creationId xmlns:a16="http://schemas.microsoft.com/office/drawing/2014/main" id="{2C636615-3142-E908-1EE0-373F14C83F71}"/>
              </a:ext>
            </a:extLst>
          </p:cNvPr>
          <p:cNvSpPr txBox="1"/>
          <p:nvPr/>
        </p:nvSpPr>
        <p:spPr>
          <a:xfrm>
            <a:off x="7363997" y="4374433"/>
            <a:ext cx="3617156" cy="523220"/>
          </a:xfrm>
          <a:prstGeom prst="rect">
            <a:avLst/>
          </a:prstGeom>
          <a:noFill/>
        </p:spPr>
        <p:txBody>
          <a:bodyPr wrap="square">
            <a:spAutoFit/>
          </a:bodyPr>
          <a:lstStyle/>
          <a:p>
            <a:r>
              <a:rPr lang="de-DE" sz="1400" b="1" dirty="0"/>
              <a:t>Output: </a:t>
            </a:r>
            <a:r>
              <a:rPr lang="de-DE" sz="1400" dirty="0"/>
              <a:t>Latent feature vector (e.g. 32 features)</a:t>
            </a:r>
          </a:p>
        </p:txBody>
      </p:sp>
      <p:cxnSp>
        <p:nvCxnSpPr>
          <p:cNvPr id="13" name="Straight Arrow Connector 12">
            <a:extLst>
              <a:ext uri="{FF2B5EF4-FFF2-40B4-BE49-F238E27FC236}">
                <a16:creationId xmlns:a16="http://schemas.microsoft.com/office/drawing/2014/main" id="{8EAF2B70-95BF-3965-7383-3CD80F2C19CB}"/>
              </a:ext>
            </a:extLst>
          </p:cNvPr>
          <p:cNvCxnSpPr>
            <a:cxnSpLocks/>
            <a:stCxn id="5" idx="2"/>
            <a:endCxn id="7" idx="0"/>
          </p:cNvCxnSpPr>
          <p:nvPr/>
        </p:nvCxnSpPr>
        <p:spPr>
          <a:xfrm>
            <a:off x="9172575" y="2574184"/>
            <a:ext cx="0" cy="83394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6D9320B9-C065-39FE-7507-50ADBB9E1240}"/>
              </a:ext>
            </a:extLst>
          </p:cNvPr>
          <p:cNvCxnSpPr>
            <a:cxnSpLocks/>
            <a:stCxn id="7" idx="2"/>
            <a:endCxn id="8" idx="0"/>
          </p:cNvCxnSpPr>
          <p:nvPr/>
        </p:nvCxnSpPr>
        <p:spPr>
          <a:xfrm>
            <a:off x="9172575" y="3931351"/>
            <a:ext cx="0" cy="44308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Arrow: Right 14">
            <a:extLst>
              <a:ext uri="{FF2B5EF4-FFF2-40B4-BE49-F238E27FC236}">
                <a16:creationId xmlns:a16="http://schemas.microsoft.com/office/drawing/2014/main" id="{AFF6B9D5-2ABC-C9CB-F2E1-9D30DCA6533C}"/>
              </a:ext>
            </a:extLst>
          </p:cNvPr>
          <p:cNvSpPr/>
          <p:nvPr/>
        </p:nvSpPr>
        <p:spPr>
          <a:xfrm>
            <a:off x="7858522" y="3725834"/>
            <a:ext cx="225440" cy="112145"/>
          </a:xfrm>
          <a:prstGeom prst="rightArrow">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de-DE"/>
          </a:p>
        </p:txBody>
      </p:sp>
      <p:sp>
        <p:nvSpPr>
          <p:cNvPr id="16" name="Rectangle 15">
            <a:extLst>
              <a:ext uri="{FF2B5EF4-FFF2-40B4-BE49-F238E27FC236}">
                <a16:creationId xmlns:a16="http://schemas.microsoft.com/office/drawing/2014/main" id="{38A519F6-2C7C-E8BD-C200-07C3A9CA7C50}"/>
              </a:ext>
            </a:extLst>
          </p:cNvPr>
          <p:cNvSpPr/>
          <p:nvPr/>
        </p:nvSpPr>
        <p:spPr>
          <a:xfrm>
            <a:off x="6978514" y="1854697"/>
            <a:ext cx="4870450" cy="3486038"/>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de-DE"/>
          </a:p>
        </p:txBody>
      </p:sp>
      <p:pic>
        <p:nvPicPr>
          <p:cNvPr id="17" name="Picture 16">
            <a:extLst>
              <a:ext uri="{FF2B5EF4-FFF2-40B4-BE49-F238E27FC236}">
                <a16:creationId xmlns:a16="http://schemas.microsoft.com/office/drawing/2014/main" id="{1939FF35-84F4-18DE-C03F-921BE93F6B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5733" y="1886418"/>
            <a:ext cx="5918016" cy="3418524"/>
          </a:xfrm>
          <a:prstGeom prst="rect">
            <a:avLst/>
          </a:prstGeom>
          <a:ln>
            <a:solidFill>
              <a:schemeClr val="tx1"/>
            </a:solidFill>
          </a:ln>
        </p:spPr>
      </p:pic>
      <p:sp>
        <p:nvSpPr>
          <p:cNvPr id="18" name="TextBox 17">
            <a:extLst>
              <a:ext uri="{FF2B5EF4-FFF2-40B4-BE49-F238E27FC236}">
                <a16:creationId xmlns:a16="http://schemas.microsoft.com/office/drawing/2014/main" id="{A22CE8FD-0AB6-9256-435C-8352D9DADA7B}"/>
              </a:ext>
            </a:extLst>
          </p:cNvPr>
          <p:cNvSpPr txBox="1"/>
          <p:nvPr/>
        </p:nvSpPr>
        <p:spPr>
          <a:xfrm>
            <a:off x="575733" y="1467354"/>
            <a:ext cx="3418808" cy="369332"/>
          </a:xfrm>
          <a:prstGeom prst="rect">
            <a:avLst/>
          </a:prstGeom>
          <a:noFill/>
        </p:spPr>
        <p:txBody>
          <a:bodyPr wrap="square" rtlCol="0">
            <a:spAutoFit/>
          </a:bodyPr>
          <a:lstStyle/>
          <a:p>
            <a:r>
              <a:rPr lang="de-DE" b="1" dirty="0"/>
              <a:t>Autoencoder architecture:</a:t>
            </a:r>
          </a:p>
        </p:txBody>
      </p:sp>
      <p:sp>
        <p:nvSpPr>
          <p:cNvPr id="19" name="TextBox 18">
            <a:extLst>
              <a:ext uri="{FF2B5EF4-FFF2-40B4-BE49-F238E27FC236}">
                <a16:creationId xmlns:a16="http://schemas.microsoft.com/office/drawing/2014/main" id="{E41F1500-9D8A-0FA8-6774-E8E285D96A14}"/>
              </a:ext>
            </a:extLst>
          </p:cNvPr>
          <p:cNvSpPr txBox="1"/>
          <p:nvPr/>
        </p:nvSpPr>
        <p:spPr>
          <a:xfrm>
            <a:off x="575733" y="5354674"/>
            <a:ext cx="5859435" cy="338554"/>
          </a:xfrm>
          <a:prstGeom prst="rect">
            <a:avLst/>
          </a:prstGeom>
          <a:noFill/>
        </p:spPr>
        <p:txBody>
          <a:bodyPr wrap="square" rtlCol="0">
            <a:spAutoFit/>
          </a:bodyPr>
          <a:lstStyle/>
          <a:p>
            <a:r>
              <a:rPr lang="de-DE" sz="800" dirty="0">
                <a:solidFill>
                  <a:schemeClr val="tx1">
                    <a:lumMod val="60000"/>
                    <a:lumOff val="40000"/>
                  </a:schemeClr>
                </a:solidFill>
              </a:rPr>
              <a:t>Image taken from: https://www.researchgate.net/figure/Deep-Autoencoder-architecture-composed-by-input-x-encoder-layer-bottleneck-layer_fig1_367193919</a:t>
            </a:r>
          </a:p>
        </p:txBody>
      </p:sp>
      <p:sp>
        <p:nvSpPr>
          <p:cNvPr id="3" name="Footer Placeholder 2">
            <a:extLst>
              <a:ext uri="{FF2B5EF4-FFF2-40B4-BE49-F238E27FC236}">
                <a16:creationId xmlns:a16="http://schemas.microsoft.com/office/drawing/2014/main" id="{D77A7E0A-BE1B-3BFA-D4FA-EF63960C1A4E}"/>
              </a:ext>
            </a:extLst>
          </p:cNvPr>
          <p:cNvSpPr>
            <a:spLocks noGrp="1"/>
          </p:cNvSpPr>
          <p:nvPr>
            <p:ph type="ftr" sz="quarter" idx="11"/>
          </p:nvPr>
        </p:nvSpPr>
        <p:spPr/>
        <p:txBody>
          <a:bodyPr/>
          <a:lstStyle/>
          <a:p>
            <a:r>
              <a:rPr lang="de-DE" dirty="0"/>
              <a:t>*SDA - Stacked Denoising Autoencoder</a:t>
            </a:r>
          </a:p>
          <a:p>
            <a:endParaRPr lang="de-DE" dirty="0"/>
          </a:p>
        </p:txBody>
      </p:sp>
    </p:spTree>
    <p:extLst>
      <p:ext uri="{BB962C8B-B14F-4D97-AF65-F5344CB8AC3E}">
        <p14:creationId xmlns:p14="http://schemas.microsoft.com/office/powerpoint/2010/main" val="25442417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93832-32C9-337D-6B5C-2313BDC92550}"/>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87A9E82-A90F-2B2E-753F-5FF3E5CF574D}"/>
              </a:ext>
            </a:extLst>
          </p:cNvPr>
          <p:cNvSpPr>
            <a:spLocks noGrp="1"/>
          </p:cNvSpPr>
          <p:nvPr>
            <p:ph type="dt" sz="half" idx="10"/>
          </p:nvPr>
        </p:nvSpPr>
        <p:spPr/>
        <p:txBody>
          <a:bodyPr/>
          <a:lstStyle/>
          <a:p>
            <a:fld id="{9F82AD88-74F2-4C3E-BEF9-8FB7527865CC}" type="datetime6">
              <a:rPr lang="en-US" smtClean="0"/>
              <a:t>March 26</a:t>
            </a:fld>
            <a:endParaRPr lang="de-DE" dirty="0"/>
          </a:p>
        </p:txBody>
      </p:sp>
      <p:sp>
        <p:nvSpPr>
          <p:cNvPr id="3" name="Textplatzhalter 2">
            <a:extLst>
              <a:ext uri="{FF2B5EF4-FFF2-40B4-BE49-F238E27FC236}">
                <a16:creationId xmlns:a16="http://schemas.microsoft.com/office/drawing/2014/main" id="{48074254-05A9-4B9F-16A5-BE1D561D447B}"/>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9D36A23C-4EEB-AF89-177E-41AB78574CD4}"/>
              </a:ext>
            </a:extLst>
          </p:cNvPr>
          <p:cNvSpPr>
            <a:spLocks noGrp="1"/>
          </p:cNvSpPr>
          <p:nvPr>
            <p:ph type="body" sz="quarter" idx="12"/>
          </p:nvPr>
        </p:nvSpPr>
        <p:spPr/>
        <p:txBody>
          <a:bodyPr/>
          <a:lstStyle/>
          <a:p>
            <a:r>
              <a:rPr lang="de-DE" dirty="0"/>
              <a:t>Anomaly Detection Methods</a:t>
            </a:r>
          </a:p>
          <a:p>
            <a:pPr lvl="2">
              <a:buFont typeface="Wingdings" panose="05000000000000000000" pitchFamily="2" charset="2"/>
              <a:buChar char="§"/>
            </a:pPr>
            <a:r>
              <a:rPr lang="de-DE" sz="1600" b="0" dirty="0">
                <a:solidFill>
                  <a:schemeClr val="tx1">
                    <a:lumMod val="50000"/>
                  </a:schemeClr>
                </a:solidFill>
              </a:rPr>
              <a:t> Ensemble Classifier</a:t>
            </a:r>
          </a:p>
          <a:p>
            <a:pPr lvl="2">
              <a:buFont typeface="Wingdings" panose="05000000000000000000" pitchFamily="2" charset="2"/>
              <a:buChar char="§"/>
            </a:pPr>
            <a:r>
              <a:rPr lang="de-DE" sz="1600" b="0" dirty="0">
                <a:solidFill>
                  <a:schemeClr val="tx1">
                    <a:lumMod val="50000"/>
                  </a:schemeClr>
                </a:solidFill>
              </a:rPr>
              <a:t> Autoencoder Reconstruction-Error</a:t>
            </a:r>
          </a:p>
          <a:p>
            <a:pPr lvl="2">
              <a:buFont typeface="Wingdings" panose="05000000000000000000" pitchFamily="2" charset="2"/>
              <a:buChar char="§"/>
            </a:pPr>
            <a:r>
              <a:rPr lang="de-DE" sz="1600" b="0" dirty="0">
                <a:solidFill>
                  <a:schemeClr val="tx1">
                    <a:lumMod val="50000"/>
                  </a:schemeClr>
                </a:solidFill>
              </a:rPr>
              <a:t> N-gram</a:t>
            </a:r>
          </a:p>
          <a:p>
            <a:pPr lvl="2">
              <a:buFont typeface="Wingdings" panose="05000000000000000000" pitchFamily="2" charset="2"/>
              <a:buChar char="§"/>
            </a:pPr>
            <a:r>
              <a:rPr lang="de-DE" sz="1600" b="0" dirty="0">
                <a:solidFill>
                  <a:schemeClr val="tx1">
                    <a:lumMod val="50000"/>
                  </a:schemeClr>
                </a:solidFill>
              </a:rPr>
              <a:t> Generative Adversarial Network</a:t>
            </a:r>
          </a:p>
          <a:p>
            <a:pPr lvl="2">
              <a:buFont typeface="Wingdings" panose="05000000000000000000" pitchFamily="2" charset="2"/>
              <a:buChar char="§"/>
            </a:pPr>
            <a:r>
              <a:rPr lang="de-DE" sz="1600" b="0" dirty="0">
                <a:solidFill>
                  <a:schemeClr val="tx1">
                    <a:lumMod val="50000"/>
                  </a:schemeClr>
                </a:solidFill>
              </a:rPr>
              <a:t> ResNet</a:t>
            </a:r>
          </a:p>
          <a:p>
            <a:endParaRPr lang="de-DE" dirty="0"/>
          </a:p>
        </p:txBody>
      </p:sp>
    </p:spTree>
    <p:extLst>
      <p:ext uri="{BB962C8B-B14F-4D97-AF65-F5344CB8AC3E}">
        <p14:creationId xmlns:p14="http://schemas.microsoft.com/office/powerpoint/2010/main" val="3707182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DE37C1-68AF-9FEA-D05E-F79FE850609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B68973B-760E-1650-486B-F1911FC1D12B}"/>
              </a:ext>
            </a:extLst>
          </p:cNvPr>
          <p:cNvSpPr>
            <a:spLocks noGrp="1"/>
          </p:cNvSpPr>
          <p:nvPr>
            <p:ph type="dt" sz="half" idx="10"/>
          </p:nvPr>
        </p:nvSpPr>
        <p:spPr/>
        <p:txBody>
          <a:bodyPr/>
          <a:lstStyle/>
          <a:p>
            <a:fld id="{3D8F1466-9E2C-4220-89BA-18E9E0A7F63D}" type="datetime6">
              <a:rPr lang="en-US" smtClean="0"/>
              <a:t>March 26</a:t>
            </a:fld>
            <a:endParaRPr lang="de-DE" dirty="0"/>
          </a:p>
        </p:txBody>
      </p:sp>
      <p:sp>
        <p:nvSpPr>
          <p:cNvPr id="3" name="Fußzeilenplatzhalter 2">
            <a:extLst>
              <a:ext uri="{FF2B5EF4-FFF2-40B4-BE49-F238E27FC236}">
                <a16:creationId xmlns:a16="http://schemas.microsoft.com/office/drawing/2014/main" id="{2ACD0A75-7AF7-1FEE-76AC-A0413DF9CCD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30823970-0FF1-C1D3-F5AF-E968043316BB}"/>
              </a:ext>
            </a:extLst>
          </p:cNvPr>
          <p:cNvSpPr>
            <a:spLocks noGrp="1"/>
          </p:cNvSpPr>
          <p:nvPr>
            <p:ph type="sldNum" sz="quarter" idx="12"/>
          </p:nvPr>
        </p:nvSpPr>
        <p:spPr/>
        <p:txBody>
          <a:bodyPr/>
          <a:lstStyle/>
          <a:p>
            <a:fld id="{D3A9EDD9-2578-4372-8132-10947A418667}" type="slidenum">
              <a:rPr lang="de-DE" smtClean="0"/>
              <a:t>18</a:t>
            </a:fld>
            <a:endParaRPr lang="de-DE"/>
          </a:p>
        </p:txBody>
      </p:sp>
      <p:sp>
        <p:nvSpPr>
          <p:cNvPr id="9" name="Titel 8">
            <a:extLst>
              <a:ext uri="{FF2B5EF4-FFF2-40B4-BE49-F238E27FC236}">
                <a16:creationId xmlns:a16="http://schemas.microsoft.com/office/drawing/2014/main" id="{A3E3BD32-C1B7-F08B-689B-55D97A00CC13}"/>
              </a:ext>
            </a:extLst>
          </p:cNvPr>
          <p:cNvSpPr>
            <a:spLocks noGrp="1"/>
          </p:cNvSpPr>
          <p:nvPr>
            <p:ph type="title"/>
          </p:nvPr>
        </p:nvSpPr>
        <p:spPr/>
        <p:txBody>
          <a:bodyPr/>
          <a:lstStyle/>
          <a:p>
            <a:r>
              <a:rPr lang="de-DE" dirty="0"/>
              <a:t>Detection methods</a:t>
            </a:r>
          </a:p>
        </p:txBody>
      </p:sp>
      <p:sp>
        <p:nvSpPr>
          <p:cNvPr id="12" name="Textplatzhalter 11">
            <a:extLst>
              <a:ext uri="{FF2B5EF4-FFF2-40B4-BE49-F238E27FC236}">
                <a16:creationId xmlns:a16="http://schemas.microsoft.com/office/drawing/2014/main" id="{E1BCA0E7-B657-78C1-3D3A-6B893DA6A9D0}"/>
              </a:ext>
            </a:extLst>
          </p:cNvPr>
          <p:cNvSpPr>
            <a:spLocks noGrp="1"/>
          </p:cNvSpPr>
          <p:nvPr>
            <p:ph type="body" sz="quarter" idx="14"/>
          </p:nvPr>
        </p:nvSpPr>
        <p:spPr/>
        <p:txBody>
          <a:bodyPr/>
          <a:lstStyle/>
          <a:p>
            <a:r>
              <a:rPr lang="de-DE" dirty="0"/>
              <a:t>Ensemble Classifier</a:t>
            </a:r>
          </a:p>
        </p:txBody>
      </p:sp>
      <p:sp>
        <p:nvSpPr>
          <p:cNvPr id="5" name="Content Placeholder 2">
            <a:extLst>
              <a:ext uri="{FF2B5EF4-FFF2-40B4-BE49-F238E27FC236}">
                <a16:creationId xmlns:a16="http://schemas.microsoft.com/office/drawing/2014/main" id="{26A45267-1E48-5496-A22E-0193D5B01879}"/>
              </a:ext>
            </a:extLst>
          </p:cNvPr>
          <p:cNvSpPr>
            <a:spLocks noGrp="1"/>
          </p:cNvSpPr>
          <p:nvPr>
            <p:ph idx="1"/>
          </p:nvPr>
        </p:nvSpPr>
        <p:spPr>
          <a:xfrm>
            <a:off x="6354131" y="4887173"/>
            <a:ext cx="5262136" cy="1074029"/>
          </a:xfrm>
          <a:ln>
            <a:solidFill>
              <a:schemeClr val="bg1"/>
            </a:solidFill>
          </a:ln>
        </p:spPr>
        <p:style>
          <a:lnRef idx="2">
            <a:schemeClr val="dk1"/>
          </a:lnRef>
          <a:fillRef idx="1">
            <a:schemeClr val="lt1"/>
          </a:fillRef>
          <a:effectRef idx="0">
            <a:schemeClr val="dk1"/>
          </a:effectRef>
          <a:fontRef idx="minor">
            <a:schemeClr val="dk1"/>
          </a:fontRef>
        </p:style>
        <p:txBody>
          <a:bodyPr>
            <a:normAutofit/>
          </a:bodyPr>
          <a:lstStyle/>
          <a:p>
            <a:pPr marL="0" indent="0">
              <a:buNone/>
            </a:pPr>
            <a:r>
              <a:rPr lang="de-DE" sz="1800" b="1" dirty="0"/>
              <a:t>Prediction Modes:</a:t>
            </a:r>
          </a:p>
          <a:p>
            <a:pPr lvl="1"/>
            <a:r>
              <a:rPr lang="de-DE" sz="1400" dirty="0"/>
              <a:t>Random – randomly select one of the predictions</a:t>
            </a:r>
          </a:p>
          <a:p>
            <a:pPr lvl="1"/>
            <a:r>
              <a:rPr lang="de-DE" sz="1400" dirty="0"/>
              <a:t>Majority – select the majority of equal predictions </a:t>
            </a:r>
          </a:p>
          <a:p>
            <a:pPr lvl="1"/>
            <a:r>
              <a:rPr lang="de-DE" sz="1400" dirty="0"/>
              <a:t>All – classify as attack, if all classifiers predict it as attack</a:t>
            </a:r>
          </a:p>
          <a:p>
            <a:pPr lvl="1"/>
            <a:endParaRPr lang="de-DE" sz="1400" dirty="0"/>
          </a:p>
        </p:txBody>
      </p:sp>
      <p:sp>
        <p:nvSpPr>
          <p:cNvPr id="6" name="TextBox 5">
            <a:extLst>
              <a:ext uri="{FF2B5EF4-FFF2-40B4-BE49-F238E27FC236}">
                <a16:creationId xmlns:a16="http://schemas.microsoft.com/office/drawing/2014/main" id="{35511C4B-C7E0-F852-F365-A570A12D2479}"/>
              </a:ext>
            </a:extLst>
          </p:cNvPr>
          <p:cNvSpPr txBox="1"/>
          <p:nvPr/>
        </p:nvSpPr>
        <p:spPr>
          <a:xfrm>
            <a:off x="548643" y="4795718"/>
            <a:ext cx="2969525" cy="1292662"/>
          </a:xfrm>
          <a:prstGeom prst="rect">
            <a:avLst/>
          </a:prstGeom>
          <a:noFill/>
        </p:spPr>
        <p:txBody>
          <a:bodyPr wrap="square" rtlCol="0">
            <a:spAutoFit/>
          </a:bodyPr>
          <a:lstStyle/>
          <a:p>
            <a:r>
              <a:rPr lang="de-DE" b="1" dirty="0"/>
              <a:t>Operational Modes:</a:t>
            </a:r>
          </a:p>
          <a:p>
            <a:r>
              <a:rPr lang="de-DE" dirty="0"/>
              <a:t>One-class </a:t>
            </a:r>
          </a:p>
          <a:p>
            <a:pPr lvl="1">
              <a:buFont typeface="Wingdings" panose="05000000000000000000" pitchFamily="2" charset="2"/>
              <a:buChar char="Ø"/>
            </a:pPr>
            <a:r>
              <a:rPr lang="de-DE" sz="1400" dirty="0"/>
              <a:t>One-class SVM</a:t>
            </a:r>
          </a:p>
          <a:p>
            <a:pPr lvl="1">
              <a:buFont typeface="Wingdings" panose="05000000000000000000" pitchFamily="2" charset="2"/>
              <a:buChar char="Ø"/>
            </a:pPr>
            <a:r>
              <a:rPr lang="de-DE" sz="1400" dirty="0"/>
              <a:t>Local Outlier Factor</a:t>
            </a:r>
          </a:p>
          <a:p>
            <a:pPr lvl="1">
              <a:buFont typeface="Wingdings" panose="05000000000000000000" pitchFamily="2" charset="2"/>
              <a:buChar char="Ø"/>
            </a:pPr>
            <a:r>
              <a:rPr lang="de-DE" sz="1400" dirty="0"/>
              <a:t>Elliptic Envelope</a:t>
            </a:r>
          </a:p>
        </p:txBody>
      </p:sp>
      <p:sp>
        <p:nvSpPr>
          <p:cNvPr id="7" name="TextBox 6">
            <a:extLst>
              <a:ext uri="{FF2B5EF4-FFF2-40B4-BE49-F238E27FC236}">
                <a16:creationId xmlns:a16="http://schemas.microsoft.com/office/drawing/2014/main" id="{BEA58B7C-C76B-C70E-52B4-26DD7C3917AD}"/>
              </a:ext>
            </a:extLst>
          </p:cNvPr>
          <p:cNvSpPr txBox="1"/>
          <p:nvPr/>
        </p:nvSpPr>
        <p:spPr>
          <a:xfrm>
            <a:off x="3299805" y="4805064"/>
            <a:ext cx="2969525" cy="1292662"/>
          </a:xfrm>
          <a:prstGeom prst="rect">
            <a:avLst/>
          </a:prstGeom>
          <a:noFill/>
        </p:spPr>
        <p:txBody>
          <a:bodyPr wrap="square" rtlCol="0">
            <a:spAutoFit/>
          </a:bodyPr>
          <a:lstStyle/>
          <a:p>
            <a:endParaRPr lang="de-DE" b="1" dirty="0"/>
          </a:p>
          <a:p>
            <a:r>
              <a:rPr lang="de-DE" dirty="0"/>
              <a:t> Multiclass </a:t>
            </a:r>
          </a:p>
          <a:p>
            <a:pPr lvl="1">
              <a:buFont typeface="Wingdings" panose="05000000000000000000" pitchFamily="2" charset="2"/>
              <a:buChar char="Ø"/>
            </a:pPr>
            <a:r>
              <a:rPr lang="de-DE" sz="1400" dirty="0"/>
              <a:t>Binary SVM</a:t>
            </a:r>
          </a:p>
          <a:p>
            <a:pPr lvl="1">
              <a:buFont typeface="Wingdings" panose="05000000000000000000" pitchFamily="2" charset="2"/>
              <a:buChar char="Ø"/>
            </a:pPr>
            <a:r>
              <a:rPr lang="de-DE" sz="1400" dirty="0"/>
              <a:t>KNN</a:t>
            </a:r>
          </a:p>
          <a:p>
            <a:pPr lvl="1">
              <a:buFont typeface="Wingdings" panose="05000000000000000000" pitchFamily="2" charset="2"/>
              <a:buChar char="Ø"/>
            </a:pPr>
            <a:r>
              <a:rPr lang="de-DE" sz="1400" dirty="0"/>
              <a:t>Random Forest</a:t>
            </a:r>
          </a:p>
        </p:txBody>
      </p:sp>
      <p:sp>
        <p:nvSpPr>
          <p:cNvPr id="8" name="Cylinder 7">
            <a:extLst>
              <a:ext uri="{FF2B5EF4-FFF2-40B4-BE49-F238E27FC236}">
                <a16:creationId xmlns:a16="http://schemas.microsoft.com/office/drawing/2014/main" id="{C2DF12BC-1F43-FCC5-8125-EB9E0BB64814}"/>
              </a:ext>
            </a:extLst>
          </p:cNvPr>
          <p:cNvSpPr/>
          <p:nvPr/>
        </p:nvSpPr>
        <p:spPr>
          <a:xfrm>
            <a:off x="867199" y="2449185"/>
            <a:ext cx="2015069" cy="400050"/>
          </a:xfrm>
          <a:prstGeom prst="can">
            <a:avLst/>
          </a:pr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3" name="Straight Arrow Connector 12">
            <a:extLst>
              <a:ext uri="{FF2B5EF4-FFF2-40B4-BE49-F238E27FC236}">
                <a16:creationId xmlns:a16="http://schemas.microsoft.com/office/drawing/2014/main" id="{0FEFF82A-118F-C665-7943-D961C06CD3D3}"/>
              </a:ext>
            </a:extLst>
          </p:cNvPr>
          <p:cNvCxnSpPr>
            <a:cxnSpLocks/>
          </p:cNvCxnSpPr>
          <p:nvPr/>
        </p:nvCxnSpPr>
        <p:spPr>
          <a:xfrm>
            <a:off x="2999606" y="2720539"/>
            <a:ext cx="1852612" cy="690562"/>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7F16413-3BCC-FC83-9598-5858B9B0BD06}"/>
              </a:ext>
            </a:extLst>
          </p:cNvPr>
          <p:cNvSpPr txBox="1"/>
          <p:nvPr/>
        </p:nvSpPr>
        <p:spPr>
          <a:xfrm>
            <a:off x="4826293" y="1956703"/>
            <a:ext cx="1443037" cy="369332"/>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wrap="square" rtlCol="0">
            <a:spAutoFit/>
          </a:bodyPr>
          <a:lstStyle/>
          <a:p>
            <a:r>
              <a:rPr lang="de-DE" dirty="0">
                <a:solidFill>
                  <a:schemeClr val="tx1"/>
                </a:solidFill>
              </a:rPr>
              <a:t>Classifier 1</a:t>
            </a:r>
          </a:p>
        </p:txBody>
      </p:sp>
      <p:sp>
        <p:nvSpPr>
          <p:cNvPr id="15" name="TextBox 14">
            <a:extLst>
              <a:ext uri="{FF2B5EF4-FFF2-40B4-BE49-F238E27FC236}">
                <a16:creationId xmlns:a16="http://schemas.microsoft.com/office/drawing/2014/main" id="{CA66A255-5407-C635-780B-575303C9E51C}"/>
              </a:ext>
            </a:extLst>
          </p:cNvPr>
          <p:cNvSpPr txBox="1"/>
          <p:nvPr/>
        </p:nvSpPr>
        <p:spPr>
          <a:xfrm>
            <a:off x="4865317" y="2527003"/>
            <a:ext cx="1443037" cy="369332"/>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wrap="square" rtlCol="0">
            <a:spAutoFit/>
          </a:bodyPr>
          <a:lstStyle/>
          <a:p>
            <a:r>
              <a:rPr lang="de-DE" dirty="0">
                <a:solidFill>
                  <a:schemeClr val="tx1"/>
                </a:solidFill>
              </a:rPr>
              <a:t>Classifier 2</a:t>
            </a:r>
          </a:p>
        </p:txBody>
      </p:sp>
      <p:sp>
        <p:nvSpPr>
          <p:cNvPr id="16" name="TextBox 15">
            <a:extLst>
              <a:ext uri="{FF2B5EF4-FFF2-40B4-BE49-F238E27FC236}">
                <a16:creationId xmlns:a16="http://schemas.microsoft.com/office/drawing/2014/main" id="{1AA94F1A-71B4-D02B-4E65-7D8E9B16AD6D}"/>
              </a:ext>
            </a:extLst>
          </p:cNvPr>
          <p:cNvSpPr txBox="1"/>
          <p:nvPr/>
        </p:nvSpPr>
        <p:spPr>
          <a:xfrm>
            <a:off x="4848649" y="3221565"/>
            <a:ext cx="1443037" cy="369332"/>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4"/>
          </a:fontRef>
        </p:style>
        <p:txBody>
          <a:bodyPr wrap="square" rtlCol="0">
            <a:spAutoFit/>
          </a:bodyPr>
          <a:lstStyle/>
          <a:p>
            <a:r>
              <a:rPr lang="de-DE" dirty="0">
                <a:solidFill>
                  <a:schemeClr val="tx1"/>
                </a:solidFill>
              </a:rPr>
              <a:t>Classifier 3</a:t>
            </a:r>
          </a:p>
        </p:txBody>
      </p:sp>
      <p:cxnSp>
        <p:nvCxnSpPr>
          <p:cNvPr id="17" name="Straight Arrow Connector 16">
            <a:extLst>
              <a:ext uri="{FF2B5EF4-FFF2-40B4-BE49-F238E27FC236}">
                <a16:creationId xmlns:a16="http://schemas.microsoft.com/office/drawing/2014/main" id="{B8F3D545-E999-E2A3-D3DF-66E2205D954C}"/>
              </a:ext>
            </a:extLst>
          </p:cNvPr>
          <p:cNvCxnSpPr>
            <a:cxnSpLocks/>
          </p:cNvCxnSpPr>
          <p:nvPr/>
        </p:nvCxnSpPr>
        <p:spPr>
          <a:xfrm>
            <a:off x="6283352" y="2122877"/>
            <a:ext cx="1560251" cy="58317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D8C900FB-9494-67A7-25D2-7D8BE82AAF03}"/>
              </a:ext>
            </a:extLst>
          </p:cNvPr>
          <p:cNvCxnSpPr>
            <a:cxnSpLocks/>
          </p:cNvCxnSpPr>
          <p:nvPr/>
        </p:nvCxnSpPr>
        <p:spPr>
          <a:xfrm flipV="1">
            <a:off x="6283352" y="2738681"/>
            <a:ext cx="1560251" cy="2949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A6BA39C-B3CF-614C-C66B-80AA8C84E263}"/>
              </a:ext>
            </a:extLst>
          </p:cNvPr>
          <p:cNvCxnSpPr>
            <a:cxnSpLocks/>
            <a:stCxn id="16" idx="3"/>
          </p:cNvCxnSpPr>
          <p:nvPr/>
        </p:nvCxnSpPr>
        <p:spPr>
          <a:xfrm flipV="1">
            <a:off x="6291686" y="2768171"/>
            <a:ext cx="1526915" cy="63806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6CFE3E9F-2EC5-A8B5-0D69-075774FF35F2}"/>
              </a:ext>
            </a:extLst>
          </p:cNvPr>
          <p:cNvSpPr txBox="1"/>
          <p:nvPr/>
        </p:nvSpPr>
        <p:spPr>
          <a:xfrm>
            <a:off x="7879977" y="2364341"/>
            <a:ext cx="1204914"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dirty="0"/>
              <a:t>Ensemble Classifier</a:t>
            </a:r>
          </a:p>
        </p:txBody>
      </p:sp>
      <p:sp>
        <p:nvSpPr>
          <p:cNvPr id="21" name="TextBox 20">
            <a:extLst>
              <a:ext uri="{FF2B5EF4-FFF2-40B4-BE49-F238E27FC236}">
                <a16:creationId xmlns:a16="http://schemas.microsoft.com/office/drawing/2014/main" id="{24E76D1E-D052-8121-0F2C-3C3CF7AF378C}"/>
              </a:ext>
            </a:extLst>
          </p:cNvPr>
          <p:cNvSpPr txBox="1"/>
          <p:nvPr/>
        </p:nvSpPr>
        <p:spPr>
          <a:xfrm>
            <a:off x="824868" y="2981231"/>
            <a:ext cx="2586038" cy="369332"/>
          </a:xfrm>
          <a:prstGeom prst="rect">
            <a:avLst/>
          </a:prstGeom>
          <a:noFill/>
        </p:spPr>
        <p:txBody>
          <a:bodyPr wrap="square" rtlCol="0">
            <a:spAutoFit/>
          </a:bodyPr>
          <a:lstStyle/>
          <a:p>
            <a:r>
              <a:rPr lang="de-DE" dirty="0"/>
              <a:t>Data</a:t>
            </a:r>
          </a:p>
        </p:txBody>
      </p:sp>
      <p:cxnSp>
        <p:nvCxnSpPr>
          <p:cNvPr id="22" name="Straight Arrow Connector 21">
            <a:extLst>
              <a:ext uri="{FF2B5EF4-FFF2-40B4-BE49-F238E27FC236}">
                <a16:creationId xmlns:a16="http://schemas.microsoft.com/office/drawing/2014/main" id="{6C0703B8-0FF4-9EF2-3687-03C6C14E1962}"/>
              </a:ext>
            </a:extLst>
          </p:cNvPr>
          <p:cNvCxnSpPr>
            <a:cxnSpLocks/>
          </p:cNvCxnSpPr>
          <p:nvPr/>
        </p:nvCxnSpPr>
        <p:spPr>
          <a:xfrm>
            <a:off x="9154871" y="2706047"/>
            <a:ext cx="903027" cy="0"/>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6FE69107-DFBA-5A18-20C5-7F242AC266A0}"/>
              </a:ext>
            </a:extLst>
          </p:cNvPr>
          <p:cNvSpPr txBox="1"/>
          <p:nvPr/>
        </p:nvSpPr>
        <p:spPr>
          <a:xfrm>
            <a:off x="3075149" y="1451737"/>
            <a:ext cx="1190625" cy="261610"/>
          </a:xfrm>
          <a:prstGeom prst="rect">
            <a:avLst/>
          </a:prstGeom>
          <a:noFill/>
        </p:spPr>
        <p:txBody>
          <a:bodyPr wrap="square" rtlCol="0">
            <a:spAutoFit/>
          </a:bodyPr>
          <a:lstStyle/>
          <a:p>
            <a:r>
              <a:rPr lang="de-DE" sz="1100" dirty="0"/>
              <a:t>Training</a:t>
            </a:r>
          </a:p>
        </p:txBody>
      </p:sp>
      <p:sp>
        <p:nvSpPr>
          <p:cNvPr id="24" name="TextBox 23">
            <a:extLst>
              <a:ext uri="{FF2B5EF4-FFF2-40B4-BE49-F238E27FC236}">
                <a16:creationId xmlns:a16="http://schemas.microsoft.com/office/drawing/2014/main" id="{A9815008-8799-EA02-8F9E-5E3E6610DC8F}"/>
              </a:ext>
            </a:extLst>
          </p:cNvPr>
          <p:cNvSpPr txBox="1"/>
          <p:nvPr/>
        </p:nvSpPr>
        <p:spPr>
          <a:xfrm>
            <a:off x="9053933" y="1367701"/>
            <a:ext cx="1190625" cy="261610"/>
          </a:xfrm>
          <a:prstGeom prst="rect">
            <a:avLst/>
          </a:prstGeom>
          <a:noFill/>
        </p:spPr>
        <p:txBody>
          <a:bodyPr wrap="square" rtlCol="0">
            <a:spAutoFit/>
          </a:bodyPr>
          <a:lstStyle/>
          <a:p>
            <a:r>
              <a:rPr lang="de-DE" sz="1100" dirty="0"/>
              <a:t>Final prediction</a:t>
            </a:r>
          </a:p>
        </p:txBody>
      </p:sp>
      <p:sp>
        <p:nvSpPr>
          <p:cNvPr id="25" name="Rectangle 24">
            <a:extLst>
              <a:ext uri="{FF2B5EF4-FFF2-40B4-BE49-F238E27FC236}">
                <a16:creationId xmlns:a16="http://schemas.microsoft.com/office/drawing/2014/main" id="{E6119C40-4A82-A9C1-B4D4-320C36D7BB91}"/>
              </a:ext>
            </a:extLst>
          </p:cNvPr>
          <p:cNvSpPr/>
          <p:nvPr/>
        </p:nvSpPr>
        <p:spPr>
          <a:xfrm>
            <a:off x="558134" y="4805064"/>
            <a:ext cx="5376863" cy="1325563"/>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de-DE"/>
          </a:p>
        </p:txBody>
      </p:sp>
      <p:sp>
        <p:nvSpPr>
          <p:cNvPr id="26" name="Rectangle 25">
            <a:extLst>
              <a:ext uri="{FF2B5EF4-FFF2-40B4-BE49-F238E27FC236}">
                <a16:creationId xmlns:a16="http://schemas.microsoft.com/office/drawing/2014/main" id="{DF89905A-90EF-1CDD-27B7-33EA47E59BEC}"/>
              </a:ext>
            </a:extLst>
          </p:cNvPr>
          <p:cNvSpPr/>
          <p:nvPr/>
        </p:nvSpPr>
        <p:spPr>
          <a:xfrm>
            <a:off x="6288725" y="4805064"/>
            <a:ext cx="5240458" cy="1325563"/>
          </a:xfrm>
          <a:prstGeom prst="rect">
            <a:avLst/>
          </a:prstGeom>
          <a:noFill/>
          <a:ln w="9525" cap="flat" cmpd="sng" algn="ctr">
            <a:solidFill>
              <a:schemeClr val="tx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endParaRPr lang="de-DE"/>
          </a:p>
        </p:txBody>
      </p:sp>
      <p:cxnSp>
        <p:nvCxnSpPr>
          <p:cNvPr id="27" name="Straight Arrow Connector 26">
            <a:extLst>
              <a:ext uri="{FF2B5EF4-FFF2-40B4-BE49-F238E27FC236}">
                <a16:creationId xmlns:a16="http://schemas.microsoft.com/office/drawing/2014/main" id="{212C6ADF-7EC9-3924-3A0D-24589FE1BFE4}"/>
              </a:ext>
            </a:extLst>
          </p:cNvPr>
          <p:cNvCxnSpPr>
            <a:cxnSpLocks/>
            <a:endCxn id="14" idx="1"/>
          </p:cNvCxnSpPr>
          <p:nvPr/>
        </p:nvCxnSpPr>
        <p:spPr>
          <a:xfrm flipV="1">
            <a:off x="3025534" y="2141369"/>
            <a:ext cx="1800759" cy="569734"/>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8AD275C2-0A62-9CDD-0A20-C95B698FBEC1}"/>
              </a:ext>
            </a:extLst>
          </p:cNvPr>
          <p:cNvCxnSpPr>
            <a:cxnSpLocks/>
            <a:endCxn id="15" idx="1"/>
          </p:cNvCxnSpPr>
          <p:nvPr/>
        </p:nvCxnSpPr>
        <p:spPr>
          <a:xfrm flipV="1">
            <a:off x="3013895" y="2711669"/>
            <a:ext cx="1851422" cy="12723"/>
          </a:xfrm>
          <a:prstGeom prst="straightConnector1">
            <a:avLst/>
          </a:prstGeom>
          <a:ln>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7865A0F7-54CE-2C6D-59E2-A27B5EB2C0A5}"/>
              </a:ext>
            </a:extLst>
          </p:cNvPr>
          <p:cNvSpPr txBox="1"/>
          <p:nvPr/>
        </p:nvSpPr>
        <p:spPr>
          <a:xfrm>
            <a:off x="10020720" y="2521074"/>
            <a:ext cx="1271587" cy="369332"/>
          </a:xfrm>
          <a:prstGeom prst="rect">
            <a:avLst/>
          </a:prstGeom>
          <a:noFill/>
        </p:spPr>
        <p:txBody>
          <a:bodyPr wrap="square" rtlCol="0">
            <a:spAutoFit/>
          </a:bodyPr>
          <a:lstStyle/>
          <a:p>
            <a:r>
              <a:rPr lang="de-DE" dirty="0"/>
              <a:t>Evaluation</a:t>
            </a:r>
          </a:p>
        </p:txBody>
      </p:sp>
      <p:cxnSp>
        <p:nvCxnSpPr>
          <p:cNvPr id="30" name="Straight Connector 29">
            <a:extLst>
              <a:ext uri="{FF2B5EF4-FFF2-40B4-BE49-F238E27FC236}">
                <a16:creationId xmlns:a16="http://schemas.microsoft.com/office/drawing/2014/main" id="{34D8860A-FCD2-D713-132A-6B8632161661}"/>
              </a:ext>
            </a:extLst>
          </p:cNvPr>
          <p:cNvCxnSpPr>
            <a:cxnSpLocks/>
            <a:endCxn id="25" idx="2"/>
          </p:cNvCxnSpPr>
          <p:nvPr/>
        </p:nvCxnSpPr>
        <p:spPr>
          <a:xfrm>
            <a:off x="3246565" y="5074410"/>
            <a:ext cx="1" cy="1056217"/>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612288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A447F-8722-2533-EEF7-D065D5BCB334}"/>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C76256DE-BF57-311C-F0A0-934ECFEA3B30}"/>
              </a:ext>
            </a:extLst>
          </p:cNvPr>
          <p:cNvSpPr>
            <a:spLocks noGrp="1"/>
          </p:cNvSpPr>
          <p:nvPr>
            <p:ph type="dt" sz="half" idx="10"/>
          </p:nvPr>
        </p:nvSpPr>
        <p:spPr/>
        <p:txBody>
          <a:bodyPr/>
          <a:lstStyle/>
          <a:p>
            <a:fld id="{31B4B53D-5293-4940-AC08-263ADBE6B671}" type="datetime6">
              <a:rPr lang="en-US" smtClean="0"/>
              <a:t>March 26</a:t>
            </a:fld>
            <a:endParaRPr lang="de-DE" dirty="0"/>
          </a:p>
        </p:txBody>
      </p:sp>
      <p:sp>
        <p:nvSpPr>
          <p:cNvPr id="3" name="Fußzeilenplatzhalter 2">
            <a:extLst>
              <a:ext uri="{FF2B5EF4-FFF2-40B4-BE49-F238E27FC236}">
                <a16:creationId xmlns:a16="http://schemas.microsoft.com/office/drawing/2014/main" id="{DACB238C-64FF-12BE-7F4E-231A297EEE04}"/>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8C081426-49F8-614E-DDF5-45EDE903FDD0}"/>
              </a:ext>
            </a:extLst>
          </p:cNvPr>
          <p:cNvSpPr>
            <a:spLocks noGrp="1"/>
          </p:cNvSpPr>
          <p:nvPr>
            <p:ph type="sldNum" sz="quarter" idx="12"/>
          </p:nvPr>
        </p:nvSpPr>
        <p:spPr/>
        <p:txBody>
          <a:bodyPr/>
          <a:lstStyle/>
          <a:p>
            <a:fld id="{D3A9EDD9-2578-4372-8132-10947A418667}" type="slidenum">
              <a:rPr lang="de-DE" smtClean="0"/>
              <a:t>19</a:t>
            </a:fld>
            <a:endParaRPr lang="de-DE"/>
          </a:p>
        </p:txBody>
      </p:sp>
      <p:sp>
        <p:nvSpPr>
          <p:cNvPr id="9" name="Titel 8">
            <a:extLst>
              <a:ext uri="{FF2B5EF4-FFF2-40B4-BE49-F238E27FC236}">
                <a16:creationId xmlns:a16="http://schemas.microsoft.com/office/drawing/2014/main" id="{C1ACE829-28A3-BDE4-1757-EB9A8B1C4DDF}"/>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A770A851-D795-43BE-C2B6-EB85CF719FED}"/>
              </a:ext>
            </a:extLst>
          </p:cNvPr>
          <p:cNvSpPr>
            <a:spLocks noGrp="1"/>
          </p:cNvSpPr>
          <p:nvPr>
            <p:ph type="body" sz="quarter" idx="14"/>
          </p:nvPr>
        </p:nvSpPr>
        <p:spPr/>
        <p:txBody>
          <a:bodyPr/>
          <a:lstStyle/>
          <a:p>
            <a:r>
              <a:rPr lang="de-DE" dirty="0"/>
              <a:t>Autoencoder-based anomaly detection</a:t>
            </a:r>
          </a:p>
        </p:txBody>
      </p:sp>
      <p:sp>
        <p:nvSpPr>
          <p:cNvPr id="5" name="TextBox 4">
            <a:extLst>
              <a:ext uri="{FF2B5EF4-FFF2-40B4-BE49-F238E27FC236}">
                <a16:creationId xmlns:a16="http://schemas.microsoft.com/office/drawing/2014/main" id="{14A77400-BF3F-B5E8-F8BD-730B8FC7C7E7}"/>
              </a:ext>
            </a:extLst>
          </p:cNvPr>
          <p:cNvSpPr txBox="1"/>
          <p:nvPr/>
        </p:nvSpPr>
        <p:spPr>
          <a:xfrm>
            <a:off x="575733" y="1765548"/>
            <a:ext cx="9426667" cy="1200329"/>
          </a:xfrm>
          <a:prstGeom prst="rect">
            <a:avLst/>
          </a:prstGeom>
          <a:noFill/>
          <a:ln>
            <a:solidFill>
              <a:schemeClr val="tx1"/>
            </a:solidFill>
          </a:ln>
        </p:spPr>
        <p:txBody>
          <a:bodyPr wrap="square" rtlCol="0">
            <a:spAutoFit/>
          </a:bodyPr>
          <a:lstStyle/>
          <a:p>
            <a:r>
              <a:rPr lang="de-DE" b="1" dirty="0"/>
              <a:t>Idea:</a:t>
            </a:r>
          </a:p>
          <a:p>
            <a:r>
              <a:rPr lang="de-DE" dirty="0"/>
              <a:t>An autoencoder is trained on benign data to learn compact representation. Since attack data deviate from this learned representation, they typically result in a higher reconstruction error. </a:t>
            </a:r>
          </a:p>
        </p:txBody>
      </p:sp>
      <p:sp>
        <p:nvSpPr>
          <p:cNvPr id="6" name="TextBox 5">
            <a:extLst>
              <a:ext uri="{FF2B5EF4-FFF2-40B4-BE49-F238E27FC236}">
                <a16:creationId xmlns:a16="http://schemas.microsoft.com/office/drawing/2014/main" id="{95A736BF-9C13-FDA5-83DD-56E8F3DD1001}"/>
              </a:ext>
            </a:extLst>
          </p:cNvPr>
          <p:cNvSpPr txBox="1"/>
          <p:nvPr/>
        </p:nvSpPr>
        <p:spPr>
          <a:xfrm>
            <a:off x="575733" y="3610711"/>
            <a:ext cx="10116821" cy="1200329"/>
          </a:xfrm>
          <a:prstGeom prst="rect">
            <a:avLst/>
          </a:prstGeom>
          <a:noFill/>
        </p:spPr>
        <p:txBody>
          <a:bodyPr wrap="square" rtlCol="0">
            <a:spAutoFit/>
          </a:bodyPr>
          <a:lstStyle/>
          <a:p>
            <a:r>
              <a:rPr lang="de-DE" b="1" dirty="0"/>
              <a:t>Approach:</a:t>
            </a:r>
          </a:p>
          <a:p>
            <a:pPr marL="342900" indent="-342900">
              <a:buAutoNum type="arabicPeriod"/>
            </a:pPr>
            <a:r>
              <a:rPr lang="de-DE" dirty="0"/>
              <a:t>Define threshold based on average reconstruction error over all benign data points </a:t>
            </a:r>
          </a:p>
          <a:p>
            <a:pPr marL="342900" indent="-342900">
              <a:buAutoNum type="arabicPeriod"/>
            </a:pPr>
            <a:r>
              <a:rPr lang="de-DE" dirty="0"/>
              <a:t>If the reconstruction error for a data point in test crosses that threshold it will be classified as attack</a:t>
            </a:r>
          </a:p>
        </p:txBody>
      </p:sp>
    </p:spTree>
    <p:extLst>
      <p:ext uri="{BB962C8B-B14F-4D97-AF65-F5344CB8AC3E}">
        <p14:creationId xmlns:p14="http://schemas.microsoft.com/office/powerpoint/2010/main" val="5334145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BE253-157A-16D0-01E6-33B2A648178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0455461-CC3A-A6D9-B636-2E3012B73A4A}"/>
              </a:ext>
            </a:extLst>
          </p:cNvPr>
          <p:cNvSpPr>
            <a:spLocks noGrp="1"/>
          </p:cNvSpPr>
          <p:nvPr>
            <p:ph type="dt" sz="half" idx="10"/>
          </p:nvPr>
        </p:nvSpPr>
        <p:spPr/>
        <p:txBody>
          <a:bodyPr/>
          <a:lstStyle/>
          <a:p>
            <a:fld id="{87962DB0-78E2-46B3-97D7-676261ABFB73}" type="datetime6">
              <a:rPr lang="en-US" smtClean="0"/>
              <a:t>March 26</a:t>
            </a:fld>
            <a:endParaRPr lang="de-DE" dirty="0"/>
          </a:p>
        </p:txBody>
      </p:sp>
      <p:sp>
        <p:nvSpPr>
          <p:cNvPr id="3" name="Fußzeilenplatzhalter 2">
            <a:extLst>
              <a:ext uri="{FF2B5EF4-FFF2-40B4-BE49-F238E27FC236}">
                <a16:creationId xmlns:a16="http://schemas.microsoft.com/office/drawing/2014/main" id="{C41C126E-6748-5DAE-CFDD-BA676D9877F7}"/>
              </a:ext>
            </a:extLst>
          </p:cNvPr>
          <p:cNvSpPr>
            <a:spLocks noGrp="1"/>
          </p:cNvSpPr>
          <p:nvPr>
            <p:ph type="ftr" sz="quarter" idx="11"/>
          </p:nvPr>
        </p:nvSpPr>
        <p:spPr>
          <a:xfrm>
            <a:off x="4181211" y="6168987"/>
            <a:ext cx="5712000" cy="504419"/>
          </a:xfrm>
        </p:spPr>
        <p:txBody>
          <a:bodyPr/>
          <a:lstStyle/>
          <a:p>
            <a:pPr lvl="0">
              <a:defRPr/>
            </a:pPr>
            <a:r>
              <a:rPr lang="de-DE" dirty="0"/>
              <a:t>T: Total number of n-grams in packet</a:t>
            </a:r>
          </a:p>
          <a:p>
            <a:pPr lvl="0">
              <a:defRPr/>
            </a:pPr>
            <a:r>
              <a:rPr lang="de-DE" dirty="0"/>
              <a:t>Wi: normalized weight of ith n-gram</a:t>
            </a:r>
          </a:p>
          <a:p>
            <a:pPr lvl="0">
              <a:defRPr/>
            </a:pPr>
            <a:r>
              <a:rPr lang="de-DE" dirty="0"/>
              <a:t>Seeni: Boolean to indicate whether it was seen before.</a:t>
            </a:r>
          </a:p>
        </p:txBody>
      </p:sp>
      <p:sp>
        <p:nvSpPr>
          <p:cNvPr id="4" name="Foliennummernplatzhalter 3">
            <a:extLst>
              <a:ext uri="{FF2B5EF4-FFF2-40B4-BE49-F238E27FC236}">
                <a16:creationId xmlns:a16="http://schemas.microsoft.com/office/drawing/2014/main" id="{FBB5E34D-B9AA-04CC-8CB1-DFCFD365C2DB}"/>
              </a:ext>
            </a:extLst>
          </p:cNvPr>
          <p:cNvSpPr>
            <a:spLocks noGrp="1"/>
          </p:cNvSpPr>
          <p:nvPr>
            <p:ph type="sldNum" sz="quarter" idx="12"/>
          </p:nvPr>
        </p:nvSpPr>
        <p:spPr/>
        <p:txBody>
          <a:bodyPr/>
          <a:lstStyle/>
          <a:p>
            <a:fld id="{D3A9EDD9-2578-4372-8132-10947A418667}" type="slidenum">
              <a:rPr lang="de-DE" smtClean="0"/>
              <a:t>20</a:t>
            </a:fld>
            <a:endParaRPr lang="de-DE"/>
          </a:p>
        </p:txBody>
      </p:sp>
      <p:sp>
        <p:nvSpPr>
          <p:cNvPr id="9" name="Titel 8">
            <a:extLst>
              <a:ext uri="{FF2B5EF4-FFF2-40B4-BE49-F238E27FC236}">
                <a16:creationId xmlns:a16="http://schemas.microsoft.com/office/drawing/2014/main" id="{564CAEA5-9D45-3A53-EDE4-4B30483EAB4D}"/>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B1443F53-FE93-9F3A-D65F-7661B1E56E69}"/>
              </a:ext>
            </a:extLst>
          </p:cNvPr>
          <p:cNvSpPr>
            <a:spLocks noGrp="1"/>
          </p:cNvSpPr>
          <p:nvPr>
            <p:ph type="body" sz="quarter" idx="14"/>
          </p:nvPr>
        </p:nvSpPr>
        <p:spPr/>
        <p:txBody>
          <a:bodyPr/>
          <a:lstStyle/>
          <a:p>
            <a:r>
              <a:rPr lang="de-DE" dirty="0"/>
              <a:t>N-gram-based Anomaly Detection</a:t>
            </a:r>
          </a:p>
        </p:txBody>
      </p:sp>
      <mc:AlternateContent xmlns:mc="http://schemas.openxmlformats.org/markup-compatibility/2006" xmlns:a14="http://schemas.microsoft.com/office/drawing/2010/main">
        <mc:Choice Requires="a14">
          <p:sp>
            <p:nvSpPr>
              <p:cNvPr id="5" name="Content Placeholder 9">
                <a:extLst>
                  <a:ext uri="{FF2B5EF4-FFF2-40B4-BE49-F238E27FC236}">
                    <a16:creationId xmlns:a16="http://schemas.microsoft.com/office/drawing/2014/main" id="{4C1C4D74-0101-100B-76DD-08408BC70060}"/>
                  </a:ext>
                </a:extLst>
              </p:cNvPr>
              <p:cNvSpPr>
                <a:spLocks noGrp="1"/>
              </p:cNvSpPr>
              <p:nvPr>
                <p:ph idx="1"/>
              </p:nvPr>
            </p:nvSpPr>
            <p:spPr>
              <a:xfrm>
                <a:off x="616970" y="1680365"/>
                <a:ext cx="10958060" cy="3936892"/>
              </a:xfrm>
            </p:spPr>
            <p:txBody>
              <a:bodyPr numCol="2">
                <a:normAutofit/>
              </a:bodyPr>
              <a:lstStyle/>
              <a:p>
                <a:r>
                  <a:rPr lang="en-US" sz="1900" dirty="0"/>
                  <a:t>What is n-gram?</a:t>
                </a:r>
              </a:p>
              <a:p>
                <a:r>
                  <a:rPr lang="en-US" sz="1900" dirty="0"/>
                  <a:t>How n-gram model network packet?</a:t>
                </a:r>
                <a:endParaRPr lang="en-US" sz="1700" dirty="0"/>
              </a:p>
              <a:p>
                <a:r>
                  <a:rPr lang="en-US" sz="1900" dirty="0"/>
                  <a:t>Training phase </a:t>
                </a:r>
              </a:p>
              <a:p>
                <a:r>
                  <a:rPr lang="en-US" sz="1900" dirty="0"/>
                  <a:t>Detection phase (Testing): </a:t>
                </a:r>
              </a:p>
              <a:p>
                <a:pPr lvl="1"/>
                <a:r>
                  <a:rPr lang="en-US" sz="1600" dirty="0"/>
                  <a:t>Anomaly score:</a:t>
                </a:r>
              </a:p>
              <a:p>
                <a:pPr lvl="3"/>
                <a:r>
                  <a:rPr lang="en-US" sz="1600" dirty="0"/>
                  <a:t>Score = </a:t>
                </a:r>
                <a14:m>
                  <m:oMath xmlns:m="http://schemas.openxmlformats.org/officeDocument/2006/math">
                    <m:f>
                      <m:fPr>
                        <m:ctrlPr>
                          <a:rPr lang="en-US" sz="160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𝑇</m:t>
                        </m:r>
                      </m:den>
                    </m:f>
                    <m:nary>
                      <m:naryPr>
                        <m:chr m:val="∑"/>
                        <m:ctrlPr>
                          <a:rPr lang="en-US" sz="1600" i="1" smtClean="0">
                            <a:latin typeface="Cambria Math" panose="02040503050406030204" pitchFamily="18" charset="0"/>
                          </a:rPr>
                        </m:ctrlPr>
                      </m:naryPr>
                      <m:sub>
                        <m:r>
                          <m:rPr>
                            <m:brk m:alnAt="23"/>
                          </m:rPr>
                          <a:rPr lang="en-US" sz="1600" b="0" i="1" smtClean="0">
                            <a:latin typeface="Cambria Math" panose="02040503050406030204" pitchFamily="18" charset="0"/>
                          </a:rPr>
                          <m:t>𝑖</m:t>
                        </m:r>
                        <m:r>
                          <a:rPr lang="en-US" sz="1600" b="0" i="1" smtClean="0">
                            <a:latin typeface="Cambria Math" panose="02040503050406030204" pitchFamily="18" charset="0"/>
                          </a:rPr>
                          <m:t>=1</m:t>
                        </m:r>
                      </m:sub>
                      <m:sup>
                        <m:r>
                          <a:rPr lang="en-US" sz="1600" b="0" i="1" smtClean="0">
                            <a:latin typeface="Cambria Math" panose="02040503050406030204" pitchFamily="18" charset="0"/>
                          </a:rPr>
                          <m:t>𝑇</m:t>
                        </m:r>
                      </m:sup>
                      <m:e>
                        <m:r>
                          <a:rPr lang="en-US" sz="1600" b="0" i="1" smtClean="0">
                            <a:latin typeface="Cambria Math" panose="02040503050406030204" pitchFamily="18" charset="0"/>
                          </a:rPr>
                          <m:t>𝑤𝑖</m:t>
                        </m:r>
                        <m:r>
                          <a:rPr lang="en-US" sz="1600" b="0" i="1" smtClean="0">
                            <a:latin typeface="Cambria Math" panose="02040503050406030204" pitchFamily="18" charset="0"/>
                          </a:rPr>
                          <m:t> ∗</m:t>
                        </m:r>
                        <m:r>
                          <a:rPr lang="en-US" sz="1600" b="0" i="1" smtClean="0">
                            <a:latin typeface="Cambria Math" panose="02040503050406030204" pitchFamily="18" charset="0"/>
                          </a:rPr>
                          <m:t>𝑆𝑒𝑒𝑛𝑖</m:t>
                        </m:r>
                      </m:e>
                    </m:nary>
                  </m:oMath>
                </a14:m>
                <a:endParaRPr lang="en-US" sz="1400" dirty="0"/>
              </a:p>
              <a:p>
                <a:pPr lvl="1"/>
                <a:r>
                  <a:rPr lang="en-US" sz="1600" dirty="0"/>
                  <a:t>Low score means attack packet</a:t>
                </a:r>
              </a:p>
              <a:p>
                <a:r>
                  <a:rPr lang="en-US" sz="1900" dirty="0"/>
                  <a:t>Decision rule:</a:t>
                </a:r>
              </a:p>
              <a:p>
                <a:pPr lvl="1"/>
                <a:r>
                  <a:rPr lang="en-US" sz="1600" dirty="0"/>
                  <a:t>Packet is malicious if score &lt; threshold</a:t>
                </a:r>
              </a:p>
            </p:txBody>
          </p:sp>
        </mc:Choice>
        <mc:Fallback xmlns="">
          <p:sp>
            <p:nvSpPr>
              <p:cNvPr id="5" name="Content Placeholder 9">
                <a:extLst>
                  <a:ext uri="{FF2B5EF4-FFF2-40B4-BE49-F238E27FC236}">
                    <a16:creationId xmlns:a16="http://schemas.microsoft.com/office/drawing/2014/main" id="{4C1C4D74-0101-100B-76DD-08408BC70060}"/>
                  </a:ext>
                </a:extLst>
              </p:cNvPr>
              <p:cNvSpPr>
                <a:spLocks noGrp="1" noRot="1" noChangeAspect="1" noMove="1" noResize="1" noEditPoints="1" noAdjustHandles="1" noChangeArrowheads="1" noChangeShapeType="1" noTextEdit="1"/>
              </p:cNvSpPr>
              <p:nvPr>
                <p:ph idx="1"/>
              </p:nvPr>
            </p:nvSpPr>
            <p:spPr>
              <a:xfrm>
                <a:off x="616970" y="1680365"/>
                <a:ext cx="10958060" cy="3936892"/>
              </a:xfrm>
              <a:blipFill>
                <a:blip r:embed="rId3"/>
                <a:stretch>
                  <a:fillRect l="-1224" t="-2791"/>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B6D7B7D4-C4A2-AF40-61E9-192106510859}"/>
              </a:ext>
            </a:extLst>
          </p:cNvPr>
          <p:cNvPicPr>
            <a:picLocks noChangeAspect="1"/>
          </p:cNvPicPr>
          <p:nvPr/>
        </p:nvPicPr>
        <p:blipFill>
          <a:blip r:embed="rId4"/>
          <a:stretch>
            <a:fillRect/>
          </a:stretch>
        </p:blipFill>
        <p:spPr>
          <a:xfrm>
            <a:off x="5162047" y="2052504"/>
            <a:ext cx="6065102" cy="2330761"/>
          </a:xfrm>
          <a:prstGeom prst="rect">
            <a:avLst/>
          </a:prstGeom>
        </p:spPr>
      </p:pic>
    </p:spTree>
    <p:extLst>
      <p:ext uri="{BB962C8B-B14F-4D97-AF65-F5344CB8AC3E}">
        <p14:creationId xmlns:p14="http://schemas.microsoft.com/office/powerpoint/2010/main" val="1632792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xEl>
                                              <p:pRg st="0" end="0"/>
                                            </p:txEl>
                                          </p:spTgt>
                                        </p:tgtEl>
                                        <p:attrNameLst>
                                          <p:attrName>style.visibility</p:attrName>
                                        </p:attrNameLst>
                                      </p:cBhvr>
                                      <p:to>
                                        <p:strVal val="visible"/>
                                      </p:to>
                                    </p:set>
                                    <p:anim calcmode="lin" valueType="num">
                                      <p:cBhvr additive="base">
                                        <p:cTn id="13"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
                                            <p:txEl>
                                              <p:pRg st="1" end="1"/>
                                            </p:txEl>
                                          </p:spTgt>
                                        </p:tgtEl>
                                        <p:attrNameLst>
                                          <p:attrName>style.visibility</p:attrName>
                                        </p:attrNameLst>
                                      </p:cBhvr>
                                      <p:to>
                                        <p:strVal val="visible"/>
                                      </p:to>
                                    </p:set>
                                    <p:anim calcmode="lin" valueType="num">
                                      <p:cBhvr additive="base">
                                        <p:cTn id="19"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5">
                                            <p:txEl>
                                              <p:pRg st="2" end="2"/>
                                            </p:txEl>
                                          </p:spTgt>
                                        </p:tgtEl>
                                        <p:attrNameLst>
                                          <p:attrName>style.visibility</p:attrName>
                                        </p:attrNameLst>
                                      </p:cBhvr>
                                      <p:to>
                                        <p:strVal val="visible"/>
                                      </p:to>
                                    </p:set>
                                    <p:anim calcmode="lin" valueType="num">
                                      <p:cBhvr additive="base">
                                        <p:cTn id="25"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5">
                                            <p:txEl>
                                              <p:pRg st="3" end="3"/>
                                            </p:txEl>
                                          </p:spTgt>
                                        </p:tgtEl>
                                        <p:attrNameLst>
                                          <p:attrName>style.visibility</p:attrName>
                                        </p:attrNameLst>
                                      </p:cBhvr>
                                      <p:to>
                                        <p:strVal val="visible"/>
                                      </p:to>
                                    </p:set>
                                    <p:anim calcmode="lin" valueType="num">
                                      <p:cBhvr additive="base">
                                        <p:cTn id="31"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3" end="3"/>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5">
                                            <p:txEl>
                                              <p:pRg st="4" end="4"/>
                                            </p:txEl>
                                          </p:spTgt>
                                        </p:tgtEl>
                                        <p:attrNameLst>
                                          <p:attrName>style.visibility</p:attrName>
                                        </p:attrNameLst>
                                      </p:cBhvr>
                                      <p:to>
                                        <p:strVal val="visible"/>
                                      </p:to>
                                    </p:set>
                                    <p:anim calcmode="lin" valueType="num">
                                      <p:cBhvr additive="base">
                                        <p:cTn id="35"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5">
                                            <p:txEl>
                                              <p:pRg st="4" end="4"/>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5">
                                            <p:txEl>
                                              <p:pRg st="5" end="5"/>
                                            </p:txEl>
                                          </p:spTgt>
                                        </p:tgtEl>
                                        <p:attrNameLst>
                                          <p:attrName>style.visibility</p:attrName>
                                        </p:attrNameLst>
                                      </p:cBhvr>
                                      <p:to>
                                        <p:strVal val="visible"/>
                                      </p:to>
                                    </p:set>
                                    <p:anim calcmode="lin" valueType="num">
                                      <p:cBhvr additive="base">
                                        <p:cTn id="39"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5">
                                            <p:txEl>
                                              <p:pRg st="5" end="5"/>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5">
                                            <p:txEl>
                                              <p:pRg st="6" end="6"/>
                                            </p:txEl>
                                          </p:spTgt>
                                        </p:tgtEl>
                                        <p:attrNameLst>
                                          <p:attrName>style.visibility</p:attrName>
                                        </p:attrNameLst>
                                      </p:cBhvr>
                                      <p:to>
                                        <p:strVal val="visible"/>
                                      </p:to>
                                    </p:set>
                                    <p:anim calcmode="lin" valueType="num">
                                      <p:cBhvr additive="base">
                                        <p:cTn id="4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5">
                                            <p:txEl>
                                              <p:pRg st="7" end="7"/>
                                            </p:txEl>
                                          </p:spTgt>
                                        </p:tgtEl>
                                        <p:attrNameLst>
                                          <p:attrName>style.visibility</p:attrName>
                                        </p:attrNameLst>
                                      </p:cBhvr>
                                      <p:to>
                                        <p:strVal val="visible"/>
                                      </p:to>
                                    </p:set>
                                    <p:anim calcmode="lin" valueType="num">
                                      <p:cBhvr additive="base">
                                        <p:cTn id="49"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7" end="7"/>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5">
                                            <p:txEl>
                                              <p:pRg st="8" end="8"/>
                                            </p:txEl>
                                          </p:spTgt>
                                        </p:tgtEl>
                                        <p:attrNameLst>
                                          <p:attrName>style.visibility</p:attrName>
                                        </p:attrNameLst>
                                      </p:cBhvr>
                                      <p:to>
                                        <p:strVal val="visible"/>
                                      </p:to>
                                    </p:set>
                                    <p:anim calcmode="lin" valueType="num">
                                      <p:cBhvr additive="base">
                                        <p:cTn id="53" dur="500" fill="hold"/>
                                        <p:tgtEl>
                                          <p:spTgt spid="5">
                                            <p:txEl>
                                              <p:pRg st="8" end="8"/>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5">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1B82A-08FD-AC25-12EF-0735F6E70AE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DFAD769-083F-1520-FB98-06B682EA82F0}"/>
              </a:ext>
            </a:extLst>
          </p:cNvPr>
          <p:cNvSpPr>
            <a:spLocks noGrp="1"/>
          </p:cNvSpPr>
          <p:nvPr>
            <p:ph type="dt" sz="half" idx="10"/>
          </p:nvPr>
        </p:nvSpPr>
        <p:spPr/>
        <p:txBody>
          <a:bodyPr/>
          <a:lstStyle/>
          <a:p>
            <a:fld id="{BC71C0EF-F652-442C-95E6-EB3A9DFAA5C1}" type="datetime6">
              <a:rPr lang="en-US" smtClean="0"/>
              <a:t>March 26</a:t>
            </a:fld>
            <a:endParaRPr lang="de-DE" dirty="0"/>
          </a:p>
        </p:txBody>
      </p:sp>
      <p:sp>
        <p:nvSpPr>
          <p:cNvPr id="3" name="Fußzeilenplatzhalter 2">
            <a:extLst>
              <a:ext uri="{FF2B5EF4-FFF2-40B4-BE49-F238E27FC236}">
                <a16:creationId xmlns:a16="http://schemas.microsoft.com/office/drawing/2014/main" id="{4CFD981D-6A2C-3D55-3C79-DD43BE39101F}"/>
              </a:ext>
            </a:extLst>
          </p:cNvPr>
          <p:cNvSpPr>
            <a:spLocks noGrp="1"/>
          </p:cNvSpPr>
          <p:nvPr>
            <p:ph type="ftr" sz="quarter" idx="11"/>
          </p:nvPr>
        </p:nvSpPr>
        <p:spPr/>
        <p:txBody>
          <a:bodyPr/>
          <a:lstStyle/>
          <a:p>
            <a:r>
              <a:rPr lang="en-US" dirty="0"/>
              <a:t>Image is taken from: https://en.wikipedia.org/wiki/Generative_adversarial_network</a:t>
            </a:r>
          </a:p>
          <a:p>
            <a:endParaRPr lang="de-DE" dirty="0"/>
          </a:p>
        </p:txBody>
      </p:sp>
      <p:sp>
        <p:nvSpPr>
          <p:cNvPr id="4" name="Foliennummernplatzhalter 3">
            <a:extLst>
              <a:ext uri="{FF2B5EF4-FFF2-40B4-BE49-F238E27FC236}">
                <a16:creationId xmlns:a16="http://schemas.microsoft.com/office/drawing/2014/main" id="{AA4010A9-7DD9-E0CF-16D8-5C77DD3C90E7}"/>
              </a:ext>
            </a:extLst>
          </p:cNvPr>
          <p:cNvSpPr>
            <a:spLocks noGrp="1"/>
          </p:cNvSpPr>
          <p:nvPr>
            <p:ph type="sldNum" sz="quarter" idx="12"/>
          </p:nvPr>
        </p:nvSpPr>
        <p:spPr/>
        <p:txBody>
          <a:bodyPr/>
          <a:lstStyle/>
          <a:p>
            <a:fld id="{D3A9EDD9-2578-4372-8132-10947A418667}" type="slidenum">
              <a:rPr lang="de-DE" smtClean="0"/>
              <a:t>21</a:t>
            </a:fld>
            <a:endParaRPr lang="de-DE"/>
          </a:p>
        </p:txBody>
      </p:sp>
      <p:sp>
        <p:nvSpPr>
          <p:cNvPr id="9" name="Titel 8">
            <a:extLst>
              <a:ext uri="{FF2B5EF4-FFF2-40B4-BE49-F238E27FC236}">
                <a16:creationId xmlns:a16="http://schemas.microsoft.com/office/drawing/2014/main" id="{6978DF4E-0E7A-18F9-AE55-2AA8753E6101}"/>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26A492C8-2C69-4675-DDA1-45652DF0E4F1}"/>
              </a:ext>
            </a:extLst>
          </p:cNvPr>
          <p:cNvSpPr>
            <a:spLocks noGrp="1"/>
          </p:cNvSpPr>
          <p:nvPr>
            <p:ph type="body" sz="quarter" idx="14"/>
          </p:nvPr>
        </p:nvSpPr>
        <p:spPr/>
        <p:txBody>
          <a:bodyPr/>
          <a:lstStyle/>
          <a:p>
            <a:r>
              <a:rPr lang="de-DE" dirty="0"/>
              <a:t>Generative Adversarial Network</a:t>
            </a:r>
          </a:p>
        </p:txBody>
      </p:sp>
      <p:pic>
        <p:nvPicPr>
          <p:cNvPr id="6" name="Content Placeholder 16">
            <a:extLst>
              <a:ext uri="{FF2B5EF4-FFF2-40B4-BE49-F238E27FC236}">
                <a16:creationId xmlns:a16="http://schemas.microsoft.com/office/drawing/2014/main" id="{426E1F5F-9549-BE95-A5F9-4DDAA1FF66C0}"/>
              </a:ext>
            </a:extLst>
          </p:cNvPr>
          <p:cNvPicPr/>
          <p:nvPr/>
        </p:nvPicPr>
        <p:blipFill>
          <a:blip r:embed="rId3"/>
          <a:stretch/>
        </p:blipFill>
        <p:spPr>
          <a:xfrm>
            <a:off x="7287090" y="1749554"/>
            <a:ext cx="3253320" cy="3766680"/>
          </a:xfrm>
          <a:prstGeom prst="rect">
            <a:avLst/>
          </a:prstGeom>
          <a:noFill/>
          <a:ln w="0">
            <a:noFill/>
          </a:ln>
        </p:spPr>
      </p:pic>
      <p:sp>
        <p:nvSpPr>
          <p:cNvPr id="7" name="TextBox 6">
            <a:extLst>
              <a:ext uri="{FF2B5EF4-FFF2-40B4-BE49-F238E27FC236}">
                <a16:creationId xmlns:a16="http://schemas.microsoft.com/office/drawing/2014/main" id="{6266455B-5C34-575F-98EF-F68037E0D61E}"/>
              </a:ext>
            </a:extLst>
          </p:cNvPr>
          <p:cNvSpPr txBox="1"/>
          <p:nvPr/>
        </p:nvSpPr>
        <p:spPr>
          <a:xfrm>
            <a:off x="575733" y="2166429"/>
            <a:ext cx="7796107" cy="2447337"/>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dirty="0"/>
              <a:t>What Is GAN? </a:t>
            </a:r>
          </a:p>
          <a:p>
            <a:pPr marL="285750" indent="-285750">
              <a:lnSpc>
                <a:spcPct val="150000"/>
              </a:lnSpc>
              <a:buFont typeface="Arial" panose="020B0604020202020204" pitchFamily="34" charset="0"/>
              <a:buChar char="•"/>
            </a:pPr>
            <a:r>
              <a:rPr lang="en-US" dirty="0"/>
              <a:t>How can GAN be used for anomaly detection?</a:t>
            </a:r>
          </a:p>
          <a:p>
            <a:pPr marL="285750" indent="-285750">
              <a:lnSpc>
                <a:spcPct val="150000"/>
              </a:lnSpc>
              <a:buFont typeface="Arial" panose="020B0604020202020204" pitchFamily="34" charset="0"/>
              <a:buChar char="•"/>
            </a:pPr>
            <a:r>
              <a:rPr lang="en-US" dirty="0"/>
              <a:t>During testing:</a:t>
            </a:r>
          </a:p>
          <a:p>
            <a:pPr marL="742950" lvl="1" indent="-285750">
              <a:lnSpc>
                <a:spcPct val="150000"/>
              </a:lnSpc>
              <a:buFont typeface="Arial" panose="020B0604020202020204" pitchFamily="34" charset="0"/>
              <a:buChar char="•"/>
            </a:pPr>
            <a:r>
              <a:rPr lang="en-US" sz="1600" dirty="0"/>
              <a:t>Abnormal packets differ from learned distribution</a:t>
            </a:r>
          </a:p>
          <a:p>
            <a:pPr marL="285750" indent="-285750">
              <a:lnSpc>
                <a:spcPct val="150000"/>
              </a:lnSpc>
              <a:buFont typeface="Arial" panose="020B0604020202020204" pitchFamily="34" charset="0"/>
              <a:buChar char="•"/>
            </a:pPr>
            <a:r>
              <a:rPr lang="en-US" dirty="0"/>
              <a:t>Key Idea:</a:t>
            </a:r>
          </a:p>
          <a:p>
            <a:pPr marL="742950" lvl="1" indent="-285750">
              <a:lnSpc>
                <a:spcPct val="150000"/>
              </a:lnSpc>
              <a:buFont typeface="Arial" panose="020B0604020202020204" pitchFamily="34" charset="0"/>
              <a:buChar char="•"/>
            </a:pPr>
            <a:r>
              <a:rPr lang="en-US" sz="1600" dirty="0"/>
              <a:t>Only benign data can be generated or recognized</a:t>
            </a:r>
          </a:p>
        </p:txBody>
      </p:sp>
    </p:spTree>
    <p:extLst>
      <p:ext uri="{BB962C8B-B14F-4D97-AF65-F5344CB8AC3E}">
        <p14:creationId xmlns:p14="http://schemas.microsoft.com/office/powerpoint/2010/main" val="376984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repl">
                                        <p:cTn id="7" dur="500" fill="hold"/>
                                        <p:tgtEl>
                                          <p:spTgt spid="6"/>
                                        </p:tgtEl>
                                        <p:attrNameLst>
                                          <p:attrName>ppt_x</p:attrName>
                                        </p:attrNameLst>
                                      </p:cBhvr>
                                      <p:tavLst>
                                        <p:tav tm="0">
                                          <p:val>
                                            <p:strVal val="#ppt_x"/>
                                          </p:val>
                                        </p:tav>
                                        <p:tav tm="100000">
                                          <p:val>
                                            <p:strVal val="#ppt_x"/>
                                          </p:val>
                                        </p:tav>
                                      </p:tavLst>
                                    </p:anim>
                                    <p:anim calcmode="lin" valueType="num">
                                      <p:cBhvr additive="repl">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
                                            <p:txEl>
                                              <p:pRg st="0" end="0"/>
                                            </p:txEl>
                                          </p:spTgt>
                                        </p:tgtEl>
                                        <p:attrNameLst>
                                          <p:attrName>style.visibility</p:attrName>
                                        </p:attrNameLst>
                                      </p:cBhvr>
                                      <p:to>
                                        <p:strVal val="visible"/>
                                      </p:to>
                                    </p:set>
                                    <p:anim calcmode="lin" valueType="num">
                                      <p:cBhvr additive="base">
                                        <p:cTn id="13" dur="500" fill="hold"/>
                                        <p:tgtEl>
                                          <p:spTgt spid="7">
                                            <p:txEl>
                                              <p:pRg st="0" end="0"/>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7">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7">
                                            <p:txEl>
                                              <p:pRg st="1" end="1"/>
                                            </p:txEl>
                                          </p:spTgt>
                                        </p:tgtEl>
                                        <p:attrNameLst>
                                          <p:attrName>style.visibility</p:attrName>
                                        </p:attrNameLst>
                                      </p:cBhvr>
                                      <p:to>
                                        <p:strVal val="visible"/>
                                      </p:to>
                                    </p:set>
                                    <p:anim calcmode="lin" valueType="num">
                                      <p:cBhvr additive="base">
                                        <p:cTn id="19" dur="500" fill="hold"/>
                                        <p:tgtEl>
                                          <p:spTgt spid="7">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7">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7">
                                            <p:txEl>
                                              <p:pRg st="2" end="2"/>
                                            </p:txEl>
                                          </p:spTgt>
                                        </p:tgtEl>
                                        <p:attrNameLst>
                                          <p:attrName>style.visibility</p:attrName>
                                        </p:attrNameLst>
                                      </p:cBhvr>
                                      <p:to>
                                        <p:strVal val="visible"/>
                                      </p:to>
                                    </p:set>
                                    <p:anim calcmode="lin" valueType="num">
                                      <p:cBhvr additive="base">
                                        <p:cTn id="25" dur="500" fill="hold"/>
                                        <p:tgtEl>
                                          <p:spTgt spid="7">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7">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7">
                                            <p:txEl>
                                              <p:pRg st="3" end="3"/>
                                            </p:txEl>
                                          </p:spTgt>
                                        </p:tgtEl>
                                        <p:attrNameLst>
                                          <p:attrName>style.visibility</p:attrName>
                                        </p:attrNameLst>
                                      </p:cBhvr>
                                      <p:to>
                                        <p:strVal val="visible"/>
                                      </p:to>
                                    </p:set>
                                    <p:anim calcmode="lin" valueType="num">
                                      <p:cBhvr additive="base">
                                        <p:cTn id="31" dur="500" fill="hold"/>
                                        <p:tgtEl>
                                          <p:spTgt spid="7">
                                            <p:txEl>
                                              <p:pRg st="3" end="3"/>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7">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7">
                                            <p:txEl>
                                              <p:pRg st="4" end="4"/>
                                            </p:txEl>
                                          </p:spTgt>
                                        </p:tgtEl>
                                        <p:attrNameLst>
                                          <p:attrName>style.visibility</p:attrName>
                                        </p:attrNameLst>
                                      </p:cBhvr>
                                      <p:to>
                                        <p:strVal val="visible"/>
                                      </p:to>
                                    </p:set>
                                    <p:anim calcmode="lin" valueType="num">
                                      <p:cBhvr additive="base">
                                        <p:cTn id="37" dur="500" fill="hold"/>
                                        <p:tgtEl>
                                          <p:spTgt spid="7">
                                            <p:txEl>
                                              <p:pRg st="4" end="4"/>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7">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7">
                                            <p:txEl>
                                              <p:pRg st="5" end="5"/>
                                            </p:txEl>
                                          </p:spTgt>
                                        </p:tgtEl>
                                        <p:attrNameLst>
                                          <p:attrName>style.visibility</p:attrName>
                                        </p:attrNameLst>
                                      </p:cBhvr>
                                      <p:to>
                                        <p:strVal val="visible"/>
                                      </p:to>
                                    </p:set>
                                    <p:anim calcmode="lin" valueType="num">
                                      <p:cBhvr additive="base">
                                        <p:cTn id="43" dur="500" fill="hold"/>
                                        <p:tgtEl>
                                          <p:spTgt spid="7">
                                            <p:txEl>
                                              <p:pRg st="5" end="5"/>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7">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25964-DB22-7016-1174-F4D86FC30850}"/>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4A5ED114-8D8C-9C6F-1EF4-86E41C3E14BB}"/>
              </a:ext>
            </a:extLst>
          </p:cNvPr>
          <p:cNvSpPr>
            <a:spLocks noGrp="1"/>
          </p:cNvSpPr>
          <p:nvPr>
            <p:ph type="dt" sz="half" idx="10"/>
          </p:nvPr>
        </p:nvSpPr>
        <p:spPr/>
        <p:txBody>
          <a:bodyPr/>
          <a:lstStyle/>
          <a:p>
            <a:fld id="{20B77A37-7AA4-4E55-9AD2-208F046171A5}" type="datetime6">
              <a:rPr lang="en-US" smtClean="0"/>
              <a:t>March 26</a:t>
            </a:fld>
            <a:endParaRPr lang="de-DE" dirty="0"/>
          </a:p>
        </p:txBody>
      </p:sp>
      <p:sp>
        <p:nvSpPr>
          <p:cNvPr id="3" name="Fußzeilenplatzhalter 2">
            <a:extLst>
              <a:ext uri="{FF2B5EF4-FFF2-40B4-BE49-F238E27FC236}">
                <a16:creationId xmlns:a16="http://schemas.microsoft.com/office/drawing/2014/main" id="{8FE624B4-6B9D-14AE-F6C2-A618187BD97B}"/>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01E38B31-5AA1-0C57-5767-085683F4B061}"/>
              </a:ext>
            </a:extLst>
          </p:cNvPr>
          <p:cNvSpPr>
            <a:spLocks noGrp="1"/>
          </p:cNvSpPr>
          <p:nvPr>
            <p:ph type="sldNum" sz="quarter" idx="12"/>
          </p:nvPr>
        </p:nvSpPr>
        <p:spPr/>
        <p:txBody>
          <a:bodyPr/>
          <a:lstStyle/>
          <a:p>
            <a:fld id="{D3A9EDD9-2578-4372-8132-10947A418667}" type="slidenum">
              <a:rPr lang="de-DE" smtClean="0"/>
              <a:t>22</a:t>
            </a:fld>
            <a:endParaRPr lang="de-DE"/>
          </a:p>
        </p:txBody>
      </p:sp>
      <p:sp>
        <p:nvSpPr>
          <p:cNvPr id="11" name="Textplatzhalter 10">
            <a:extLst>
              <a:ext uri="{FF2B5EF4-FFF2-40B4-BE49-F238E27FC236}">
                <a16:creationId xmlns:a16="http://schemas.microsoft.com/office/drawing/2014/main" id="{DCEA1F9C-6200-A27D-EEF3-71B29FC44170}"/>
              </a:ext>
            </a:extLst>
          </p:cNvPr>
          <p:cNvSpPr>
            <a:spLocks noGrp="1"/>
          </p:cNvSpPr>
          <p:nvPr>
            <p:ph type="body" idx="13"/>
          </p:nvPr>
        </p:nvSpPr>
        <p:spPr>
          <a:xfrm>
            <a:off x="753534" y="1024114"/>
            <a:ext cx="11040533" cy="612000"/>
          </a:xfrm>
        </p:spPr>
        <p:txBody>
          <a:bodyPr/>
          <a:lstStyle/>
          <a:p>
            <a:r>
              <a:rPr lang="de-DE" dirty="0"/>
              <a:t>Discriminator &amp; Generator</a:t>
            </a:r>
          </a:p>
          <a:p>
            <a:endParaRPr lang="de-DE" dirty="0"/>
          </a:p>
        </p:txBody>
      </p:sp>
      <p:sp>
        <p:nvSpPr>
          <p:cNvPr id="9" name="Titel 8">
            <a:extLst>
              <a:ext uri="{FF2B5EF4-FFF2-40B4-BE49-F238E27FC236}">
                <a16:creationId xmlns:a16="http://schemas.microsoft.com/office/drawing/2014/main" id="{0CCA1BB4-8837-8797-A9D0-2EAC2CC648B6}"/>
              </a:ext>
            </a:extLst>
          </p:cNvPr>
          <p:cNvSpPr>
            <a:spLocks noGrp="1"/>
          </p:cNvSpPr>
          <p:nvPr>
            <p:ph type="title"/>
          </p:nvPr>
        </p:nvSpPr>
        <p:spPr/>
        <p:txBody>
          <a:bodyPr/>
          <a:lstStyle/>
          <a:p>
            <a:r>
              <a:rPr lang="de-DE" dirty="0"/>
              <a:t>Anomaly Detection methods</a:t>
            </a:r>
          </a:p>
        </p:txBody>
      </p:sp>
      <p:sp>
        <p:nvSpPr>
          <p:cNvPr id="12" name="Textplatzhalter 11">
            <a:extLst>
              <a:ext uri="{FF2B5EF4-FFF2-40B4-BE49-F238E27FC236}">
                <a16:creationId xmlns:a16="http://schemas.microsoft.com/office/drawing/2014/main" id="{CD722B09-276A-B55C-9125-91FEFE2E1363}"/>
              </a:ext>
            </a:extLst>
          </p:cNvPr>
          <p:cNvSpPr>
            <a:spLocks noGrp="1"/>
          </p:cNvSpPr>
          <p:nvPr>
            <p:ph type="body" sz="quarter" idx="14"/>
          </p:nvPr>
        </p:nvSpPr>
        <p:spPr/>
        <p:txBody>
          <a:bodyPr/>
          <a:lstStyle/>
          <a:p>
            <a:r>
              <a:rPr lang="de-DE" dirty="0"/>
              <a:t>Generative Adversarial Network</a:t>
            </a:r>
          </a:p>
        </p:txBody>
      </p:sp>
      <p:pic>
        <p:nvPicPr>
          <p:cNvPr id="5" name="Picture 4">
            <a:extLst>
              <a:ext uri="{FF2B5EF4-FFF2-40B4-BE49-F238E27FC236}">
                <a16:creationId xmlns:a16="http://schemas.microsoft.com/office/drawing/2014/main" id="{9F14377E-BEA1-CA01-711E-A6005FA09E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5732" y="1491722"/>
            <a:ext cx="7370187" cy="4919599"/>
          </a:xfrm>
          <a:prstGeom prst="rect">
            <a:avLst/>
          </a:prstGeom>
        </p:spPr>
      </p:pic>
      <p:sp>
        <p:nvSpPr>
          <p:cNvPr id="6" name="Rectangle 5">
            <a:extLst>
              <a:ext uri="{FF2B5EF4-FFF2-40B4-BE49-F238E27FC236}">
                <a16:creationId xmlns:a16="http://schemas.microsoft.com/office/drawing/2014/main" id="{3E02FDBC-BBB2-8FD2-7BBC-E158BEF15094}"/>
              </a:ext>
            </a:extLst>
          </p:cNvPr>
          <p:cNvSpPr/>
          <p:nvPr/>
        </p:nvSpPr>
        <p:spPr>
          <a:xfrm>
            <a:off x="4754880" y="3279648"/>
            <a:ext cx="1828800" cy="944880"/>
          </a:xfrm>
          <a:prstGeom prst="rect">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568503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16F21-9715-7270-7D81-BA5084DE6C45}"/>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EA4D364-7B35-F654-3A2E-496B25F9AE35}"/>
              </a:ext>
            </a:extLst>
          </p:cNvPr>
          <p:cNvSpPr>
            <a:spLocks noGrp="1"/>
          </p:cNvSpPr>
          <p:nvPr>
            <p:ph type="dt" sz="half" idx="10"/>
          </p:nvPr>
        </p:nvSpPr>
        <p:spPr/>
        <p:txBody>
          <a:bodyPr/>
          <a:lstStyle/>
          <a:p>
            <a:fld id="{F3AA506F-F4AA-46C8-A502-D82A9D43AEC8}" type="datetime6">
              <a:rPr lang="en-US" smtClean="0"/>
              <a:t>March 26</a:t>
            </a:fld>
            <a:endParaRPr lang="de-DE" dirty="0"/>
          </a:p>
        </p:txBody>
      </p:sp>
      <p:sp>
        <p:nvSpPr>
          <p:cNvPr id="3" name="Fußzeilenplatzhalter 2">
            <a:extLst>
              <a:ext uri="{FF2B5EF4-FFF2-40B4-BE49-F238E27FC236}">
                <a16:creationId xmlns:a16="http://schemas.microsoft.com/office/drawing/2014/main" id="{7A8C6E30-10BE-983E-9953-9287D456D7E3}"/>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EFF439FF-7D85-50E9-3BF5-F5A90DCD9D83}"/>
              </a:ext>
            </a:extLst>
          </p:cNvPr>
          <p:cNvSpPr>
            <a:spLocks noGrp="1"/>
          </p:cNvSpPr>
          <p:nvPr>
            <p:ph type="sldNum" sz="quarter" idx="12"/>
          </p:nvPr>
        </p:nvSpPr>
        <p:spPr/>
        <p:txBody>
          <a:bodyPr/>
          <a:lstStyle/>
          <a:p>
            <a:fld id="{D3A9EDD9-2578-4372-8132-10947A418667}" type="slidenum">
              <a:rPr lang="de-DE" smtClean="0"/>
              <a:t>23</a:t>
            </a:fld>
            <a:endParaRPr lang="de-DE"/>
          </a:p>
        </p:txBody>
      </p:sp>
      <p:sp>
        <p:nvSpPr>
          <p:cNvPr id="9" name="Titel 8">
            <a:extLst>
              <a:ext uri="{FF2B5EF4-FFF2-40B4-BE49-F238E27FC236}">
                <a16:creationId xmlns:a16="http://schemas.microsoft.com/office/drawing/2014/main" id="{CBED1070-F7AF-1A0B-BDD5-4B3FF43F1C61}"/>
              </a:ext>
            </a:extLst>
          </p:cNvPr>
          <p:cNvSpPr>
            <a:spLocks noGrp="1"/>
          </p:cNvSpPr>
          <p:nvPr>
            <p:ph type="title"/>
          </p:nvPr>
        </p:nvSpPr>
        <p:spPr/>
        <p:txBody>
          <a:bodyPr/>
          <a:lstStyle/>
          <a:p>
            <a:r>
              <a:rPr lang="de-DE" dirty="0"/>
              <a:t>Anomaly Detection Method</a:t>
            </a:r>
          </a:p>
        </p:txBody>
      </p:sp>
      <p:sp>
        <p:nvSpPr>
          <p:cNvPr id="12" name="Textplatzhalter 11">
            <a:extLst>
              <a:ext uri="{FF2B5EF4-FFF2-40B4-BE49-F238E27FC236}">
                <a16:creationId xmlns:a16="http://schemas.microsoft.com/office/drawing/2014/main" id="{085C9756-FFF4-6585-7965-B6BC760711F4}"/>
              </a:ext>
            </a:extLst>
          </p:cNvPr>
          <p:cNvSpPr>
            <a:spLocks noGrp="1"/>
          </p:cNvSpPr>
          <p:nvPr>
            <p:ph type="body" sz="quarter" idx="14"/>
          </p:nvPr>
        </p:nvSpPr>
        <p:spPr/>
        <p:txBody>
          <a:bodyPr/>
          <a:lstStyle/>
          <a:p>
            <a:r>
              <a:rPr lang="de-DE" dirty="0"/>
              <a:t>ResNet</a:t>
            </a:r>
          </a:p>
        </p:txBody>
      </p:sp>
      <p:pic>
        <p:nvPicPr>
          <p:cNvPr id="5" name="Picture 4">
            <a:extLst>
              <a:ext uri="{FF2B5EF4-FFF2-40B4-BE49-F238E27FC236}">
                <a16:creationId xmlns:a16="http://schemas.microsoft.com/office/drawing/2014/main" id="{5779AB33-679B-8C12-F01B-3370EA6CF3F4}"/>
              </a:ext>
            </a:extLst>
          </p:cNvPr>
          <p:cNvPicPr>
            <a:picLocks noChangeAspect="1"/>
          </p:cNvPicPr>
          <p:nvPr/>
        </p:nvPicPr>
        <p:blipFill>
          <a:blip r:embed="rId3"/>
          <a:stretch>
            <a:fillRect/>
          </a:stretch>
        </p:blipFill>
        <p:spPr>
          <a:xfrm>
            <a:off x="2353317" y="1808170"/>
            <a:ext cx="7739367" cy="5011238"/>
          </a:xfrm>
          <a:prstGeom prst="rect">
            <a:avLst/>
          </a:prstGeom>
        </p:spPr>
      </p:pic>
      <p:sp>
        <p:nvSpPr>
          <p:cNvPr id="6" name="Textplatzhalter 10">
            <a:extLst>
              <a:ext uri="{FF2B5EF4-FFF2-40B4-BE49-F238E27FC236}">
                <a16:creationId xmlns:a16="http://schemas.microsoft.com/office/drawing/2014/main" id="{6F687E83-0403-3D07-EC35-7AB80BC6F76A}"/>
              </a:ext>
            </a:extLst>
          </p:cNvPr>
          <p:cNvSpPr>
            <a:spLocks noGrp="1"/>
          </p:cNvSpPr>
          <p:nvPr>
            <p:ph type="body" idx="13"/>
          </p:nvPr>
        </p:nvSpPr>
        <p:spPr>
          <a:xfrm>
            <a:off x="575733" y="1081041"/>
            <a:ext cx="1777584" cy="319087"/>
          </a:xfrm>
        </p:spPr>
        <p:txBody>
          <a:bodyPr/>
          <a:lstStyle/>
          <a:p>
            <a:r>
              <a:rPr lang="de-DE" dirty="0"/>
              <a:t>Architecture</a:t>
            </a:r>
          </a:p>
          <a:p>
            <a:endParaRPr lang="de-DE" dirty="0"/>
          </a:p>
        </p:txBody>
      </p:sp>
      <p:sp>
        <p:nvSpPr>
          <p:cNvPr id="7" name="Rectangle 6">
            <a:extLst>
              <a:ext uri="{FF2B5EF4-FFF2-40B4-BE49-F238E27FC236}">
                <a16:creationId xmlns:a16="http://schemas.microsoft.com/office/drawing/2014/main" id="{74D12491-D3C3-04E6-D04F-80B2A79D9DFC}"/>
              </a:ext>
            </a:extLst>
          </p:cNvPr>
          <p:cNvSpPr/>
          <p:nvPr/>
        </p:nvSpPr>
        <p:spPr>
          <a:xfrm>
            <a:off x="2630811" y="5072131"/>
            <a:ext cx="2235200" cy="1188720"/>
          </a:xfrm>
          <a:prstGeom prst="rect">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Arrow: Down 10">
            <a:extLst>
              <a:ext uri="{FF2B5EF4-FFF2-40B4-BE49-F238E27FC236}">
                <a16:creationId xmlns:a16="http://schemas.microsoft.com/office/drawing/2014/main" id="{3A776D05-437A-9471-D92D-13D61D2C6F77}"/>
              </a:ext>
            </a:extLst>
          </p:cNvPr>
          <p:cNvSpPr/>
          <p:nvPr/>
        </p:nvSpPr>
        <p:spPr>
          <a:xfrm>
            <a:off x="4578991" y="4854852"/>
            <a:ext cx="121920" cy="320040"/>
          </a:xfrm>
          <a:prstGeom prst="downArrow">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Arrow: Down 12">
            <a:extLst>
              <a:ext uri="{FF2B5EF4-FFF2-40B4-BE49-F238E27FC236}">
                <a16:creationId xmlns:a16="http://schemas.microsoft.com/office/drawing/2014/main" id="{D6E2C537-9CFC-7C6F-E7B1-9899CBD45663}"/>
              </a:ext>
            </a:extLst>
          </p:cNvPr>
          <p:cNvSpPr/>
          <p:nvPr/>
        </p:nvSpPr>
        <p:spPr>
          <a:xfrm>
            <a:off x="3662422" y="5045352"/>
            <a:ext cx="121920" cy="320040"/>
          </a:xfrm>
          <a:prstGeom prst="downArrow">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17FF4345-D5DF-68F9-3EC6-CAC4BE713D82}"/>
              </a:ext>
            </a:extLst>
          </p:cNvPr>
          <p:cNvSpPr/>
          <p:nvPr/>
        </p:nvSpPr>
        <p:spPr>
          <a:xfrm>
            <a:off x="5028571" y="5365392"/>
            <a:ext cx="2621280" cy="235059"/>
          </a:xfrm>
          <a:prstGeom prst="rect">
            <a:avLst/>
          </a:prstGeom>
          <a:solidFill>
            <a:srgbClr val="FDFCFD"/>
          </a:solidFill>
          <a:ln>
            <a:solidFill>
              <a:srgbClr val="FEFCF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8399251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FE42E-AB3E-BAFD-F9EB-74638A583C6A}"/>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79248B0-DB0D-7342-44EF-C037D781C2BC}"/>
              </a:ext>
            </a:extLst>
          </p:cNvPr>
          <p:cNvSpPr>
            <a:spLocks noGrp="1"/>
          </p:cNvSpPr>
          <p:nvPr>
            <p:ph type="dt" sz="half" idx="10"/>
          </p:nvPr>
        </p:nvSpPr>
        <p:spPr/>
        <p:txBody>
          <a:bodyPr/>
          <a:lstStyle/>
          <a:p>
            <a:fld id="{77F97C80-424D-468A-A8C0-96CC434E1621}" type="datetime6">
              <a:rPr lang="en-US" smtClean="0"/>
              <a:t>March 26</a:t>
            </a:fld>
            <a:endParaRPr lang="de-DE" dirty="0"/>
          </a:p>
        </p:txBody>
      </p:sp>
      <p:sp>
        <p:nvSpPr>
          <p:cNvPr id="3" name="Fußzeilenplatzhalter 2">
            <a:extLst>
              <a:ext uri="{FF2B5EF4-FFF2-40B4-BE49-F238E27FC236}">
                <a16:creationId xmlns:a16="http://schemas.microsoft.com/office/drawing/2014/main" id="{CB8E8F3A-135B-00C1-BBE4-9BEACB224B67}"/>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B28CD733-78D7-F895-2A56-3E8BE1602930}"/>
              </a:ext>
            </a:extLst>
          </p:cNvPr>
          <p:cNvSpPr>
            <a:spLocks noGrp="1"/>
          </p:cNvSpPr>
          <p:nvPr>
            <p:ph type="sldNum" sz="quarter" idx="12"/>
          </p:nvPr>
        </p:nvSpPr>
        <p:spPr/>
        <p:txBody>
          <a:bodyPr/>
          <a:lstStyle/>
          <a:p>
            <a:fld id="{D3A9EDD9-2578-4372-8132-10947A418667}" type="slidenum">
              <a:rPr lang="de-DE" smtClean="0"/>
              <a:t>24</a:t>
            </a:fld>
            <a:endParaRPr lang="de-DE"/>
          </a:p>
        </p:txBody>
      </p:sp>
      <p:sp>
        <p:nvSpPr>
          <p:cNvPr id="9" name="Titel 8">
            <a:extLst>
              <a:ext uri="{FF2B5EF4-FFF2-40B4-BE49-F238E27FC236}">
                <a16:creationId xmlns:a16="http://schemas.microsoft.com/office/drawing/2014/main" id="{B4064CDE-276E-2C67-1A6F-FDA8DB1820E4}"/>
              </a:ext>
            </a:extLst>
          </p:cNvPr>
          <p:cNvSpPr>
            <a:spLocks noGrp="1"/>
          </p:cNvSpPr>
          <p:nvPr>
            <p:ph type="title"/>
          </p:nvPr>
        </p:nvSpPr>
        <p:spPr/>
        <p:txBody>
          <a:bodyPr/>
          <a:lstStyle/>
          <a:p>
            <a:r>
              <a:rPr lang="de-DE" dirty="0"/>
              <a:t>Anomaly Detection Method</a:t>
            </a:r>
          </a:p>
        </p:txBody>
      </p:sp>
      <p:sp>
        <p:nvSpPr>
          <p:cNvPr id="12" name="Textplatzhalter 11">
            <a:extLst>
              <a:ext uri="{FF2B5EF4-FFF2-40B4-BE49-F238E27FC236}">
                <a16:creationId xmlns:a16="http://schemas.microsoft.com/office/drawing/2014/main" id="{A315B449-FB21-83C8-4C72-8B9650FBD7BA}"/>
              </a:ext>
            </a:extLst>
          </p:cNvPr>
          <p:cNvSpPr>
            <a:spLocks noGrp="1"/>
          </p:cNvSpPr>
          <p:nvPr>
            <p:ph type="body" sz="quarter" idx="14"/>
          </p:nvPr>
        </p:nvSpPr>
        <p:spPr/>
        <p:txBody>
          <a:bodyPr/>
          <a:lstStyle/>
          <a:p>
            <a:r>
              <a:rPr lang="de-DE" dirty="0"/>
              <a:t>ResNet</a:t>
            </a:r>
          </a:p>
        </p:txBody>
      </p:sp>
      <p:sp>
        <p:nvSpPr>
          <p:cNvPr id="20" name="Rectangle: Rounded Corners 19">
            <a:extLst>
              <a:ext uri="{FF2B5EF4-FFF2-40B4-BE49-F238E27FC236}">
                <a16:creationId xmlns:a16="http://schemas.microsoft.com/office/drawing/2014/main" id="{DC90A016-E86B-AA7B-58F0-39C012CD362E}"/>
              </a:ext>
            </a:extLst>
          </p:cNvPr>
          <p:cNvSpPr/>
          <p:nvPr/>
        </p:nvSpPr>
        <p:spPr>
          <a:xfrm>
            <a:off x="3215733" y="1244537"/>
            <a:ext cx="7305840" cy="1431216"/>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endParaRPr lang="de-DE"/>
          </a:p>
        </p:txBody>
      </p:sp>
      <p:sp>
        <p:nvSpPr>
          <p:cNvPr id="21" name="Rectangle 20" descr="Computer">
            <a:extLst>
              <a:ext uri="{FF2B5EF4-FFF2-40B4-BE49-F238E27FC236}">
                <a16:creationId xmlns:a16="http://schemas.microsoft.com/office/drawing/2014/main" id="{233CBE1A-0D50-7223-99E7-1EC15D793D06}"/>
              </a:ext>
            </a:extLst>
          </p:cNvPr>
          <p:cNvSpPr/>
          <p:nvPr/>
        </p:nvSpPr>
        <p:spPr>
          <a:xfrm>
            <a:off x="3648675" y="1566561"/>
            <a:ext cx="787168" cy="787168"/>
          </a:xfrm>
          <a:prstGeom prst="rect">
            <a:avLst/>
          </a:prstGeom>
          <a: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de-DE"/>
          </a:p>
        </p:txBody>
      </p:sp>
      <p:grpSp>
        <p:nvGrpSpPr>
          <p:cNvPr id="22" name="Group 21">
            <a:extLst>
              <a:ext uri="{FF2B5EF4-FFF2-40B4-BE49-F238E27FC236}">
                <a16:creationId xmlns:a16="http://schemas.microsoft.com/office/drawing/2014/main" id="{6E4BD0B0-9DD8-DDFF-E78D-56EBD8809C8F}"/>
              </a:ext>
            </a:extLst>
          </p:cNvPr>
          <p:cNvGrpSpPr/>
          <p:nvPr/>
        </p:nvGrpSpPr>
        <p:grpSpPr>
          <a:xfrm>
            <a:off x="4868787" y="1244537"/>
            <a:ext cx="5652785" cy="1431216"/>
            <a:chOff x="1653054" y="611"/>
            <a:chExt cx="5652785" cy="1431216"/>
          </a:xfrm>
        </p:grpSpPr>
        <p:sp>
          <p:nvSpPr>
            <p:cNvPr id="36" name="Rectangle 35">
              <a:extLst>
                <a:ext uri="{FF2B5EF4-FFF2-40B4-BE49-F238E27FC236}">
                  <a16:creationId xmlns:a16="http://schemas.microsoft.com/office/drawing/2014/main" id="{06FF1C25-44C2-26B5-458D-92DFCAE6AFB6}"/>
                </a:ext>
              </a:extLst>
            </p:cNvPr>
            <p:cNvSpPr/>
            <p:nvPr/>
          </p:nvSpPr>
          <p:spPr>
            <a:xfrm>
              <a:off x="1653054" y="611"/>
              <a:ext cx="5652785"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7" name="TextBox 36">
              <a:extLst>
                <a:ext uri="{FF2B5EF4-FFF2-40B4-BE49-F238E27FC236}">
                  <a16:creationId xmlns:a16="http://schemas.microsoft.com/office/drawing/2014/main" id="{E8AFEAAF-6C31-0C3C-612D-B9D3DF53C276}"/>
                </a:ext>
              </a:extLst>
            </p:cNvPr>
            <p:cNvSpPr txBox="1"/>
            <p:nvPr/>
          </p:nvSpPr>
          <p:spPr>
            <a:xfrm>
              <a:off x="1653054" y="611"/>
              <a:ext cx="5652785"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1111250">
                <a:lnSpc>
                  <a:spcPct val="90000"/>
                </a:lnSpc>
                <a:spcBef>
                  <a:spcPct val="0"/>
                </a:spcBef>
                <a:spcAft>
                  <a:spcPct val="35000"/>
                </a:spcAft>
                <a:buNone/>
              </a:pPr>
              <a:r>
                <a:rPr lang="en-US" sz="2500" kern="1200" dirty="0"/>
                <a:t>Learns discriminative patterns from the packet bytes.</a:t>
              </a:r>
            </a:p>
          </p:txBody>
        </p:sp>
      </p:grpSp>
      <p:sp>
        <p:nvSpPr>
          <p:cNvPr id="23" name="Rectangle: Rounded Corners 22">
            <a:extLst>
              <a:ext uri="{FF2B5EF4-FFF2-40B4-BE49-F238E27FC236}">
                <a16:creationId xmlns:a16="http://schemas.microsoft.com/office/drawing/2014/main" id="{D482D944-0EAD-883A-D5C1-A5D455B62AFB}"/>
              </a:ext>
            </a:extLst>
          </p:cNvPr>
          <p:cNvSpPr/>
          <p:nvPr/>
        </p:nvSpPr>
        <p:spPr>
          <a:xfrm>
            <a:off x="3215733" y="3033557"/>
            <a:ext cx="7305840" cy="1431216"/>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endParaRPr lang="de-DE"/>
          </a:p>
        </p:txBody>
      </p:sp>
      <p:sp>
        <p:nvSpPr>
          <p:cNvPr id="24" name="Rectangle 23" descr="Monitor">
            <a:extLst>
              <a:ext uri="{FF2B5EF4-FFF2-40B4-BE49-F238E27FC236}">
                <a16:creationId xmlns:a16="http://schemas.microsoft.com/office/drawing/2014/main" id="{F3871AED-8FE1-0CC1-3CA9-C152C1D914D2}"/>
              </a:ext>
            </a:extLst>
          </p:cNvPr>
          <p:cNvSpPr/>
          <p:nvPr/>
        </p:nvSpPr>
        <p:spPr>
          <a:xfrm>
            <a:off x="3648675" y="3355581"/>
            <a:ext cx="787168" cy="787168"/>
          </a:xfrm>
          <a:prstGeom prst="rect">
            <a:avLst/>
          </a:prstGeom>
          <a: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p:spPr>
        <p:style>
          <a:lnRef idx="2">
            <a:scrgbClr r="0" g="0" b="0"/>
          </a:lnRef>
          <a:fillRef idx="1">
            <a:scrgbClr r="0" g="0" b="0"/>
          </a:fillRef>
          <a:effectRef idx="0">
            <a:schemeClr val="accent3">
              <a:hueOff val="0"/>
              <a:satOff val="0"/>
              <a:lumOff val="0"/>
              <a:alphaOff val="0"/>
            </a:schemeClr>
          </a:effectRef>
          <a:fontRef idx="minor">
            <a:schemeClr val="lt1"/>
          </a:fontRef>
        </p:style>
        <p:txBody>
          <a:bodyPr/>
          <a:lstStyle/>
          <a:p>
            <a:endParaRPr lang="de-DE"/>
          </a:p>
        </p:txBody>
      </p:sp>
      <p:grpSp>
        <p:nvGrpSpPr>
          <p:cNvPr id="25" name="Group 24">
            <a:extLst>
              <a:ext uri="{FF2B5EF4-FFF2-40B4-BE49-F238E27FC236}">
                <a16:creationId xmlns:a16="http://schemas.microsoft.com/office/drawing/2014/main" id="{C01B79F5-CF98-5E8F-C1EF-CCF95B9358AD}"/>
              </a:ext>
            </a:extLst>
          </p:cNvPr>
          <p:cNvGrpSpPr/>
          <p:nvPr/>
        </p:nvGrpSpPr>
        <p:grpSpPr>
          <a:xfrm>
            <a:off x="4868787" y="3033557"/>
            <a:ext cx="5652785" cy="1431216"/>
            <a:chOff x="1653054" y="1789631"/>
            <a:chExt cx="5652785" cy="1431216"/>
          </a:xfrm>
        </p:grpSpPr>
        <p:sp>
          <p:nvSpPr>
            <p:cNvPr id="34" name="Rectangle 33">
              <a:extLst>
                <a:ext uri="{FF2B5EF4-FFF2-40B4-BE49-F238E27FC236}">
                  <a16:creationId xmlns:a16="http://schemas.microsoft.com/office/drawing/2014/main" id="{85050BB2-9D46-8098-7752-6A43C037C491}"/>
                </a:ext>
              </a:extLst>
            </p:cNvPr>
            <p:cNvSpPr/>
            <p:nvPr/>
          </p:nvSpPr>
          <p:spPr>
            <a:xfrm>
              <a:off x="1653054" y="1789631"/>
              <a:ext cx="5652785"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5" name="TextBox 34">
              <a:extLst>
                <a:ext uri="{FF2B5EF4-FFF2-40B4-BE49-F238E27FC236}">
                  <a16:creationId xmlns:a16="http://schemas.microsoft.com/office/drawing/2014/main" id="{1A4DF1DA-C38E-0D34-FE5B-FD9374684008}"/>
                </a:ext>
              </a:extLst>
            </p:cNvPr>
            <p:cNvSpPr txBox="1"/>
            <p:nvPr/>
          </p:nvSpPr>
          <p:spPr>
            <a:xfrm>
              <a:off x="1653054" y="1789631"/>
              <a:ext cx="5652785"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1111250">
                <a:lnSpc>
                  <a:spcPct val="90000"/>
                </a:lnSpc>
                <a:spcBef>
                  <a:spcPct val="0"/>
                </a:spcBef>
                <a:spcAft>
                  <a:spcPct val="35000"/>
                </a:spcAft>
                <a:buNone/>
              </a:pPr>
              <a:r>
                <a:rPr lang="en-US" sz="2500" kern="1200"/>
                <a:t>Normal and attack traffic produce different deep feature activations</a:t>
              </a:r>
            </a:p>
          </p:txBody>
        </p:sp>
      </p:grpSp>
      <p:sp>
        <p:nvSpPr>
          <p:cNvPr id="26" name="Rectangle: Rounded Corners 25">
            <a:extLst>
              <a:ext uri="{FF2B5EF4-FFF2-40B4-BE49-F238E27FC236}">
                <a16:creationId xmlns:a16="http://schemas.microsoft.com/office/drawing/2014/main" id="{3DEA38D2-3EE8-7483-8783-34A1FC8CFDE7}"/>
              </a:ext>
            </a:extLst>
          </p:cNvPr>
          <p:cNvSpPr/>
          <p:nvPr/>
        </p:nvSpPr>
        <p:spPr>
          <a:xfrm>
            <a:off x="3215733" y="4822578"/>
            <a:ext cx="7305840" cy="1431216"/>
          </a:xfrm>
          <a:prstGeom prst="roundRect">
            <a:avLst>
              <a:gd name="adj" fmla="val 10000"/>
            </a:avLst>
          </a:prstGeom>
        </p:spPr>
        <p:style>
          <a:lnRef idx="0">
            <a:schemeClr val="dk1">
              <a:hueOff val="0"/>
              <a:satOff val="0"/>
              <a:lumOff val="0"/>
              <a:alphaOff val="0"/>
            </a:schemeClr>
          </a:lnRef>
          <a:fillRef idx="1">
            <a:schemeClr val="bg1">
              <a:lumMod val="95000"/>
              <a:hueOff val="0"/>
              <a:satOff val="0"/>
              <a:lumOff val="0"/>
              <a:alphaOff val="0"/>
            </a:schemeClr>
          </a:fillRef>
          <a:effectRef idx="0">
            <a:schemeClr val="bg1">
              <a:lumMod val="95000"/>
              <a:hueOff val="0"/>
              <a:satOff val="0"/>
              <a:lumOff val="0"/>
              <a:alphaOff val="0"/>
            </a:schemeClr>
          </a:effectRef>
          <a:fontRef idx="minor">
            <a:schemeClr val="dk1">
              <a:hueOff val="0"/>
              <a:satOff val="0"/>
              <a:lumOff val="0"/>
              <a:alphaOff val="0"/>
            </a:schemeClr>
          </a:fontRef>
        </p:style>
        <p:txBody>
          <a:bodyPr/>
          <a:lstStyle/>
          <a:p>
            <a:endParaRPr lang="de-DE"/>
          </a:p>
        </p:txBody>
      </p:sp>
      <p:sp>
        <p:nvSpPr>
          <p:cNvPr id="27" name="Rectangle 26" descr="Checkmark">
            <a:extLst>
              <a:ext uri="{FF2B5EF4-FFF2-40B4-BE49-F238E27FC236}">
                <a16:creationId xmlns:a16="http://schemas.microsoft.com/office/drawing/2014/main" id="{C44BBCB7-25FD-0263-A860-CDCB4DA653A0}"/>
              </a:ext>
            </a:extLst>
          </p:cNvPr>
          <p:cNvSpPr/>
          <p:nvPr/>
        </p:nvSpPr>
        <p:spPr>
          <a:xfrm>
            <a:off x="3648675" y="5144601"/>
            <a:ext cx="787168" cy="787168"/>
          </a:xfrm>
          <a:prstGeom prst="rect">
            <a:avLst/>
          </a:prstGeom>
          <a: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p:spPr>
        <p:style>
          <a:lnRef idx="2">
            <a:scrgbClr r="0" g="0" b="0"/>
          </a:lnRef>
          <a:fillRef idx="1">
            <a:scrgbClr r="0" g="0" b="0"/>
          </a:fillRef>
          <a:effectRef idx="0">
            <a:schemeClr val="accent4">
              <a:hueOff val="0"/>
              <a:satOff val="0"/>
              <a:lumOff val="0"/>
              <a:alphaOff val="0"/>
            </a:schemeClr>
          </a:effectRef>
          <a:fontRef idx="minor">
            <a:schemeClr val="lt1"/>
          </a:fontRef>
        </p:style>
        <p:txBody>
          <a:bodyPr/>
          <a:lstStyle/>
          <a:p>
            <a:endParaRPr lang="de-DE"/>
          </a:p>
        </p:txBody>
      </p:sp>
      <p:grpSp>
        <p:nvGrpSpPr>
          <p:cNvPr id="28" name="Group 27">
            <a:extLst>
              <a:ext uri="{FF2B5EF4-FFF2-40B4-BE49-F238E27FC236}">
                <a16:creationId xmlns:a16="http://schemas.microsoft.com/office/drawing/2014/main" id="{E6D1812A-9C6A-74E4-DF9E-D61ED31B4DF7}"/>
              </a:ext>
            </a:extLst>
          </p:cNvPr>
          <p:cNvGrpSpPr/>
          <p:nvPr/>
        </p:nvGrpSpPr>
        <p:grpSpPr>
          <a:xfrm>
            <a:off x="4868787" y="4822578"/>
            <a:ext cx="3287628" cy="1431216"/>
            <a:chOff x="1653054" y="3578652"/>
            <a:chExt cx="3287628" cy="1431216"/>
          </a:xfrm>
        </p:grpSpPr>
        <p:sp>
          <p:nvSpPr>
            <p:cNvPr id="32" name="Rectangle 31">
              <a:extLst>
                <a:ext uri="{FF2B5EF4-FFF2-40B4-BE49-F238E27FC236}">
                  <a16:creationId xmlns:a16="http://schemas.microsoft.com/office/drawing/2014/main" id="{64731B6E-3176-1487-621D-9C9763F2E214}"/>
                </a:ext>
              </a:extLst>
            </p:cNvPr>
            <p:cNvSpPr/>
            <p:nvPr/>
          </p:nvSpPr>
          <p:spPr>
            <a:xfrm>
              <a:off x="1653054" y="3578652"/>
              <a:ext cx="3287628"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3" name="TextBox 32">
              <a:extLst>
                <a:ext uri="{FF2B5EF4-FFF2-40B4-BE49-F238E27FC236}">
                  <a16:creationId xmlns:a16="http://schemas.microsoft.com/office/drawing/2014/main" id="{42FB54F3-DE54-C4D1-3CA3-10FDC3D906ED}"/>
                </a:ext>
              </a:extLst>
            </p:cNvPr>
            <p:cNvSpPr txBox="1"/>
            <p:nvPr/>
          </p:nvSpPr>
          <p:spPr>
            <a:xfrm>
              <a:off x="1653054" y="3578652"/>
              <a:ext cx="3287628"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1111250">
                <a:lnSpc>
                  <a:spcPct val="90000"/>
                </a:lnSpc>
                <a:spcBef>
                  <a:spcPct val="0"/>
                </a:spcBef>
                <a:spcAft>
                  <a:spcPct val="35000"/>
                </a:spcAft>
                <a:buNone/>
              </a:pPr>
              <a:r>
                <a:rPr lang="en-US" sz="2500" kern="1200"/>
                <a:t>Final output:</a:t>
              </a:r>
            </a:p>
          </p:txBody>
        </p:sp>
      </p:grpSp>
      <p:grpSp>
        <p:nvGrpSpPr>
          <p:cNvPr id="29" name="Group 28">
            <a:extLst>
              <a:ext uri="{FF2B5EF4-FFF2-40B4-BE49-F238E27FC236}">
                <a16:creationId xmlns:a16="http://schemas.microsoft.com/office/drawing/2014/main" id="{612F40C8-5E62-0B86-2C68-B0F7DA3FFD1A}"/>
              </a:ext>
            </a:extLst>
          </p:cNvPr>
          <p:cNvGrpSpPr/>
          <p:nvPr/>
        </p:nvGrpSpPr>
        <p:grpSpPr>
          <a:xfrm>
            <a:off x="8156415" y="4822578"/>
            <a:ext cx="2365157" cy="1431216"/>
            <a:chOff x="4940682" y="3578652"/>
            <a:chExt cx="2365157" cy="1431216"/>
          </a:xfrm>
        </p:grpSpPr>
        <p:sp>
          <p:nvSpPr>
            <p:cNvPr id="30" name="Rectangle 29">
              <a:extLst>
                <a:ext uri="{FF2B5EF4-FFF2-40B4-BE49-F238E27FC236}">
                  <a16:creationId xmlns:a16="http://schemas.microsoft.com/office/drawing/2014/main" id="{E84847D4-7342-3E9E-C4C3-F1B9B547B6D7}"/>
                </a:ext>
              </a:extLst>
            </p:cNvPr>
            <p:cNvSpPr/>
            <p:nvPr/>
          </p:nvSpPr>
          <p:spPr>
            <a:xfrm>
              <a:off x="4940682" y="3578652"/>
              <a:ext cx="2365157" cy="1431216"/>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de-DE"/>
            </a:p>
          </p:txBody>
        </p:sp>
        <p:sp>
          <p:nvSpPr>
            <p:cNvPr id="31" name="TextBox 30">
              <a:extLst>
                <a:ext uri="{FF2B5EF4-FFF2-40B4-BE49-F238E27FC236}">
                  <a16:creationId xmlns:a16="http://schemas.microsoft.com/office/drawing/2014/main" id="{C2598B91-EA23-FC9A-DBDF-C6A7E1DD3EA2}"/>
                </a:ext>
              </a:extLst>
            </p:cNvPr>
            <p:cNvSpPr txBox="1"/>
            <p:nvPr/>
          </p:nvSpPr>
          <p:spPr>
            <a:xfrm>
              <a:off x="4940682" y="3578652"/>
              <a:ext cx="2365157" cy="1431216"/>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151470" tIns="151470" rIns="151470" bIns="151470" numCol="1" spcCol="1270" anchor="ctr" anchorCtr="0">
              <a:noAutofit/>
            </a:bodyPr>
            <a:lstStyle/>
            <a:p>
              <a:pPr marL="0" lvl="0" indent="0" algn="l" defTabSz="800100">
                <a:lnSpc>
                  <a:spcPct val="90000"/>
                </a:lnSpc>
                <a:spcBef>
                  <a:spcPct val="0"/>
                </a:spcBef>
                <a:spcAft>
                  <a:spcPct val="35000"/>
                </a:spcAft>
                <a:buNone/>
              </a:pPr>
              <a:r>
                <a:rPr lang="en-US" sz="1800" kern="1200" dirty="0"/>
                <a:t>Sigmoid decision:</a:t>
              </a:r>
            </a:p>
            <a:p>
              <a:pPr marL="171450" lvl="1" indent="-171450" algn="l" defTabSz="800100">
                <a:lnSpc>
                  <a:spcPct val="90000"/>
                </a:lnSpc>
                <a:spcBef>
                  <a:spcPct val="0"/>
                </a:spcBef>
                <a:spcAft>
                  <a:spcPct val="15000"/>
                </a:spcAft>
                <a:buChar char="•"/>
              </a:pPr>
              <a:r>
                <a:rPr lang="en-US" sz="1800" kern="1200"/>
                <a:t>1 is attack</a:t>
              </a:r>
            </a:p>
            <a:p>
              <a:pPr marL="171450" lvl="1" indent="-171450" algn="l" defTabSz="800100">
                <a:lnSpc>
                  <a:spcPct val="90000"/>
                </a:lnSpc>
                <a:spcBef>
                  <a:spcPct val="0"/>
                </a:spcBef>
                <a:spcAft>
                  <a:spcPct val="15000"/>
                </a:spcAft>
                <a:buChar char="•"/>
              </a:pPr>
              <a:r>
                <a:rPr lang="en-US" sz="1800" kern="1200"/>
                <a:t>0 is normal</a:t>
              </a:r>
            </a:p>
          </p:txBody>
        </p:sp>
      </p:grpSp>
    </p:spTree>
    <p:extLst>
      <p:ext uri="{BB962C8B-B14F-4D97-AF65-F5344CB8AC3E}">
        <p14:creationId xmlns:p14="http://schemas.microsoft.com/office/powerpoint/2010/main" val="9784713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F8C0E-F062-652E-CE0D-1385F6077A03}"/>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1D5052E-392D-C39B-96BB-63961E77C325}"/>
              </a:ext>
            </a:extLst>
          </p:cNvPr>
          <p:cNvSpPr>
            <a:spLocks noGrp="1"/>
          </p:cNvSpPr>
          <p:nvPr>
            <p:ph type="dt" sz="half" idx="10"/>
          </p:nvPr>
        </p:nvSpPr>
        <p:spPr/>
        <p:txBody>
          <a:bodyPr/>
          <a:lstStyle/>
          <a:p>
            <a:fld id="{5D9BE2FC-5F7D-4A19-92A5-AE69763D334C}" type="datetime6">
              <a:rPr lang="en-US" smtClean="0"/>
              <a:t>March 26</a:t>
            </a:fld>
            <a:endParaRPr lang="de-DE" dirty="0"/>
          </a:p>
        </p:txBody>
      </p:sp>
      <p:sp>
        <p:nvSpPr>
          <p:cNvPr id="3" name="Textplatzhalter 2">
            <a:extLst>
              <a:ext uri="{FF2B5EF4-FFF2-40B4-BE49-F238E27FC236}">
                <a16:creationId xmlns:a16="http://schemas.microsoft.com/office/drawing/2014/main" id="{83E93096-EE74-74E0-E6AF-723EC4DE2E3F}"/>
              </a:ext>
            </a:extLst>
          </p:cNvPr>
          <p:cNvSpPr>
            <a:spLocks noGrp="1"/>
          </p:cNvSpPr>
          <p:nvPr>
            <p:ph type="body" sz="quarter" idx="11"/>
          </p:nvPr>
        </p:nvSpPr>
        <p:spPr/>
        <p:txBody>
          <a:bodyPr/>
          <a:lstStyle/>
          <a:p>
            <a:r>
              <a:rPr lang="de-DE" dirty="0"/>
              <a:t>Methodology</a:t>
            </a:r>
          </a:p>
        </p:txBody>
      </p:sp>
      <p:sp>
        <p:nvSpPr>
          <p:cNvPr id="4" name="Textplatzhalter 3">
            <a:extLst>
              <a:ext uri="{FF2B5EF4-FFF2-40B4-BE49-F238E27FC236}">
                <a16:creationId xmlns:a16="http://schemas.microsoft.com/office/drawing/2014/main" id="{C4C7E02B-6914-6D1D-E461-CD9D650AA6EF}"/>
              </a:ext>
            </a:extLst>
          </p:cNvPr>
          <p:cNvSpPr>
            <a:spLocks noGrp="1"/>
          </p:cNvSpPr>
          <p:nvPr>
            <p:ph type="body" sz="quarter" idx="12"/>
          </p:nvPr>
        </p:nvSpPr>
        <p:spPr/>
        <p:txBody>
          <a:bodyPr/>
          <a:lstStyle/>
          <a:p>
            <a:r>
              <a:rPr lang="de-DE" dirty="0"/>
              <a:t>Evaluation Strategy</a:t>
            </a:r>
          </a:p>
        </p:txBody>
      </p:sp>
    </p:spTree>
    <p:extLst>
      <p:ext uri="{BB962C8B-B14F-4D97-AF65-F5344CB8AC3E}">
        <p14:creationId xmlns:p14="http://schemas.microsoft.com/office/powerpoint/2010/main" val="7673028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4A4885-E0B6-64D6-F38F-F2C239573F3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9EA006F1-5A5B-C1CA-7F93-FC838A135D9F}"/>
              </a:ext>
            </a:extLst>
          </p:cNvPr>
          <p:cNvSpPr>
            <a:spLocks noGrp="1"/>
          </p:cNvSpPr>
          <p:nvPr>
            <p:ph type="dt" sz="half" idx="10"/>
          </p:nvPr>
        </p:nvSpPr>
        <p:spPr/>
        <p:txBody>
          <a:bodyPr/>
          <a:lstStyle/>
          <a:p>
            <a:fld id="{D947EB05-30CF-4A5D-ADBD-214D3C558451}" type="datetime6">
              <a:rPr lang="en-US" smtClean="0"/>
              <a:t>March 26</a:t>
            </a:fld>
            <a:endParaRPr lang="de-DE" dirty="0"/>
          </a:p>
        </p:txBody>
      </p:sp>
      <p:sp>
        <p:nvSpPr>
          <p:cNvPr id="3" name="Fußzeilenplatzhalter 2">
            <a:extLst>
              <a:ext uri="{FF2B5EF4-FFF2-40B4-BE49-F238E27FC236}">
                <a16:creationId xmlns:a16="http://schemas.microsoft.com/office/drawing/2014/main" id="{862ACE10-80CE-147A-47B9-A88CC5DA469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0F7CE336-64F7-DEFC-E132-B1B96351DBB3}"/>
              </a:ext>
            </a:extLst>
          </p:cNvPr>
          <p:cNvSpPr>
            <a:spLocks noGrp="1"/>
          </p:cNvSpPr>
          <p:nvPr>
            <p:ph type="sldNum" sz="quarter" idx="12"/>
          </p:nvPr>
        </p:nvSpPr>
        <p:spPr/>
        <p:txBody>
          <a:bodyPr/>
          <a:lstStyle/>
          <a:p>
            <a:fld id="{D3A9EDD9-2578-4372-8132-10947A418667}" type="slidenum">
              <a:rPr lang="de-DE" smtClean="0"/>
              <a:t>26</a:t>
            </a:fld>
            <a:endParaRPr lang="de-DE"/>
          </a:p>
        </p:txBody>
      </p:sp>
      <p:sp>
        <p:nvSpPr>
          <p:cNvPr id="9" name="Titel 8">
            <a:extLst>
              <a:ext uri="{FF2B5EF4-FFF2-40B4-BE49-F238E27FC236}">
                <a16:creationId xmlns:a16="http://schemas.microsoft.com/office/drawing/2014/main" id="{68187F62-CD35-8130-A67E-F130D226035B}"/>
              </a:ext>
            </a:extLst>
          </p:cNvPr>
          <p:cNvSpPr>
            <a:spLocks noGrp="1"/>
          </p:cNvSpPr>
          <p:nvPr>
            <p:ph type="title"/>
          </p:nvPr>
        </p:nvSpPr>
        <p:spPr/>
        <p:txBody>
          <a:bodyPr/>
          <a:lstStyle/>
          <a:p>
            <a:r>
              <a:rPr lang="de-DE" dirty="0"/>
              <a:t>Evaluation Strategy 	</a:t>
            </a:r>
          </a:p>
        </p:txBody>
      </p:sp>
      <p:sp>
        <p:nvSpPr>
          <p:cNvPr id="12" name="Textplatzhalter 11">
            <a:extLst>
              <a:ext uri="{FF2B5EF4-FFF2-40B4-BE49-F238E27FC236}">
                <a16:creationId xmlns:a16="http://schemas.microsoft.com/office/drawing/2014/main" id="{2D7F5C81-5FAF-0B6B-717A-39D66A423FAB}"/>
              </a:ext>
            </a:extLst>
          </p:cNvPr>
          <p:cNvSpPr>
            <a:spLocks noGrp="1"/>
          </p:cNvSpPr>
          <p:nvPr>
            <p:ph type="body" sz="quarter" idx="14"/>
          </p:nvPr>
        </p:nvSpPr>
        <p:spPr/>
        <p:txBody>
          <a:bodyPr/>
          <a:lstStyle/>
          <a:p>
            <a:r>
              <a:rPr lang="de-DE" dirty="0"/>
              <a:t>Sceneraios</a:t>
            </a:r>
          </a:p>
        </p:txBody>
      </p:sp>
      <p:sp>
        <p:nvSpPr>
          <p:cNvPr id="5" name="TextBox 4">
            <a:extLst>
              <a:ext uri="{FF2B5EF4-FFF2-40B4-BE49-F238E27FC236}">
                <a16:creationId xmlns:a16="http://schemas.microsoft.com/office/drawing/2014/main" id="{0F24AB4F-BA8A-05FA-9747-65DE26C29AC7}"/>
              </a:ext>
            </a:extLst>
          </p:cNvPr>
          <p:cNvSpPr txBox="1"/>
          <p:nvPr/>
        </p:nvSpPr>
        <p:spPr>
          <a:xfrm>
            <a:off x="1140030" y="3507349"/>
            <a:ext cx="1208927" cy="369332"/>
          </a:xfrm>
          <a:prstGeom prst="rect">
            <a:avLst/>
          </a:prstGeom>
          <a:solidFill>
            <a:schemeClr val="bg1">
              <a:alpha val="50000"/>
            </a:schemeClr>
          </a:solidFill>
          <a:ln>
            <a:solidFill>
              <a:schemeClr val="tx1">
                <a:lumMod val="50000"/>
              </a:schemeClr>
            </a:solidFill>
          </a:ln>
        </p:spPr>
        <p:style>
          <a:lnRef idx="0">
            <a:scrgbClr r="0" g="0" b="0"/>
          </a:lnRef>
          <a:fillRef idx="0">
            <a:scrgbClr r="0" g="0" b="0"/>
          </a:fillRef>
          <a:effectRef idx="0">
            <a:scrgbClr r="0" g="0" b="0"/>
          </a:effectRef>
          <a:fontRef idx="minor">
            <a:schemeClr val="lt1"/>
          </a:fontRef>
        </p:style>
        <p:txBody>
          <a:bodyPr wrap="square" rtlCol="0">
            <a:spAutoFit/>
          </a:bodyPr>
          <a:lstStyle/>
          <a:p>
            <a:r>
              <a:rPr lang="de-DE" b="1" dirty="0">
                <a:solidFill>
                  <a:schemeClr val="tx1">
                    <a:lumMod val="50000"/>
                  </a:schemeClr>
                </a:solidFill>
              </a:rPr>
              <a:t>Scenario</a:t>
            </a:r>
          </a:p>
        </p:txBody>
      </p:sp>
      <p:sp>
        <p:nvSpPr>
          <p:cNvPr id="6" name="TextBox 5">
            <a:extLst>
              <a:ext uri="{FF2B5EF4-FFF2-40B4-BE49-F238E27FC236}">
                <a16:creationId xmlns:a16="http://schemas.microsoft.com/office/drawing/2014/main" id="{560E629C-0F54-48F9-05F9-AD3A12E0702C}"/>
              </a:ext>
            </a:extLst>
          </p:cNvPr>
          <p:cNvSpPr txBox="1"/>
          <p:nvPr/>
        </p:nvSpPr>
        <p:spPr>
          <a:xfrm>
            <a:off x="3215733" y="2224684"/>
            <a:ext cx="6134100" cy="646331"/>
          </a:xfrm>
          <a:prstGeom prst="rect">
            <a:avLst/>
          </a:prstGeom>
          <a:solidFill>
            <a:schemeClr val="bg2"/>
          </a:solidFill>
          <a:ln/>
        </p:spPr>
        <p:style>
          <a:lnRef idx="2">
            <a:schemeClr val="accent4">
              <a:shade val="15000"/>
            </a:schemeClr>
          </a:lnRef>
          <a:fillRef idx="1">
            <a:schemeClr val="accent4"/>
          </a:fillRef>
          <a:effectRef idx="0">
            <a:schemeClr val="accent4"/>
          </a:effectRef>
          <a:fontRef idx="minor">
            <a:schemeClr val="lt1"/>
          </a:fontRef>
        </p:style>
        <p:txBody>
          <a:bodyPr wrap="square" rtlCol="0">
            <a:spAutoFit/>
          </a:bodyPr>
          <a:lstStyle/>
          <a:p>
            <a:r>
              <a:rPr lang="de-DE" b="1" dirty="0"/>
              <a:t>1 </a:t>
            </a:r>
            <a:r>
              <a:rPr lang="de-DE" dirty="0"/>
              <a:t>Test set: benign data + all attack types</a:t>
            </a:r>
          </a:p>
          <a:p>
            <a:r>
              <a:rPr lang="de-DE" dirty="0"/>
              <a:t>Training set: benign data only</a:t>
            </a:r>
          </a:p>
        </p:txBody>
      </p:sp>
      <p:sp>
        <p:nvSpPr>
          <p:cNvPr id="7" name="TextBox 6">
            <a:extLst>
              <a:ext uri="{FF2B5EF4-FFF2-40B4-BE49-F238E27FC236}">
                <a16:creationId xmlns:a16="http://schemas.microsoft.com/office/drawing/2014/main" id="{F0B7C1E8-32D7-9975-109C-575394262554}"/>
              </a:ext>
            </a:extLst>
          </p:cNvPr>
          <p:cNvSpPr txBox="1"/>
          <p:nvPr/>
        </p:nvSpPr>
        <p:spPr>
          <a:xfrm>
            <a:off x="3215733" y="3355763"/>
            <a:ext cx="6134100" cy="646331"/>
          </a:xfrm>
          <a:prstGeom prst="rect">
            <a:avLst/>
          </a:prstGeom>
          <a:solidFill>
            <a:schemeClr val="accent4"/>
          </a:solidFill>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de-DE" b="1" dirty="0"/>
              <a:t>2</a:t>
            </a:r>
            <a:r>
              <a:rPr lang="de-DE" dirty="0"/>
              <a:t> Test set: benign data + all attack types</a:t>
            </a:r>
          </a:p>
          <a:p>
            <a:r>
              <a:rPr lang="de-DE" dirty="0"/>
              <a:t>Training set: benign data + N-2 attack types</a:t>
            </a:r>
          </a:p>
        </p:txBody>
      </p:sp>
      <p:sp>
        <p:nvSpPr>
          <p:cNvPr id="8" name="TextBox 7">
            <a:extLst>
              <a:ext uri="{FF2B5EF4-FFF2-40B4-BE49-F238E27FC236}">
                <a16:creationId xmlns:a16="http://schemas.microsoft.com/office/drawing/2014/main" id="{2A4E7F04-FC44-06BD-6931-A79F6D076215}"/>
              </a:ext>
            </a:extLst>
          </p:cNvPr>
          <p:cNvSpPr txBox="1"/>
          <p:nvPr/>
        </p:nvSpPr>
        <p:spPr>
          <a:xfrm>
            <a:off x="3215733" y="4486842"/>
            <a:ext cx="6134100" cy="646331"/>
          </a:xfrm>
          <a:prstGeom prst="rect">
            <a:avLst/>
          </a:prstGeom>
          <a:solidFill>
            <a:schemeClr val="accent4"/>
          </a:solidFill>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de-DE" b="1" dirty="0"/>
              <a:t>3</a:t>
            </a:r>
            <a:r>
              <a:rPr lang="de-DE" dirty="0"/>
              <a:t> Test set: benign data + all attack types</a:t>
            </a:r>
          </a:p>
          <a:p>
            <a:r>
              <a:rPr lang="de-DE" dirty="0"/>
              <a:t>Training set: benign datas + 1 attack type</a:t>
            </a:r>
          </a:p>
        </p:txBody>
      </p:sp>
      <p:cxnSp>
        <p:nvCxnSpPr>
          <p:cNvPr id="13" name="Straight Connector 12">
            <a:extLst>
              <a:ext uri="{FF2B5EF4-FFF2-40B4-BE49-F238E27FC236}">
                <a16:creationId xmlns:a16="http://schemas.microsoft.com/office/drawing/2014/main" id="{03957756-AC11-20AF-C1A8-7C2973B0765E}"/>
              </a:ext>
            </a:extLst>
          </p:cNvPr>
          <p:cNvCxnSpPr>
            <a:cxnSpLocks/>
            <a:stCxn id="5" idx="3"/>
            <a:endCxn id="6" idx="1"/>
          </p:cNvCxnSpPr>
          <p:nvPr/>
        </p:nvCxnSpPr>
        <p:spPr>
          <a:xfrm flipV="1">
            <a:off x="2348957" y="2547850"/>
            <a:ext cx="866776" cy="1144165"/>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28340A3-F044-797E-81C5-D1FAC172465C}"/>
              </a:ext>
            </a:extLst>
          </p:cNvPr>
          <p:cNvCxnSpPr>
            <a:cxnSpLocks/>
            <a:stCxn id="5" idx="3"/>
            <a:endCxn id="7" idx="1"/>
          </p:cNvCxnSpPr>
          <p:nvPr/>
        </p:nvCxnSpPr>
        <p:spPr>
          <a:xfrm flipV="1">
            <a:off x="2348957" y="3678929"/>
            <a:ext cx="866776" cy="13086"/>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5A3A16F2-3557-1344-0F6D-E72BB13774A5}"/>
              </a:ext>
            </a:extLst>
          </p:cNvPr>
          <p:cNvCxnSpPr>
            <a:cxnSpLocks/>
            <a:stCxn id="5" idx="3"/>
            <a:endCxn id="8" idx="1"/>
          </p:cNvCxnSpPr>
          <p:nvPr/>
        </p:nvCxnSpPr>
        <p:spPr>
          <a:xfrm>
            <a:off x="2348957" y="3692015"/>
            <a:ext cx="866776" cy="1117993"/>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75261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BE43E0-CC84-BC59-52D8-5B7EDE21CD18}"/>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8E74B72E-497E-DAAD-B070-4FFE314A8952}"/>
              </a:ext>
            </a:extLst>
          </p:cNvPr>
          <p:cNvSpPr>
            <a:spLocks noGrp="1"/>
          </p:cNvSpPr>
          <p:nvPr>
            <p:ph type="dt" sz="half" idx="10"/>
          </p:nvPr>
        </p:nvSpPr>
        <p:spPr/>
        <p:txBody>
          <a:bodyPr/>
          <a:lstStyle/>
          <a:p>
            <a:fld id="{84A3CB57-4E11-482F-8E84-31DEF25EAB09}" type="datetime6">
              <a:rPr lang="en-US" smtClean="0"/>
              <a:t>March 26</a:t>
            </a:fld>
            <a:endParaRPr lang="de-DE" dirty="0"/>
          </a:p>
        </p:txBody>
      </p:sp>
      <p:sp>
        <p:nvSpPr>
          <p:cNvPr id="4" name="Foliennummernplatzhalter 3">
            <a:extLst>
              <a:ext uri="{FF2B5EF4-FFF2-40B4-BE49-F238E27FC236}">
                <a16:creationId xmlns:a16="http://schemas.microsoft.com/office/drawing/2014/main" id="{23A81D41-6C42-F79E-CBD6-4BD13C88CC8C}"/>
              </a:ext>
            </a:extLst>
          </p:cNvPr>
          <p:cNvSpPr>
            <a:spLocks noGrp="1"/>
          </p:cNvSpPr>
          <p:nvPr>
            <p:ph type="sldNum" sz="quarter" idx="12"/>
          </p:nvPr>
        </p:nvSpPr>
        <p:spPr>
          <a:xfrm>
            <a:off x="10494242" y="6019141"/>
            <a:ext cx="757579" cy="180000"/>
          </a:xfrm>
        </p:spPr>
        <p:txBody>
          <a:bodyPr/>
          <a:lstStyle/>
          <a:p>
            <a:fld id="{D3A9EDD9-2578-4372-8132-10947A418667}" type="slidenum">
              <a:rPr lang="de-DE" smtClean="0"/>
              <a:t>27</a:t>
            </a:fld>
            <a:endParaRPr lang="de-DE"/>
          </a:p>
        </p:txBody>
      </p:sp>
      <p:sp>
        <p:nvSpPr>
          <p:cNvPr id="9" name="Titel 8">
            <a:extLst>
              <a:ext uri="{FF2B5EF4-FFF2-40B4-BE49-F238E27FC236}">
                <a16:creationId xmlns:a16="http://schemas.microsoft.com/office/drawing/2014/main" id="{4C4C9F62-BCBB-2D53-38B8-14E81C1A4A75}"/>
              </a:ext>
            </a:extLst>
          </p:cNvPr>
          <p:cNvSpPr>
            <a:spLocks noGrp="1"/>
          </p:cNvSpPr>
          <p:nvPr>
            <p:ph type="title"/>
          </p:nvPr>
        </p:nvSpPr>
        <p:spPr/>
        <p:txBody>
          <a:bodyPr/>
          <a:lstStyle/>
          <a:p>
            <a:r>
              <a:rPr lang="de-DE" dirty="0"/>
              <a:t>Evaluation Strategy 	</a:t>
            </a:r>
          </a:p>
        </p:txBody>
      </p:sp>
      <p:sp>
        <p:nvSpPr>
          <p:cNvPr id="12" name="Textplatzhalter 11">
            <a:extLst>
              <a:ext uri="{FF2B5EF4-FFF2-40B4-BE49-F238E27FC236}">
                <a16:creationId xmlns:a16="http://schemas.microsoft.com/office/drawing/2014/main" id="{B8449108-F00A-58DD-6718-370F85A53620}"/>
              </a:ext>
            </a:extLst>
          </p:cNvPr>
          <p:cNvSpPr>
            <a:spLocks noGrp="1"/>
          </p:cNvSpPr>
          <p:nvPr>
            <p:ph type="body" sz="quarter" idx="14"/>
          </p:nvPr>
        </p:nvSpPr>
        <p:spPr/>
        <p:txBody>
          <a:bodyPr/>
          <a:lstStyle/>
          <a:p>
            <a:r>
              <a:rPr lang="de-DE" dirty="0"/>
              <a:t>K-Folds cross-validation</a:t>
            </a:r>
          </a:p>
        </p:txBody>
      </p:sp>
      <p:sp>
        <p:nvSpPr>
          <p:cNvPr id="86" name="Content Placeholder 2">
            <a:extLst>
              <a:ext uri="{FF2B5EF4-FFF2-40B4-BE49-F238E27FC236}">
                <a16:creationId xmlns:a16="http://schemas.microsoft.com/office/drawing/2014/main" id="{EAF89EB2-E6C2-9609-CB46-736643D21933}"/>
              </a:ext>
            </a:extLst>
          </p:cNvPr>
          <p:cNvSpPr txBox="1">
            <a:spLocks/>
          </p:cNvSpPr>
          <p:nvPr/>
        </p:nvSpPr>
        <p:spPr>
          <a:xfrm>
            <a:off x="371774" y="1079994"/>
            <a:ext cx="10515600" cy="50547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de-DE" sz="2400" i="0" u="none" strike="noStrike" kern="1200" cap="none" spc="0" normalizeH="0" baseline="0" noProof="0" dirty="0">
                <a:ln>
                  <a:noFill/>
                </a:ln>
                <a:effectLst/>
                <a:uLnTx/>
                <a:uFillTx/>
                <a:latin typeface="Aptos" panose="02110004020202020204"/>
                <a:ea typeface="+mn-ea"/>
                <a:cs typeface="+mn-cs"/>
              </a:rPr>
              <a:t>(k=5)</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de-DE" sz="2800" b="0" i="0" u="none" strike="noStrike" kern="1200" cap="none" spc="0" normalizeH="0" baseline="0" noProof="0" dirty="0">
              <a:ln>
                <a:noFill/>
              </a:ln>
              <a:solidFill>
                <a:sysClr val="windowText" lastClr="000000"/>
              </a:solidFill>
              <a:effectLst/>
              <a:uLnTx/>
              <a:uFillTx/>
              <a:latin typeface="Aptos" panose="02110004020202020204"/>
              <a:ea typeface="+mn-ea"/>
              <a:cs typeface="+mn-cs"/>
            </a:endParaRPr>
          </a:p>
        </p:txBody>
      </p:sp>
      <p:graphicFrame>
        <p:nvGraphicFramePr>
          <p:cNvPr id="87" name="Table 86">
            <a:extLst>
              <a:ext uri="{FF2B5EF4-FFF2-40B4-BE49-F238E27FC236}">
                <a16:creationId xmlns:a16="http://schemas.microsoft.com/office/drawing/2014/main" id="{F3E40E4D-6564-752E-BA68-7C660F106C9C}"/>
              </a:ext>
            </a:extLst>
          </p:cNvPr>
          <p:cNvGraphicFramePr>
            <a:graphicFrameLocks noGrp="1"/>
          </p:cNvGraphicFramePr>
          <p:nvPr>
            <p:extLst>
              <p:ext uri="{D42A27DB-BD31-4B8C-83A1-F6EECF244321}">
                <p14:modId xmlns:p14="http://schemas.microsoft.com/office/powerpoint/2010/main" val="382530248"/>
              </p:ext>
            </p:extLst>
          </p:nvPr>
        </p:nvGraphicFramePr>
        <p:xfrm>
          <a:off x="575734" y="1925665"/>
          <a:ext cx="5283200" cy="1828800"/>
        </p:xfrm>
        <a:graphic>
          <a:graphicData uri="http://schemas.openxmlformats.org/drawingml/2006/table">
            <a:tbl>
              <a:tblPr firstRow="1" bandRow="1"/>
              <a:tblGrid>
                <a:gridCol w="1056640">
                  <a:extLst>
                    <a:ext uri="{9D8B030D-6E8A-4147-A177-3AD203B41FA5}">
                      <a16:colId xmlns:a16="http://schemas.microsoft.com/office/drawing/2014/main" val="3897378203"/>
                    </a:ext>
                  </a:extLst>
                </a:gridCol>
                <a:gridCol w="1056640">
                  <a:extLst>
                    <a:ext uri="{9D8B030D-6E8A-4147-A177-3AD203B41FA5}">
                      <a16:colId xmlns:a16="http://schemas.microsoft.com/office/drawing/2014/main" val="134683205"/>
                    </a:ext>
                  </a:extLst>
                </a:gridCol>
                <a:gridCol w="1056640">
                  <a:extLst>
                    <a:ext uri="{9D8B030D-6E8A-4147-A177-3AD203B41FA5}">
                      <a16:colId xmlns:a16="http://schemas.microsoft.com/office/drawing/2014/main" val="3005660490"/>
                    </a:ext>
                  </a:extLst>
                </a:gridCol>
                <a:gridCol w="1056640">
                  <a:extLst>
                    <a:ext uri="{9D8B030D-6E8A-4147-A177-3AD203B41FA5}">
                      <a16:colId xmlns:a16="http://schemas.microsoft.com/office/drawing/2014/main" val="2373539464"/>
                    </a:ext>
                  </a:extLst>
                </a:gridCol>
                <a:gridCol w="1056640">
                  <a:extLst>
                    <a:ext uri="{9D8B030D-6E8A-4147-A177-3AD203B41FA5}">
                      <a16:colId xmlns:a16="http://schemas.microsoft.com/office/drawing/2014/main" val="1707598773"/>
                    </a:ext>
                  </a:extLst>
                </a:gridCol>
              </a:tblGrid>
              <a:tr h="265500">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extLst>
                  <a:ext uri="{0D108BD9-81ED-4DB2-BD59-A6C34878D82A}">
                    <a16:rowId xmlns:a16="http://schemas.microsoft.com/office/drawing/2014/main" val="164725720"/>
                  </a:ext>
                </a:extLst>
              </a:tr>
              <a:tr h="315567">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extLst>
                  <a:ext uri="{0D108BD9-81ED-4DB2-BD59-A6C34878D82A}">
                    <a16:rowId xmlns:a16="http://schemas.microsoft.com/office/drawing/2014/main" val="733713150"/>
                  </a:ext>
                </a:extLst>
              </a:tr>
              <a:tr h="2655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0F9ED5">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0F9ED5">
                        <a:lumMod val="20000"/>
                        <a:lumOff val="80000"/>
                      </a:srgbClr>
                    </a:solidFill>
                  </a:tcPr>
                </a:tc>
                <a:extLst>
                  <a:ext uri="{0D108BD9-81ED-4DB2-BD59-A6C34878D82A}">
                    <a16:rowId xmlns:a16="http://schemas.microsoft.com/office/drawing/2014/main" val="3483745762"/>
                  </a:ext>
                </a:extLst>
              </a:tr>
              <a:tr h="2655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extLst>
                  <a:ext uri="{0D108BD9-81ED-4DB2-BD59-A6C34878D82A}">
                    <a16:rowId xmlns:a16="http://schemas.microsoft.com/office/drawing/2014/main" val="3773872109"/>
                  </a:ext>
                </a:extLst>
              </a:tr>
              <a:tr h="265500">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56082"/>
                    </a:solidFill>
                  </a:tcPr>
                </a:tc>
                <a:extLst>
                  <a:ext uri="{0D108BD9-81ED-4DB2-BD59-A6C34878D82A}">
                    <a16:rowId xmlns:a16="http://schemas.microsoft.com/office/drawing/2014/main" val="1427516838"/>
                  </a:ext>
                </a:extLst>
              </a:tr>
            </a:tbl>
          </a:graphicData>
        </a:graphic>
      </p:graphicFrame>
      <p:graphicFrame>
        <p:nvGraphicFramePr>
          <p:cNvPr id="88" name="Table 87">
            <a:extLst>
              <a:ext uri="{FF2B5EF4-FFF2-40B4-BE49-F238E27FC236}">
                <a16:creationId xmlns:a16="http://schemas.microsoft.com/office/drawing/2014/main" id="{E8C3D47B-863E-DD45-3B8C-326A9EDCFD9D}"/>
              </a:ext>
            </a:extLst>
          </p:cNvPr>
          <p:cNvGraphicFramePr>
            <a:graphicFrameLocks noGrp="1"/>
          </p:cNvGraphicFramePr>
          <p:nvPr>
            <p:extLst>
              <p:ext uri="{D42A27DB-BD31-4B8C-83A1-F6EECF244321}">
                <p14:modId xmlns:p14="http://schemas.microsoft.com/office/powerpoint/2010/main" val="2958232004"/>
              </p:ext>
            </p:extLst>
          </p:nvPr>
        </p:nvGraphicFramePr>
        <p:xfrm>
          <a:off x="575733" y="4327181"/>
          <a:ext cx="5283200" cy="1841806"/>
        </p:xfrm>
        <a:graphic>
          <a:graphicData uri="http://schemas.openxmlformats.org/drawingml/2006/table">
            <a:tbl>
              <a:tblPr firstRow="1" bandRow="1"/>
              <a:tblGrid>
                <a:gridCol w="1056640">
                  <a:extLst>
                    <a:ext uri="{9D8B030D-6E8A-4147-A177-3AD203B41FA5}">
                      <a16:colId xmlns:a16="http://schemas.microsoft.com/office/drawing/2014/main" val="3897378203"/>
                    </a:ext>
                  </a:extLst>
                </a:gridCol>
                <a:gridCol w="1056640">
                  <a:extLst>
                    <a:ext uri="{9D8B030D-6E8A-4147-A177-3AD203B41FA5}">
                      <a16:colId xmlns:a16="http://schemas.microsoft.com/office/drawing/2014/main" val="134683205"/>
                    </a:ext>
                  </a:extLst>
                </a:gridCol>
                <a:gridCol w="1056640">
                  <a:extLst>
                    <a:ext uri="{9D8B030D-6E8A-4147-A177-3AD203B41FA5}">
                      <a16:colId xmlns:a16="http://schemas.microsoft.com/office/drawing/2014/main" val="3005660490"/>
                    </a:ext>
                  </a:extLst>
                </a:gridCol>
                <a:gridCol w="1056640">
                  <a:extLst>
                    <a:ext uri="{9D8B030D-6E8A-4147-A177-3AD203B41FA5}">
                      <a16:colId xmlns:a16="http://schemas.microsoft.com/office/drawing/2014/main" val="2373539464"/>
                    </a:ext>
                  </a:extLst>
                </a:gridCol>
                <a:gridCol w="1056640">
                  <a:extLst>
                    <a:ext uri="{9D8B030D-6E8A-4147-A177-3AD203B41FA5}">
                      <a16:colId xmlns:a16="http://schemas.microsoft.com/office/drawing/2014/main" val="1707598773"/>
                    </a:ext>
                  </a:extLst>
                </a:gridCol>
              </a:tblGrid>
              <a:tr h="341856">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b="1" kern="1200">
                          <a:solidFill>
                            <a:schemeClr val="lt1"/>
                          </a:solidFill>
                          <a:latin typeface="Aptos" panose="02110004020202020204"/>
                        </a:defRPr>
                      </a:lvl1pPr>
                      <a:lvl2pPr marL="457200" algn="l" defTabSz="914400" rtl="0" eaLnBrk="1" latinLnBrk="0" hangingPunct="1">
                        <a:defRPr sz="1800" b="1" kern="1200">
                          <a:solidFill>
                            <a:schemeClr val="lt1"/>
                          </a:solidFill>
                          <a:latin typeface="Aptos" panose="02110004020202020204"/>
                        </a:defRPr>
                      </a:lvl2pPr>
                      <a:lvl3pPr marL="914400" algn="l" defTabSz="914400" rtl="0" eaLnBrk="1" latinLnBrk="0" hangingPunct="1">
                        <a:defRPr sz="1800" b="1" kern="1200">
                          <a:solidFill>
                            <a:schemeClr val="lt1"/>
                          </a:solidFill>
                          <a:latin typeface="Aptos" panose="02110004020202020204"/>
                        </a:defRPr>
                      </a:lvl3pPr>
                      <a:lvl4pPr marL="1371600" algn="l" defTabSz="914400" rtl="0" eaLnBrk="1" latinLnBrk="0" hangingPunct="1">
                        <a:defRPr sz="1800" b="1" kern="1200">
                          <a:solidFill>
                            <a:schemeClr val="lt1"/>
                          </a:solidFill>
                          <a:latin typeface="Aptos" panose="02110004020202020204"/>
                        </a:defRPr>
                      </a:lvl4pPr>
                      <a:lvl5pPr marL="1828800" algn="l" defTabSz="914400" rtl="0" eaLnBrk="1" latinLnBrk="0" hangingPunct="1">
                        <a:defRPr sz="1800" b="1" kern="1200">
                          <a:solidFill>
                            <a:schemeClr val="lt1"/>
                          </a:solidFill>
                          <a:latin typeface="Aptos" panose="02110004020202020204"/>
                        </a:defRPr>
                      </a:lvl5pPr>
                      <a:lvl6pPr marL="2286000" algn="l" defTabSz="914400" rtl="0" eaLnBrk="1" latinLnBrk="0" hangingPunct="1">
                        <a:defRPr sz="1800" b="1" kern="1200">
                          <a:solidFill>
                            <a:schemeClr val="lt1"/>
                          </a:solidFill>
                          <a:latin typeface="Aptos" panose="02110004020202020204"/>
                        </a:defRPr>
                      </a:lvl6pPr>
                      <a:lvl7pPr marL="2743200" algn="l" defTabSz="914400" rtl="0" eaLnBrk="1" latinLnBrk="0" hangingPunct="1">
                        <a:defRPr sz="1800" b="1" kern="1200">
                          <a:solidFill>
                            <a:schemeClr val="lt1"/>
                          </a:solidFill>
                          <a:latin typeface="Aptos" panose="02110004020202020204"/>
                        </a:defRPr>
                      </a:lvl7pPr>
                      <a:lvl8pPr marL="3200400" algn="l" defTabSz="914400" rtl="0" eaLnBrk="1" latinLnBrk="0" hangingPunct="1">
                        <a:defRPr sz="1800" b="1" kern="1200">
                          <a:solidFill>
                            <a:schemeClr val="lt1"/>
                          </a:solidFill>
                          <a:latin typeface="Aptos" panose="02110004020202020204"/>
                        </a:defRPr>
                      </a:lvl8pPr>
                      <a:lvl9pPr marL="3657600" algn="l" defTabSz="914400" rtl="0" eaLnBrk="1" latinLnBrk="0" hangingPunct="1">
                        <a:defRPr sz="1800" b="1" kern="1200">
                          <a:solidFill>
                            <a:schemeClr val="lt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164725720"/>
                  </a:ext>
                </a:extLst>
              </a:tr>
              <a:tr h="37876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733713150"/>
                  </a:ext>
                </a:extLst>
              </a:tr>
              <a:tr h="34185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3483745762"/>
                  </a:ext>
                </a:extLst>
              </a:tr>
              <a:tr h="34185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extLst>
                  <a:ext uri="{0D108BD9-81ED-4DB2-BD59-A6C34878D82A}">
                    <a16:rowId xmlns:a16="http://schemas.microsoft.com/office/drawing/2014/main" val="3773872109"/>
                  </a:ext>
                </a:extLst>
              </a:tr>
              <a:tr h="341856">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lumMod val="20000"/>
                        <a:lumOff val="80000"/>
                      </a:srgbClr>
                    </a:solidFill>
                  </a:tcPr>
                </a:tc>
                <a:tc>
                  <a:txBody>
                    <a:bodyPr/>
                    <a:lstStyle>
                      <a:lvl1pPr marL="0" algn="l" defTabSz="914400" rtl="0" eaLnBrk="1" latinLnBrk="0" hangingPunct="1">
                        <a:defRPr sz="1800" kern="1200">
                          <a:solidFill>
                            <a:schemeClr val="dk1"/>
                          </a:solidFill>
                          <a:latin typeface="Aptos" panose="02110004020202020204"/>
                        </a:defRPr>
                      </a:lvl1pPr>
                      <a:lvl2pPr marL="457200" algn="l" defTabSz="914400" rtl="0" eaLnBrk="1" latinLnBrk="0" hangingPunct="1">
                        <a:defRPr sz="1800" kern="1200">
                          <a:solidFill>
                            <a:schemeClr val="dk1"/>
                          </a:solidFill>
                          <a:latin typeface="Aptos" panose="02110004020202020204"/>
                        </a:defRPr>
                      </a:lvl2pPr>
                      <a:lvl3pPr marL="914400" algn="l" defTabSz="914400" rtl="0" eaLnBrk="1" latinLnBrk="0" hangingPunct="1">
                        <a:defRPr sz="1800" kern="1200">
                          <a:solidFill>
                            <a:schemeClr val="dk1"/>
                          </a:solidFill>
                          <a:latin typeface="Aptos" panose="02110004020202020204"/>
                        </a:defRPr>
                      </a:lvl3pPr>
                      <a:lvl4pPr marL="1371600" algn="l" defTabSz="914400" rtl="0" eaLnBrk="1" latinLnBrk="0" hangingPunct="1">
                        <a:defRPr sz="1800" kern="1200">
                          <a:solidFill>
                            <a:schemeClr val="dk1"/>
                          </a:solidFill>
                          <a:latin typeface="Aptos" panose="02110004020202020204"/>
                        </a:defRPr>
                      </a:lvl4pPr>
                      <a:lvl5pPr marL="1828800" algn="l" defTabSz="914400" rtl="0" eaLnBrk="1" latinLnBrk="0" hangingPunct="1">
                        <a:defRPr sz="1800" kern="1200">
                          <a:solidFill>
                            <a:schemeClr val="dk1"/>
                          </a:solidFill>
                          <a:latin typeface="Aptos" panose="02110004020202020204"/>
                        </a:defRPr>
                      </a:lvl5pPr>
                      <a:lvl6pPr marL="2286000" algn="l" defTabSz="914400" rtl="0" eaLnBrk="1" latinLnBrk="0" hangingPunct="1">
                        <a:defRPr sz="1800" kern="1200">
                          <a:solidFill>
                            <a:schemeClr val="dk1"/>
                          </a:solidFill>
                          <a:latin typeface="Aptos" panose="02110004020202020204"/>
                        </a:defRPr>
                      </a:lvl6pPr>
                      <a:lvl7pPr marL="2743200" algn="l" defTabSz="914400" rtl="0" eaLnBrk="1" latinLnBrk="0" hangingPunct="1">
                        <a:defRPr sz="1800" kern="1200">
                          <a:solidFill>
                            <a:schemeClr val="dk1"/>
                          </a:solidFill>
                          <a:latin typeface="Aptos" panose="02110004020202020204"/>
                        </a:defRPr>
                      </a:lvl7pPr>
                      <a:lvl8pPr marL="3200400" algn="l" defTabSz="914400" rtl="0" eaLnBrk="1" latinLnBrk="0" hangingPunct="1">
                        <a:defRPr sz="1800" kern="1200">
                          <a:solidFill>
                            <a:schemeClr val="dk1"/>
                          </a:solidFill>
                          <a:latin typeface="Aptos" panose="02110004020202020204"/>
                        </a:defRPr>
                      </a:lvl8pPr>
                      <a:lvl9pPr marL="3657600" algn="l" defTabSz="914400" rtl="0" eaLnBrk="1" latinLnBrk="0" hangingPunct="1">
                        <a:defRPr sz="1800" kern="1200">
                          <a:solidFill>
                            <a:schemeClr val="dk1"/>
                          </a:solidFill>
                          <a:latin typeface="Aptos" panose="02110004020202020204"/>
                        </a:defRPr>
                      </a:lvl9pPr>
                    </a:lstStyle>
                    <a:p>
                      <a:endParaRPr lang="de-DE" dirty="0"/>
                    </a:p>
                  </a:txBody>
                  <a:tcPr>
                    <a:lnL w="12700" cmpd="sng">
                      <a:solidFill>
                        <a:sysClr val="window" lastClr="FFFFFF"/>
                      </a:solidFill>
                    </a:lnL>
                    <a:lnR w="12700" cmpd="sng">
                      <a:solidFill>
                        <a:sysClr val="window" lastClr="FFFFFF"/>
                      </a:solidFill>
                    </a:lnR>
                    <a:lnT w="127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E97132"/>
                    </a:solidFill>
                  </a:tcPr>
                </a:tc>
                <a:extLst>
                  <a:ext uri="{0D108BD9-81ED-4DB2-BD59-A6C34878D82A}">
                    <a16:rowId xmlns:a16="http://schemas.microsoft.com/office/drawing/2014/main" val="1427516838"/>
                  </a:ext>
                </a:extLst>
              </a:tr>
            </a:tbl>
          </a:graphicData>
        </a:graphic>
      </p:graphicFrame>
      <p:sp>
        <p:nvSpPr>
          <p:cNvPr id="89" name="TextBox 88">
            <a:extLst>
              <a:ext uri="{FF2B5EF4-FFF2-40B4-BE49-F238E27FC236}">
                <a16:creationId xmlns:a16="http://schemas.microsoft.com/office/drawing/2014/main" id="{8B467CDB-E144-B0A6-5D96-8B61D64BF39A}"/>
              </a:ext>
            </a:extLst>
          </p:cNvPr>
          <p:cNvSpPr txBox="1"/>
          <p:nvPr/>
        </p:nvSpPr>
        <p:spPr>
          <a:xfrm>
            <a:off x="473754" y="3930057"/>
            <a:ext cx="2690124" cy="369332"/>
          </a:xfrm>
          <a:prstGeom prst="rect">
            <a:avLst/>
          </a:prstGeom>
          <a:noFill/>
        </p:spPr>
        <p:txBody>
          <a:bodyPr wrap="square" rtlCol="0">
            <a:spAutoFit/>
          </a:bodyPr>
          <a:lstStyle/>
          <a:p>
            <a:r>
              <a:rPr lang="de-DE" dirty="0">
                <a:solidFill>
                  <a:prstClr val="black"/>
                </a:solidFill>
                <a:latin typeface="Aptos" panose="02110004020202020204"/>
              </a:rPr>
              <a:t>For each attack type:</a:t>
            </a:r>
          </a:p>
        </p:txBody>
      </p:sp>
      <p:sp>
        <p:nvSpPr>
          <p:cNvPr id="90" name="TextBox 89">
            <a:extLst>
              <a:ext uri="{FF2B5EF4-FFF2-40B4-BE49-F238E27FC236}">
                <a16:creationId xmlns:a16="http://schemas.microsoft.com/office/drawing/2014/main" id="{5C5FF84E-977A-18D1-9B75-390C450C2C6A}"/>
              </a:ext>
            </a:extLst>
          </p:cNvPr>
          <p:cNvSpPr txBox="1"/>
          <p:nvPr/>
        </p:nvSpPr>
        <p:spPr>
          <a:xfrm>
            <a:off x="473754" y="1454641"/>
            <a:ext cx="2690124" cy="369332"/>
          </a:xfrm>
          <a:prstGeom prst="rect">
            <a:avLst/>
          </a:prstGeom>
          <a:noFill/>
        </p:spPr>
        <p:txBody>
          <a:bodyPr wrap="square" rtlCol="0">
            <a:spAutoFit/>
          </a:bodyPr>
          <a:lstStyle/>
          <a:p>
            <a:r>
              <a:rPr lang="de-DE" dirty="0">
                <a:solidFill>
                  <a:prstClr val="black"/>
                </a:solidFill>
                <a:latin typeface="Aptos" panose="02110004020202020204"/>
              </a:rPr>
              <a:t>Benign data:</a:t>
            </a:r>
          </a:p>
        </p:txBody>
      </p:sp>
      <p:sp>
        <p:nvSpPr>
          <p:cNvPr id="91" name="TextBox 90">
            <a:extLst>
              <a:ext uri="{FF2B5EF4-FFF2-40B4-BE49-F238E27FC236}">
                <a16:creationId xmlns:a16="http://schemas.microsoft.com/office/drawing/2014/main" id="{44FAF3B6-6EC2-0C9D-4636-089CFA01353C}"/>
              </a:ext>
            </a:extLst>
          </p:cNvPr>
          <p:cNvSpPr txBox="1"/>
          <p:nvPr/>
        </p:nvSpPr>
        <p:spPr>
          <a:xfrm>
            <a:off x="6418887" y="1319193"/>
            <a:ext cx="2690124" cy="923330"/>
          </a:xfrm>
          <a:prstGeom prst="rect">
            <a:avLst/>
          </a:prstGeom>
          <a:noFill/>
        </p:spPr>
        <p:txBody>
          <a:bodyPr wrap="square" rtlCol="0">
            <a:spAutoFit/>
          </a:bodyPr>
          <a:lstStyle/>
          <a:p>
            <a:r>
              <a:rPr lang="de-DE" dirty="0">
                <a:solidFill>
                  <a:prstClr val="black"/>
                </a:solidFill>
                <a:latin typeface="Aptos" panose="02110004020202020204"/>
              </a:rPr>
              <a:t>Test set:</a:t>
            </a:r>
          </a:p>
          <a:p>
            <a:endParaRPr lang="de-DE" dirty="0">
              <a:solidFill>
                <a:prstClr val="black"/>
              </a:solidFill>
              <a:latin typeface="Aptos" panose="02110004020202020204"/>
            </a:endParaRPr>
          </a:p>
          <a:p>
            <a:endParaRPr lang="de-DE" dirty="0">
              <a:solidFill>
                <a:prstClr val="black"/>
              </a:solidFill>
              <a:latin typeface="Aptos" panose="02110004020202020204"/>
            </a:endParaRPr>
          </a:p>
        </p:txBody>
      </p:sp>
      <p:sp>
        <p:nvSpPr>
          <p:cNvPr id="92" name="Rectangle 91">
            <a:extLst>
              <a:ext uri="{FF2B5EF4-FFF2-40B4-BE49-F238E27FC236}">
                <a16:creationId xmlns:a16="http://schemas.microsoft.com/office/drawing/2014/main" id="{593D974C-AB5B-E830-FD48-09D2B815DE80}"/>
              </a:ext>
            </a:extLst>
          </p:cNvPr>
          <p:cNvSpPr/>
          <p:nvPr/>
        </p:nvSpPr>
        <p:spPr>
          <a:xfrm>
            <a:off x="6624156" y="2305600"/>
            <a:ext cx="476723" cy="325585"/>
          </a:xfrm>
          <a:prstGeom prst="rect">
            <a:avLst/>
          </a:prstGeom>
          <a:solidFill>
            <a:srgbClr val="156082"/>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3" name="Rectangle 92">
            <a:extLst>
              <a:ext uri="{FF2B5EF4-FFF2-40B4-BE49-F238E27FC236}">
                <a16:creationId xmlns:a16="http://schemas.microsoft.com/office/drawing/2014/main" id="{90FC18F7-D986-F3B1-424A-7A8D421E64B9}"/>
              </a:ext>
            </a:extLst>
          </p:cNvPr>
          <p:cNvSpPr/>
          <p:nvPr/>
        </p:nvSpPr>
        <p:spPr>
          <a:xfrm>
            <a:off x="7229937" y="2305600"/>
            <a:ext cx="534012" cy="345855"/>
          </a:xfrm>
          <a:prstGeom prst="rect">
            <a:avLst/>
          </a:prstGeom>
          <a:solidFill>
            <a:srgbClr val="E97132"/>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4" name="Rectangle 93">
            <a:extLst>
              <a:ext uri="{FF2B5EF4-FFF2-40B4-BE49-F238E27FC236}">
                <a16:creationId xmlns:a16="http://schemas.microsoft.com/office/drawing/2014/main" id="{B69711A4-CB2E-6DA3-641F-B99CAB9B881F}"/>
              </a:ext>
            </a:extLst>
          </p:cNvPr>
          <p:cNvSpPr/>
          <p:nvPr/>
        </p:nvSpPr>
        <p:spPr>
          <a:xfrm>
            <a:off x="8346179" y="2303630"/>
            <a:ext cx="563352" cy="368985"/>
          </a:xfrm>
          <a:prstGeom prst="rect">
            <a:avLst/>
          </a:prstGeom>
          <a:solidFill>
            <a:srgbClr val="E97132"/>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65A6730C-A088-AA5C-03D9-596D2AD2E100}"/>
              </a:ext>
            </a:extLst>
          </p:cNvPr>
          <p:cNvSpPr txBox="1"/>
          <p:nvPr/>
        </p:nvSpPr>
        <p:spPr>
          <a:xfrm>
            <a:off x="7782828" y="2260279"/>
            <a:ext cx="563351" cy="523220"/>
          </a:xfrm>
          <a:prstGeom prst="rect">
            <a:avLst/>
          </a:prstGeom>
          <a:noFill/>
        </p:spPr>
        <p:txBody>
          <a:bodyPr wrap="square" rtlCol="0">
            <a:spAutoFit/>
          </a:bodyPr>
          <a:lstStyle/>
          <a:p>
            <a:r>
              <a:rPr lang="de-DE" sz="2800" b="1" dirty="0">
                <a:solidFill>
                  <a:prstClr val="black"/>
                </a:solidFill>
                <a:latin typeface="Aptos" panose="02110004020202020204"/>
              </a:rPr>
              <a:t>...</a:t>
            </a:r>
          </a:p>
        </p:txBody>
      </p:sp>
      <p:sp>
        <p:nvSpPr>
          <p:cNvPr id="96" name="Right Brace 95">
            <a:extLst>
              <a:ext uri="{FF2B5EF4-FFF2-40B4-BE49-F238E27FC236}">
                <a16:creationId xmlns:a16="http://schemas.microsoft.com/office/drawing/2014/main" id="{C07F631F-E9F2-C3CB-D987-87229BFE8118}"/>
              </a:ext>
            </a:extLst>
          </p:cNvPr>
          <p:cNvSpPr/>
          <p:nvPr/>
        </p:nvSpPr>
        <p:spPr>
          <a:xfrm rot="16200000">
            <a:off x="7942278" y="1429759"/>
            <a:ext cx="244450" cy="1426448"/>
          </a:xfrm>
          <a:prstGeom prst="rightBrace">
            <a:avLst/>
          </a:prstGeom>
          <a:noFill/>
          <a:ln w="19050" cap="flat" cmpd="sng" algn="ctr">
            <a:solidFill>
              <a:srgbClr val="15608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a typeface="+mn-ea"/>
              <a:cs typeface="+mn-cs"/>
            </a:endParaRPr>
          </a:p>
        </p:txBody>
      </p:sp>
      <p:sp>
        <p:nvSpPr>
          <p:cNvPr id="97" name="TextBox 96">
            <a:extLst>
              <a:ext uri="{FF2B5EF4-FFF2-40B4-BE49-F238E27FC236}">
                <a16:creationId xmlns:a16="http://schemas.microsoft.com/office/drawing/2014/main" id="{060CB061-551F-6BCA-F978-39B9CEDA3F5F}"/>
              </a:ext>
            </a:extLst>
          </p:cNvPr>
          <p:cNvSpPr txBox="1"/>
          <p:nvPr/>
        </p:nvSpPr>
        <p:spPr>
          <a:xfrm>
            <a:off x="9805278" y="3858842"/>
            <a:ext cx="1822546" cy="369332"/>
          </a:xfrm>
          <a:prstGeom prst="rect">
            <a:avLst/>
          </a:prstGeom>
          <a:noFill/>
        </p:spPr>
        <p:txBody>
          <a:bodyPr wrap="square" rtlCol="0">
            <a:spAutoFit/>
          </a:bodyPr>
          <a:lstStyle/>
          <a:p>
            <a:r>
              <a:rPr lang="de-DE" dirty="0">
                <a:solidFill>
                  <a:prstClr val="black"/>
                </a:solidFill>
                <a:latin typeface="Aptos" panose="02110004020202020204"/>
              </a:rPr>
              <a:t>N-2 attack types</a:t>
            </a:r>
          </a:p>
        </p:txBody>
      </p:sp>
      <p:sp>
        <p:nvSpPr>
          <p:cNvPr id="98" name="Rectangle 97">
            <a:extLst>
              <a:ext uri="{FF2B5EF4-FFF2-40B4-BE49-F238E27FC236}">
                <a16:creationId xmlns:a16="http://schemas.microsoft.com/office/drawing/2014/main" id="{32F31358-B1B6-394D-D90F-77B71C4F4781}"/>
              </a:ext>
            </a:extLst>
          </p:cNvPr>
          <p:cNvSpPr/>
          <p:nvPr/>
        </p:nvSpPr>
        <p:spPr>
          <a:xfrm>
            <a:off x="6645101" y="3358499"/>
            <a:ext cx="2638992" cy="365493"/>
          </a:xfrm>
          <a:prstGeom prst="rect">
            <a:avLst/>
          </a:prstGeom>
          <a:solidFill>
            <a:srgbClr val="156082">
              <a:lumMod val="20000"/>
              <a:lumOff val="80000"/>
            </a:srgbClr>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99" name="TextBox 98">
            <a:extLst>
              <a:ext uri="{FF2B5EF4-FFF2-40B4-BE49-F238E27FC236}">
                <a16:creationId xmlns:a16="http://schemas.microsoft.com/office/drawing/2014/main" id="{7904BCA7-E44E-7D29-C65D-546F87883FED}"/>
              </a:ext>
            </a:extLst>
          </p:cNvPr>
          <p:cNvSpPr txBox="1"/>
          <p:nvPr/>
        </p:nvSpPr>
        <p:spPr>
          <a:xfrm>
            <a:off x="6560152" y="2939997"/>
            <a:ext cx="2690124" cy="369332"/>
          </a:xfrm>
          <a:prstGeom prst="rect">
            <a:avLst/>
          </a:prstGeom>
          <a:noFill/>
        </p:spPr>
        <p:txBody>
          <a:bodyPr wrap="square" rtlCol="0">
            <a:spAutoFit/>
          </a:bodyPr>
          <a:lstStyle/>
          <a:p>
            <a:r>
              <a:rPr lang="de-DE" dirty="0">
                <a:solidFill>
                  <a:prstClr val="black"/>
                </a:solidFill>
                <a:latin typeface="Aptos" panose="02110004020202020204"/>
              </a:rPr>
              <a:t>Training set scenario 1:</a:t>
            </a:r>
          </a:p>
        </p:txBody>
      </p:sp>
      <p:sp>
        <p:nvSpPr>
          <p:cNvPr id="100" name="TextBox 99">
            <a:extLst>
              <a:ext uri="{FF2B5EF4-FFF2-40B4-BE49-F238E27FC236}">
                <a16:creationId xmlns:a16="http://schemas.microsoft.com/office/drawing/2014/main" id="{C639A889-C3A6-88A6-8E6A-A37FABF8FF03}"/>
              </a:ext>
            </a:extLst>
          </p:cNvPr>
          <p:cNvSpPr txBox="1"/>
          <p:nvPr/>
        </p:nvSpPr>
        <p:spPr>
          <a:xfrm>
            <a:off x="6560152" y="3981056"/>
            <a:ext cx="5233585" cy="369332"/>
          </a:xfrm>
          <a:prstGeom prst="rect">
            <a:avLst/>
          </a:prstGeom>
          <a:noFill/>
        </p:spPr>
        <p:txBody>
          <a:bodyPr wrap="square">
            <a:spAutoFit/>
          </a:bodyPr>
          <a:lstStyle/>
          <a:p>
            <a:r>
              <a:rPr lang="de-DE" dirty="0">
                <a:solidFill>
                  <a:prstClr val="black"/>
                </a:solidFill>
                <a:latin typeface="Aptos" panose="02110004020202020204"/>
              </a:rPr>
              <a:t>Training set scenario 2:</a:t>
            </a:r>
          </a:p>
        </p:txBody>
      </p:sp>
      <p:sp>
        <p:nvSpPr>
          <p:cNvPr id="101" name="Rectangle 100">
            <a:extLst>
              <a:ext uri="{FF2B5EF4-FFF2-40B4-BE49-F238E27FC236}">
                <a16:creationId xmlns:a16="http://schemas.microsoft.com/office/drawing/2014/main" id="{9F45B609-97D2-ADE7-D61E-6922E7D3715E}"/>
              </a:ext>
            </a:extLst>
          </p:cNvPr>
          <p:cNvSpPr/>
          <p:nvPr/>
        </p:nvSpPr>
        <p:spPr>
          <a:xfrm>
            <a:off x="6725612" y="4560226"/>
            <a:ext cx="2564547" cy="385548"/>
          </a:xfrm>
          <a:prstGeom prst="rect">
            <a:avLst/>
          </a:prstGeom>
          <a:solidFill>
            <a:srgbClr val="156082">
              <a:lumMod val="20000"/>
              <a:lumOff val="80000"/>
            </a:srgbClr>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2" name="Rectangle 101">
            <a:extLst>
              <a:ext uri="{FF2B5EF4-FFF2-40B4-BE49-F238E27FC236}">
                <a16:creationId xmlns:a16="http://schemas.microsoft.com/office/drawing/2014/main" id="{FC7621E8-C48C-716F-AB84-183C5B3929E9}"/>
              </a:ext>
            </a:extLst>
          </p:cNvPr>
          <p:cNvSpPr/>
          <p:nvPr/>
        </p:nvSpPr>
        <p:spPr>
          <a:xfrm>
            <a:off x="9490397" y="4577573"/>
            <a:ext cx="763921" cy="385548"/>
          </a:xfrm>
          <a:prstGeom prst="rect">
            <a:avLst/>
          </a:prstGeom>
          <a:solidFill>
            <a:srgbClr val="E97132">
              <a:lumMod val="20000"/>
              <a:lumOff val="80000"/>
            </a:srgbClr>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3" name="Rectangle 102">
            <a:extLst>
              <a:ext uri="{FF2B5EF4-FFF2-40B4-BE49-F238E27FC236}">
                <a16:creationId xmlns:a16="http://schemas.microsoft.com/office/drawing/2014/main" id="{EF6516DA-8C39-AE96-029C-8583B3FD425E}"/>
              </a:ext>
            </a:extLst>
          </p:cNvPr>
          <p:cNvSpPr/>
          <p:nvPr/>
        </p:nvSpPr>
        <p:spPr>
          <a:xfrm>
            <a:off x="10760692" y="4582790"/>
            <a:ext cx="917716" cy="382899"/>
          </a:xfrm>
          <a:prstGeom prst="rect">
            <a:avLst/>
          </a:prstGeom>
          <a:solidFill>
            <a:srgbClr val="E97132">
              <a:lumMod val="20000"/>
              <a:lumOff val="80000"/>
            </a:srgbClr>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4" name="Right Brace 103">
            <a:extLst>
              <a:ext uri="{FF2B5EF4-FFF2-40B4-BE49-F238E27FC236}">
                <a16:creationId xmlns:a16="http://schemas.microsoft.com/office/drawing/2014/main" id="{0C6C1128-2D78-38F4-539C-453728D15DD3}"/>
              </a:ext>
            </a:extLst>
          </p:cNvPr>
          <p:cNvSpPr/>
          <p:nvPr/>
        </p:nvSpPr>
        <p:spPr>
          <a:xfrm rot="16200000">
            <a:off x="10434053" y="3168553"/>
            <a:ext cx="252184" cy="2298986"/>
          </a:xfrm>
          <a:prstGeom prst="rightBrace">
            <a:avLst/>
          </a:prstGeom>
          <a:noFill/>
          <a:ln w="19050" cap="flat" cmpd="sng" algn="ctr">
            <a:solidFill>
              <a:srgbClr val="15608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black"/>
              </a:solidFill>
              <a:effectLst/>
              <a:uLnTx/>
              <a:uFillTx/>
              <a:latin typeface="Aptos" panose="02110004020202020204"/>
              <a:ea typeface="+mn-ea"/>
              <a:cs typeface="+mn-cs"/>
            </a:endParaRPr>
          </a:p>
        </p:txBody>
      </p:sp>
      <p:sp>
        <p:nvSpPr>
          <p:cNvPr id="105" name="TextBox 104">
            <a:extLst>
              <a:ext uri="{FF2B5EF4-FFF2-40B4-BE49-F238E27FC236}">
                <a16:creationId xmlns:a16="http://schemas.microsoft.com/office/drawing/2014/main" id="{4B89D259-A6CB-A604-C0EF-5475D7E22EA8}"/>
              </a:ext>
            </a:extLst>
          </p:cNvPr>
          <p:cNvSpPr txBox="1"/>
          <p:nvPr/>
        </p:nvSpPr>
        <p:spPr>
          <a:xfrm>
            <a:off x="7432665" y="1693294"/>
            <a:ext cx="2690124" cy="369332"/>
          </a:xfrm>
          <a:prstGeom prst="rect">
            <a:avLst/>
          </a:prstGeom>
          <a:noFill/>
        </p:spPr>
        <p:txBody>
          <a:bodyPr wrap="square" rtlCol="0">
            <a:spAutoFit/>
          </a:bodyPr>
          <a:lstStyle/>
          <a:p>
            <a:r>
              <a:rPr lang="de-DE" dirty="0">
                <a:solidFill>
                  <a:prstClr val="black"/>
                </a:solidFill>
                <a:latin typeface="Aptos" panose="02110004020202020204"/>
              </a:rPr>
              <a:t>all N attack types</a:t>
            </a:r>
          </a:p>
        </p:txBody>
      </p:sp>
      <p:sp>
        <p:nvSpPr>
          <p:cNvPr id="106" name="TextBox 105">
            <a:extLst>
              <a:ext uri="{FF2B5EF4-FFF2-40B4-BE49-F238E27FC236}">
                <a16:creationId xmlns:a16="http://schemas.microsoft.com/office/drawing/2014/main" id="{09BEF404-2DF0-2693-120E-242687FB5A64}"/>
              </a:ext>
            </a:extLst>
          </p:cNvPr>
          <p:cNvSpPr txBox="1"/>
          <p:nvPr/>
        </p:nvSpPr>
        <p:spPr>
          <a:xfrm>
            <a:off x="10310307" y="4545870"/>
            <a:ext cx="563351" cy="523220"/>
          </a:xfrm>
          <a:prstGeom prst="rect">
            <a:avLst/>
          </a:prstGeom>
          <a:noFill/>
        </p:spPr>
        <p:txBody>
          <a:bodyPr wrap="square" rtlCol="0">
            <a:spAutoFit/>
          </a:bodyPr>
          <a:lstStyle/>
          <a:p>
            <a:r>
              <a:rPr lang="de-DE" sz="2800" b="1" dirty="0">
                <a:solidFill>
                  <a:prstClr val="black"/>
                </a:solidFill>
                <a:latin typeface="Aptos" panose="02110004020202020204"/>
              </a:rPr>
              <a:t>...</a:t>
            </a:r>
          </a:p>
        </p:txBody>
      </p:sp>
      <p:sp>
        <p:nvSpPr>
          <p:cNvPr id="107" name="TextBox 106">
            <a:extLst>
              <a:ext uri="{FF2B5EF4-FFF2-40B4-BE49-F238E27FC236}">
                <a16:creationId xmlns:a16="http://schemas.microsoft.com/office/drawing/2014/main" id="{2B2EC1E7-4CC8-393F-FD42-DDA5EE5EE624}"/>
              </a:ext>
            </a:extLst>
          </p:cNvPr>
          <p:cNvSpPr txBox="1"/>
          <p:nvPr/>
        </p:nvSpPr>
        <p:spPr>
          <a:xfrm>
            <a:off x="6560152" y="5183614"/>
            <a:ext cx="6093724" cy="369332"/>
          </a:xfrm>
          <a:prstGeom prst="rect">
            <a:avLst/>
          </a:prstGeom>
          <a:noFill/>
        </p:spPr>
        <p:txBody>
          <a:bodyPr wrap="square">
            <a:spAutoFit/>
          </a:bodyPr>
          <a:lstStyle/>
          <a:p>
            <a:r>
              <a:rPr lang="de-DE" dirty="0">
                <a:solidFill>
                  <a:prstClr val="black"/>
                </a:solidFill>
                <a:latin typeface="Aptos" panose="02110004020202020204"/>
              </a:rPr>
              <a:t>Training set scenario 3:</a:t>
            </a:r>
          </a:p>
        </p:txBody>
      </p:sp>
      <p:sp>
        <p:nvSpPr>
          <p:cNvPr id="108" name="Rectangle 107">
            <a:extLst>
              <a:ext uri="{FF2B5EF4-FFF2-40B4-BE49-F238E27FC236}">
                <a16:creationId xmlns:a16="http://schemas.microsoft.com/office/drawing/2014/main" id="{EE0A5779-18EA-9322-C108-0E3BA630165C}"/>
              </a:ext>
            </a:extLst>
          </p:cNvPr>
          <p:cNvSpPr/>
          <p:nvPr/>
        </p:nvSpPr>
        <p:spPr>
          <a:xfrm>
            <a:off x="6725612" y="5724601"/>
            <a:ext cx="2558481" cy="423784"/>
          </a:xfrm>
          <a:prstGeom prst="rect">
            <a:avLst/>
          </a:prstGeom>
          <a:solidFill>
            <a:srgbClr val="156082">
              <a:lumMod val="20000"/>
              <a:lumOff val="80000"/>
            </a:srgbClr>
          </a:solidFill>
          <a:ln w="19050" cap="flat" cmpd="sng" algn="ctr">
            <a:solidFill>
              <a:srgbClr val="156082">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09" name="Rectangle 108">
            <a:extLst>
              <a:ext uri="{FF2B5EF4-FFF2-40B4-BE49-F238E27FC236}">
                <a16:creationId xmlns:a16="http://schemas.microsoft.com/office/drawing/2014/main" id="{A316A8D8-9CBD-820B-BB15-40D3126D6E21}"/>
              </a:ext>
            </a:extLst>
          </p:cNvPr>
          <p:cNvSpPr/>
          <p:nvPr/>
        </p:nvSpPr>
        <p:spPr>
          <a:xfrm>
            <a:off x="9490397" y="5724601"/>
            <a:ext cx="763920" cy="423784"/>
          </a:xfrm>
          <a:prstGeom prst="rect">
            <a:avLst/>
          </a:prstGeom>
          <a:solidFill>
            <a:srgbClr val="E97132">
              <a:lumMod val="20000"/>
              <a:lumOff val="80000"/>
            </a:srgbClr>
          </a:solidFill>
          <a:ln w="19050" cap="flat" cmpd="sng" algn="ctr">
            <a:solidFill>
              <a:srgbClr val="E97132"/>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de-DE" sz="1800" b="0" i="0" u="none" strike="noStrike" kern="0" cap="none" spc="0" normalizeH="0" baseline="0" noProof="0">
              <a:ln>
                <a:noFill/>
              </a:ln>
              <a:solidFill>
                <a:prstClr val="white"/>
              </a:solidFill>
              <a:effectLst/>
              <a:uLnTx/>
              <a:uFillTx/>
              <a:latin typeface="Aptos" panose="02110004020202020204"/>
              <a:ea typeface="+mn-ea"/>
              <a:cs typeface="+mn-cs"/>
            </a:endParaRPr>
          </a:p>
        </p:txBody>
      </p:sp>
      <p:sp>
        <p:nvSpPr>
          <p:cNvPr id="110" name="TextBox 109">
            <a:extLst>
              <a:ext uri="{FF2B5EF4-FFF2-40B4-BE49-F238E27FC236}">
                <a16:creationId xmlns:a16="http://schemas.microsoft.com/office/drawing/2014/main" id="{2D595314-ADA8-1158-ECCB-4CFE0950CB19}"/>
              </a:ext>
            </a:extLst>
          </p:cNvPr>
          <p:cNvSpPr txBox="1"/>
          <p:nvPr/>
        </p:nvSpPr>
        <p:spPr>
          <a:xfrm>
            <a:off x="9284093" y="5333636"/>
            <a:ext cx="1686371" cy="369332"/>
          </a:xfrm>
          <a:prstGeom prst="rect">
            <a:avLst/>
          </a:prstGeom>
          <a:noFill/>
        </p:spPr>
        <p:txBody>
          <a:bodyPr wrap="square">
            <a:spAutoFit/>
          </a:bodyPr>
          <a:lstStyle/>
          <a:p>
            <a:r>
              <a:rPr lang="de-DE" dirty="0">
                <a:solidFill>
                  <a:prstClr val="black"/>
                </a:solidFill>
                <a:latin typeface="Aptos" panose="02110004020202020204"/>
              </a:rPr>
              <a:t>1 attack type</a:t>
            </a:r>
          </a:p>
        </p:txBody>
      </p:sp>
      <p:sp>
        <p:nvSpPr>
          <p:cNvPr id="3" name="Footer Placeholder 2">
            <a:extLst>
              <a:ext uri="{FF2B5EF4-FFF2-40B4-BE49-F238E27FC236}">
                <a16:creationId xmlns:a16="http://schemas.microsoft.com/office/drawing/2014/main" id="{AB6BA870-5F3A-016D-0288-C641ED6587E8}"/>
              </a:ext>
            </a:extLst>
          </p:cNvPr>
          <p:cNvSpPr>
            <a:spLocks noGrp="1"/>
          </p:cNvSpPr>
          <p:nvPr>
            <p:ph type="ftr" sz="quarter" idx="11"/>
          </p:nvPr>
        </p:nvSpPr>
        <p:spPr/>
        <p:txBody>
          <a:bodyPr/>
          <a:lstStyle/>
          <a:p>
            <a:endParaRPr lang="de-DE" dirty="0"/>
          </a:p>
        </p:txBody>
      </p:sp>
    </p:spTree>
    <p:extLst>
      <p:ext uri="{BB962C8B-B14F-4D97-AF65-F5344CB8AC3E}">
        <p14:creationId xmlns:p14="http://schemas.microsoft.com/office/powerpoint/2010/main" val="38798581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18CB05-C937-7EA4-613A-11BA585D9906}"/>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447D15C-5C32-F985-DC6A-51D8ED6EA326}"/>
              </a:ext>
            </a:extLst>
          </p:cNvPr>
          <p:cNvSpPr>
            <a:spLocks noGrp="1"/>
          </p:cNvSpPr>
          <p:nvPr>
            <p:ph type="dt" sz="half" idx="10"/>
          </p:nvPr>
        </p:nvSpPr>
        <p:spPr/>
        <p:txBody>
          <a:bodyPr/>
          <a:lstStyle/>
          <a:p>
            <a:fld id="{BB3B46B3-5FBC-4FD5-B04A-D68CAE9A11F0}" type="datetime6">
              <a:rPr lang="en-US" smtClean="0"/>
              <a:t>March 26</a:t>
            </a:fld>
            <a:endParaRPr lang="de-DE" dirty="0"/>
          </a:p>
        </p:txBody>
      </p:sp>
      <p:sp>
        <p:nvSpPr>
          <p:cNvPr id="5" name="Textplatzhalter 4">
            <a:extLst>
              <a:ext uri="{FF2B5EF4-FFF2-40B4-BE49-F238E27FC236}">
                <a16:creationId xmlns:a16="http://schemas.microsoft.com/office/drawing/2014/main" id="{69901D03-C147-0219-85A7-6318726AC57E}"/>
              </a:ext>
            </a:extLst>
          </p:cNvPr>
          <p:cNvSpPr>
            <a:spLocks noGrp="1"/>
          </p:cNvSpPr>
          <p:nvPr>
            <p:ph type="body" sz="quarter" idx="12"/>
          </p:nvPr>
        </p:nvSpPr>
        <p:spPr/>
        <p:txBody>
          <a:bodyPr/>
          <a:lstStyle/>
          <a:p>
            <a:r>
              <a:rPr lang="de-DE" dirty="0"/>
              <a:t>Results</a:t>
            </a:r>
          </a:p>
        </p:txBody>
      </p:sp>
      <p:sp>
        <p:nvSpPr>
          <p:cNvPr id="4" name="Foliennummernplatzhalter 3">
            <a:extLst>
              <a:ext uri="{FF2B5EF4-FFF2-40B4-BE49-F238E27FC236}">
                <a16:creationId xmlns:a16="http://schemas.microsoft.com/office/drawing/2014/main" id="{567FFCAC-7CE4-26C5-13B7-7FC39058DC91}"/>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28</a:t>
            </a:fld>
            <a:endParaRPr lang="de-DE"/>
          </a:p>
        </p:txBody>
      </p:sp>
      <p:sp>
        <p:nvSpPr>
          <p:cNvPr id="7" name="Text Placeholder 6">
            <a:extLst>
              <a:ext uri="{FF2B5EF4-FFF2-40B4-BE49-F238E27FC236}">
                <a16:creationId xmlns:a16="http://schemas.microsoft.com/office/drawing/2014/main" id="{D455D296-9CCA-FD6E-FF64-41D40E07BBEA}"/>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8294778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00CFC-5170-7D6F-6328-CF9191EEEA2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316385FA-7717-A7BA-68AA-955F954CFC6B}"/>
              </a:ext>
            </a:extLst>
          </p:cNvPr>
          <p:cNvSpPr>
            <a:spLocks noGrp="1"/>
          </p:cNvSpPr>
          <p:nvPr>
            <p:ph type="dt" sz="half" idx="10"/>
          </p:nvPr>
        </p:nvSpPr>
        <p:spPr/>
        <p:txBody>
          <a:bodyPr/>
          <a:lstStyle/>
          <a:p>
            <a:fld id="{544F0DBC-1A4C-42BE-8C89-1C515E45D99D}" type="datetime6">
              <a:rPr lang="en-US" smtClean="0"/>
              <a:t>March 26</a:t>
            </a:fld>
            <a:endParaRPr lang="de-DE" dirty="0"/>
          </a:p>
        </p:txBody>
      </p:sp>
      <p:sp>
        <p:nvSpPr>
          <p:cNvPr id="3" name="Fußzeilenplatzhalter 2">
            <a:extLst>
              <a:ext uri="{FF2B5EF4-FFF2-40B4-BE49-F238E27FC236}">
                <a16:creationId xmlns:a16="http://schemas.microsoft.com/office/drawing/2014/main" id="{158031E6-FD95-2D6F-BBA1-026456709A8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CE0A10C6-BE32-326E-D091-8C52601B528F}"/>
              </a:ext>
            </a:extLst>
          </p:cNvPr>
          <p:cNvSpPr>
            <a:spLocks noGrp="1"/>
          </p:cNvSpPr>
          <p:nvPr>
            <p:ph type="sldNum" sz="quarter" idx="12"/>
          </p:nvPr>
        </p:nvSpPr>
        <p:spPr/>
        <p:txBody>
          <a:bodyPr/>
          <a:lstStyle/>
          <a:p>
            <a:fld id="{D3A9EDD9-2578-4372-8132-10947A418667}" type="slidenum">
              <a:rPr lang="de-DE" smtClean="0"/>
              <a:t>29</a:t>
            </a:fld>
            <a:endParaRPr lang="de-DE"/>
          </a:p>
        </p:txBody>
      </p:sp>
      <p:sp>
        <p:nvSpPr>
          <p:cNvPr id="11" name="Textplatzhalter 10">
            <a:extLst>
              <a:ext uri="{FF2B5EF4-FFF2-40B4-BE49-F238E27FC236}">
                <a16:creationId xmlns:a16="http://schemas.microsoft.com/office/drawing/2014/main" id="{E844630E-CD0C-186D-EE19-2FB9C7ED325E}"/>
              </a:ext>
            </a:extLst>
          </p:cNvPr>
          <p:cNvSpPr>
            <a:spLocks noGrp="1"/>
          </p:cNvSpPr>
          <p:nvPr>
            <p:ph type="body" idx="13"/>
          </p:nvPr>
        </p:nvSpPr>
        <p:spPr/>
        <p:txBody>
          <a:bodyPr/>
          <a:lstStyle/>
          <a:p>
            <a:r>
              <a:rPr lang="de-DE" dirty="0"/>
              <a:t>Traditional ML Classifiers – F1-Score</a:t>
            </a:r>
          </a:p>
        </p:txBody>
      </p:sp>
      <p:sp>
        <p:nvSpPr>
          <p:cNvPr id="9" name="Titel 8">
            <a:extLst>
              <a:ext uri="{FF2B5EF4-FFF2-40B4-BE49-F238E27FC236}">
                <a16:creationId xmlns:a16="http://schemas.microsoft.com/office/drawing/2014/main" id="{8F4C668A-6B74-E5CC-B75B-AC77E8DEA67F}"/>
              </a:ext>
            </a:extLst>
          </p:cNvPr>
          <p:cNvSpPr>
            <a:spLocks noGrp="1"/>
          </p:cNvSpPr>
          <p:nvPr>
            <p:ph type="title"/>
          </p:nvPr>
        </p:nvSpPr>
        <p:spPr/>
        <p:txBody>
          <a:bodyPr/>
          <a:lstStyle/>
          <a:p>
            <a:r>
              <a:rPr lang="de-DE" dirty="0"/>
              <a:t>Results	</a:t>
            </a:r>
          </a:p>
        </p:txBody>
      </p:sp>
      <p:sp>
        <p:nvSpPr>
          <p:cNvPr id="12" name="Textplatzhalter 11">
            <a:extLst>
              <a:ext uri="{FF2B5EF4-FFF2-40B4-BE49-F238E27FC236}">
                <a16:creationId xmlns:a16="http://schemas.microsoft.com/office/drawing/2014/main" id="{849F3090-C7D2-A9C8-7318-F2EBA663DA82}"/>
              </a:ext>
            </a:extLst>
          </p:cNvPr>
          <p:cNvSpPr>
            <a:spLocks noGrp="1"/>
          </p:cNvSpPr>
          <p:nvPr>
            <p:ph type="body" sz="quarter" idx="14"/>
          </p:nvPr>
        </p:nvSpPr>
        <p:spPr/>
        <p:txBody>
          <a:bodyPr/>
          <a:lstStyle/>
          <a:p>
            <a:endParaRPr lang="de-DE" dirty="0"/>
          </a:p>
        </p:txBody>
      </p:sp>
      <p:pic>
        <p:nvPicPr>
          <p:cNvPr id="5" name="Content Placeholder 4">
            <a:extLst>
              <a:ext uri="{FF2B5EF4-FFF2-40B4-BE49-F238E27FC236}">
                <a16:creationId xmlns:a16="http://schemas.microsoft.com/office/drawing/2014/main" id="{E208AB62-6AE1-3CB6-2285-3A91A37FF7D0}"/>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2611896" y="1825625"/>
            <a:ext cx="6968207" cy="4351338"/>
          </a:xfrm>
          <a:prstGeom prst="rect">
            <a:avLst/>
          </a:prstGeom>
        </p:spPr>
      </p:pic>
    </p:spTree>
    <p:extLst>
      <p:ext uri="{BB962C8B-B14F-4D97-AF65-F5344CB8AC3E}">
        <p14:creationId xmlns:p14="http://schemas.microsoft.com/office/powerpoint/2010/main" val="5030458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D50C7-9A2E-3CF2-E43E-C1C8CB04F84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BD60D036-37CE-B29C-74D9-538F2BA8BB18}"/>
              </a:ext>
            </a:extLst>
          </p:cNvPr>
          <p:cNvSpPr>
            <a:spLocks noGrp="1"/>
          </p:cNvSpPr>
          <p:nvPr>
            <p:ph type="dt" sz="half" idx="10"/>
          </p:nvPr>
        </p:nvSpPr>
        <p:spPr/>
        <p:txBody>
          <a:bodyPr/>
          <a:lstStyle/>
          <a:p>
            <a:fld id="{548EC857-70C8-4447-AF3E-57409E4BB339}" type="datetime6">
              <a:rPr lang="en-US" smtClean="0"/>
              <a:t>March 26</a:t>
            </a:fld>
            <a:endParaRPr lang="de-DE" dirty="0"/>
          </a:p>
        </p:txBody>
      </p:sp>
      <p:sp>
        <p:nvSpPr>
          <p:cNvPr id="3" name="Fußzeilenplatzhalter 2">
            <a:extLst>
              <a:ext uri="{FF2B5EF4-FFF2-40B4-BE49-F238E27FC236}">
                <a16:creationId xmlns:a16="http://schemas.microsoft.com/office/drawing/2014/main" id="{20DE26CF-C41F-92CE-2AF6-D7854580D64C}"/>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659EE409-AD14-04DE-6C9F-61E112BB47CD}"/>
              </a:ext>
            </a:extLst>
          </p:cNvPr>
          <p:cNvSpPr>
            <a:spLocks noGrp="1"/>
          </p:cNvSpPr>
          <p:nvPr>
            <p:ph type="sldNum" sz="quarter" idx="12"/>
          </p:nvPr>
        </p:nvSpPr>
        <p:spPr/>
        <p:txBody>
          <a:bodyPr/>
          <a:lstStyle/>
          <a:p>
            <a:fld id="{D3A9EDD9-2578-4372-8132-10947A418667}" type="slidenum">
              <a:rPr lang="de-DE" smtClean="0"/>
              <a:t>30</a:t>
            </a:fld>
            <a:endParaRPr lang="de-DE"/>
          </a:p>
        </p:txBody>
      </p:sp>
      <p:sp>
        <p:nvSpPr>
          <p:cNvPr id="11" name="Textplatzhalter 10">
            <a:extLst>
              <a:ext uri="{FF2B5EF4-FFF2-40B4-BE49-F238E27FC236}">
                <a16:creationId xmlns:a16="http://schemas.microsoft.com/office/drawing/2014/main" id="{4216D8C9-7A4D-25A7-23E7-CEFEE2DF2075}"/>
              </a:ext>
            </a:extLst>
          </p:cNvPr>
          <p:cNvSpPr>
            <a:spLocks noGrp="1"/>
          </p:cNvSpPr>
          <p:nvPr>
            <p:ph type="body" idx="13"/>
          </p:nvPr>
        </p:nvSpPr>
        <p:spPr/>
        <p:txBody>
          <a:bodyPr/>
          <a:lstStyle/>
          <a:p>
            <a:r>
              <a:rPr lang="de-DE" dirty="0"/>
              <a:t>Ensemble classifiers – F1-Score</a:t>
            </a:r>
          </a:p>
        </p:txBody>
      </p:sp>
      <p:sp>
        <p:nvSpPr>
          <p:cNvPr id="9" name="Titel 8">
            <a:extLst>
              <a:ext uri="{FF2B5EF4-FFF2-40B4-BE49-F238E27FC236}">
                <a16:creationId xmlns:a16="http://schemas.microsoft.com/office/drawing/2014/main" id="{2CB3C516-FC73-82EC-3A83-24F335C3D8B4}"/>
              </a:ext>
            </a:extLst>
          </p:cNvPr>
          <p:cNvSpPr>
            <a:spLocks noGrp="1"/>
          </p:cNvSpPr>
          <p:nvPr>
            <p:ph type="title"/>
          </p:nvPr>
        </p:nvSpPr>
        <p:spPr/>
        <p:txBody>
          <a:bodyPr/>
          <a:lstStyle/>
          <a:p>
            <a:r>
              <a:rPr lang="de-DE" dirty="0"/>
              <a:t>Results	</a:t>
            </a:r>
          </a:p>
        </p:txBody>
      </p:sp>
      <p:sp>
        <p:nvSpPr>
          <p:cNvPr id="12" name="Textplatzhalter 11">
            <a:extLst>
              <a:ext uri="{FF2B5EF4-FFF2-40B4-BE49-F238E27FC236}">
                <a16:creationId xmlns:a16="http://schemas.microsoft.com/office/drawing/2014/main" id="{82EDFABE-11B7-03EC-8B1A-52E98BEF324D}"/>
              </a:ext>
            </a:extLst>
          </p:cNvPr>
          <p:cNvSpPr>
            <a:spLocks noGrp="1"/>
          </p:cNvSpPr>
          <p:nvPr>
            <p:ph type="body" sz="quarter" idx="14"/>
          </p:nvPr>
        </p:nvSpPr>
        <p:spPr/>
        <p:txBody>
          <a:bodyPr/>
          <a:lstStyle/>
          <a:p>
            <a:endParaRPr lang="de-DE" dirty="0"/>
          </a:p>
        </p:txBody>
      </p:sp>
      <p:pic>
        <p:nvPicPr>
          <p:cNvPr id="8" name="Content Placeholder 6">
            <a:extLst>
              <a:ext uri="{FF2B5EF4-FFF2-40B4-BE49-F238E27FC236}">
                <a16:creationId xmlns:a16="http://schemas.microsoft.com/office/drawing/2014/main" id="{4FE616CC-E55B-51EF-0255-4CE3973A5D3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1877" y="2318389"/>
            <a:ext cx="10515600" cy="3120140"/>
          </a:xfrm>
          <a:prstGeom prst="rect">
            <a:avLst/>
          </a:prstGeom>
        </p:spPr>
      </p:pic>
    </p:spTree>
    <p:extLst>
      <p:ext uri="{BB962C8B-B14F-4D97-AF65-F5344CB8AC3E}">
        <p14:creationId xmlns:p14="http://schemas.microsoft.com/office/powerpoint/2010/main" val="38452156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24AA5-348C-51B8-019B-6AB599C13DC3}"/>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15A9B50-1798-A65C-1360-8150D36434AC}"/>
              </a:ext>
            </a:extLst>
          </p:cNvPr>
          <p:cNvSpPr>
            <a:spLocks noGrp="1"/>
          </p:cNvSpPr>
          <p:nvPr>
            <p:ph type="dt" sz="half" idx="10"/>
          </p:nvPr>
        </p:nvSpPr>
        <p:spPr/>
        <p:txBody>
          <a:bodyPr/>
          <a:lstStyle/>
          <a:p>
            <a:fld id="{CE936532-E911-4C81-A378-314F8B00963C}" type="datetime6">
              <a:rPr lang="en-US" smtClean="0"/>
              <a:t>March 26</a:t>
            </a:fld>
            <a:endParaRPr lang="de-DE" dirty="0"/>
          </a:p>
        </p:txBody>
      </p:sp>
      <p:sp>
        <p:nvSpPr>
          <p:cNvPr id="3" name="Fußzeilenplatzhalter 2">
            <a:extLst>
              <a:ext uri="{FF2B5EF4-FFF2-40B4-BE49-F238E27FC236}">
                <a16:creationId xmlns:a16="http://schemas.microsoft.com/office/drawing/2014/main" id="{EBE12D93-311F-9077-0C66-FA74EA2F8A4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A4DCF8CD-29F7-4EE9-B1A0-C0CA730C676E}"/>
              </a:ext>
            </a:extLst>
          </p:cNvPr>
          <p:cNvSpPr>
            <a:spLocks noGrp="1"/>
          </p:cNvSpPr>
          <p:nvPr>
            <p:ph type="sldNum" sz="quarter" idx="12"/>
          </p:nvPr>
        </p:nvSpPr>
        <p:spPr/>
        <p:txBody>
          <a:bodyPr/>
          <a:lstStyle/>
          <a:p>
            <a:fld id="{D3A9EDD9-2578-4372-8132-10947A418667}" type="slidenum">
              <a:rPr lang="de-DE" smtClean="0"/>
              <a:t>31</a:t>
            </a:fld>
            <a:endParaRPr lang="de-DE"/>
          </a:p>
        </p:txBody>
      </p:sp>
      <p:sp>
        <p:nvSpPr>
          <p:cNvPr id="11" name="Textplatzhalter 10">
            <a:extLst>
              <a:ext uri="{FF2B5EF4-FFF2-40B4-BE49-F238E27FC236}">
                <a16:creationId xmlns:a16="http://schemas.microsoft.com/office/drawing/2014/main" id="{455EC60B-8959-EF6D-BC8A-1E51ABABF5E6}"/>
              </a:ext>
            </a:extLst>
          </p:cNvPr>
          <p:cNvSpPr>
            <a:spLocks noGrp="1"/>
          </p:cNvSpPr>
          <p:nvPr>
            <p:ph type="body" idx="13"/>
          </p:nvPr>
        </p:nvSpPr>
        <p:spPr/>
        <p:txBody>
          <a:bodyPr/>
          <a:lstStyle/>
          <a:p>
            <a:r>
              <a:rPr lang="en-US" dirty="0"/>
              <a:t>N-Gram, GAN, and SDA - F1-Score</a:t>
            </a:r>
            <a:endParaRPr lang="de-DE" dirty="0"/>
          </a:p>
        </p:txBody>
      </p:sp>
      <p:sp>
        <p:nvSpPr>
          <p:cNvPr id="9" name="Titel 8">
            <a:extLst>
              <a:ext uri="{FF2B5EF4-FFF2-40B4-BE49-F238E27FC236}">
                <a16:creationId xmlns:a16="http://schemas.microsoft.com/office/drawing/2014/main" id="{9B2D6CE5-E9DB-853B-2A2F-B71AABF85F8E}"/>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84C2943B-D13F-0E32-0227-3FCC104C04EE}"/>
              </a:ext>
            </a:extLst>
          </p:cNvPr>
          <p:cNvSpPr>
            <a:spLocks noGrp="1"/>
          </p:cNvSpPr>
          <p:nvPr>
            <p:ph type="body" sz="quarter" idx="14"/>
          </p:nvPr>
        </p:nvSpPr>
        <p:spPr/>
        <p:txBody>
          <a:bodyPr/>
          <a:lstStyle/>
          <a:p>
            <a:endParaRPr lang="de-DE"/>
          </a:p>
        </p:txBody>
      </p:sp>
      <p:pic>
        <p:nvPicPr>
          <p:cNvPr id="5" name="Picture 4">
            <a:extLst>
              <a:ext uri="{FF2B5EF4-FFF2-40B4-BE49-F238E27FC236}">
                <a16:creationId xmlns:a16="http://schemas.microsoft.com/office/drawing/2014/main" id="{36405A23-237E-A573-A67E-F4BD123C23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15399" y="1973680"/>
            <a:ext cx="10540527" cy="3966789"/>
          </a:xfrm>
          <a:prstGeom prst="rect">
            <a:avLst/>
          </a:prstGeom>
        </p:spPr>
      </p:pic>
    </p:spTree>
    <p:extLst>
      <p:ext uri="{BB962C8B-B14F-4D97-AF65-F5344CB8AC3E}">
        <p14:creationId xmlns:p14="http://schemas.microsoft.com/office/powerpoint/2010/main" val="13345182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2183C-4723-9469-AB45-843F6BBA8E3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1AC48149-9C13-836B-2CAE-313322EC5C95}"/>
              </a:ext>
            </a:extLst>
          </p:cNvPr>
          <p:cNvSpPr>
            <a:spLocks noGrp="1"/>
          </p:cNvSpPr>
          <p:nvPr>
            <p:ph type="dt" sz="half" idx="10"/>
          </p:nvPr>
        </p:nvSpPr>
        <p:spPr/>
        <p:txBody>
          <a:bodyPr/>
          <a:lstStyle/>
          <a:p>
            <a:fld id="{F9AF1E84-2DA5-45F8-B92F-5FD986545D94}" type="datetime6">
              <a:rPr lang="en-US" smtClean="0"/>
              <a:t>March 26</a:t>
            </a:fld>
            <a:endParaRPr lang="de-DE" dirty="0"/>
          </a:p>
        </p:txBody>
      </p:sp>
      <p:sp>
        <p:nvSpPr>
          <p:cNvPr id="3" name="Fußzeilenplatzhalter 2">
            <a:extLst>
              <a:ext uri="{FF2B5EF4-FFF2-40B4-BE49-F238E27FC236}">
                <a16:creationId xmlns:a16="http://schemas.microsoft.com/office/drawing/2014/main" id="{52C94500-AFB8-9470-FE68-9C5E1B3AE1C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ABB62CB-4436-9C6E-7229-93435918EDA9}"/>
              </a:ext>
            </a:extLst>
          </p:cNvPr>
          <p:cNvSpPr>
            <a:spLocks noGrp="1"/>
          </p:cNvSpPr>
          <p:nvPr>
            <p:ph type="sldNum" sz="quarter" idx="12"/>
          </p:nvPr>
        </p:nvSpPr>
        <p:spPr/>
        <p:txBody>
          <a:bodyPr/>
          <a:lstStyle/>
          <a:p>
            <a:fld id="{D3A9EDD9-2578-4372-8132-10947A418667}" type="slidenum">
              <a:rPr lang="de-DE" smtClean="0"/>
              <a:t>32</a:t>
            </a:fld>
            <a:endParaRPr lang="de-DE"/>
          </a:p>
        </p:txBody>
      </p:sp>
      <p:sp>
        <p:nvSpPr>
          <p:cNvPr id="11" name="Textplatzhalter 10">
            <a:extLst>
              <a:ext uri="{FF2B5EF4-FFF2-40B4-BE49-F238E27FC236}">
                <a16:creationId xmlns:a16="http://schemas.microsoft.com/office/drawing/2014/main" id="{F95BDD61-E340-0684-26F9-D7C72B72DDDC}"/>
              </a:ext>
            </a:extLst>
          </p:cNvPr>
          <p:cNvSpPr>
            <a:spLocks noGrp="1"/>
          </p:cNvSpPr>
          <p:nvPr>
            <p:ph type="body" idx="13"/>
          </p:nvPr>
        </p:nvSpPr>
        <p:spPr/>
        <p:txBody>
          <a:bodyPr/>
          <a:lstStyle/>
          <a:p>
            <a:r>
              <a:rPr lang="en-US" dirty="0"/>
              <a:t>CNN and </a:t>
            </a:r>
            <a:r>
              <a:rPr lang="en-US" dirty="0" err="1"/>
              <a:t>ResNet</a:t>
            </a:r>
            <a:r>
              <a:rPr lang="en-US" dirty="0"/>
              <a:t> – F1-Score</a:t>
            </a:r>
            <a:endParaRPr lang="de-DE" dirty="0"/>
          </a:p>
        </p:txBody>
      </p:sp>
      <p:sp>
        <p:nvSpPr>
          <p:cNvPr id="9" name="Titel 8">
            <a:extLst>
              <a:ext uri="{FF2B5EF4-FFF2-40B4-BE49-F238E27FC236}">
                <a16:creationId xmlns:a16="http://schemas.microsoft.com/office/drawing/2014/main" id="{726C6F13-3F32-6B8D-A7E6-4C45E8AF75FB}"/>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73681D46-820D-7D76-B008-1FE8A91A374B}"/>
              </a:ext>
            </a:extLst>
          </p:cNvPr>
          <p:cNvSpPr>
            <a:spLocks noGrp="1"/>
          </p:cNvSpPr>
          <p:nvPr>
            <p:ph type="body" sz="quarter" idx="14"/>
          </p:nvPr>
        </p:nvSpPr>
        <p:spPr/>
        <p:txBody>
          <a:bodyPr/>
          <a:lstStyle/>
          <a:p>
            <a:endParaRPr lang="de-DE"/>
          </a:p>
        </p:txBody>
      </p:sp>
      <p:pic>
        <p:nvPicPr>
          <p:cNvPr id="10" name="Picture 9">
            <a:extLst>
              <a:ext uri="{FF2B5EF4-FFF2-40B4-BE49-F238E27FC236}">
                <a16:creationId xmlns:a16="http://schemas.microsoft.com/office/drawing/2014/main" id="{8ED23996-9921-545C-E612-E34AE23B09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7554" y="2373250"/>
            <a:ext cx="11125968" cy="2557338"/>
          </a:xfrm>
          <a:prstGeom prst="rect">
            <a:avLst/>
          </a:prstGeom>
        </p:spPr>
      </p:pic>
    </p:spTree>
    <p:extLst>
      <p:ext uri="{BB962C8B-B14F-4D97-AF65-F5344CB8AC3E}">
        <p14:creationId xmlns:p14="http://schemas.microsoft.com/office/powerpoint/2010/main" val="32167356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164C0-3948-A4D5-CB42-F6118F2624F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DE35C41B-4D19-6EE2-809D-9E33C5D14FF6}"/>
              </a:ext>
            </a:extLst>
          </p:cNvPr>
          <p:cNvSpPr>
            <a:spLocks noGrp="1"/>
          </p:cNvSpPr>
          <p:nvPr>
            <p:ph type="dt" sz="half" idx="10"/>
          </p:nvPr>
        </p:nvSpPr>
        <p:spPr/>
        <p:txBody>
          <a:bodyPr/>
          <a:lstStyle/>
          <a:p>
            <a:fld id="{8E8EE2C9-DBC1-4826-BFB1-EBB92160DF12}" type="datetime6">
              <a:rPr lang="en-US" smtClean="0"/>
              <a:t>March 26</a:t>
            </a:fld>
            <a:endParaRPr lang="de-DE" dirty="0"/>
          </a:p>
        </p:txBody>
      </p:sp>
      <p:sp>
        <p:nvSpPr>
          <p:cNvPr id="5" name="Textplatzhalter 4">
            <a:extLst>
              <a:ext uri="{FF2B5EF4-FFF2-40B4-BE49-F238E27FC236}">
                <a16:creationId xmlns:a16="http://schemas.microsoft.com/office/drawing/2014/main" id="{DF5D1166-2D0F-6BC8-F588-A608AD547634}"/>
              </a:ext>
            </a:extLst>
          </p:cNvPr>
          <p:cNvSpPr>
            <a:spLocks noGrp="1"/>
          </p:cNvSpPr>
          <p:nvPr>
            <p:ph type="body" sz="quarter" idx="12"/>
          </p:nvPr>
        </p:nvSpPr>
        <p:spPr/>
        <p:txBody>
          <a:bodyPr/>
          <a:lstStyle/>
          <a:p>
            <a:r>
              <a:rPr lang="de-DE" dirty="0"/>
              <a:t>Summary &amp; Conclusion</a:t>
            </a:r>
          </a:p>
        </p:txBody>
      </p:sp>
      <p:sp>
        <p:nvSpPr>
          <p:cNvPr id="4" name="Foliennummernplatzhalter 3">
            <a:extLst>
              <a:ext uri="{FF2B5EF4-FFF2-40B4-BE49-F238E27FC236}">
                <a16:creationId xmlns:a16="http://schemas.microsoft.com/office/drawing/2014/main" id="{6EF77E58-8AD5-11BD-E0D9-164DE4D60289}"/>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33</a:t>
            </a:fld>
            <a:endParaRPr lang="de-DE"/>
          </a:p>
        </p:txBody>
      </p:sp>
      <p:sp>
        <p:nvSpPr>
          <p:cNvPr id="7" name="Text Placeholder 6">
            <a:extLst>
              <a:ext uri="{FF2B5EF4-FFF2-40B4-BE49-F238E27FC236}">
                <a16:creationId xmlns:a16="http://schemas.microsoft.com/office/drawing/2014/main" id="{D6B377BC-E539-DEA1-22EF-6676B5DE325A}"/>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366928553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C87F0-586A-DBA2-3586-0BC5B383959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2F537F16-92B0-A34C-6A18-EAC0737B2540}"/>
              </a:ext>
            </a:extLst>
          </p:cNvPr>
          <p:cNvSpPr>
            <a:spLocks noGrp="1"/>
          </p:cNvSpPr>
          <p:nvPr>
            <p:ph type="dt" sz="half" idx="10"/>
          </p:nvPr>
        </p:nvSpPr>
        <p:spPr/>
        <p:txBody>
          <a:bodyPr/>
          <a:lstStyle/>
          <a:p>
            <a:fld id="{385173E7-0C14-46DE-B619-1ACF8921CEF4}" type="datetime6">
              <a:rPr lang="en-US" smtClean="0"/>
              <a:t>March 26</a:t>
            </a:fld>
            <a:endParaRPr lang="de-DE" dirty="0"/>
          </a:p>
        </p:txBody>
      </p:sp>
      <p:sp>
        <p:nvSpPr>
          <p:cNvPr id="3" name="Fußzeilenplatzhalter 2">
            <a:extLst>
              <a:ext uri="{FF2B5EF4-FFF2-40B4-BE49-F238E27FC236}">
                <a16:creationId xmlns:a16="http://schemas.microsoft.com/office/drawing/2014/main" id="{C353F292-74FA-44CF-A513-3830EF1AB74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8C0A5C4-C7C7-F5F9-E2C3-496ABA487621}"/>
              </a:ext>
            </a:extLst>
          </p:cNvPr>
          <p:cNvSpPr>
            <a:spLocks noGrp="1"/>
          </p:cNvSpPr>
          <p:nvPr>
            <p:ph type="sldNum" sz="quarter" idx="12"/>
          </p:nvPr>
        </p:nvSpPr>
        <p:spPr/>
        <p:txBody>
          <a:bodyPr/>
          <a:lstStyle/>
          <a:p>
            <a:fld id="{D3A9EDD9-2578-4372-8132-10947A418667}" type="slidenum">
              <a:rPr lang="de-DE" smtClean="0"/>
              <a:t>34</a:t>
            </a:fld>
            <a:endParaRPr lang="de-DE"/>
          </a:p>
        </p:txBody>
      </p:sp>
      <p:sp>
        <p:nvSpPr>
          <p:cNvPr id="9" name="Titel 8">
            <a:extLst>
              <a:ext uri="{FF2B5EF4-FFF2-40B4-BE49-F238E27FC236}">
                <a16:creationId xmlns:a16="http://schemas.microsoft.com/office/drawing/2014/main" id="{ECE68573-0162-45C3-C7AD-1BD5A4F87D96}"/>
              </a:ext>
            </a:extLst>
          </p:cNvPr>
          <p:cNvSpPr>
            <a:spLocks noGrp="1"/>
          </p:cNvSpPr>
          <p:nvPr>
            <p:ph type="title"/>
          </p:nvPr>
        </p:nvSpPr>
        <p:spPr/>
        <p:txBody>
          <a:bodyPr/>
          <a:lstStyle/>
          <a:p>
            <a:r>
              <a:rPr lang="de-DE" dirty="0"/>
              <a:t>Summary &amp; Conclusion</a:t>
            </a:r>
          </a:p>
        </p:txBody>
      </p:sp>
      <p:sp>
        <p:nvSpPr>
          <p:cNvPr id="11" name="TextBox 10">
            <a:extLst>
              <a:ext uri="{FF2B5EF4-FFF2-40B4-BE49-F238E27FC236}">
                <a16:creationId xmlns:a16="http://schemas.microsoft.com/office/drawing/2014/main" id="{C85F613F-AF88-0685-8D5B-6DBDA888D8E2}"/>
              </a:ext>
            </a:extLst>
          </p:cNvPr>
          <p:cNvSpPr txBox="1"/>
          <p:nvPr/>
        </p:nvSpPr>
        <p:spPr>
          <a:xfrm>
            <a:off x="575733" y="1997839"/>
            <a:ext cx="9293412" cy="3139321"/>
          </a:xfrm>
          <a:prstGeom prst="rect">
            <a:avLst/>
          </a:prstGeom>
          <a:noFill/>
        </p:spPr>
        <p:txBody>
          <a:bodyPr wrap="square" rtlCol="0">
            <a:spAutoFit/>
          </a:bodyPr>
          <a:lstStyle/>
          <a:p>
            <a:r>
              <a:rPr lang="de-DE" b="1" dirty="0"/>
              <a:t>Key Findings:</a:t>
            </a:r>
          </a:p>
          <a:p>
            <a:pPr marL="285750" indent="-285750">
              <a:buFont typeface="Arial" panose="020B0604020202020204" pitchFamily="34" charset="0"/>
              <a:buChar char="•"/>
            </a:pPr>
            <a:r>
              <a:rPr lang="de-DE" b="1" dirty="0"/>
              <a:t>Overall best performance: </a:t>
            </a:r>
            <a:r>
              <a:rPr lang="de-DE" dirty="0"/>
              <a:t>SDA, N-Gram, and CNN </a:t>
            </a:r>
          </a:p>
          <a:p>
            <a:pPr marL="285750" indent="-285750">
              <a:buFont typeface="Arial" panose="020B0604020202020204" pitchFamily="34" charset="0"/>
              <a:buChar char="•"/>
            </a:pPr>
            <a:r>
              <a:rPr lang="de-DE" b="1" dirty="0"/>
              <a:t>Overall worst performance: </a:t>
            </a:r>
            <a:r>
              <a:rPr lang="de-DE" dirty="0"/>
              <a:t>GAN and traditional ML classifiers</a:t>
            </a:r>
          </a:p>
          <a:p>
            <a:pPr marL="285750" indent="-285750">
              <a:buFont typeface="Arial" panose="020B0604020202020204" pitchFamily="34" charset="0"/>
              <a:buChar char="•"/>
            </a:pPr>
            <a:r>
              <a:rPr lang="de-DE" b="1" dirty="0"/>
              <a:t>Best data respresentation: </a:t>
            </a:r>
            <a:r>
              <a:rPr lang="de-DE" dirty="0"/>
              <a:t>Raw packet data</a:t>
            </a:r>
          </a:p>
          <a:p>
            <a:pPr marL="285750" indent="-285750">
              <a:buFont typeface="Arial" panose="020B0604020202020204" pitchFamily="34" charset="0"/>
              <a:buChar char="•"/>
            </a:pPr>
            <a:r>
              <a:rPr lang="de-DE" b="1" dirty="0"/>
              <a:t>Worst data representation: </a:t>
            </a:r>
            <a:r>
              <a:rPr lang="de-DE" dirty="0"/>
              <a:t>RE15 (smallest aggregation representation)</a:t>
            </a:r>
          </a:p>
          <a:p>
            <a:pPr marL="285750" indent="-285750">
              <a:buFont typeface="Arial" panose="020B0604020202020204" pitchFamily="34" charset="0"/>
              <a:buChar char="•"/>
            </a:pPr>
            <a:r>
              <a:rPr lang="de-DE" b="1" dirty="0"/>
              <a:t>Impact of reverse engineering (compared to raw): </a:t>
            </a:r>
          </a:p>
          <a:p>
            <a:pPr marL="742950" lvl="1" indent="-285750">
              <a:buFont typeface="Arial" panose="020B0604020202020204" pitchFamily="34" charset="0"/>
              <a:buChar char="•"/>
            </a:pPr>
            <a:r>
              <a:rPr lang="de-DE" dirty="0"/>
              <a:t>Comparable performance for CNN, autoencoder and ResNet </a:t>
            </a:r>
          </a:p>
          <a:p>
            <a:pPr marL="742950" lvl="1" indent="-285750">
              <a:buFont typeface="Arial" panose="020B0604020202020204" pitchFamily="34" charset="0"/>
              <a:buChar char="•"/>
            </a:pPr>
            <a:r>
              <a:rPr lang="de-DE" dirty="0"/>
              <a:t>Moderate performance loss for GAN and N-gram-based detection </a:t>
            </a:r>
          </a:p>
          <a:p>
            <a:pPr marL="742950" lvl="1" indent="-285750">
              <a:buFont typeface="Arial" panose="020B0604020202020204" pitchFamily="34" charset="0"/>
              <a:buChar char="•"/>
            </a:pPr>
            <a:r>
              <a:rPr lang="de-DE" dirty="0"/>
              <a:t>Severe performance loss for traditional ML methods (only approach relying on explicit feature extraction)</a:t>
            </a:r>
            <a:endParaRPr lang="de-DE" b="1" dirty="0"/>
          </a:p>
          <a:p>
            <a:pPr marL="285750" indent="-285750">
              <a:buFont typeface="Arial" panose="020B0604020202020204" pitchFamily="34" charset="0"/>
              <a:buChar char="•"/>
            </a:pPr>
            <a:r>
              <a:rPr lang="de-DE" b="1" dirty="0"/>
              <a:t>Evaluation scenario impact: </a:t>
            </a:r>
            <a:r>
              <a:rPr lang="de-DE" dirty="0"/>
              <a:t>Scenario 3 results in the lowest overall performance</a:t>
            </a:r>
          </a:p>
        </p:txBody>
      </p:sp>
    </p:spTree>
    <p:extLst>
      <p:ext uri="{BB962C8B-B14F-4D97-AF65-F5344CB8AC3E}">
        <p14:creationId xmlns:p14="http://schemas.microsoft.com/office/powerpoint/2010/main" val="39337065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2FFE-A78B-BADF-FE6E-0B23316D4E72}"/>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27B727BF-379F-2565-5178-445DBEA97660}"/>
              </a:ext>
            </a:extLst>
          </p:cNvPr>
          <p:cNvSpPr>
            <a:spLocks noGrp="1"/>
          </p:cNvSpPr>
          <p:nvPr>
            <p:ph type="dt" sz="half" idx="10"/>
          </p:nvPr>
        </p:nvSpPr>
        <p:spPr/>
        <p:txBody>
          <a:bodyPr/>
          <a:lstStyle/>
          <a:p>
            <a:fld id="{B70DB8C1-9839-4F1D-8CA3-17FEE0124380}" type="datetime6">
              <a:rPr lang="en-US" smtClean="0"/>
              <a:t>March 26</a:t>
            </a:fld>
            <a:endParaRPr lang="de-DE" dirty="0"/>
          </a:p>
        </p:txBody>
      </p:sp>
      <p:sp>
        <p:nvSpPr>
          <p:cNvPr id="3" name="Fußzeilenplatzhalter 2">
            <a:extLst>
              <a:ext uri="{FF2B5EF4-FFF2-40B4-BE49-F238E27FC236}">
                <a16:creationId xmlns:a16="http://schemas.microsoft.com/office/drawing/2014/main" id="{FFB517C3-87CF-B43D-586B-932BB4123970}"/>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EF8E7F41-51B8-C3B1-D560-9329D2EB4C13}"/>
              </a:ext>
            </a:extLst>
          </p:cNvPr>
          <p:cNvSpPr>
            <a:spLocks noGrp="1"/>
          </p:cNvSpPr>
          <p:nvPr>
            <p:ph type="sldNum" sz="quarter" idx="12"/>
          </p:nvPr>
        </p:nvSpPr>
        <p:spPr/>
        <p:txBody>
          <a:bodyPr/>
          <a:lstStyle/>
          <a:p>
            <a:fld id="{D3A9EDD9-2578-4372-8132-10947A418667}" type="slidenum">
              <a:rPr lang="de-DE" smtClean="0"/>
              <a:t>35</a:t>
            </a:fld>
            <a:endParaRPr lang="de-DE"/>
          </a:p>
        </p:txBody>
      </p:sp>
      <p:sp>
        <p:nvSpPr>
          <p:cNvPr id="9" name="Titel 8">
            <a:extLst>
              <a:ext uri="{FF2B5EF4-FFF2-40B4-BE49-F238E27FC236}">
                <a16:creationId xmlns:a16="http://schemas.microsoft.com/office/drawing/2014/main" id="{E60BA8FD-EFC5-4BEC-1642-518B4672BF38}"/>
              </a:ext>
            </a:extLst>
          </p:cNvPr>
          <p:cNvSpPr>
            <a:spLocks noGrp="1"/>
          </p:cNvSpPr>
          <p:nvPr>
            <p:ph type="title"/>
          </p:nvPr>
        </p:nvSpPr>
        <p:spPr/>
        <p:txBody>
          <a:bodyPr/>
          <a:lstStyle/>
          <a:p>
            <a:r>
              <a:rPr lang="de-DE" dirty="0"/>
              <a:t>Summary &amp; Conclusion</a:t>
            </a:r>
          </a:p>
        </p:txBody>
      </p:sp>
      <p:sp>
        <p:nvSpPr>
          <p:cNvPr id="6" name="TextBox 5">
            <a:extLst>
              <a:ext uri="{FF2B5EF4-FFF2-40B4-BE49-F238E27FC236}">
                <a16:creationId xmlns:a16="http://schemas.microsoft.com/office/drawing/2014/main" id="{1D52327D-C82E-8C2E-2414-D9CD77E0C929}"/>
              </a:ext>
            </a:extLst>
          </p:cNvPr>
          <p:cNvSpPr txBox="1"/>
          <p:nvPr/>
        </p:nvSpPr>
        <p:spPr>
          <a:xfrm>
            <a:off x="1017992" y="2240223"/>
            <a:ext cx="8813302" cy="923330"/>
          </a:xfrm>
          <a:prstGeom prst="rect">
            <a:avLst/>
          </a:prstGeom>
          <a:noFill/>
          <a:ln>
            <a:solidFill>
              <a:schemeClr val="tx2"/>
            </a:solidFill>
          </a:ln>
        </p:spPr>
        <p:txBody>
          <a:bodyPr wrap="square">
            <a:spAutoFit/>
          </a:bodyPr>
          <a:lstStyle/>
          <a:p>
            <a:r>
              <a:rPr lang="en-US" b="1" dirty="0">
                <a:solidFill>
                  <a:schemeClr val="tx1">
                    <a:lumMod val="50000"/>
                  </a:schemeClr>
                </a:solidFill>
              </a:rPr>
              <a:t>Main Question:</a:t>
            </a:r>
          </a:p>
          <a:p>
            <a:r>
              <a:rPr lang="en-US" dirty="0">
                <a:solidFill>
                  <a:schemeClr val="tx1">
                    <a:lumMod val="50000"/>
                  </a:schemeClr>
                </a:solidFill>
              </a:rPr>
              <a:t>Can anomaly detection methods be designed to operate without relying on protocol knowledge and achieve good performance on reverse engineered traffic?</a:t>
            </a:r>
          </a:p>
        </p:txBody>
      </p:sp>
      <p:sp>
        <p:nvSpPr>
          <p:cNvPr id="10" name="TextBox 9">
            <a:extLst>
              <a:ext uri="{FF2B5EF4-FFF2-40B4-BE49-F238E27FC236}">
                <a16:creationId xmlns:a16="http://schemas.microsoft.com/office/drawing/2014/main" id="{7597C737-428D-71BF-0946-B8B8917A7AC8}"/>
              </a:ext>
            </a:extLst>
          </p:cNvPr>
          <p:cNvSpPr txBox="1"/>
          <p:nvPr/>
        </p:nvSpPr>
        <p:spPr>
          <a:xfrm>
            <a:off x="575733" y="3875759"/>
            <a:ext cx="10585326" cy="923330"/>
          </a:xfrm>
          <a:prstGeom prst="rect">
            <a:avLst/>
          </a:prstGeom>
          <a:noFill/>
        </p:spPr>
        <p:txBody>
          <a:bodyPr wrap="square">
            <a:spAutoFit/>
          </a:bodyPr>
          <a:lstStyle/>
          <a:p>
            <a:pPr marL="285750" indent="-285750">
              <a:buFont typeface="Arial" panose="020B0604020202020204" pitchFamily="34" charset="0"/>
              <a:buChar char="•"/>
            </a:pPr>
            <a:r>
              <a:rPr lang="en-US" dirty="0"/>
              <a:t>Anomaly detection without protocol knowledge is feasible using raw packets</a:t>
            </a:r>
          </a:p>
          <a:p>
            <a:pPr marL="285750" indent="-285750">
              <a:buFont typeface="Arial" panose="020B0604020202020204" pitchFamily="34" charset="0"/>
              <a:buChar char="•"/>
            </a:pPr>
            <a:r>
              <a:rPr lang="en-US" dirty="0"/>
              <a:t>Reverse engineering compresses packet data by extracting key features and concatenating packets</a:t>
            </a:r>
          </a:p>
          <a:p>
            <a:pPr marL="285750" indent="-285750">
              <a:buFont typeface="Arial" panose="020B0604020202020204" pitchFamily="34" charset="0"/>
              <a:buChar char="•"/>
            </a:pPr>
            <a:r>
              <a:rPr lang="en-US" dirty="0"/>
              <a:t>The resulting runtime gains during training come with method dependent performance trade-offs</a:t>
            </a:r>
          </a:p>
        </p:txBody>
      </p:sp>
    </p:spTree>
    <p:extLst>
      <p:ext uri="{BB962C8B-B14F-4D97-AF65-F5344CB8AC3E}">
        <p14:creationId xmlns:p14="http://schemas.microsoft.com/office/powerpoint/2010/main" val="58691619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0331D7-DDA7-6708-F001-8AE2B9AB32E4}"/>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471B56AF-0869-D4BA-0DAC-D20A61D2915A}"/>
              </a:ext>
            </a:extLst>
          </p:cNvPr>
          <p:cNvSpPr>
            <a:spLocks noGrp="1"/>
          </p:cNvSpPr>
          <p:nvPr>
            <p:ph type="dt" sz="half" idx="10"/>
          </p:nvPr>
        </p:nvSpPr>
        <p:spPr/>
        <p:txBody>
          <a:bodyPr/>
          <a:lstStyle/>
          <a:p>
            <a:fld id="{875B2A25-C17B-4184-AC65-BEEE82BE7050}" type="datetime6">
              <a:rPr lang="en-US" smtClean="0"/>
              <a:t>March 26</a:t>
            </a:fld>
            <a:endParaRPr lang="de-DE" dirty="0"/>
          </a:p>
        </p:txBody>
      </p:sp>
      <p:sp>
        <p:nvSpPr>
          <p:cNvPr id="3" name="Fußzeilenplatzhalter 2">
            <a:extLst>
              <a:ext uri="{FF2B5EF4-FFF2-40B4-BE49-F238E27FC236}">
                <a16:creationId xmlns:a16="http://schemas.microsoft.com/office/drawing/2014/main" id="{F6A01656-A398-B522-5F36-2A009AF9556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ABF5A20-93C9-7090-BAD5-F325689A5C8F}"/>
              </a:ext>
            </a:extLst>
          </p:cNvPr>
          <p:cNvSpPr>
            <a:spLocks noGrp="1"/>
          </p:cNvSpPr>
          <p:nvPr>
            <p:ph type="sldNum" sz="quarter" idx="12"/>
          </p:nvPr>
        </p:nvSpPr>
        <p:spPr/>
        <p:txBody>
          <a:bodyPr/>
          <a:lstStyle/>
          <a:p>
            <a:fld id="{D3A9EDD9-2578-4372-8132-10947A418667}" type="slidenum">
              <a:rPr lang="de-DE" smtClean="0"/>
              <a:t>36</a:t>
            </a:fld>
            <a:endParaRPr lang="de-DE"/>
          </a:p>
        </p:txBody>
      </p:sp>
      <p:sp>
        <p:nvSpPr>
          <p:cNvPr id="9" name="Titel 8">
            <a:extLst>
              <a:ext uri="{FF2B5EF4-FFF2-40B4-BE49-F238E27FC236}">
                <a16:creationId xmlns:a16="http://schemas.microsoft.com/office/drawing/2014/main" id="{E71C1D76-3425-EF63-04D5-D90788F84651}"/>
              </a:ext>
            </a:extLst>
          </p:cNvPr>
          <p:cNvSpPr>
            <a:spLocks noGrp="1"/>
          </p:cNvSpPr>
          <p:nvPr>
            <p:ph type="title"/>
          </p:nvPr>
        </p:nvSpPr>
        <p:spPr/>
        <p:txBody>
          <a:bodyPr/>
          <a:lstStyle/>
          <a:p>
            <a:r>
              <a:rPr lang="de-DE" dirty="0"/>
              <a:t>Summary &amp; Conclusion</a:t>
            </a:r>
          </a:p>
        </p:txBody>
      </p:sp>
      <p:sp>
        <p:nvSpPr>
          <p:cNvPr id="5" name="TextBox 4">
            <a:extLst>
              <a:ext uri="{FF2B5EF4-FFF2-40B4-BE49-F238E27FC236}">
                <a16:creationId xmlns:a16="http://schemas.microsoft.com/office/drawing/2014/main" id="{C4F5070C-9B72-47D5-C64C-179A5F16E18F}"/>
              </a:ext>
            </a:extLst>
          </p:cNvPr>
          <p:cNvSpPr txBox="1"/>
          <p:nvPr/>
        </p:nvSpPr>
        <p:spPr>
          <a:xfrm>
            <a:off x="575733" y="2565951"/>
            <a:ext cx="10237694" cy="1200329"/>
          </a:xfrm>
          <a:prstGeom prst="rect">
            <a:avLst/>
          </a:prstGeom>
          <a:noFill/>
        </p:spPr>
        <p:txBody>
          <a:bodyPr wrap="square" rtlCol="0">
            <a:spAutoFit/>
          </a:bodyPr>
          <a:lstStyle/>
          <a:p>
            <a:r>
              <a:rPr lang="de-DE" b="1" dirty="0"/>
              <a:t>Future Work:</a:t>
            </a:r>
          </a:p>
          <a:p>
            <a:pPr marL="285750" indent="-285750">
              <a:buFont typeface="Arial" panose="020B0604020202020204" pitchFamily="34" charset="0"/>
              <a:buChar char="•"/>
            </a:pPr>
            <a:r>
              <a:rPr lang="de-DE" dirty="0"/>
              <a:t>Analyse performance of reverse-engineered representation without concatination</a:t>
            </a:r>
          </a:p>
          <a:p>
            <a:pPr marL="285750" indent="-285750">
              <a:buFont typeface="Arial" panose="020B0604020202020204" pitchFamily="34" charset="0"/>
              <a:buChar char="•"/>
            </a:pPr>
            <a:r>
              <a:rPr lang="de-DE" dirty="0"/>
              <a:t>Evaluate alternative feature extraction methods for traditional ML</a:t>
            </a:r>
          </a:p>
          <a:p>
            <a:pPr marL="285750" indent="-285750">
              <a:buFont typeface="Arial" panose="020B0604020202020204" pitchFamily="34" charset="0"/>
              <a:buChar char="•"/>
            </a:pPr>
            <a:r>
              <a:rPr lang="de-DE" dirty="0"/>
              <a:t>Evaluate the approach on datasets from realistic testbeds with less repetitive attack patterns</a:t>
            </a:r>
          </a:p>
        </p:txBody>
      </p:sp>
    </p:spTree>
    <p:extLst>
      <p:ext uri="{BB962C8B-B14F-4D97-AF65-F5344CB8AC3E}">
        <p14:creationId xmlns:p14="http://schemas.microsoft.com/office/powerpoint/2010/main" val="140669467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A904B-A91C-A060-D2B4-B7C02E0A299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490E4B01-F8AA-46EC-F1B0-B36CF237FDBE}"/>
              </a:ext>
            </a:extLst>
          </p:cNvPr>
          <p:cNvSpPr>
            <a:spLocks noGrp="1"/>
          </p:cNvSpPr>
          <p:nvPr>
            <p:ph type="dt" sz="half" idx="10"/>
          </p:nvPr>
        </p:nvSpPr>
        <p:spPr/>
        <p:txBody>
          <a:bodyPr/>
          <a:lstStyle/>
          <a:p>
            <a:fld id="{A6208958-E654-4355-B558-C4C10BB408AC}" type="datetime6">
              <a:rPr lang="en-US" smtClean="0"/>
              <a:t>March 26</a:t>
            </a:fld>
            <a:endParaRPr lang="de-DE" dirty="0"/>
          </a:p>
        </p:txBody>
      </p:sp>
      <p:sp>
        <p:nvSpPr>
          <p:cNvPr id="5" name="Textplatzhalter 4">
            <a:extLst>
              <a:ext uri="{FF2B5EF4-FFF2-40B4-BE49-F238E27FC236}">
                <a16:creationId xmlns:a16="http://schemas.microsoft.com/office/drawing/2014/main" id="{C76A55D8-5706-1D57-B129-A5E9126A22AC}"/>
              </a:ext>
            </a:extLst>
          </p:cNvPr>
          <p:cNvSpPr>
            <a:spLocks noGrp="1"/>
          </p:cNvSpPr>
          <p:nvPr>
            <p:ph type="body" sz="quarter" idx="12"/>
          </p:nvPr>
        </p:nvSpPr>
        <p:spPr/>
        <p:txBody>
          <a:bodyPr/>
          <a:lstStyle/>
          <a:p>
            <a:r>
              <a:rPr lang="de-DE" dirty="0"/>
              <a:t>Q&amp;A</a:t>
            </a:r>
          </a:p>
        </p:txBody>
      </p:sp>
      <p:sp>
        <p:nvSpPr>
          <p:cNvPr id="4" name="Foliennummernplatzhalter 3">
            <a:extLst>
              <a:ext uri="{FF2B5EF4-FFF2-40B4-BE49-F238E27FC236}">
                <a16:creationId xmlns:a16="http://schemas.microsoft.com/office/drawing/2014/main" id="{4234B704-7E7F-7D02-561F-360D72CD5C71}"/>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37</a:t>
            </a:fld>
            <a:endParaRPr lang="de-DE"/>
          </a:p>
        </p:txBody>
      </p:sp>
      <p:sp>
        <p:nvSpPr>
          <p:cNvPr id="7" name="Text Placeholder 6">
            <a:extLst>
              <a:ext uri="{FF2B5EF4-FFF2-40B4-BE49-F238E27FC236}">
                <a16:creationId xmlns:a16="http://schemas.microsoft.com/office/drawing/2014/main" id="{1A55F7D9-EFF6-8DF0-C965-4FC5444CF1AD}"/>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3759174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C1A154-DBE3-8A41-909D-CC41B4219A74}"/>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ABD62C3-7319-0657-F37C-75E11BC56192}"/>
              </a:ext>
            </a:extLst>
          </p:cNvPr>
          <p:cNvSpPr>
            <a:spLocks noGrp="1"/>
          </p:cNvSpPr>
          <p:nvPr>
            <p:ph type="dt" sz="half" idx="10"/>
          </p:nvPr>
        </p:nvSpPr>
        <p:spPr/>
        <p:txBody>
          <a:bodyPr/>
          <a:lstStyle/>
          <a:p>
            <a:fld id="{A6208958-E654-4355-B558-C4C10BB408AC}" type="datetime6">
              <a:rPr lang="en-US" smtClean="0"/>
              <a:t>March 26</a:t>
            </a:fld>
            <a:endParaRPr lang="de-DE" dirty="0"/>
          </a:p>
        </p:txBody>
      </p:sp>
      <p:sp>
        <p:nvSpPr>
          <p:cNvPr id="5" name="Textplatzhalter 4">
            <a:extLst>
              <a:ext uri="{FF2B5EF4-FFF2-40B4-BE49-F238E27FC236}">
                <a16:creationId xmlns:a16="http://schemas.microsoft.com/office/drawing/2014/main" id="{DDCB0EFA-A334-FFE8-095F-D3766AE1BC1F}"/>
              </a:ext>
            </a:extLst>
          </p:cNvPr>
          <p:cNvSpPr>
            <a:spLocks noGrp="1"/>
          </p:cNvSpPr>
          <p:nvPr>
            <p:ph type="body" sz="quarter" idx="12"/>
          </p:nvPr>
        </p:nvSpPr>
        <p:spPr/>
        <p:txBody>
          <a:bodyPr/>
          <a:lstStyle/>
          <a:p>
            <a:r>
              <a:rPr lang="de-DE" dirty="0"/>
              <a:t>Thank you!</a:t>
            </a:r>
          </a:p>
        </p:txBody>
      </p:sp>
      <p:sp>
        <p:nvSpPr>
          <p:cNvPr id="4" name="Foliennummernplatzhalter 3">
            <a:extLst>
              <a:ext uri="{FF2B5EF4-FFF2-40B4-BE49-F238E27FC236}">
                <a16:creationId xmlns:a16="http://schemas.microsoft.com/office/drawing/2014/main" id="{6E0C93CC-9928-29D6-5545-EA8061309DF0}"/>
              </a:ext>
            </a:extLst>
          </p:cNvPr>
          <p:cNvSpPr>
            <a:spLocks noGrp="1"/>
          </p:cNvSpPr>
          <p:nvPr>
            <p:ph type="sldNum" sz="quarter" idx="4294967295"/>
          </p:nvPr>
        </p:nvSpPr>
        <p:spPr>
          <a:xfrm>
            <a:off x="11623675" y="6491288"/>
            <a:ext cx="568325" cy="180975"/>
          </a:xfrm>
          <a:prstGeom prst="rect">
            <a:avLst/>
          </a:prstGeom>
        </p:spPr>
        <p:txBody>
          <a:bodyPr/>
          <a:lstStyle/>
          <a:p>
            <a:fld id="{D3A9EDD9-2578-4372-8132-10947A418667}" type="slidenum">
              <a:rPr lang="de-DE" smtClean="0"/>
              <a:t>38</a:t>
            </a:fld>
            <a:endParaRPr lang="de-DE"/>
          </a:p>
        </p:txBody>
      </p:sp>
      <p:sp>
        <p:nvSpPr>
          <p:cNvPr id="7" name="Text Placeholder 6">
            <a:extLst>
              <a:ext uri="{FF2B5EF4-FFF2-40B4-BE49-F238E27FC236}">
                <a16:creationId xmlns:a16="http://schemas.microsoft.com/office/drawing/2014/main" id="{56B95601-A488-2629-D625-09F301EE19EA}"/>
              </a:ext>
            </a:extLst>
          </p:cNvPr>
          <p:cNvSpPr>
            <a:spLocks noGrp="1"/>
          </p:cNvSpPr>
          <p:nvPr>
            <p:ph type="body" sz="quarter" idx="11"/>
          </p:nvPr>
        </p:nvSpPr>
        <p:spPr/>
        <p:txBody>
          <a:bodyPr/>
          <a:lstStyle/>
          <a:p>
            <a:endParaRPr lang="de-DE" dirty="0"/>
          </a:p>
        </p:txBody>
      </p:sp>
    </p:spTree>
    <p:extLst>
      <p:ext uri="{BB962C8B-B14F-4D97-AF65-F5344CB8AC3E}">
        <p14:creationId xmlns:p14="http://schemas.microsoft.com/office/powerpoint/2010/main" val="191206032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D1ACBC-25DC-DD09-224B-67659AEA2DF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A54C0C8F-5B72-4846-0BAC-5585B8B31A8F}"/>
              </a:ext>
            </a:extLst>
          </p:cNvPr>
          <p:cNvSpPr>
            <a:spLocks noGrp="1"/>
          </p:cNvSpPr>
          <p:nvPr>
            <p:ph type="dt" sz="half" idx="10"/>
          </p:nvPr>
        </p:nvSpPr>
        <p:spPr/>
        <p:txBody>
          <a:bodyPr/>
          <a:lstStyle/>
          <a:p>
            <a:fld id="{F4859CD6-4835-4C5A-B560-DB308C6D3227}" type="datetime6">
              <a:rPr lang="en-US" smtClean="0"/>
              <a:t>March 26</a:t>
            </a:fld>
            <a:endParaRPr lang="de-DE" dirty="0"/>
          </a:p>
        </p:txBody>
      </p:sp>
      <p:sp>
        <p:nvSpPr>
          <p:cNvPr id="3" name="Fußzeilenplatzhalter 2">
            <a:extLst>
              <a:ext uri="{FF2B5EF4-FFF2-40B4-BE49-F238E27FC236}">
                <a16:creationId xmlns:a16="http://schemas.microsoft.com/office/drawing/2014/main" id="{6E483AC7-DAE2-F235-2650-B472E3056152}"/>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6708733F-AB06-42B8-9EF3-702A0DDACA9C}"/>
              </a:ext>
            </a:extLst>
          </p:cNvPr>
          <p:cNvSpPr>
            <a:spLocks noGrp="1"/>
          </p:cNvSpPr>
          <p:nvPr>
            <p:ph type="sldNum" sz="quarter" idx="12"/>
          </p:nvPr>
        </p:nvSpPr>
        <p:spPr/>
        <p:txBody>
          <a:bodyPr/>
          <a:lstStyle/>
          <a:p>
            <a:fld id="{D3A9EDD9-2578-4372-8132-10947A418667}" type="slidenum">
              <a:rPr lang="de-DE" smtClean="0"/>
              <a:t>39</a:t>
            </a:fld>
            <a:endParaRPr lang="de-DE"/>
          </a:p>
        </p:txBody>
      </p:sp>
      <p:sp>
        <p:nvSpPr>
          <p:cNvPr id="9" name="Titel 8">
            <a:extLst>
              <a:ext uri="{FF2B5EF4-FFF2-40B4-BE49-F238E27FC236}">
                <a16:creationId xmlns:a16="http://schemas.microsoft.com/office/drawing/2014/main" id="{1A384359-CBF5-03DB-4D58-3C8FCD236881}"/>
              </a:ext>
            </a:extLst>
          </p:cNvPr>
          <p:cNvSpPr>
            <a:spLocks noGrp="1"/>
          </p:cNvSpPr>
          <p:nvPr>
            <p:ph type="title"/>
          </p:nvPr>
        </p:nvSpPr>
        <p:spPr/>
        <p:txBody>
          <a:bodyPr/>
          <a:lstStyle/>
          <a:p>
            <a:r>
              <a:rPr lang="de-DE" dirty="0"/>
              <a:t>Datasets	</a:t>
            </a:r>
          </a:p>
        </p:txBody>
      </p:sp>
      <p:sp>
        <p:nvSpPr>
          <p:cNvPr id="12" name="Textplatzhalter 11">
            <a:extLst>
              <a:ext uri="{FF2B5EF4-FFF2-40B4-BE49-F238E27FC236}">
                <a16:creationId xmlns:a16="http://schemas.microsoft.com/office/drawing/2014/main" id="{46B42AE3-47E2-00DF-058A-2962A0970BCB}"/>
              </a:ext>
            </a:extLst>
          </p:cNvPr>
          <p:cNvSpPr>
            <a:spLocks noGrp="1"/>
          </p:cNvSpPr>
          <p:nvPr>
            <p:ph type="body" sz="quarter" idx="14"/>
          </p:nvPr>
        </p:nvSpPr>
        <p:spPr/>
        <p:txBody>
          <a:bodyPr/>
          <a:lstStyle/>
          <a:p>
            <a:r>
              <a:rPr lang="de-DE" dirty="0"/>
              <a:t>2017QUTS7Comm – Statistical Analysis</a:t>
            </a:r>
          </a:p>
        </p:txBody>
      </p:sp>
      <p:sp>
        <p:nvSpPr>
          <p:cNvPr id="5" name="TextBox 4">
            <a:extLst>
              <a:ext uri="{FF2B5EF4-FFF2-40B4-BE49-F238E27FC236}">
                <a16:creationId xmlns:a16="http://schemas.microsoft.com/office/drawing/2014/main" id="{11CB3F95-C1C3-84FD-A00D-F4D3F0E34621}"/>
              </a:ext>
            </a:extLst>
          </p:cNvPr>
          <p:cNvSpPr txBox="1"/>
          <p:nvPr/>
        </p:nvSpPr>
        <p:spPr>
          <a:xfrm>
            <a:off x="504955" y="1735246"/>
            <a:ext cx="10147513" cy="923330"/>
          </a:xfrm>
          <a:prstGeom prst="rect">
            <a:avLst/>
          </a:prstGeom>
          <a:noFill/>
        </p:spPr>
        <p:txBody>
          <a:bodyPr wrap="square" rtlCol="0">
            <a:spAutoFit/>
          </a:bodyPr>
          <a:lstStyle/>
          <a:p>
            <a:pPr marL="285750" indent="-285750">
              <a:buFont typeface="Arial" panose="020B0604020202020204" pitchFamily="34" charset="0"/>
              <a:buChar char="•"/>
            </a:pPr>
            <a:r>
              <a:rPr lang="de-DE" dirty="0"/>
              <a:t>Protocols Discovered: 99,8% of traffic is S7Comm </a:t>
            </a:r>
          </a:p>
          <a:p>
            <a:r>
              <a:rPr lang="de-DE" dirty="0"/>
              <a:t>       (other application-layer protocols: </a:t>
            </a:r>
            <a:r>
              <a:rPr lang="en-US" dirty="0"/>
              <a:t>DHCPv6, NBDS, NBNS, NTP, </a:t>
            </a:r>
            <a:r>
              <a:rPr lang="en-US" dirty="0" err="1"/>
              <a:t>llmnr</a:t>
            </a:r>
            <a:r>
              <a:rPr lang="en-US" dirty="0"/>
              <a:t>, </a:t>
            </a:r>
            <a:r>
              <a:rPr lang="en-US" dirty="0" err="1"/>
              <a:t>mDNS</a:t>
            </a:r>
            <a:r>
              <a:rPr lang="de-DE" dirty="0"/>
              <a:t>)</a:t>
            </a:r>
          </a:p>
          <a:p>
            <a:pPr marL="285750" indent="-285750">
              <a:buFont typeface="Arial" panose="020B0604020202020204" pitchFamily="34" charset="0"/>
              <a:buChar char="•"/>
            </a:pPr>
            <a:r>
              <a:rPr lang="de-DE" dirty="0"/>
              <a:t>Longest Packet in Dataset: 466 Bytes</a:t>
            </a:r>
          </a:p>
        </p:txBody>
      </p:sp>
      <p:graphicFrame>
        <p:nvGraphicFramePr>
          <p:cNvPr id="6" name="Table 5">
            <a:extLst>
              <a:ext uri="{FF2B5EF4-FFF2-40B4-BE49-F238E27FC236}">
                <a16:creationId xmlns:a16="http://schemas.microsoft.com/office/drawing/2014/main" id="{A6BB4DD6-D0B2-96C2-3247-D497CFB37790}"/>
              </a:ext>
            </a:extLst>
          </p:cNvPr>
          <p:cNvGraphicFramePr>
            <a:graphicFrameLocks noGrp="1"/>
          </p:cNvGraphicFramePr>
          <p:nvPr>
            <p:extLst>
              <p:ext uri="{D42A27DB-BD31-4B8C-83A1-F6EECF244321}">
                <p14:modId xmlns:p14="http://schemas.microsoft.com/office/powerpoint/2010/main" val="3048494357"/>
              </p:ext>
            </p:extLst>
          </p:nvPr>
        </p:nvGraphicFramePr>
        <p:xfrm>
          <a:off x="930404" y="4071064"/>
          <a:ext cx="4097340" cy="1340366"/>
        </p:xfrm>
        <a:graphic>
          <a:graphicData uri="http://schemas.openxmlformats.org/drawingml/2006/table">
            <a:tbl>
              <a:tblPr firstRow="1" bandRow="1">
                <a:tableStyleId>{5C22544A-7EE6-4342-B048-85BDC9FD1C3A}</a:tableStyleId>
              </a:tblPr>
              <a:tblGrid>
                <a:gridCol w="1024335">
                  <a:extLst>
                    <a:ext uri="{9D8B030D-6E8A-4147-A177-3AD203B41FA5}">
                      <a16:colId xmlns:a16="http://schemas.microsoft.com/office/drawing/2014/main" val="704681760"/>
                    </a:ext>
                  </a:extLst>
                </a:gridCol>
                <a:gridCol w="1024335">
                  <a:extLst>
                    <a:ext uri="{9D8B030D-6E8A-4147-A177-3AD203B41FA5}">
                      <a16:colId xmlns:a16="http://schemas.microsoft.com/office/drawing/2014/main" val="1763242450"/>
                    </a:ext>
                  </a:extLst>
                </a:gridCol>
                <a:gridCol w="1024335">
                  <a:extLst>
                    <a:ext uri="{9D8B030D-6E8A-4147-A177-3AD203B41FA5}">
                      <a16:colId xmlns:a16="http://schemas.microsoft.com/office/drawing/2014/main" val="382673960"/>
                    </a:ext>
                  </a:extLst>
                </a:gridCol>
                <a:gridCol w="1024335">
                  <a:extLst>
                    <a:ext uri="{9D8B030D-6E8A-4147-A177-3AD203B41FA5}">
                      <a16:colId xmlns:a16="http://schemas.microsoft.com/office/drawing/2014/main" val="2133277722"/>
                    </a:ext>
                  </a:extLst>
                </a:gridCol>
              </a:tblGrid>
              <a:tr h="350957">
                <a:tc>
                  <a:txBody>
                    <a:bodyPr/>
                    <a:lstStyle/>
                    <a:p>
                      <a:endParaRPr lang="de-DE" dirty="0"/>
                    </a:p>
                  </a:txBody>
                  <a:tcPr/>
                </a:tc>
                <a:tc>
                  <a:txBody>
                    <a:bodyPr/>
                    <a:lstStyle/>
                    <a:p>
                      <a:r>
                        <a:rPr lang="de-DE" dirty="0"/>
                        <a:t>Mean</a:t>
                      </a:r>
                    </a:p>
                  </a:txBody>
                  <a:tcPr/>
                </a:tc>
                <a:tc>
                  <a:txBody>
                    <a:bodyPr/>
                    <a:lstStyle/>
                    <a:p>
                      <a:r>
                        <a:rPr lang="de-DE" dirty="0"/>
                        <a:t>Std</a:t>
                      </a:r>
                    </a:p>
                  </a:txBody>
                  <a:tcPr/>
                </a:tc>
                <a:tc>
                  <a:txBody>
                    <a:bodyPr/>
                    <a:lstStyle/>
                    <a:p>
                      <a:r>
                        <a:rPr lang="de-DE" dirty="0"/>
                        <a:t>Median</a:t>
                      </a:r>
                    </a:p>
                  </a:txBody>
                  <a:tcPr/>
                </a:tc>
                <a:extLst>
                  <a:ext uri="{0D108BD9-81ED-4DB2-BD59-A6C34878D82A}">
                    <a16:rowId xmlns:a16="http://schemas.microsoft.com/office/drawing/2014/main" val="3661786898"/>
                  </a:ext>
                </a:extLst>
              </a:tr>
              <a:tr h="487303">
                <a:tc>
                  <a:txBody>
                    <a:bodyPr/>
                    <a:lstStyle/>
                    <a:p>
                      <a:r>
                        <a:rPr lang="de-DE" dirty="0"/>
                        <a:t>Normal</a:t>
                      </a:r>
                    </a:p>
                  </a:txBody>
                  <a:tcPr/>
                </a:tc>
                <a:tc>
                  <a:txBody>
                    <a:bodyPr/>
                    <a:lstStyle/>
                    <a:p>
                      <a:r>
                        <a:rPr lang="de-DE" dirty="0"/>
                        <a:t>139</a:t>
                      </a:r>
                    </a:p>
                  </a:txBody>
                  <a:tcPr/>
                </a:tc>
                <a:tc>
                  <a:txBody>
                    <a:bodyPr/>
                    <a:lstStyle/>
                    <a:p>
                      <a:r>
                        <a:rPr lang="de-DE" dirty="0"/>
                        <a:t>88</a:t>
                      </a:r>
                    </a:p>
                  </a:txBody>
                  <a:tcPr/>
                </a:tc>
                <a:tc>
                  <a:txBody>
                    <a:bodyPr/>
                    <a:lstStyle/>
                    <a:p>
                      <a:r>
                        <a:rPr lang="de-DE" dirty="0"/>
                        <a:t>85</a:t>
                      </a:r>
                    </a:p>
                  </a:txBody>
                  <a:tcPr/>
                </a:tc>
                <a:extLst>
                  <a:ext uri="{0D108BD9-81ED-4DB2-BD59-A6C34878D82A}">
                    <a16:rowId xmlns:a16="http://schemas.microsoft.com/office/drawing/2014/main" val="2507084210"/>
                  </a:ext>
                </a:extLst>
              </a:tr>
              <a:tr h="487303">
                <a:tc>
                  <a:txBody>
                    <a:bodyPr/>
                    <a:lstStyle/>
                    <a:p>
                      <a:r>
                        <a:rPr lang="de-DE" dirty="0"/>
                        <a:t>Attack</a:t>
                      </a:r>
                    </a:p>
                  </a:txBody>
                  <a:tcPr/>
                </a:tc>
                <a:tc>
                  <a:txBody>
                    <a:bodyPr/>
                    <a:lstStyle/>
                    <a:p>
                      <a:r>
                        <a:rPr lang="de-DE" dirty="0"/>
                        <a:t>92</a:t>
                      </a:r>
                    </a:p>
                  </a:txBody>
                  <a:tcPr/>
                </a:tc>
                <a:tc>
                  <a:txBody>
                    <a:bodyPr/>
                    <a:lstStyle/>
                    <a:p>
                      <a:r>
                        <a:rPr lang="de-DE" dirty="0"/>
                        <a:t>43</a:t>
                      </a:r>
                    </a:p>
                  </a:txBody>
                  <a:tcPr/>
                </a:tc>
                <a:tc>
                  <a:txBody>
                    <a:bodyPr/>
                    <a:lstStyle/>
                    <a:p>
                      <a:r>
                        <a:rPr lang="de-DE" dirty="0"/>
                        <a:t>83</a:t>
                      </a:r>
                    </a:p>
                  </a:txBody>
                  <a:tcPr/>
                </a:tc>
                <a:extLst>
                  <a:ext uri="{0D108BD9-81ED-4DB2-BD59-A6C34878D82A}">
                    <a16:rowId xmlns:a16="http://schemas.microsoft.com/office/drawing/2014/main" val="1926689087"/>
                  </a:ext>
                </a:extLst>
              </a:tr>
            </a:tbl>
          </a:graphicData>
        </a:graphic>
      </p:graphicFrame>
      <p:graphicFrame>
        <p:nvGraphicFramePr>
          <p:cNvPr id="7" name="Table 6">
            <a:extLst>
              <a:ext uri="{FF2B5EF4-FFF2-40B4-BE49-F238E27FC236}">
                <a16:creationId xmlns:a16="http://schemas.microsoft.com/office/drawing/2014/main" id="{65311DEB-52D2-4E2D-B7E3-0492B67D6E41}"/>
              </a:ext>
            </a:extLst>
          </p:cNvPr>
          <p:cNvGraphicFramePr>
            <a:graphicFrameLocks noGrp="1"/>
          </p:cNvGraphicFramePr>
          <p:nvPr>
            <p:extLst>
              <p:ext uri="{D42A27DB-BD31-4B8C-83A1-F6EECF244321}">
                <p14:modId xmlns:p14="http://schemas.microsoft.com/office/powerpoint/2010/main" val="943109471"/>
              </p:ext>
            </p:extLst>
          </p:nvPr>
        </p:nvGraphicFramePr>
        <p:xfrm>
          <a:off x="6207254" y="4080324"/>
          <a:ext cx="4677404" cy="1347658"/>
        </p:xfrm>
        <a:graphic>
          <a:graphicData uri="http://schemas.openxmlformats.org/drawingml/2006/table">
            <a:tbl>
              <a:tblPr firstRow="1" bandRow="1">
                <a:tableStyleId>{5C22544A-7EE6-4342-B048-85BDC9FD1C3A}</a:tableStyleId>
              </a:tblPr>
              <a:tblGrid>
                <a:gridCol w="1169351">
                  <a:extLst>
                    <a:ext uri="{9D8B030D-6E8A-4147-A177-3AD203B41FA5}">
                      <a16:colId xmlns:a16="http://schemas.microsoft.com/office/drawing/2014/main" val="704681760"/>
                    </a:ext>
                  </a:extLst>
                </a:gridCol>
                <a:gridCol w="1169351">
                  <a:extLst>
                    <a:ext uri="{9D8B030D-6E8A-4147-A177-3AD203B41FA5}">
                      <a16:colId xmlns:a16="http://schemas.microsoft.com/office/drawing/2014/main" val="1763242450"/>
                    </a:ext>
                  </a:extLst>
                </a:gridCol>
                <a:gridCol w="1169351">
                  <a:extLst>
                    <a:ext uri="{9D8B030D-6E8A-4147-A177-3AD203B41FA5}">
                      <a16:colId xmlns:a16="http://schemas.microsoft.com/office/drawing/2014/main" val="382673960"/>
                    </a:ext>
                  </a:extLst>
                </a:gridCol>
                <a:gridCol w="1169351">
                  <a:extLst>
                    <a:ext uri="{9D8B030D-6E8A-4147-A177-3AD203B41FA5}">
                      <a16:colId xmlns:a16="http://schemas.microsoft.com/office/drawing/2014/main" val="2133277722"/>
                    </a:ext>
                  </a:extLst>
                </a:gridCol>
              </a:tblGrid>
              <a:tr h="343665">
                <a:tc>
                  <a:txBody>
                    <a:bodyPr/>
                    <a:lstStyle/>
                    <a:p>
                      <a:endParaRPr lang="de-DE"/>
                    </a:p>
                  </a:txBody>
                  <a:tcPr/>
                </a:tc>
                <a:tc>
                  <a:txBody>
                    <a:bodyPr/>
                    <a:lstStyle/>
                    <a:p>
                      <a:r>
                        <a:rPr lang="de-DE" dirty="0"/>
                        <a:t>Mean</a:t>
                      </a:r>
                    </a:p>
                  </a:txBody>
                  <a:tcPr/>
                </a:tc>
                <a:tc>
                  <a:txBody>
                    <a:bodyPr/>
                    <a:lstStyle/>
                    <a:p>
                      <a:r>
                        <a:rPr lang="de-DE" dirty="0"/>
                        <a:t>Std</a:t>
                      </a:r>
                    </a:p>
                  </a:txBody>
                  <a:tcPr/>
                </a:tc>
                <a:tc>
                  <a:txBody>
                    <a:bodyPr/>
                    <a:lstStyle/>
                    <a:p>
                      <a:r>
                        <a:rPr lang="de-DE" dirty="0"/>
                        <a:t>Median</a:t>
                      </a:r>
                    </a:p>
                  </a:txBody>
                  <a:tcPr/>
                </a:tc>
                <a:extLst>
                  <a:ext uri="{0D108BD9-81ED-4DB2-BD59-A6C34878D82A}">
                    <a16:rowId xmlns:a16="http://schemas.microsoft.com/office/drawing/2014/main" val="3661786898"/>
                  </a:ext>
                </a:extLst>
              </a:tr>
              <a:tr h="490949">
                <a:tc>
                  <a:txBody>
                    <a:bodyPr/>
                    <a:lstStyle/>
                    <a:p>
                      <a:r>
                        <a:rPr lang="de-DE" dirty="0"/>
                        <a:t>Normal</a:t>
                      </a:r>
                    </a:p>
                  </a:txBody>
                  <a:tcPr/>
                </a:tc>
                <a:tc>
                  <a:txBody>
                    <a:bodyPr/>
                    <a:lstStyle/>
                    <a:p>
                      <a:r>
                        <a:rPr lang="de-DE" dirty="0"/>
                        <a:t>0,0762</a:t>
                      </a:r>
                    </a:p>
                  </a:txBody>
                  <a:tcPr/>
                </a:tc>
                <a:tc>
                  <a:txBody>
                    <a:bodyPr/>
                    <a:lstStyle/>
                    <a:p>
                      <a:r>
                        <a:rPr lang="de-DE" dirty="0"/>
                        <a:t>0,2472</a:t>
                      </a:r>
                    </a:p>
                  </a:txBody>
                  <a:tcPr/>
                </a:tc>
                <a:tc>
                  <a:txBody>
                    <a:bodyPr/>
                    <a:lstStyle/>
                    <a:p>
                      <a:r>
                        <a:rPr lang="de-DE" dirty="0"/>
                        <a:t>0,0005</a:t>
                      </a:r>
                    </a:p>
                  </a:txBody>
                  <a:tcPr/>
                </a:tc>
                <a:extLst>
                  <a:ext uri="{0D108BD9-81ED-4DB2-BD59-A6C34878D82A}">
                    <a16:rowId xmlns:a16="http://schemas.microsoft.com/office/drawing/2014/main" val="2507084210"/>
                  </a:ext>
                </a:extLst>
              </a:tr>
              <a:tr h="490949">
                <a:tc>
                  <a:txBody>
                    <a:bodyPr/>
                    <a:lstStyle/>
                    <a:p>
                      <a:r>
                        <a:rPr lang="de-DE" dirty="0"/>
                        <a:t>Attack</a:t>
                      </a:r>
                    </a:p>
                  </a:txBody>
                  <a:tcPr/>
                </a:tc>
                <a:tc>
                  <a:txBody>
                    <a:bodyPr/>
                    <a:lstStyle/>
                    <a:p>
                      <a:r>
                        <a:rPr lang="de-DE" dirty="0"/>
                        <a:t>0,0217</a:t>
                      </a:r>
                    </a:p>
                  </a:txBody>
                  <a:tcPr/>
                </a:tc>
                <a:tc>
                  <a:txBody>
                    <a:bodyPr/>
                    <a:lstStyle/>
                    <a:p>
                      <a:r>
                        <a:rPr lang="de-DE" dirty="0"/>
                        <a:t>4,8411</a:t>
                      </a:r>
                    </a:p>
                  </a:txBody>
                  <a:tcPr/>
                </a:tc>
                <a:tc>
                  <a:txBody>
                    <a:bodyPr/>
                    <a:lstStyle/>
                    <a:p>
                      <a:r>
                        <a:rPr lang="de-DE" dirty="0"/>
                        <a:t>0,0013</a:t>
                      </a:r>
                    </a:p>
                  </a:txBody>
                  <a:tcPr/>
                </a:tc>
                <a:extLst>
                  <a:ext uri="{0D108BD9-81ED-4DB2-BD59-A6C34878D82A}">
                    <a16:rowId xmlns:a16="http://schemas.microsoft.com/office/drawing/2014/main" val="1926689087"/>
                  </a:ext>
                </a:extLst>
              </a:tr>
            </a:tbl>
          </a:graphicData>
        </a:graphic>
      </p:graphicFrame>
      <p:sp>
        <p:nvSpPr>
          <p:cNvPr id="8" name="TextBox 7">
            <a:extLst>
              <a:ext uri="{FF2B5EF4-FFF2-40B4-BE49-F238E27FC236}">
                <a16:creationId xmlns:a16="http://schemas.microsoft.com/office/drawing/2014/main" id="{31DAB5EE-CBCF-85C5-DEE8-4D1E3F3F2C70}"/>
              </a:ext>
            </a:extLst>
          </p:cNvPr>
          <p:cNvSpPr txBox="1"/>
          <p:nvPr/>
        </p:nvSpPr>
        <p:spPr>
          <a:xfrm>
            <a:off x="6140830" y="3484082"/>
            <a:ext cx="6096000" cy="646331"/>
          </a:xfrm>
          <a:prstGeom prst="rect">
            <a:avLst/>
          </a:prstGeom>
          <a:noFill/>
        </p:spPr>
        <p:txBody>
          <a:bodyPr wrap="square">
            <a:spAutoFit/>
          </a:bodyPr>
          <a:lstStyle/>
          <a:p>
            <a:r>
              <a:rPr lang="de-DE" sz="1800" dirty="0">
                <a:latin typeface="Abadi" panose="020F0502020204030204" pitchFamily="34" charset="0"/>
              </a:rPr>
              <a:t>Inter Arrival Time (in one communication Session)</a:t>
            </a:r>
          </a:p>
          <a:p>
            <a:r>
              <a:rPr lang="de-DE" sz="1800" dirty="0">
                <a:latin typeface="Abadi" panose="020F0502020204030204" pitchFamily="34" charset="0"/>
              </a:rPr>
              <a:t>S7Comm:</a:t>
            </a:r>
          </a:p>
        </p:txBody>
      </p:sp>
      <p:sp>
        <p:nvSpPr>
          <p:cNvPr id="13" name="TextBox 12">
            <a:extLst>
              <a:ext uri="{FF2B5EF4-FFF2-40B4-BE49-F238E27FC236}">
                <a16:creationId xmlns:a16="http://schemas.microsoft.com/office/drawing/2014/main" id="{FF4923D8-22CC-D77C-2D7E-78D348E61CAA}"/>
              </a:ext>
            </a:extLst>
          </p:cNvPr>
          <p:cNvSpPr txBox="1"/>
          <p:nvPr/>
        </p:nvSpPr>
        <p:spPr>
          <a:xfrm>
            <a:off x="866904" y="3622582"/>
            <a:ext cx="2628901" cy="369332"/>
          </a:xfrm>
          <a:prstGeom prst="rect">
            <a:avLst/>
          </a:prstGeom>
          <a:noFill/>
        </p:spPr>
        <p:txBody>
          <a:bodyPr wrap="square">
            <a:spAutoFit/>
          </a:bodyPr>
          <a:lstStyle/>
          <a:p>
            <a:r>
              <a:rPr lang="de-DE" sz="1800" dirty="0">
                <a:latin typeface="Abadi" panose="020F0502020204030204" pitchFamily="34" charset="0"/>
              </a:rPr>
              <a:t>Frame Length S7Comm:</a:t>
            </a:r>
          </a:p>
        </p:txBody>
      </p:sp>
    </p:spTree>
    <p:extLst>
      <p:ext uri="{BB962C8B-B14F-4D97-AF65-F5344CB8AC3E}">
        <p14:creationId xmlns:p14="http://schemas.microsoft.com/office/powerpoint/2010/main" val="33463075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B5485-80E2-A1A6-E3B9-87F96BD2606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D648B22-F79F-CC1C-ABEE-FEB5CD89C31B}"/>
              </a:ext>
            </a:extLst>
          </p:cNvPr>
          <p:cNvSpPr>
            <a:spLocks noGrp="1"/>
          </p:cNvSpPr>
          <p:nvPr>
            <p:ph type="dt" sz="half" idx="10"/>
          </p:nvPr>
        </p:nvSpPr>
        <p:spPr/>
        <p:txBody>
          <a:bodyPr/>
          <a:lstStyle/>
          <a:p>
            <a:fld id="{41855EBA-669C-4B96-96DD-793A00CBAC90}" type="datetime6">
              <a:rPr lang="en-US" smtClean="0"/>
              <a:t>March 26</a:t>
            </a:fld>
            <a:endParaRPr lang="de-DE" dirty="0"/>
          </a:p>
        </p:txBody>
      </p:sp>
      <p:sp>
        <p:nvSpPr>
          <p:cNvPr id="3" name="Fußzeilenplatzhalter 2">
            <a:extLst>
              <a:ext uri="{FF2B5EF4-FFF2-40B4-BE49-F238E27FC236}">
                <a16:creationId xmlns:a16="http://schemas.microsoft.com/office/drawing/2014/main" id="{18034B22-71A2-0ADD-FBB7-025C66F51DE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F41BF01-FD4F-E065-4C73-CEDCD49350F1}"/>
              </a:ext>
            </a:extLst>
          </p:cNvPr>
          <p:cNvSpPr>
            <a:spLocks noGrp="1"/>
          </p:cNvSpPr>
          <p:nvPr>
            <p:ph type="sldNum" sz="quarter" idx="12"/>
          </p:nvPr>
        </p:nvSpPr>
        <p:spPr/>
        <p:txBody>
          <a:bodyPr/>
          <a:lstStyle/>
          <a:p>
            <a:fld id="{D3A9EDD9-2578-4372-8132-10947A418667}" type="slidenum">
              <a:rPr lang="de-DE" smtClean="0"/>
              <a:t>40</a:t>
            </a:fld>
            <a:endParaRPr lang="de-DE"/>
          </a:p>
        </p:txBody>
      </p:sp>
      <p:sp>
        <p:nvSpPr>
          <p:cNvPr id="9" name="Titel 8">
            <a:extLst>
              <a:ext uri="{FF2B5EF4-FFF2-40B4-BE49-F238E27FC236}">
                <a16:creationId xmlns:a16="http://schemas.microsoft.com/office/drawing/2014/main" id="{C8CFDA55-7292-4233-6A06-8AFDECC605AD}"/>
              </a:ext>
            </a:extLst>
          </p:cNvPr>
          <p:cNvSpPr>
            <a:spLocks noGrp="1"/>
          </p:cNvSpPr>
          <p:nvPr>
            <p:ph type="title"/>
          </p:nvPr>
        </p:nvSpPr>
        <p:spPr>
          <a:xfrm>
            <a:off x="575733" y="588491"/>
            <a:ext cx="7680853" cy="304699"/>
          </a:xfrm>
        </p:spPr>
        <p:txBody>
          <a:bodyPr/>
          <a:lstStyle/>
          <a:p>
            <a:r>
              <a:rPr lang="de-DE" dirty="0"/>
              <a:t>Stacked Denoising Autoencoder</a:t>
            </a:r>
          </a:p>
        </p:txBody>
      </p:sp>
      <p:sp>
        <p:nvSpPr>
          <p:cNvPr id="13" name="PlaceHolder 2">
            <a:extLst>
              <a:ext uri="{FF2B5EF4-FFF2-40B4-BE49-F238E27FC236}">
                <a16:creationId xmlns:a16="http://schemas.microsoft.com/office/drawing/2014/main" id="{9F4274BD-1DB3-3AE2-AA8B-0EF15B9B031D}"/>
              </a:ext>
            </a:extLst>
          </p:cNvPr>
          <p:cNvSpPr txBox="1">
            <a:spLocks/>
          </p:cNvSpPr>
          <p:nvPr/>
        </p:nvSpPr>
        <p:spPr>
          <a:xfrm>
            <a:off x="4847103" y="1350658"/>
            <a:ext cx="4086929" cy="4723397"/>
          </a:xfrm>
          <a:prstGeom prst="rect">
            <a:avLst/>
          </a:prstGeom>
          <a:noFill/>
          <a:ln w="0">
            <a:noFill/>
          </a:ln>
        </p:spPr>
        <p:txBody>
          <a:bodyPr vert="horz" wrap="none" lIns="91440" tIns="45720" rIns="91440" bIns="45720" rtlCol="0" anchor="t" anchorCtr="0">
            <a:normAutofit/>
          </a:bodyPr>
          <a:lst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a:lstStyle>
          <a:p>
            <a:pPr marL="228600" indent="-228600">
              <a:lnSpc>
                <a:spcPct val="110000"/>
              </a:lnSpc>
              <a:spcBef>
                <a:spcPts val="1001"/>
              </a:spcBef>
              <a:buClr>
                <a:srgbClr val="000000"/>
              </a:buClr>
              <a:buFont typeface="Arial"/>
              <a:buChar char="•"/>
            </a:pPr>
            <a:r>
              <a:rPr lang="en-US" sz="1800" b="0" dirty="0">
                <a:solidFill>
                  <a:schemeClr val="dk1"/>
                </a:solidFill>
                <a:latin typeface="Bierstadt"/>
              </a:rPr>
              <a:t>What is autoencoder?</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Neural network trained to reconstruct its input.</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Consist of: </a:t>
            </a:r>
          </a:p>
          <a:p>
            <a:pPr marL="1143000" lvl="2" indent="-228600">
              <a:lnSpc>
                <a:spcPct val="110000"/>
              </a:lnSpc>
              <a:spcBef>
                <a:spcPts val="499"/>
              </a:spcBef>
              <a:buClr>
                <a:srgbClr val="000000"/>
              </a:buClr>
              <a:buFont typeface="Arial"/>
              <a:buChar char="•"/>
            </a:pPr>
            <a:r>
              <a:rPr lang="en-US" sz="1400" b="1" i="1" kern="0" dirty="0">
                <a:solidFill>
                  <a:schemeClr val="dk1"/>
                </a:solidFill>
                <a:latin typeface="Bierstadt"/>
              </a:rPr>
              <a:t>Encoder</a:t>
            </a:r>
            <a:r>
              <a:rPr lang="en-US" sz="1400" kern="0" dirty="0">
                <a:solidFill>
                  <a:schemeClr val="dk1"/>
                </a:solidFill>
                <a:latin typeface="Bierstadt"/>
              </a:rPr>
              <a:t> compresses the input into latent features</a:t>
            </a:r>
          </a:p>
          <a:p>
            <a:pPr marL="1143000" lvl="2" indent="-228600">
              <a:lnSpc>
                <a:spcPct val="110000"/>
              </a:lnSpc>
              <a:spcBef>
                <a:spcPts val="499"/>
              </a:spcBef>
              <a:buClr>
                <a:srgbClr val="000000"/>
              </a:buClr>
              <a:buFont typeface="Arial"/>
              <a:buChar char="•"/>
            </a:pPr>
            <a:r>
              <a:rPr lang="en-US" sz="1400" b="1" i="1" kern="0" dirty="0">
                <a:solidFill>
                  <a:schemeClr val="dk1"/>
                </a:solidFill>
                <a:latin typeface="Bierstadt"/>
              </a:rPr>
              <a:t>Decoder </a:t>
            </a:r>
            <a:r>
              <a:rPr lang="en-US" sz="1400" kern="0" dirty="0">
                <a:solidFill>
                  <a:schemeClr val="dk1"/>
                </a:solidFill>
                <a:latin typeface="Bierstadt"/>
              </a:rPr>
              <a:t>reconstructs the original input from those features.</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Trained using reconstruction error</a:t>
            </a:r>
          </a:p>
          <a:p>
            <a:pPr marL="228600" indent="-228600">
              <a:lnSpc>
                <a:spcPct val="110000"/>
              </a:lnSpc>
              <a:spcBef>
                <a:spcPts val="1001"/>
              </a:spcBef>
              <a:buClr>
                <a:srgbClr val="000000"/>
              </a:buClr>
              <a:buFont typeface="Arial"/>
              <a:buChar char="•"/>
            </a:pPr>
            <a:r>
              <a:rPr lang="en-US" sz="1800" b="0" dirty="0">
                <a:solidFill>
                  <a:schemeClr val="dk1"/>
                </a:solidFill>
                <a:latin typeface="Bierstadt"/>
              </a:rPr>
              <a:t> What is Denoising Autoencoder?</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Input is intentionally corrupted with noise</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Model learns to reconstruct the clean original input</a:t>
            </a:r>
          </a:p>
          <a:p>
            <a:pPr marL="685800" lvl="1" indent="-228600">
              <a:lnSpc>
                <a:spcPct val="110000"/>
              </a:lnSpc>
              <a:spcBef>
                <a:spcPts val="499"/>
              </a:spcBef>
              <a:buClr>
                <a:srgbClr val="000000"/>
              </a:buClr>
              <a:buFont typeface="Arial"/>
              <a:buChar char="•"/>
            </a:pPr>
            <a:r>
              <a:rPr lang="en-US" sz="1600" kern="0" dirty="0">
                <a:solidFill>
                  <a:schemeClr val="dk1"/>
                </a:solidFill>
                <a:latin typeface="Bierstadt"/>
              </a:rPr>
              <a:t>Forces the network to learn robust and meaningful patters.</a:t>
            </a:r>
          </a:p>
          <a:p>
            <a:pPr marL="685800" lvl="1" indent="-228600">
              <a:lnSpc>
                <a:spcPct val="110000"/>
              </a:lnSpc>
              <a:spcBef>
                <a:spcPts val="1001"/>
              </a:spcBef>
              <a:buClr>
                <a:srgbClr val="000000"/>
              </a:buClr>
              <a:buFont typeface="Arial"/>
              <a:buChar char="•"/>
            </a:pPr>
            <a:r>
              <a:rPr lang="en-US" sz="1400" dirty="0">
                <a:solidFill>
                  <a:schemeClr val="dk1"/>
                </a:solidFill>
                <a:latin typeface="Bierstadt"/>
              </a:rPr>
              <a:t>Stacked means multiple denoising autoencoders stacked</a:t>
            </a:r>
          </a:p>
          <a:p>
            <a:pPr marL="685800" lvl="1" indent="-228600">
              <a:lnSpc>
                <a:spcPct val="110000"/>
              </a:lnSpc>
              <a:spcBef>
                <a:spcPts val="1001"/>
              </a:spcBef>
              <a:buClr>
                <a:srgbClr val="000000"/>
              </a:buClr>
              <a:buFont typeface="Arial"/>
              <a:buChar char="•"/>
            </a:pPr>
            <a:r>
              <a:rPr lang="en-US" sz="1400" dirty="0">
                <a:solidFill>
                  <a:schemeClr val="dk1"/>
                </a:solidFill>
                <a:latin typeface="Bierstadt"/>
              </a:rPr>
              <a:t> layer by layer to create deeper hierarchical feature representations</a:t>
            </a:r>
          </a:p>
        </p:txBody>
      </p:sp>
      <p:sp>
        <p:nvSpPr>
          <p:cNvPr id="14" name="PlaceHolder 3">
            <a:extLst>
              <a:ext uri="{FF2B5EF4-FFF2-40B4-BE49-F238E27FC236}">
                <a16:creationId xmlns:a16="http://schemas.microsoft.com/office/drawing/2014/main" id="{BDB24810-7A91-2C0A-40BC-8A0E2FBB4ACA}"/>
              </a:ext>
            </a:extLst>
          </p:cNvPr>
          <p:cNvSpPr txBox="1">
            <a:spLocks/>
          </p:cNvSpPr>
          <p:nvPr/>
        </p:nvSpPr>
        <p:spPr>
          <a:xfrm>
            <a:off x="11457360" y="6462906"/>
            <a:ext cx="474982" cy="320934"/>
          </a:xfrm>
          <a:prstGeom prst="rect">
            <a:avLst/>
          </a:prstGeom>
          <a:noFill/>
          <a:ln w="0">
            <a:noFill/>
          </a:ln>
        </p:spPr>
        <p:txBody>
          <a:bodyPr lIns="91440" tIns="45720" rIns="91440" bIns="45720" anchor="ctr">
            <a:normAutofit/>
          </a:bodyPr>
          <a:lstStyle>
            <a:defPPr>
              <a:defRPr lang="de-DE"/>
            </a:defPPr>
            <a:lvl1pPr marL="0" indent="0" algn="r" defTabSz="914400" rtl="0" eaLnBrk="1" latinLnBrk="0" hangingPunct="1">
              <a:lnSpc>
                <a:spcPct val="100000"/>
              </a:lnSpc>
              <a:spcAft>
                <a:spcPts val="601"/>
              </a:spcAft>
              <a:buNone/>
              <a:defRPr lang="en-US" sz="900" b="0" u="none" strike="noStrike" kern="1200">
                <a:solidFill>
                  <a:schemeClr val="dk1"/>
                </a:solidFill>
                <a:effectLst/>
                <a:uFillTx/>
                <a:latin typeface="Bierstad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F7E7C22C-7782-4E93-93ED-279378CFE55C}" type="slidenum">
              <a:rPr lang="de-DE" smtClean="0"/>
              <a:pPr/>
              <a:t>40</a:t>
            </a:fld>
            <a:endParaRPr lang="de-DE">
              <a:solidFill>
                <a:srgbClr val="000000"/>
              </a:solidFill>
              <a:latin typeface="Times New Roman"/>
            </a:endParaRPr>
          </a:p>
        </p:txBody>
      </p:sp>
      <p:sp>
        <p:nvSpPr>
          <p:cNvPr id="15" name="TextBox 6">
            <a:extLst>
              <a:ext uri="{FF2B5EF4-FFF2-40B4-BE49-F238E27FC236}">
                <a16:creationId xmlns:a16="http://schemas.microsoft.com/office/drawing/2014/main" id="{01B3ABFB-99D9-FC64-BA48-CFD870B788E1}"/>
              </a:ext>
            </a:extLst>
          </p:cNvPr>
          <p:cNvSpPr/>
          <p:nvPr/>
        </p:nvSpPr>
        <p:spPr>
          <a:xfrm>
            <a:off x="266482" y="5498893"/>
            <a:ext cx="8667550" cy="275545"/>
          </a:xfrm>
          <a:prstGeom prst="rect">
            <a:avLst/>
          </a:prstGeom>
          <a:noFill/>
          <a:ln w="0">
            <a:noFill/>
          </a:ln>
        </p:spPr>
        <p:style>
          <a:lnRef idx="0">
            <a:scrgbClr r="0" g="0" b="0"/>
          </a:lnRef>
          <a:fillRef idx="0">
            <a:scrgbClr r="0" g="0" b="0"/>
          </a:fillRef>
          <a:effectRef idx="0">
            <a:scrgbClr r="0" g="0" b="0"/>
          </a:effectRef>
          <a:fontRef idx="minor"/>
        </p:style>
        <p:txBody>
          <a:bodyPr wrap="square" lIns="90000" tIns="45000" rIns="90000" bIns="45000" anchor="t">
            <a:spAutoFit/>
          </a:bodyPr>
          <a:lstStyle/>
          <a:p>
            <a:pPr defTabSz="914400">
              <a:lnSpc>
                <a:spcPct val="100000"/>
              </a:lnSpc>
              <a:spcAft>
                <a:spcPts val="601"/>
              </a:spcAft>
            </a:pPr>
            <a:r>
              <a:rPr lang="en-US" sz="1200" b="0" u="none" strike="noStrike" dirty="0">
                <a:solidFill>
                  <a:schemeClr val="dk1"/>
                </a:solidFill>
                <a:effectLst/>
                <a:uFillTx/>
                <a:latin typeface="Bierstadt"/>
              </a:rPr>
              <a:t>Image taken from https://www.jmlr.org/papers/volume11/vincent10a/vincent10a.pdf</a:t>
            </a:r>
            <a:endParaRPr lang="en-US" sz="1200" b="0" u="none" strike="noStrike" dirty="0">
              <a:solidFill>
                <a:srgbClr val="000000"/>
              </a:solidFill>
              <a:effectLst/>
              <a:uFillTx/>
              <a:latin typeface="Arial"/>
            </a:endParaRPr>
          </a:p>
        </p:txBody>
      </p:sp>
      <p:pic>
        <p:nvPicPr>
          <p:cNvPr id="16" name="Picture 15">
            <a:extLst>
              <a:ext uri="{FF2B5EF4-FFF2-40B4-BE49-F238E27FC236}">
                <a16:creationId xmlns:a16="http://schemas.microsoft.com/office/drawing/2014/main" id="{65DDB058-54ED-D08B-6E63-3B3ED15DF8FC}"/>
              </a:ext>
            </a:extLst>
          </p:cNvPr>
          <p:cNvPicPr/>
          <p:nvPr/>
        </p:nvPicPr>
        <p:blipFill>
          <a:blip r:embed="rId3"/>
          <a:stretch/>
        </p:blipFill>
        <p:spPr>
          <a:xfrm>
            <a:off x="186563" y="2154705"/>
            <a:ext cx="4318673" cy="2924837"/>
          </a:xfrm>
          <a:prstGeom prst="rect">
            <a:avLst/>
          </a:prstGeom>
          <a:noFill/>
          <a:ln w="0">
            <a:noFill/>
          </a:ln>
        </p:spPr>
      </p:pic>
    </p:spTree>
    <p:extLst>
      <p:ext uri="{BB962C8B-B14F-4D97-AF65-F5344CB8AC3E}">
        <p14:creationId xmlns:p14="http://schemas.microsoft.com/office/powerpoint/2010/main" val="20967730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38BBD7C-CFD3-D9E9-88D7-C5DA1E716FF1}"/>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95BF2578-D88A-1C03-EF11-210BCB669F60}"/>
              </a:ext>
            </a:extLst>
          </p:cNvPr>
          <p:cNvSpPr>
            <a:spLocks noGrp="1"/>
          </p:cNvSpPr>
          <p:nvPr>
            <p:ph type="dt" sz="half" idx="10"/>
          </p:nvPr>
        </p:nvSpPr>
        <p:spPr/>
        <p:txBody>
          <a:bodyPr/>
          <a:lstStyle/>
          <a:p>
            <a:fld id="{52655C42-B4BA-4699-8D60-CD4632ED9822}" type="datetime6">
              <a:rPr lang="en-US" smtClean="0"/>
              <a:t>March 26</a:t>
            </a:fld>
            <a:endParaRPr lang="de-DE" dirty="0"/>
          </a:p>
        </p:txBody>
      </p:sp>
      <p:sp>
        <p:nvSpPr>
          <p:cNvPr id="3" name="Fußzeilenplatzhalter 2">
            <a:extLst>
              <a:ext uri="{FF2B5EF4-FFF2-40B4-BE49-F238E27FC236}">
                <a16:creationId xmlns:a16="http://schemas.microsoft.com/office/drawing/2014/main" id="{A9431ECF-DEBF-F1B9-9F61-FE58BEE017A1}"/>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F006980-E5D5-8BD0-1896-1DA71FE4153B}"/>
              </a:ext>
            </a:extLst>
          </p:cNvPr>
          <p:cNvSpPr>
            <a:spLocks noGrp="1"/>
          </p:cNvSpPr>
          <p:nvPr>
            <p:ph type="sldNum" sz="quarter" idx="12"/>
          </p:nvPr>
        </p:nvSpPr>
        <p:spPr/>
        <p:txBody>
          <a:bodyPr/>
          <a:lstStyle/>
          <a:p>
            <a:fld id="{D3A9EDD9-2578-4372-8132-10947A418667}" type="slidenum">
              <a:rPr lang="de-DE" smtClean="0"/>
              <a:t>41</a:t>
            </a:fld>
            <a:endParaRPr lang="de-DE"/>
          </a:p>
        </p:txBody>
      </p:sp>
      <p:sp>
        <p:nvSpPr>
          <p:cNvPr id="11" name="Textplatzhalter 10">
            <a:extLst>
              <a:ext uri="{FF2B5EF4-FFF2-40B4-BE49-F238E27FC236}">
                <a16:creationId xmlns:a16="http://schemas.microsoft.com/office/drawing/2014/main" id="{07EBAC23-49DA-D640-F54B-383E6D0E051D}"/>
              </a:ext>
            </a:extLst>
          </p:cNvPr>
          <p:cNvSpPr>
            <a:spLocks noGrp="1"/>
          </p:cNvSpPr>
          <p:nvPr>
            <p:ph type="body" idx="13"/>
          </p:nvPr>
        </p:nvSpPr>
        <p:spPr>
          <a:xfrm>
            <a:off x="575200" y="1204862"/>
            <a:ext cx="11040533" cy="612000"/>
          </a:xfrm>
        </p:spPr>
        <p:txBody>
          <a:bodyPr/>
          <a:lstStyle/>
          <a:p>
            <a:r>
              <a:rPr lang="de-DE" dirty="0"/>
              <a:t>Architecture</a:t>
            </a:r>
          </a:p>
        </p:txBody>
      </p:sp>
      <p:sp>
        <p:nvSpPr>
          <p:cNvPr id="9" name="Titel 8">
            <a:extLst>
              <a:ext uri="{FF2B5EF4-FFF2-40B4-BE49-F238E27FC236}">
                <a16:creationId xmlns:a16="http://schemas.microsoft.com/office/drawing/2014/main" id="{E4255385-A60D-82CF-4780-0FCB980E36E9}"/>
              </a:ext>
            </a:extLst>
          </p:cNvPr>
          <p:cNvSpPr>
            <a:spLocks noGrp="1"/>
          </p:cNvSpPr>
          <p:nvPr>
            <p:ph type="title"/>
          </p:nvPr>
        </p:nvSpPr>
        <p:spPr/>
        <p:txBody>
          <a:bodyPr/>
          <a:lstStyle/>
          <a:p>
            <a:r>
              <a:rPr lang="de-DE" dirty="0"/>
              <a:t>Detection Methods</a:t>
            </a:r>
          </a:p>
        </p:txBody>
      </p:sp>
      <p:sp>
        <p:nvSpPr>
          <p:cNvPr id="12" name="Textplatzhalter 11">
            <a:extLst>
              <a:ext uri="{FF2B5EF4-FFF2-40B4-BE49-F238E27FC236}">
                <a16:creationId xmlns:a16="http://schemas.microsoft.com/office/drawing/2014/main" id="{705BDEEE-FF35-7AE8-4CFB-9D8E36575D2C}"/>
              </a:ext>
            </a:extLst>
          </p:cNvPr>
          <p:cNvSpPr>
            <a:spLocks noGrp="1"/>
          </p:cNvSpPr>
          <p:nvPr>
            <p:ph type="body" sz="quarter" idx="14"/>
          </p:nvPr>
        </p:nvSpPr>
        <p:spPr/>
        <p:txBody>
          <a:bodyPr/>
          <a:lstStyle/>
          <a:p>
            <a:r>
              <a:rPr lang="de-DE" dirty="0"/>
              <a:t>CNN</a:t>
            </a:r>
          </a:p>
        </p:txBody>
      </p:sp>
      <p:sp>
        <p:nvSpPr>
          <p:cNvPr id="5" name="TextBox 4">
            <a:extLst>
              <a:ext uri="{FF2B5EF4-FFF2-40B4-BE49-F238E27FC236}">
                <a16:creationId xmlns:a16="http://schemas.microsoft.com/office/drawing/2014/main" id="{27228FBB-260E-3843-1866-61F5AD5C1056}"/>
              </a:ext>
            </a:extLst>
          </p:cNvPr>
          <p:cNvSpPr txBox="1"/>
          <p:nvPr/>
        </p:nvSpPr>
        <p:spPr>
          <a:xfrm>
            <a:off x="4730414" y="1316303"/>
            <a:ext cx="2179802" cy="307777"/>
          </a:xfrm>
          <a:prstGeom prst="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r>
              <a:rPr lang="de-DE" sz="1400" dirty="0"/>
              <a:t>ConvolutionalLayer</a:t>
            </a:r>
          </a:p>
        </p:txBody>
      </p:sp>
      <p:sp>
        <p:nvSpPr>
          <p:cNvPr id="6" name="TextBox 5">
            <a:extLst>
              <a:ext uri="{FF2B5EF4-FFF2-40B4-BE49-F238E27FC236}">
                <a16:creationId xmlns:a16="http://schemas.microsoft.com/office/drawing/2014/main" id="{5EE2BFF4-9C94-77C7-23F8-C288689A0064}"/>
              </a:ext>
            </a:extLst>
          </p:cNvPr>
          <p:cNvSpPr txBox="1"/>
          <p:nvPr/>
        </p:nvSpPr>
        <p:spPr>
          <a:xfrm>
            <a:off x="4730412" y="1758413"/>
            <a:ext cx="2179803" cy="30777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de-DE" sz="1400" dirty="0"/>
              <a:t>BatchNormalization</a:t>
            </a:r>
          </a:p>
        </p:txBody>
      </p:sp>
      <p:sp>
        <p:nvSpPr>
          <p:cNvPr id="7" name="TextBox 6">
            <a:extLst>
              <a:ext uri="{FF2B5EF4-FFF2-40B4-BE49-F238E27FC236}">
                <a16:creationId xmlns:a16="http://schemas.microsoft.com/office/drawing/2014/main" id="{80E303AE-5890-7474-A6AE-3C940E4E3FBC}"/>
              </a:ext>
            </a:extLst>
          </p:cNvPr>
          <p:cNvSpPr txBox="1"/>
          <p:nvPr/>
        </p:nvSpPr>
        <p:spPr>
          <a:xfrm>
            <a:off x="4730410" y="3812256"/>
            <a:ext cx="2208380" cy="30777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de-DE" sz="1400" dirty="0"/>
              <a:t>Activation Function</a:t>
            </a:r>
          </a:p>
        </p:txBody>
      </p:sp>
      <p:sp>
        <p:nvSpPr>
          <p:cNvPr id="8" name="TextBox 7">
            <a:extLst>
              <a:ext uri="{FF2B5EF4-FFF2-40B4-BE49-F238E27FC236}">
                <a16:creationId xmlns:a16="http://schemas.microsoft.com/office/drawing/2014/main" id="{88F17AB7-9847-1A6E-BE9A-237F80288325}"/>
              </a:ext>
            </a:extLst>
          </p:cNvPr>
          <p:cNvSpPr txBox="1"/>
          <p:nvPr/>
        </p:nvSpPr>
        <p:spPr>
          <a:xfrm>
            <a:off x="4730411" y="2584183"/>
            <a:ext cx="2179803" cy="307777"/>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de-DE" sz="1400" dirty="0"/>
              <a:t>DropoutLayer</a:t>
            </a:r>
          </a:p>
        </p:txBody>
      </p:sp>
      <p:sp>
        <p:nvSpPr>
          <p:cNvPr id="13" name="TextBox 12">
            <a:extLst>
              <a:ext uri="{FF2B5EF4-FFF2-40B4-BE49-F238E27FC236}">
                <a16:creationId xmlns:a16="http://schemas.microsoft.com/office/drawing/2014/main" id="{08F98430-04DE-E782-5628-1802E3B38725}"/>
              </a:ext>
            </a:extLst>
          </p:cNvPr>
          <p:cNvSpPr txBox="1"/>
          <p:nvPr/>
        </p:nvSpPr>
        <p:spPr>
          <a:xfrm>
            <a:off x="5056034" y="5192224"/>
            <a:ext cx="1528550" cy="369332"/>
          </a:xfrm>
          <a:prstGeom prst="rect">
            <a:avLst/>
          </a:prstGeom>
          <a:solidFill>
            <a:schemeClr val="accent5"/>
          </a:solidFill>
          <a:ln>
            <a:solidFill>
              <a:schemeClr val="tx1"/>
            </a:solidFill>
          </a:ln>
        </p:spPr>
        <p:txBody>
          <a:bodyPr wrap="square" rtlCol="0">
            <a:spAutoFit/>
          </a:bodyPr>
          <a:lstStyle/>
          <a:p>
            <a:r>
              <a:rPr lang="de-DE" dirty="0"/>
              <a:t>Dense Layer</a:t>
            </a:r>
          </a:p>
        </p:txBody>
      </p:sp>
      <p:sp>
        <p:nvSpPr>
          <p:cNvPr id="14" name="TextBox 13">
            <a:extLst>
              <a:ext uri="{FF2B5EF4-FFF2-40B4-BE49-F238E27FC236}">
                <a16:creationId xmlns:a16="http://schemas.microsoft.com/office/drawing/2014/main" id="{0696CC73-231C-FBC4-DCD8-09DF3083D429}"/>
              </a:ext>
            </a:extLst>
          </p:cNvPr>
          <p:cNvSpPr txBox="1"/>
          <p:nvPr/>
        </p:nvSpPr>
        <p:spPr>
          <a:xfrm>
            <a:off x="5056033" y="5712847"/>
            <a:ext cx="1528550" cy="369332"/>
          </a:xfrm>
          <a:prstGeom prst="rect">
            <a:avLst/>
          </a:prstGeom>
          <a:solidFill>
            <a:schemeClr val="accent5"/>
          </a:solidFill>
          <a:ln>
            <a:solidFill>
              <a:schemeClr val="tx1"/>
            </a:solidFill>
          </a:ln>
        </p:spPr>
        <p:txBody>
          <a:bodyPr wrap="square" rtlCol="0">
            <a:spAutoFit/>
          </a:bodyPr>
          <a:lstStyle/>
          <a:p>
            <a:r>
              <a:rPr lang="de-DE" dirty="0"/>
              <a:t>DenseLayer</a:t>
            </a:r>
          </a:p>
        </p:txBody>
      </p:sp>
      <p:sp>
        <p:nvSpPr>
          <p:cNvPr id="15" name="TextBox 14">
            <a:extLst>
              <a:ext uri="{FF2B5EF4-FFF2-40B4-BE49-F238E27FC236}">
                <a16:creationId xmlns:a16="http://schemas.microsoft.com/office/drawing/2014/main" id="{710E52D9-750C-85B4-1802-EE14024558A3}"/>
              </a:ext>
            </a:extLst>
          </p:cNvPr>
          <p:cNvSpPr txBox="1"/>
          <p:nvPr/>
        </p:nvSpPr>
        <p:spPr>
          <a:xfrm>
            <a:off x="4730410" y="2978625"/>
            <a:ext cx="2179803" cy="307777"/>
          </a:xfrm>
          <a:prstGeom prst="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r>
              <a:rPr lang="de-DE" sz="1400" dirty="0"/>
              <a:t>ConvolutionalLayer</a:t>
            </a:r>
          </a:p>
        </p:txBody>
      </p:sp>
      <p:sp>
        <p:nvSpPr>
          <p:cNvPr id="16" name="TextBox 15">
            <a:extLst>
              <a:ext uri="{FF2B5EF4-FFF2-40B4-BE49-F238E27FC236}">
                <a16:creationId xmlns:a16="http://schemas.microsoft.com/office/drawing/2014/main" id="{B1E58D71-3114-9D73-CFF9-3AC33E6C2776}"/>
              </a:ext>
            </a:extLst>
          </p:cNvPr>
          <p:cNvSpPr txBox="1"/>
          <p:nvPr/>
        </p:nvSpPr>
        <p:spPr>
          <a:xfrm>
            <a:off x="4730412" y="3373067"/>
            <a:ext cx="2179803" cy="307777"/>
          </a:xfrm>
          <a:prstGeom prst="rect">
            <a:avLst/>
          </a:prstGeom>
        </p:spPr>
        <p:style>
          <a:lnRef idx="1">
            <a:schemeClr val="accent2"/>
          </a:lnRef>
          <a:fillRef idx="2">
            <a:schemeClr val="accent2"/>
          </a:fillRef>
          <a:effectRef idx="1">
            <a:schemeClr val="accent2"/>
          </a:effectRef>
          <a:fontRef idx="minor">
            <a:schemeClr val="dk1"/>
          </a:fontRef>
        </p:style>
        <p:txBody>
          <a:bodyPr wrap="square" rtlCol="0">
            <a:spAutoFit/>
          </a:bodyPr>
          <a:lstStyle/>
          <a:p>
            <a:r>
              <a:rPr lang="de-DE" sz="1400" dirty="0"/>
              <a:t>BatchNormalization</a:t>
            </a:r>
          </a:p>
        </p:txBody>
      </p:sp>
      <p:sp>
        <p:nvSpPr>
          <p:cNvPr id="17" name="TextBox 16">
            <a:extLst>
              <a:ext uri="{FF2B5EF4-FFF2-40B4-BE49-F238E27FC236}">
                <a16:creationId xmlns:a16="http://schemas.microsoft.com/office/drawing/2014/main" id="{520E8BF6-0E77-FB6D-2A0C-33C42ED70C37}"/>
              </a:ext>
            </a:extLst>
          </p:cNvPr>
          <p:cNvSpPr txBox="1"/>
          <p:nvPr/>
        </p:nvSpPr>
        <p:spPr>
          <a:xfrm>
            <a:off x="4730412" y="2184128"/>
            <a:ext cx="2179803" cy="307777"/>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de-DE" sz="1400" dirty="0"/>
              <a:t>Activation Function</a:t>
            </a:r>
          </a:p>
        </p:txBody>
      </p:sp>
      <p:sp>
        <p:nvSpPr>
          <p:cNvPr id="18" name="TextBox 17">
            <a:extLst>
              <a:ext uri="{FF2B5EF4-FFF2-40B4-BE49-F238E27FC236}">
                <a16:creationId xmlns:a16="http://schemas.microsoft.com/office/drawing/2014/main" id="{CE834623-B4C1-C8D5-250F-A57563404A81}"/>
              </a:ext>
            </a:extLst>
          </p:cNvPr>
          <p:cNvSpPr txBox="1"/>
          <p:nvPr/>
        </p:nvSpPr>
        <p:spPr>
          <a:xfrm>
            <a:off x="4730409" y="4280026"/>
            <a:ext cx="2208381" cy="307777"/>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de-DE" sz="1400" dirty="0"/>
              <a:t>DropoutLayer</a:t>
            </a:r>
          </a:p>
        </p:txBody>
      </p:sp>
      <p:sp>
        <p:nvSpPr>
          <p:cNvPr id="19" name="TextBox 18">
            <a:extLst>
              <a:ext uri="{FF2B5EF4-FFF2-40B4-BE49-F238E27FC236}">
                <a16:creationId xmlns:a16="http://schemas.microsoft.com/office/drawing/2014/main" id="{D66C5E76-9131-380E-E3CC-3B3B4A4D6857}"/>
              </a:ext>
            </a:extLst>
          </p:cNvPr>
          <p:cNvSpPr txBox="1"/>
          <p:nvPr/>
        </p:nvSpPr>
        <p:spPr>
          <a:xfrm>
            <a:off x="5056034" y="4680081"/>
            <a:ext cx="1528550" cy="369332"/>
          </a:xfrm>
          <a:prstGeom prst="rect">
            <a:avLst/>
          </a:prstGeom>
          <a:solidFill>
            <a:schemeClr val="bg1">
              <a:alpha val="50000"/>
            </a:schemeClr>
          </a:solidFill>
          <a:ln>
            <a:solidFill>
              <a:schemeClr val="tx1"/>
            </a:solidFill>
          </a:ln>
        </p:spPr>
        <p:style>
          <a:lnRef idx="0">
            <a:scrgbClr r="0" g="0" b="0"/>
          </a:lnRef>
          <a:fillRef idx="0">
            <a:scrgbClr r="0" g="0" b="0"/>
          </a:fillRef>
          <a:effectRef idx="0">
            <a:scrgbClr r="0" g="0" b="0"/>
          </a:effectRef>
          <a:fontRef idx="minor">
            <a:schemeClr val="lt1"/>
          </a:fontRef>
        </p:style>
        <p:txBody>
          <a:bodyPr wrap="square" rtlCol="0">
            <a:spAutoFit/>
          </a:bodyPr>
          <a:lstStyle/>
          <a:p>
            <a:r>
              <a:rPr lang="de-DE" dirty="0">
                <a:solidFill>
                  <a:schemeClr val="tx1"/>
                </a:solidFill>
              </a:rPr>
              <a:t>PoolingLayer</a:t>
            </a:r>
          </a:p>
        </p:txBody>
      </p:sp>
      <p:cxnSp>
        <p:nvCxnSpPr>
          <p:cNvPr id="20" name="Straight Arrow Connector 19">
            <a:extLst>
              <a:ext uri="{FF2B5EF4-FFF2-40B4-BE49-F238E27FC236}">
                <a16:creationId xmlns:a16="http://schemas.microsoft.com/office/drawing/2014/main" id="{3A77D216-FF6C-0705-8ACD-7D15B5F57769}"/>
              </a:ext>
            </a:extLst>
          </p:cNvPr>
          <p:cNvCxnSpPr>
            <a:stCxn id="5" idx="2"/>
            <a:endCxn id="6" idx="0"/>
          </p:cNvCxnSpPr>
          <p:nvPr/>
        </p:nvCxnSpPr>
        <p:spPr>
          <a:xfrm flipH="1">
            <a:off x="5820314" y="1624080"/>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1" name="Straight Arrow Connector 20">
            <a:extLst>
              <a:ext uri="{FF2B5EF4-FFF2-40B4-BE49-F238E27FC236}">
                <a16:creationId xmlns:a16="http://schemas.microsoft.com/office/drawing/2014/main" id="{DA497EB4-63C4-5A2A-72FF-33971E5448FB}"/>
              </a:ext>
            </a:extLst>
          </p:cNvPr>
          <p:cNvCxnSpPr/>
          <p:nvPr/>
        </p:nvCxnSpPr>
        <p:spPr>
          <a:xfrm flipH="1">
            <a:off x="5820313" y="2074906"/>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2" name="Straight Arrow Connector 21">
            <a:extLst>
              <a:ext uri="{FF2B5EF4-FFF2-40B4-BE49-F238E27FC236}">
                <a16:creationId xmlns:a16="http://schemas.microsoft.com/office/drawing/2014/main" id="{E00A4620-06C5-1F4F-EA79-EF5B5E6B0C18}"/>
              </a:ext>
            </a:extLst>
          </p:cNvPr>
          <p:cNvCxnSpPr/>
          <p:nvPr/>
        </p:nvCxnSpPr>
        <p:spPr>
          <a:xfrm flipH="1">
            <a:off x="5820312" y="2472675"/>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3" name="Straight Arrow Connector 22">
            <a:extLst>
              <a:ext uri="{FF2B5EF4-FFF2-40B4-BE49-F238E27FC236}">
                <a16:creationId xmlns:a16="http://schemas.microsoft.com/office/drawing/2014/main" id="{4137B805-5F25-C18E-34AB-FDC953124D02}"/>
              </a:ext>
            </a:extLst>
          </p:cNvPr>
          <p:cNvCxnSpPr/>
          <p:nvPr/>
        </p:nvCxnSpPr>
        <p:spPr>
          <a:xfrm flipH="1">
            <a:off x="5820311" y="2885076"/>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4" name="Straight Arrow Connector 23">
            <a:extLst>
              <a:ext uri="{FF2B5EF4-FFF2-40B4-BE49-F238E27FC236}">
                <a16:creationId xmlns:a16="http://schemas.microsoft.com/office/drawing/2014/main" id="{3CAB9851-E2F2-EC3F-9858-EFF767BED31A}"/>
              </a:ext>
            </a:extLst>
          </p:cNvPr>
          <p:cNvCxnSpPr/>
          <p:nvPr/>
        </p:nvCxnSpPr>
        <p:spPr>
          <a:xfrm flipH="1">
            <a:off x="5820311" y="3270007"/>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5" name="Straight Arrow Connector 24">
            <a:extLst>
              <a:ext uri="{FF2B5EF4-FFF2-40B4-BE49-F238E27FC236}">
                <a16:creationId xmlns:a16="http://schemas.microsoft.com/office/drawing/2014/main" id="{7424EC6F-A492-0B9B-06AA-A9E6F5159843}"/>
              </a:ext>
            </a:extLst>
          </p:cNvPr>
          <p:cNvCxnSpPr/>
          <p:nvPr/>
        </p:nvCxnSpPr>
        <p:spPr>
          <a:xfrm flipH="1">
            <a:off x="5820311" y="3700342"/>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6" name="Straight Arrow Connector 25">
            <a:extLst>
              <a:ext uri="{FF2B5EF4-FFF2-40B4-BE49-F238E27FC236}">
                <a16:creationId xmlns:a16="http://schemas.microsoft.com/office/drawing/2014/main" id="{55E8651A-1BB1-E568-135A-C63B194BDB70}"/>
              </a:ext>
            </a:extLst>
          </p:cNvPr>
          <p:cNvCxnSpPr/>
          <p:nvPr/>
        </p:nvCxnSpPr>
        <p:spPr>
          <a:xfrm flipH="1">
            <a:off x="5820310" y="4141231"/>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7" name="Straight Arrow Connector 26">
            <a:extLst>
              <a:ext uri="{FF2B5EF4-FFF2-40B4-BE49-F238E27FC236}">
                <a16:creationId xmlns:a16="http://schemas.microsoft.com/office/drawing/2014/main" id="{E4710D60-3718-407B-2F19-6D8A32BB1435}"/>
              </a:ext>
            </a:extLst>
          </p:cNvPr>
          <p:cNvCxnSpPr/>
          <p:nvPr/>
        </p:nvCxnSpPr>
        <p:spPr>
          <a:xfrm flipH="1">
            <a:off x="5820309" y="4555273"/>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8" name="Straight Arrow Connector 27">
            <a:extLst>
              <a:ext uri="{FF2B5EF4-FFF2-40B4-BE49-F238E27FC236}">
                <a16:creationId xmlns:a16="http://schemas.microsoft.com/office/drawing/2014/main" id="{35841CB7-B69E-A96F-655C-1C04C8D39065}"/>
              </a:ext>
            </a:extLst>
          </p:cNvPr>
          <p:cNvCxnSpPr/>
          <p:nvPr/>
        </p:nvCxnSpPr>
        <p:spPr>
          <a:xfrm flipH="1">
            <a:off x="5820308" y="5049412"/>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29" name="Straight Arrow Connector 28">
            <a:extLst>
              <a:ext uri="{FF2B5EF4-FFF2-40B4-BE49-F238E27FC236}">
                <a16:creationId xmlns:a16="http://schemas.microsoft.com/office/drawing/2014/main" id="{9512C4F7-9B08-DB61-EFC3-06B1A3AD0AD5}"/>
              </a:ext>
            </a:extLst>
          </p:cNvPr>
          <p:cNvCxnSpPr/>
          <p:nvPr/>
        </p:nvCxnSpPr>
        <p:spPr>
          <a:xfrm flipH="1">
            <a:off x="5820308" y="5570035"/>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0" name="TextBox 29">
            <a:extLst>
              <a:ext uri="{FF2B5EF4-FFF2-40B4-BE49-F238E27FC236}">
                <a16:creationId xmlns:a16="http://schemas.microsoft.com/office/drawing/2014/main" id="{C6E4F330-FCDC-E041-9CBD-B4D77B1694D1}"/>
              </a:ext>
            </a:extLst>
          </p:cNvPr>
          <p:cNvSpPr txBox="1"/>
          <p:nvPr/>
        </p:nvSpPr>
        <p:spPr>
          <a:xfrm>
            <a:off x="5410200" y="6123543"/>
            <a:ext cx="1797050" cy="369332"/>
          </a:xfrm>
          <a:prstGeom prst="rect">
            <a:avLst/>
          </a:prstGeom>
          <a:noFill/>
        </p:spPr>
        <p:txBody>
          <a:bodyPr wrap="square" rtlCol="0">
            <a:spAutoFit/>
          </a:bodyPr>
          <a:lstStyle/>
          <a:p>
            <a:r>
              <a:rPr lang="de-DE" dirty="0"/>
              <a:t>Output</a:t>
            </a:r>
          </a:p>
        </p:txBody>
      </p:sp>
      <p:cxnSp>
        <p:nvCxnSpPr>
          <p:cNvPr id="31" name="Straight Arrow Connector 30">
            <a:extLst>
              <a:ext uri="{FF2B5EF4-FFF2-40B4-BE49-F238E27FC236}">
                <a16:creationId xmlns:a16="http://schemas.microsoft.com/office/drawing/2014/main" id="{79558172-5A89-227C-C15A-CE094C9A6C1B}"/>
              </a:ext>
            </a:extLst>
          </p:cNvPr>
          <p:cNvCxnSpPr/>
          <p:nvPr/>
        </p:nvCxnSpPr>
        <p:spPr>
          <a:xfrm flipH="1">
            <a:off x="5788558" y="6090658"/>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32" name="TextBox 31">
            <a:extLst>
              <a:ext uri="{FF2B5EF4-FFF2-40B4-BE49-F238E27FC236}">
                <a16:creationId xmlns:a16="http://schemas.microsoft.com/office/drawing/2014/main" id="{9E3BDC66-969C-2429-5FE5-0C07B84A07BE}"/>
              </a:ext>
            </a:extLst>
          </p:cNvPr>
          <p:cNvSpPr txBox="1"/>
          <p:nvPr/>
        </p:nvSpPr>
        <p:spPr>
          <a:xfrm>
            <a:off x="5410200" y="877343"/>
            <a:ext cx="1651000" cy="369332"/>
          </a:xfrm>
          <a:prstGeom prst="rect">
            <a:avLst/>
          </a:prstGeom>
          <a:noFill/>
        </p:spPr>
        <p:txBody>
          <a:bodyPr wrap="square" rtlCol="0">
            <a:spAutoFit/>
          </a:bodyPr>
          <a:lstStyle/>
          <a:p>
            <a:r>
              <a:rPr lang="de-DE" dirty="0"/>
              <a:t>Input</a:t>
            </a:r>
          </a:p>
        </p:txBody>
      </p:sp>
      <p:cxnSp>
        <p:nvCxnSpPr>
          <p:cNvPr id="33" name="Straight Arrow Connector 32">
            <a:extLst>
              <a:ext uri="{FF2B5EF4-FFF2-40B4-BE49-F238E27FC236}">
                <a16:creationId xmlns:a16="http://schemas.microsoft.com/office/drawing/2014/main" id="{ACE69D27-720B-A9C5-FBE7-1369168E2894}"/>
              </a:ext>
            </a:extLst>
          </p:cNvPr>
          <p:cNvCxnSpPr/>
          <p:nvPr/>
        </p:nvCxnSpPr>
        <p:spPr>
          <a:xfrm flipH="1">
            <a:off x="5788557" y="1189425"/>
            <a:ext cx="1" cy="13433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34" name="Straight Connector 33">
            <a:extLst>
              <a:ext uri="{FF2B5EF4-FFF2-40B4-BE49-F238E27FC236}">
                <a16:creationId xmlns:a16="http://schemas.microsoft.com/office/drawing/2014/main" id="{B0DC23D3-F0C3-C3EF-7ACE-44BFC419A483}"/>
              </a:ext>
            </a:extLst>
          </p:cNvPr>
          <p:cNvCxnSpPr>
            <a:cxnSpLocks/>
            <a:stCxn id="18" idx="3"/>
          </p:cNvCxnSpPr>
          <p:nvPr/>
        </p:nvCxnSpPr>
        <p:spPr>
          <a:xfrm>
            <a:off x="6938790" y="4433915"/>
            <a:ext cx="522460" cy="0"/>
          </a:xfrm>
          <a:prstGeom prst="line">
            <a:avLst/>
          </a:prstGeom>
        </p:spPr>
        <p:style>
          <a:lnRef idx="2">
            <a:schemeClr val="dk1"/>
          </a:lnRef>
          <a:fillRef idx="0">
            <a:schemeClr val="dk1"/>
          </a:fillRef>
          <a:effectRef idx="1">
            <a:schemeClr val="dk1"/>
          </a:effectRef>
          <a:fontRef idx="minor">
            <a:schemeClr val="tx1"/>
          </a:fontRef>
        </p:style>
      </p:cxnSp>
      <p:cxnSp>
        <p:nvCxnSpPr>
          <p:cNvPr id="35" name="Straight Connector 34">
            <a:extLst>
              <a:ext uri="{FF2B5EF4-FFF2-40B4-BE49-F238E27FC236}">
                <a16:creationId xmlns:a16="http://schemas.microsoft.com/office/drawing/2014/main" id="{05264112-7BB7-0679-BEB0-88AA96EE00BC}"/>
              </a:ext>
            </a:extLst>
          </p:cNvPr>
          <p:cNvCxnSpPr>
            <a:cxnSpLocks/>
          </p:cNvCxnSpPr>
          <p:nvPr/>
        </p:nvCxnSpPr>
        <p:spPr>
          <a:xfrm flipV="1">
            <a:off x="7461250" y="1459139"/>
            <a:ext cx="28574" cy="2981483"/>
          </a:xfrm>
          <a:prstGeom prst="line">
            <a:avLst/>
          </a:prstGeom>
        </p:spPr>
        <p:style>
          <a:lnRef idx="2">
            <a:schemeClr val="dk1"/>
          </a:lnRef>
          <a:fillRef idx="0">
            <a:schemeClr val="dk1"/>
          </a:fillRef>
          <a:effectRef idx="1">
            <a:schemeClr val="dk1"/>
          </a:effectRef>
          <a:fontRef idx="minor">
            <a:schemeClr val="tx1"/>
          </a:fontRef>
        </p:style>
      </p:cxnSp>
      <p:cxnSp>
        <p:nvCxnSpPr>
          <p:cNvPr id="36" name="Straight Arrow Connector 35">
            <a:extLst>
              <a:ext uri="{FF2B5EF4-FFF2-40B4-BE49-F238E27FC236}">
                <a16:creationId xmlns:a16="http://schemas.microsoft.com/office/drawing/2014/main" id="{77E4091A-4E85-E3AA-5443-FF49AE738F48}"/>
              </a:ext>
            </a:extLst>
          </p:cNvPr>
          <p:cNvCxnSpPr>
            <a:cxnSpLocks/>
            <a:endCxn id="5" idx="3"/>
          </p:cNvCxnSpPr>
          <p:nvPr/>
        </p:nvCxnSpPr>
        <p:spPr>
          <a:xfrm flipH="1">
            <a:off x="6910216" y="1470192"/>
            <a:ext cx="57960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360184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826E1-5B7C-4008-5DC4-3BCAC4157029}"/>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60A92B57-74E4-0B1C-940C-9212F152F922}"/>
              </a:ext>
            </a:extLst>
          </p:cNvPr>
          <p:cNvSpPr>
            <a:spLocks noGrp="1"/>
          </p:cNvSpPr>
          <p:nvPr>
            <p:ph type="dt" sz="half" idx="10"/>
          </p:nvPr>
        </p:nvSpPr>
        <p:spPr/>
        <p:txBody>
          <a:bodyPr/>
          <a:lstStyle/>
          <a:p>
            <a:fld id="{D2F9CD7B-AA4A-48E6-97D8-FE93EB14D18B}" type="datetime6">
              <a:rPr lang="en-US" smtClean="0"/>
              <a:t>March 26</a:t>
            </a:fld>
            <a:endParaRPr lang="de-DE" dirty="0"/>
          </a:p>
        </p:txBody>
      </p:sp>
      <p:sp>
        <p:nvSpPr>
          <p:cNvPr id="3" name="Fußzeilenplatzhalter 2">
            <a:extLst>
              <a:ext uri="{FF2B5EF4-FFF2-40B4-BE49-F238E27FC236}">
                <a16:creationId xmlns:a16="http://schemas.microsoft.com/office/drawing/2014/main" id="{04CB8FFC-D142-8523-5929-107DD92F8DB6}"/>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9796C825-8450-64DA-535F-2F9481581C11}"/>
              </a:ext>
            </a:extLst>
          </p:cNvPr>
          <p:cNvSpPr>
            <a:spLocks noGrp="1"/>
          </p:cNvSpPr>
          <p:nvPr>
            <p:ph type="sldNum" sz="quarter" idx="12"/>
          </p:nvPr>
        </p:nvSpPr>
        <p:spPr/>
        <p:txBody>
          <a:bodyPr/>
          <a:lstStyle/>
          <a:p>
            <a:fld id="{D3A9EDD9-2578-4372-8132-10947A418667}" type="slidenum">
              <a:rPr lang="de-DE" smtClean="0"/>
              <a:t>42</a:t>
            </a:fld>
            <a:endParaRPr lang="de-DE"/>
          </a:p>
        </p:txBody>
      </p:sp>
      <p:sp>
        <p:nvSpPr>
          <p:cNvPr id="11" name="Textplatzhalter 10">
            <a:extLst>
              <a:ext uri="{FF2B5EF4-FFF2-40B4-BE49-F238E27FC236}">
                <a16:creationId xmlns:a16="http://schemas.microsoft.com/office/drawing/2014/main" id="{072C4711-3553-D8ED-2FE0-F0953435F072}"/>
              </a:ext>
            </a:extLst>
          </p:cNvPr>
          <p:cNvSpPr>
            <a:spLocks noGrp="1"/>
          </p:cNvSpPr>
          <p:nvPr>
            <p:ph type="body" idx="13"/>
          </p:nvPr>
        </p:nvSpPr>
        <p:spPr/>
        <p:txBody>
          <a:bodyPr/>
          <a:lstStyle/>
          <a:p>
            <a:r>
              <a:rPr lang="de-DE" dirty="0"/>
              <a:t>Statistical Features Added to ResNet</a:t>
            </a:r>
          </a:p>
        </p:txBody>
      </p:sp>
      <p:sp>
        <p:nvSpPr>
          <p:cNvPr id="9" name="Titel 8">
            <a:extLst>
              <a:ext uri="{FF2B5EF4-FFF2-40B4-BE49-F238E27FC236}">
                <a16:creationId xmlns:a16="http://schemas.microsoft.com/office/drawing/2014/main" id="{BAD81FFF-FBBA-33FD-FF4F-F5C1CEDC3E87}"/>
              </a:ext>
            </a:extLst>
          </p:cNvPr>
          <p:cNvSpPr>
            <a:spLocks noGrp="1"/>
          </p:cNvSpPr>
          <p:nvPr>
            <p:ph type="title"/>
          </p:nvPr>
        </p:nvSpPr>
        <p:spPr/>
        <p:txBody>
          <a:bodyPr/>
          <a:lstStyle/>
          <a:p>
            <a:r>
              <a:rPr lang="de-DE" dirty="0"/>
              <a:t>Detection Methods	</a:t>
            </a:r>
          </a:p>
        </p:txBody>
      </p:sp>
      <p:sp>
        <p:nvSpPr>
          <p:cNvPr id="12" name="Textplatzhalter 11">
            <a:extLst>
              <a:ext uri="{FF2B5EF4-FFF2-40B4-BE49-F238E27FC236}">
                <a16:creationId xmlns:a16="http://schemas.microsoft.com/office/drawing/2014/main" id="{5FB46203-4C04-CF6C-D3E9-C93B6C540744}"/>
              </a:ext>
            </a:extLst>
          </p:cNvPr>
          <p:cNvSpPr>
            <a:spLocks noGrp="1"/>
          </p:cNvSpPr>
          <p:nvPr>
            <p:ph type="body" sz="quarter" idx="14"/>
          </p:nvPr>
        </p:nvSpPr>
        <p:spPr/>
        <p:txBody>
          <a:bodyPr/>
          <a:lstStyle/>
          <a:p>
            <a:r>
              <a:rPr lang="de-DE" dirty="0"/>
              <a:t>ResNet</a:t>
            </a:r>
          </a:p>
        </p:txBody>
      </p:sp>
      <p:sp>
        <p:nvSpPr>
          <p:cNvPr id="5" name="PlaceHolder 2">
            <a:extLst>
              <a:ext uri="{FF2B5EF4-FFF2-40B4-BE49-F238E27FC236}">
                <a16:creationId xmlns:a16="http://schemas.microsoft.com/office/drawing/2014/main" id="{09EB549E-A987-3CD9-B74A-FBA6B4D3351D}"/>
              </a:ext>
            </a:extLst>
          </p:cNvPr>
          <p:cNvSpPr txBox="1">
            <a:spLocks/>
          </p:cNvSpPr>
          <p:nvPr/>
        </p:nvSpPr>
        <p:spPr>
          <a:xfrm>
            <a:off x="300493" y="2167266"/>
            <a:ext cx="11155320" cy="3767040"/>
          </a:xfrm>
          <a:prstGeom prst="rect">
            <a:avLst/>
          </a:prstGeom>
          <a:noFill/>
          <a:ln w="0">
            <a:noFill/>
          </a:ln>
        </p:spPr>
        <p:txBody>
          <a:bodyPr vert="horz" wrap="none" lIns="91440" tIns="45720" rIns="91440" bIns="45720" numCol="2" spcCol="0" rtlCol="0" anchor="t" anchorCtr="0">
            <a:normAutofit/>
          </a:bodyPr>
          <a:lstStyle>
            <a:lvl1pPr algn="l" defTabSz="914400" rtl="0" eaLnBrk="1" latinLnBrk="0" hangingPunct="1">
              <a:lnSpc>
                <a:spcPct val="90000"/>
              </a:lnSpc>
              <a:spcBef>
                <a:spcPct val="0"/>
              </a:spcBef>
              <a:buNone/>
              <a:defRPr sz="2200" b="1" i="0" kern="1200" cap="all" baseline="0">
                <a:solidFill>
                  <a:schemeClr val="bg2"/>
                </a:solidFill>
                <a:latin typeface="+mj-lt"/>
                <a:ea typeface="+mj-ea"/>
                <a:cs typeface="+mj-cs"/>
              </a:defRPr>
            </a:lvl1pPr>
          </a:lstStyle>
          <a:p>
            <a:pPr marL="228600" indent="-228600">
              <a:lnSpc>
                <a:spcPct val="110000"/>
              </a:lnSpc>
              <a:spcBef>
                <a:spcPts val="1001"/>
              </a:spcBef>
              <a:buClr>
                <a:srgbClr val="000000"/>
              </a:buClr>
              <a:buFont typeface="Arial"/>
              <a:buChar char="•"/>
            </a:pPr>
            <a:r>
              <a:rPr lang="en-US" sz="1800" b="0">
                <a:solidFill>
                  <a:schemeClr val="dk1"/>
                </a:solidFill>
                <a:latin typeface="Bierstadt"/>
              </a:rPr>
              <a:t>Why add statistical features?</a:t>
            </a:r>
          </a:p>
          <a:p>
            <a:pPr marL="685800" lvl="1" indent="-228600">
              <a:lnSpc>
                <a:spcPct val="110000"/>
              </a:lnSpc>
              <a:spcBef>
                <a:spcPts val="499"/>
              </a:spcBef>
              <a:buClr>
                <a:srgbClr val="000000"/>
              </a:buClr>
              <a:buFont typeface="Arial"/>
              <a:buChar char="•"/>
            </a:pPr>
            <a:r>
              <a:rPr lang="en-US" sz="1600" kern="0">
                <a:solidFill>
                  <a:schemeClr val="dk1"/>
                </a:solidFill>
                <a:latin typeface="Bierstadt"/>
              </a:rPr>
              <a:t>Raw bytes capture local structure</a:t>
            </a:r>
          </a:p>
          <a:p>
            <a:pPr marL="685800" lvl="1" indent="-228600">
              <a:lnSpc>
                <a:spcPct val="110000"/>
              </a:lnSpc>
              <a:spcBef>
                <a:spcPts val="499"/>
              </a:spcBef>
              <a:buClr>
                <a:srgbClr val="000000"/>
              </a:buClr>
              <a:buFont typeface="Arial"/>
              <a:buChar char="•"/>
            </a:pPr>
            <a:r>
              <a:rPr lang="en-US" sz="1600" kern="0">
                <a:solidFill>
                  <a:schemeClr val="dk1"/>
                </a:solidFill>
                <a:latin typeface="Bierstadt"/>
              </a:rPr>
              <a:t>Statistical features capture global packet characteristics</a:t>
            </a:r>
          </a:p>
          <a:p>
            <a:pPr marL="685800" lvl="1" indent="-228600">
              <a:lnSpc>
                <a:spcPct val="110000"/>
              </a:lnSpc>
              <a:spcBef>
                <a:spcPts val="499"/>
              </a:spcBef>
              <a:buClr>
                <a:srgbClr val="000000"/>
              </a:buClr>
              <a:buFont typeface="Arial"/>
              <a:buChar char="•"/>
            </a:pPr>
            <a:r>
              <a:rPr lang="en-US" sz="1600" kern="0">
                <a:solidFill>
                  <a:schemeClr val="dk1"/>
                </a:solidFill>
                <a:latin typeface="Bierstadt"/>
              </a:rPr>
              <a:t>Complement deep CNN features</a:t>
            </a:r>
          </a:p>
          <a:p>
            <a:pPr marL="228600" indent="-228600">
              <a:lnSpc>
                <a:spcPct val="110000"/>
              </a:lnSpc>
              <a:spcBef>
                <a:spcPts val="1001"/>
              </a:spcBef>
              <a:buClr>
                <a:srgbClr val="000000"/>
              </a:buClr>
              <a:buFont typeface="Arial"/>
              <a:buChar char="•"/>
            </a:pPr>
            <a:r>
              <a:rPr lang="en-US" sz="1800" b="0">
                <a:solidFill>
                  <a:schemeClr val="dk1"/>
                </a:solidFill>
                <a:latin typeface="Bierstadt"/>
              </a:rPr>
              <a:t>Features:</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Total number of bytes:</a:t>
            </a:r>
          </a:p>
          <a:p>
            <a:pPr marL="1143000" lvl="2" indent="-228600">
              <a:lnSpc>
                <a:spcPct val="110000"/>
              </a:lnSpc>
              <a:spcBef>
                <a:spcPts val="499"/>
              </a:spcBef>
              <a:buClr>
                <a:srgbClr val="000000"/>
              </a:buClr>
              <a:buFont typeface="Arial"/>
              <a:buChar char="•"/>
            </a:pPr>
            <a:r>
              <a:rPr lang="en-US" sz="1400" kern="0">
                <a:solidFill>
                  <a:schemeClr val="dk1"/>
                </a:solidFill>
                <a:latin typeface="Bierstadt"/>
              </a:rPr>
              <a:t>Packet length before padding or trimming</a:t>
            </a:r>
          </a:p>
          <a:p>
            <a:pPr marL="1143000" lvl="2" indent="-228600">
              <a:lnSpc>
                <a:spcPct val="110000"/>
              </a:lnSpc>
              <a:spcBef>
                <a:spcPts val="499"/>
              </a:spcBef>
              <a:buClr>
                <a:srgbClr val="000000"/>
              </a:buClr>
              <a:buFont typeface="Arial"/>
              <a:buChar char="•"/>
            </a:pPr>
            <a:r>
              <a:rPr lang="en-US" sz="1400" kern="0">
                <a:solidFill>
                  <a:schemeClr val="dk1"/>
                </a:solidFill>
                <a:latin typeface="Bierstadt"/>
              </a:rPr>
              <a:t>Helps detect:</a:t>
            </a:r>
          </a:p>
          <a:p>
            <a:pPr marL="1600200" lvl="3" indent="-228600">
              <a:lnSpc>
                <a:spcPct val="110000"/>
              </a:lnSpc>
              <a:spcBef>
                <a:spcPts val="499"/>
              </a:spcBef>
              <a:buClr>
                <a:srgbClr val="000000"/>
              </a:buClr>
              <a:buFont typeface="Arial"/>
              <a:buChar char="•"/>
            </a:pPr>
            <a:r>
              <a:rPr lang="en-US" sz="1200" kern="0">
                <a:solidFill>
                  <a:schemeClr val="dk1"/>
                </a:solidFill>
                <a:latin typeface="Bierstadt"/>
              </a:rPr>
              <a:t>Abnormal packet sizes</a:t>
            </a:r>
          </a:p>
          <a:p>
            <a:pPr marL="1600200" lvl="3" indent="-228600">
              <a:lnSpc>
                <a:spcPct val="110000"/>
              </a:lnSpc>
              <a:spcBef>
                <a:spcPts val="499"/>
              </a:spcBef>
              <a:buClr>
                <a:srgbClr val="000000"/>
              </a:buClr>
              <a:buFont typeface="Arial"/>
              <a:buChar char="•"/>
            </a:pPr>
            <a:r>
              <a:rPr lang="en-US" sz="1200" kern="0">
                <a:solidFill>
                  <a:schemeClr val="dk1"/>
                </a:solidFill>
                <a:latin typeface="Bierstadt"/>
              </a:rPr>
              <a:t>Flooding or malformed packets</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Occurrences of the most and second most frequent bytes</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Useful for detecting repetitive payloads and protocol misuse and adds robustness beyond single dominant value. </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Byte entropy</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Measures randomness of packet bytes</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Attacks often show:</a:t>
            </a:r>
          </a:p>
          <a:p>
            <a:pPr marL="1714680" lvl="3" indent="-343080">
              <a:lnSpc>
                <a:spcPct val="110000"/>
              </a:lnSpc>
              <a:spcBef>
                <a:spcPts val="499"/>
              </a:spcBef>
              <a:buClr>
                <a:srgbClr val="000000"/>
              </a:buClr>
              <a:buFont typeface="Bierstadt"/>
              <a:buAutoNum type="arabicPeriod"/>
            </a:pPr>
            <a:r>
              <a:rPr lang="en-US" sz="1200" kern="0">
                <a:solidFill>
                  <a:schemeClr val="dk1"/>
                </a:solidFill>
                <a:latin typeface="Bierstadt"/>
              </a:rPr>
              <a:t>Unusually high or low entropy</a:t>
            </a:r>
          </a:p>
          <a:p>
            <a:pPr marL="800280" lvl="1" indent="-343080">
              <a:lnSpc>
                <a:spcPct val="110000"/>
              </a:lnSpc>
              <a:spcBef>
                <a:spcPts val="499"/>
              </a:spcBef>
              <a:buClr>
                <a:srgbClr val="000000"/>
              </a:buClr>
              <a:buFont typeface="Bierstadt"/>
              <a:buAutoNum type="arabicPeriod"/>
            </a:pPr>
            <a:r>
              <a:rPr lang="en-US" sz="1600" kern="0">
                <a:solidFill>
                  <a:schemeClr val="dk1"/>
                </a:solidFill>
                <a:latin typeface="Bierstadt"/>
              </a:rPr>
              <a:t>Ratio of padded bytes</a:t>
            </a:r>
          </a:p>
          <a:p>
            <a:pPr marL="1257480" lvl="2" indent="-343080">
              <a:lnSpc>
                <a:spcPct val="110000"/>
              </a:lnSpc>
              <a:spcBef>
                <a:spcPts val="499"/>
              </a:spcBef>
              <a:buClr>
                <a:srgbClr val="000000"/>
              </a:buClr>
              <a:buFont typeface="Bierstadt"/>
              <a:buAutoNum type="arabicPeriod"/>
            </a:pPr>
            <a:r>
              <a:rPr lang="en-US" sz="1400" kern="0">
                <a:solidFill>
                  <a:schemeClr val="dk1"/>
                </a:solidFill>
                <a:latin typeface="Bierstadt"/>
              </a:rPr>
              <a:t>Tells the model how much of the input is artificial. </a:t>
            </a:r>
          </a:p>
          <a:p>
            <a:pPr>
              <a:lnSpc>
                <a:spcPct val="110000"/>
              </a:lnSpc>
              <a:spcBef>
                <a:spcPts val="499"/>
              </a:spcBef>
            </a:pPr>
            <a:endParaRPr lang="en-US" sz="1200" b="0">
              <a:solidFill>
                <a:schemeClr val="dk1"/>
              </a:solidFill>
              <a:latin typeface="Bierstadt"/>
            </a:endParaRPr>
          </a:p>
          <a:p>
            <a:pPr>
              <a:lnSpc>
                <a:spcPct val="110000"/>
              </a:lnSpc>
              <a:spcBef>
                <a:spcPts val="499"/>
              </a:spcBef>
            </a:pPr>
            <a:endParaRPr lang="en-US" sz="1600" b="0">
              <a:solidFill>
                <a:schemeClr val="dk1"/>
              </a:solidFill>
              <a:latin typeface="Bierstadt"/>
            </a:endParaRPr>
          </a:p>
        </p:txBody>
      </p:sp>
    </p:spTree>
    <p:extLst>
      <p:ext uri="{BB962C8B-B14F-4D97-AF65-F5344CB8AC3E}">
        <p14:creationId xmlns:p14="http://schemas.microsoft.com/office/powerpoint/2010/main" val="402997377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8D41A89-2ACB-F15F-BF8F-74212CBA1A1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B1BD0793-E072-8357-524B-34F7E38AA159}"/>
              </a:ext>
            </a:extLst>
          </p:cNvPr>
          <p:cNvSpPr>
            <a:spLocks noGrp="1"/>
          </p:cNvSpPr>
          <p:nvPr>
            <p:ph type="dt" sz="half" idx="10"/>
          </p:nvPr>
        </p:nvSpPr>
        <p:spPr/>
        <p:txBody>
          <a:bodyPr/>
          <a:lstStyle/>
          <a:p>
            <a:fld id="{9B1F8EF6-E26B-4E1C-950C-480DC8BE1F53}" type="datetime6">
              <a:rPr lang="en-US" smtClean="0"/>
              <a:t>March 26</a:t>
            </a:fld>
            <a:endParaRPr lang="de-DE" dirty="0"/>
          </a:p>
        </p:txBody>
      </p:sp>
      <p:sp>
        <p:nvSpPr>
          <p:cNvPr id="3" name="Fußzeilenplatzhalter 2">
            <a:extLst>
              <a:ext uri="{FF2B5EF4-FFF2-40B4-BE49-F238E27FC236}">
                <a16:creationId xmlns:a16="http://schemas.microsoft.com/office/drawing/2014/main" id="{C5DB6602-2C13-0E72-FA2F-057D1ABC7D35}"/>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8E8DA3F4-7471-E48E-46CD-B6C8EB3168F4}"/>
              </a:ext>
            </a:extLst>
          </p:cNvPr>
          <p:cNvSpPr>
            <a:spLocks noGrp="1"/>
          </p:cNvSpPr>
          <p:nvPr>
            <p:ph type="sldNum" sz="quarter" idx="12"/>
          </p:nvPr>
        </p:nvSpPr>
        <p:spPr/>
        <p:txBody>
          <a:bodyPr/>
          <a:lstStyle/>
          <a:p>
            <a:fld id="{D3A9EDD9-2578-4372-8132-10947A418667}" type="slidenum">
              <a:rPr lang="de-DE" smtClean="0"/>
              <a:t>43</a:t>
            </a:fld>
            <a:endParaRPr lang="de-DE"/>
          </a:p>
        </p:txBody>
      </p:sp>
      <p:sp>
        <p:nvSpPr>
          <p:cNvPr id="9" name="Titel 8">
            <a:extLst>
              <a:ext uri="{FF2B5EF4-FFF2-40B4-BE49-F238E27FC236}">
                <a16:creationId xmlns:a16="http://schemas.microsoft.com/office/drawing/2014/main" id="{BAFFDBBF-D8BB-BF5F-B681-58AEC3462AF7}"/>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7C35F499-EEBB-2A26-F20B-CDB441FC4B86}"/>
              </a:ext>
            </a:extLst>
          </p:cNvPr>
          <p:cNvSpPr>
            <a:spLocks noGrp="1"/>
          </p:cNvSpPr>
          <p:nvPr>
            <p:ph type="body" sz="quarter" idx="14"/>
          </p:nvPr>
        </p:nvSpPr>
        <p:spPr/>
        <p:txBody>
          <a:bodyPr/>
          <a:lstStyle/>
          <a:p>
            <a:r>
              <a:rPr lang="de-DE" dirty="0"/>
              <a:t>Traditional ML Models </a:t>
            </a:r>
          </a:p>
        </p:txBody>
      </p:sp>
      <p:pic>
        <p:nvPicPr>
          <p:cNvPr id="5" name="Content Placeholder 4">
            <a:extLst>
              <a:ext uri="{FF2B5EF4-FFF2-40B4-BE49-F238E27FC236}">
                <a16:creationId xmlns:a16="http://schemas.microsoft.com/office/drawing/2014/main" id="{499CFD2A-8B45-45BE-7ECC-584C93B74586}"/>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1596981" y="1551373"/>
            <a:ext cx="8741527" cy="4351338"/>
          </a:xfrm>
          <a:prstGeom prst="rect">
            <a:avLst/>
          </a:prstGeom>
        </p:spPr>
      </p:pic>
      <p:sp>
        <p:nvSpPr>
          <p:cNvPr id="6" name="Textplatzhalter 10">
            <a:extLst>
              <a:ext uri="{FF2B5EF4-FFF2-40B4-BE49-F238E27FC236}">
                <a16:creationId xmlns:a16="http://schemas.microsoft.com/office/drawing/2014/main" id="{546D5666-549F-1B6D-0013-F9FFB83DDEB1}"/>
              </a:ext>
            </a:extLst>
          </p:cNvPr>
          <p:cNvSpPr>
            <a:spLocks noGrp="1"/>
          </p:cNvSpPr>
          <p:nvPr>
            <p:ph type="body" idx="13"/>
          </p:nvPr>
        </p:nvSpPr>
        <p:spPr>
          <a:xfrm>
            <a:off x="575733" y="1024114"/>
            <a:ext cx="11040533" cy="612000"/>
          </a:xfrm>
        </p:spPr>
        <p:txBody>
          <a:bodyPr/>
          <a:lstStyle/>
          <a:p>
            <a:r>
              <a:rPr lang="de-DE" dirty="0"/>
              <a:t>Feature Importance Scenario 1</a:t>
            </a:r>
          </a:p>
        </p:txBody>
      </p:sp>
    </p:spTree>
    <p:extLst>
      <p:ext uri="{BB962C8B-B14F-4D97-AF65-F5344CB8AC3E}">
        <p14:creationId xmlns:p14="http://schemas.microsoft.com/office/powerpoint/2010/main" val="7015443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3F11845-C8B4-9D69-7EBD-956F7B463AAB}"/>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0152BE6-8BD3-0A00-0302-979CD07D98ED}"/>
              </a:ext>
            </a:extLst>
          </p:cNvPr>
          <p:cNvSpPr>
            <a:spLocks noGrp="1"/>
          </p:cNvSpPr>
          <p:nvPr>
            <p:ph type="dt" sz="half" idx="10"/>
          </p:nvPr>
        </p:nvSpPr>
        <p:spPr/>
        <p:txBody>
          <a:bodyPr/>
          <a:lstStyle/>
          <a:p>
            <a:fld id="{67AC7A94-F5EF-4265-A7D7-1F75FA18AFD9}" type="datetime6">
              <a:rPr lang="en-US" smtClean="0"/>
              <a:t>March 26</a:t>
            </a:fld>
            <a:endParaRPr lang="de-DE" dirty="0"/>
          </a:p>
        </p:txBody>
      </p:sp>
      <p:sp>
        <p:nvSpPr>
          <p:cNvPr id="3" name="Fußzeilenplatzhalter 2">
            <a:extLst>
              <a:ext uri="{FF2B5EF4-FFF2-40B4-BE49-F238E27FC236}">
                <a16:creationId xmlns:a16="http://schemas.microsoft.com/office/drawing/2014/main" id="{1DE496AC-C46D-BF3B-B59D-53133F0CA34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039BCC8-D16A-4E62-A9B0-42C1554346DC}"/>
              </a:ext>
            </a:extLst>
          </p:cNvPr>
          <p:cNvSpPr>
            <a:spLocks noGrp="1"/>
          </p:cNvSpPr>
          <p:nvPr>
            <p:ph type="sldNum" sz="quarter" idx="12"/>
          </p:nvPr>
        </p:nvSpPr>
        <p:spPr/>
        <p:txBody>
          <a:bodyPr/>
          <a:lstStyle/>
          <a:p>
            <a:fld id="{D3A9EDD9-2578-4372-8132-10947A418667}" type="slidenum">
              <a:rPr lang="de-DE" smtClean="0"/>
              <a:t>44</a:t>
            </a:fld>
            <a:endParaRPr lang="de-DE"/>
          </a:p>
        </p:txBody>
      </p:sp>
      <p:sp>
        <p:nvSpPr>
          <p:cNvPr id="9" name="Titel 8">
            <a:extLst>
              <a:ext uri="{FF2B5EF4-FFF2-40B4-BE49-F238E27FC236}">
                <a16:creationId xmlns:a16="http://schemas.microsoft.com/office/drawing/2014/main" id="{473EC84C-7C2B-D7DB-58B1-CC8D2B6C5A73}"/>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4604DD97-529A-BF4B-5782-6E3367822CB2}"/>
              </a:ext>
            </a:extLst>
          </p:cNvPr>
          <p:cNvSpPr>
            <a:spLocks noGrp="1"/>
          </p:cNvSpPr>
          <p:nvPr>
            <p:ph type="body" sz="quarter" idx="14"/>
          </p:nvPr>
        </p:nvSpPr>
        <p:spPr/>
        <p:txBody>
          <a:bodyPr/>
          <a:lstStyle/>
          <a:p>
            <a:r>
              <a:rPr lang="de-DE" dirty="0"/>
              <a:t>Traditional ML Models </a:t>
            </a:r>
          </a:p>
        </p:txBody>
      </p:sp>
      <p:pic>
        <p:nvPicPr>
          <p:cNvPr id="8" name="Content Placeholder 6">
            <a:extLst>
              <a:ext uri="{FF2B5EF4-FFF2-40B4-BE49-F238E27FC236}">
                <a16:creationId xmlns:a16="http://schemas.microsoft.com/office/drawing/2014/main" id="{1FFBF43E-8AC2-0AA5-E6EF-DC03E240796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725236" y="1825625"/>
            <a:ext cx="8741527" cy="4351338"/>
          </a:xfrm>
          <a:prstGeom prst="rect">
            <a:avLst/>
          </a:prstGeom>
        </p:spPr>
      </p:pic>
      <p:sp>
        <p:nvSpPr>
          <p:cNvPr id="10" name="Textplatzhalter 10">
            <a:extLst>
              <a:ext uri="{FF2B5EF4-FFF2-40B4-BE49-F238E27FC236}">
                <a16:creationId xmlns:a16="http://schemas.microsoft.com/office/drawing/2014/main" id="{EA3974B7-BAA7-94F7-6F5B-512408516941}"/>
              </a:ext>
            </a:extLst>
          </p:cNvPr>
          <p:cNvSpPr>
            <a:spLocks noGrp="1"/>
          </p:cNvSpPr>
          <p:nvPr>
            <p:ph type="body" idx="13"/>
          </p:nvPr>
        </p:nvSpPr>
        <p:spPr>
          <a:xfrm>
            <a:off x="575733" y="1024114"/>
            <a:ext cx="11040533" cy="612000"/>
          </a:xfrm>
        </p:spPr>
        <p:txBody>
          <a:bodyPr/>
          <a:lstStyle/>
          <a:p>
            <a:r>
              <a:rPr lang="de-DE" dirty="0"/>
              <a:t>Feature Importance Scenario 2</a:t>
            </a:r>
          </a:p>
        </p:txBody>
      </p:sp>
    </p:spTree>
    <p:extLst>
      <p:ext uri="{BB962C8B-B14F-4D97-AF65-F5344CB8AC3E}">
        <p14:creationId xmlns:p14="http://schemas.microsoft.com/office/powerpoint/2010/main" val="124303172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E093C10-6689-73B9-54CE-EFC22EEB9A55}"/>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59EE6BD7-2B1B-FFA9-FB7C-4D5BF4C1BB7F}"/>
              </a:ext>
            </a:extLst>
          </p:cNvPr>
          <p:cNvSpPr>
            <a:spLocks noGrp="1"/>
          </p:cNvSpPr>
          <p:nvPr>
            <p:ph type="dt" sz="half" idx="10"/>
          </p:nvPr>
        </p:nvSpPr>
        <p:spPr/>
        <p:txBody>
          <a:bodyPr/>
          <a:lstStyle/>
          <a:p>
            <a:fld id="{D61DDBD2-D782-4DCD-9D00-8795A089EC2A}" type="datetime6">
              <a:rPr lang="en-US" smtClean="0"/>
              <a:t>March 26</a:t>
            </a:fld>
            <a:endParaRPr lang="de-DE" dirty="0"/>
          </a:p>
        </p:txBody>
      </p:sp>
      <p:sp>
        <p:nvSpPr>
          <p:cNvPr id="3" name="Fußzeilenplatzhalter 2">
            <a:extLst>
              <a:ext uri="{FF2B5EF4-FFF2-40B4-BE49-F238E27FC236}">
                <a16:creationId xmlns:a16="http://schemas.microsoft.com/office/drawing/2014/main" id="{62404E34-393A-2300-8469-FD8C7063BA5F}"/>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27000AD4-A8C6-2317-D5B6-FDA43430A7C0}"/>
              </a:ext>
            </a:extLst>
          </p:cNvPr>
          <p:cNvSpPr>
            <a:spLocks noGrp="1"/>
          </p:cNvSpPr>
          <p:nvPr>
            <p:ph type="sldNum" sz="quarter" idx="12"/>
          </p:nvPr>
        </p:nvSpPr>
        <p:spPr/>
        <p:txBody>
          <a:bodyPr/>
          <a:lstStyle/>
          <a:p>
            <a:fld id="{D3A9EDD9-2578-4372-8132-10947A418667}" type="slidenum">
              <a:rPr lang="de-DE" smtClean="0"/>
              <a:t>45</a:t>
            </a:fld>
            <a:endParaRPr lang="de-DE"/>
          </a:p>
        </p:txBody>
      </p:sp>
      <p:sp>
        <p:nvSpPr>
          <p:cNvPr id="9" name="Titel 8">
            <a:extLst>
              <a:ext uri="{FF2B5EF4-FFF2-40B4-BE49-F238E27FC236}">
                <a16:creationId xmlns:a16="http://schemas.microsoft.com/office/drawing/2014/main" id="{25E1D7ED-AC22-F8A0-7078-B1ADA6311C22}"/>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AE6D57B0-1F1E-DD72-DF21-26E7DAF49781}"/>
              </a:ext>
            </a:extLst>
          </p:cNvPr>
          <p:cNvSpPr>
            <a:spLocks noGrp="1"/>
          </p:cNvSpPr>
          <p:nvPr>
            <p:ph type="body" sz="quarter" idx="14"/>
          </p:nvPr>
        </p:nvSpPr>
        <p:spPr/>
        <p:txBody>
          <a:bodyPr/>
          <a:lstStyle/>
          <a:p>
            <a:r>
              <a:rPr lang="de-DE" dirty="0"/>
              <a:t>Traditional ML Models </a:t>
            </a:r>
          </a:p>
        </p:txBody>
      </p:sp>
      <p:sp>
        <p:nvSpPr>
          <p:cNvPr id="10" name="Textplatzhalter 10">
            <a:extLst>
              <a:ext uri="{FF2B5EF4-FFF2-40B4-BE49-F238E27FC236}">
                <a16:creationId xmlns:a16="http://schemas.microsoft.com/office/drawing/2014/main" id="{F3398240-8A35-0D60-5AB8-36F76B52BEF4}"/>
              </a:ext>
            </a:extLst>
          </p:cNvPr>
          <p:cNvSpPr>
            <a:spLocks noGrp="1"/>
          </p:cNvSpPr>
          <p:nvPr>
            <p:ph type="body" idx="13"/>
          </p:nvPr>
        </p:nvSpPr>
        <p:spPr>
          <a:xfrm>
            <a:off x="575733" y="1024114"/>
            <a:ext cx="11040533" cy="612000"/>
          </a:xfrm>
        </p:spPr>
        <p:txBody>
          <a:bodyPr/>
          <a:lstStyle/>
          <a:p>
            <a:r>
              <a:rPr lang="de-DE" dirty="0"/>
              <a:t>Error Overlaps (Raw)</a:t>
            </a:r>
          </a:p>
        </p:txBody>
      </p:sp>
      <p:pic>
        <p:nvPicPr>
          <p:cNvPr id="5" name="Content Placeholder 4">
            <a:extLst>
              <a:ext uri="{FF2B5EF4-FFF2-40B4-BE49-F238E27FC236}">
                <a16:creationId xmlns:a16="http://schemas.microsoft.com/office/drawing/2014/main" id="{1804E04E-89C5-9FFF-1074-4839271D1B09}"/>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618925" y="2130425"/>
            <a:ext cx="3639951" cy="3085292"/>
          </a:xfrm>
          <a:prstGeom prst="rect">
            <a:avLst/>
          </a:prstGeom>
          <a:ln>
            <a:solidFill>
              <a:schemeClr val="accent1"/>
            </a:solidFill>
          </a:ln>
        </p:spPr>
      </p:pic>
      <p:pic>
        <p:nvPicPr>
          <p:cNvPr id="6" name="Picture 5">
            <a:extLst>
              <a:ext uri="{FF2B5EF4-FFF2-40B4-BE49-F238E27FC236}">
                <a16:creationId xmlns:a16="http://schemas.microsoft.com/office/drawing/2014/main" id="{C9E4D230-D342-6813-59D5-C16C50A023F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393474" y="2130425"/>
            <a:ext cx="3545274" cy="3061367"/>
          </a:xfrm>
          <a:prstGeom prst="rect">
            <a:avLst/>
          </a:prstGeom>
          <a:ln>
            <a:solidFill>
              <a:schemeClr val="accent1"/>
            </a:solidFill>
          </a:ln>
        </p:spPr>
      </p:pic>
      <p:pic>
        <p:nvPicPr>
          <p:cNvPr id="7" name="Picture 6">
            <a:extLst>
              <a:ext uri="{FF2B5EF4-FFF2-40B4-BE49-F238E27FC236}">
                <a16:creationId xmlns:a16="http://schemas.microsoft.com/office/drawing/2014/main" id="{7ED1A919-B2D4-4341-86D3-DAECE82A35C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073345" y="2130425"/>
            <a:ext cx="3499729" cy="3085367"/>
          </a:xfrm>
          <a:prstGeom prst="rect">
            <a:avLst/>
          </a:prstGeom>
          <a:ln>
            <a:solidFill>
              <a:schemeClr val="accent1"/>
            </a:solidFill>
          </a:ln>
        </p:spPr>
      </p:pic>
    </p:spTree>
    <p:extLst>
      <p:ext uri="{BB962C8B-B14F-4D97-AF65-F5344CB8AC3E}">
        <p14:creationId xmlns:p14="http://schemas.microsoft.com/office/powerpoint/2010/main" val="173707515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3B7C646-0ABB-8F17-ED43-1EAEC4EF958D}"/>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AA27890-5E59-30F1-DEED-175B14CCF7AC}"/>
              </a:ext>
            </a:extLst>
          </p:cNvPr>
          <p:cNvSpPr>
            <a:spLocks noGrp="1"/>
          </p:cNvSpPr>
          <p:nvPr>
            <p:ph type="dt" sz="half" idx="10"/>
          </p:nvPr>
        </p:nvSpPr>
        <p:spPr/>
        <p:txBody>
          <a:bodyPr/>
          <a:lstStyle/>
          <a:p>
            <a:fld id="{C15081CF-3407-422D-93B9-A0314EA0FE87}" type="datetime6">
              <a:rPr lang="en-US" smtClean="0"/>
              <a:t>March 26</a:t>
            </a:fld>
            <a:endParaRPr lang="de-DE" dirty="0"/>
          </a:p>
        </p:txBody>
      </p:sp>
      <p:sp>
        <p:nvSpPr>
          <p:cNvPr id="3" name="Fußzeilenplatzhalter 2">
            <a:extLst>
              <a:ext uri="{FF2B5EF4-FFF2-40B4-BE49-F238E27FC236}">
                <a16:creationId xmlns:a16="http://schemas.microsoft.com/office/drawing/2014/main" id="{D1CCB157-A37F-874C-C579-36F2550F6AF2}"/>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C975F751-416C-48A0-7E7F-29EA2D865347}"/>
              </a:ext>
            </a:extLst>
          </p:cNvPr>
          <p:cNvSpPr>
            <a:spLocks noGrp="1"/>
          </p:cNvSpPr>
          <p:nvPr>
            <p:ph type="sldNum" sz="quarter" idx="12"/>
          </p:nvPr>
        </p:nvSpPr>
        <p:spPr/>
        <p:txBody>
          <a:bodyPr/>
          <a:lstStyle/>
          <a:p>
            <a:fld id="{D3A9EDD9-2578-4372-8132-10947A418667}" type="slidenum">
              <a:rPr lang="de-DE" smtClean="0"/>
              <a:t>46</a:t>
            </a:fld>
            <a:endParaRPr lang="de-DE"/>
          </a:p>
        </p:txBody>
      </p:sp>
      <p:sp>
        <p:nvSpPr>
          <p:cNvPr id="9" name="Titel 8">
            <a:extLst>
              <a:ext uri="{FF2B5EF4-FFF2-40B4-BE49-F238E27FC236}">
                <a16:creationId xmlns:a16="http://schemas.microsoft.com/office/drawing/2014/main" id="{996F7F72-4EF4-B286-3305-A1AF04B594B1}"/>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00C7EF73-65E4-7B16-CBC2-C6267E4C76A1}"/>
              </a:ext>
            </a:extLst>
          </p:cNvPr>
          <p:cNvSpPr>
            <a:spLocks noGrp="1"/>
          </p:cNvSpPr>
          <p:nvPr>
            <p:ph type="body" sz="quarter" idx="14"/>
          </p:nvPr>
        </p:nvSpPr>
        <p:spPr/>
        <p:txBody>
          <a:bodyPr/>
          <a:lstStyle/>
          <a:p>
            <a:r>
              <a:rPr lang="de-DE" dirty="0"/>
              <a:t>Traditional ML Models</a:t>
            </a:r>
          </a:p>
        </p:txBody>
      </p:sp>
      <p:pic>
        <p:nvPicPr>
          <p:cNvPr id="5" name="Content Placeholder 4">
            <a:extLst>
              <a:ext uri="{FF2B5EF4-FFF2-40B4-BE49-F238E27FC236}">
                <a16:creationId xmlns:a16="http://schemas.microsoft.com/office/drawing/2014/main" id="{D138402F-32B5-887B-2DC3-C5ACA61A7F87}"/>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838200" y="1375515"/>
            <a:ext cx="6559550" cy="2490797"/>
          </a:xfrm>
          <a:prstGeom prst="rect">
            <a:avLst/>
          </a:prstGeom>
        </p:spPr>
      </p:pic>
      <p:pic>
        <p:nvPicPr>
          <p:cNvPr id="6" name="Picture 5">
            <a:extLst>
              <a:ext uri="{FF2B5EF4-FFF2-40B4-BE49-F238E27FC236}">
                <a16:creationId xmlns:a16="http://schemas.microsoft.com/office/drawing/2014/main" id="{F5F444F1-DC7E-0310-0AC1-C5B042D6636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438" y="3866312"/>
            <a:ext cx="6685546" cy="2538640"/>
          </a:xfrm>
          <a:prstGeom prst="rect">
            <a:avLst/>
          </a:prstGeom>
        </p:spPr>
      </p:pic>
      <p:sp>
        <p:nvSpPr>
          <p:cNvPr id="7" name="Textplatzhalter 10">
            <a:extLst>
              <a:ext uri="{FF2B5EF4-FFF2-40B4-BE49-F238E27FC236}">
                <a16:creationId xmlns:a16="http://schemas.microsoft.com/office/drawing/2014/main" id="{EF8E55CD-2D67-50A9-C10A-538EB16D43B5}"/>
              </a:ext>
            </a:extLst>
          </p:cNvPr>
          <p:cNvSpPr>
            <a:spLocks noGrp="1"/>
          </p:cNvSpPr>
          <p:nvPr>
            <p:ph type="body" idx="13"/>
          </p:nvPr>
        </p:nvSpPr>
        <p:spPr>
          <a:xfrm>
            <a:off x="575733" y="1024114"/>
            <a:ext cx="11040533" cy="612000"/>
          </a:xfrm>
        </p:spPr>
        <p:txBody>
          <a:bodyPr/>
          <a:lstStyle/>
          <a:p>
            <a:r>
              <a:rPr lang="de-DE" dirty="0"/>
              <a:t>Memory Usage </a:t>
            </a:r>
          </a:p>
        </p:txBody>
      </p:sp>
    </p:spTree>
    <p:extLst>
      <p:ext uri="{BB962C8B-B14F-4D97-AF65-F5344CB8AC3E}">
        <p14:creationId xmlns:p14="http://schemas.microsoft.com/office/powerpoint/2010/main" val="25145642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933A03-8282-F38A-C059-10A2B7A012C3}"/>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F303EEE3-D6B1-22B7-D0BB-C379C6B2081A}"/>
              </a:ext>
            </a:extLst>
          </p:cNvPr>
          <p:cNvSpPr>
            <a:spLocks noGrp="1"/>
          </p:cNvSpPr>
          <p:nvPr>
            <p:ph type="dt" sz="half" idx="10"/>
          </p:nvPr>
        </p:nvSpPr>
        <p:spPr/>
        <p:txBody>
          <a:bodyPr/>
          <a:lstStyle/>
          <a:p>
            <a:fld id="{298650D0-9811-498D-9210-3199EB2A07FA}" type="datetime6">
              <a:rPr lang="en-US" smtClean="0"/>
              <a:t>March 26</a:t>
            </a:fld>
            <a:endParaRPr lang="de-DE" dirty="0"/>
          </a:p>
        </p:txBody>
      </p:sp>
      <p:sp>
        <p:nvSpPr>
          <p:cNvPr id="3" name="Fußzeilenplatzhalter 2">
            <a:extLst>
              <a:ext uri="{FF2B5EF4-FFF2-40B4-BE49-F238E27FC236}">
                <a16:creationId xmlns:a16="http://schemas.microsoft.com/office/drawing/2014/main" id="{7DA4420F-8B16-8BC4-28A5-13FECA32905D}"/>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59B31C63-7D6C-E831-2934-60F7B8058462}"/>
              </a:ext>
            </a:extLst>
          </p:cNvPr>
          <p:cNvSpPr>
            <a:spLocks noGrp="1"/>
          </p:cNvSpPr>
          <p:nvPr>
            <p:ph type="sldNum" sz="quarter" idx="12"/>
          </p:nvPr>
        </p:nvSpPr>
        <p:spPr/>
        <p:txBody>
          <a:bodyPr/>
          <a:lstStyle/>
          <a:p>
            <a:fld id="{D3A9EDD9-2578-4372-8132-10947A418667}" type="slidenum">
              <a:rPr lang="de-DE" smtClean="0"/>
              <a:t>47</a:t>
            </a:fld>
            <a:endParaRPr lang="de-DE"/>
          </a:p>
        </p:txBody>
      </p:sp>
      <p:sp>
        <p:nvSpPr>
          <p:cNvPr id="9" name="Titel 8">
            <a:extLst>
              <a:ext uri="{FF2B5EF4-FFF2-40B4-BE49-F238E27FC236}">
                <a16:creationId xmlns:a16="http://schemas.microsoft.com/office/drawing/2014/main" id="{85FF26F3-62F7-EB95-F1A4-DDC1C401264A}"/>
              </a:ext>
            </a:extLst>
          </p:cNvPr>
          <p:cNvSpPr>
            <a:spLocks noGrp="1"/>
          </p:cNvSpPr>
          <p:nvPr>
            <p:ph type="title"/>
          </p:nvPr>
        </p:nvSpPr>
        <p:spPr/>
        <p:txBody>
          <a:bodyPr/>
          <a:lstStyle/>
          <a:p>
            <a:r>
              <a:rPr lang="de-DE" dirty="0"/>
              <a:t>Results</a:t>
            </a:r>
          </a:p>
        </p:txBody>
      </p:sp>
      <p:sp>
        <p:nvSpPr>
          <p:cNvPr id="12" name="Textplatzhalter 11">
            <a:extLst>
              <a:ext uri="{FF2B5EF4-FFF2-40B4-BE49-F238E27FC236}">
                <a16:creationId xmlns:a16="http://schemas.microsoft.com/office/drawing/2014/main" id="{C8B414D9-0203-3997-2BCE-8CCFCBBA2D96}"/>
              </a:ext>
            </a:extLst>
          </p:cNvPr>
          <p:cNvSpPr>
            <a:spLocks noGrp="1"/>
          </p:cNvSpPr>
          <p:nvPr>
            <p:ph type="body" sz="quarter" idx="14"/>
          </p:nvPr>
        </p:nvSpPr>
        <p:spPr/>
        <p:txBody>
          <a:bodyPr/>
          <a:lstStyle/>
          <a:p>
            <a:r>
              <a:rPr lang="de-DE" dirty="0"/>
              <a:t>Traditional ML Models</a:t>
            </a:r>
          </a:p>
        </p:txBody>
      </p:sp>
      <p:sp>
        <p:nvSpPr>
          <p:cNvPr id="7" name="Textplatzhalter 10">
            <a:extLst>
              <a:ext uri="{FF2B5EF4-FFF2-40B4-BE49-F238E27FC236}">
                <a16:creationId xmlns:a16="http://schemas.microsoft.com/office/drawing/2014/main" id="{9558CF59-73DB-4E0B-ACE6-819AFF32A605}"/>
              </a:ext>
            </a:extLst>
          </p:cNvPr>
          <p:cNvSpPr>
            <a:spLocks noGrp="1"/>
          </p:cNvSpPr>
          <p:nvPr>
            <p:ph type="body" idx="13"/>
          </p:nvPr>
        </p:nvSpPr>
        <p:spPr>
          <a:xfrm>
            <a:off x="575733" y="1024114"/>
            <a:ext cx="11040533" cy="612000"/>
          </a:xfrm>
        </p:spPr>
        <p:txBody>
          <a:bodyPr/>
          <a:lstStyle/>
          <a:p>
            <a:r>
              <a:rPr lang="de-DE" dirty="0"/>
              <a:t>Runtime </a:t>
            </a:r>
          </a:p>
        </p:txBody>
      </p:sp>
      <p:pic>
        <p:nvPicPr>
          <p:cNvPr id="11" name="Content Placeholder 7">
            <a:extLst>
              <a:ext uri="{FF2B5EF4-FFF2-40B4-BE49-F238E27FC236}">
                <a16:creationId xmlns:a16="http://schemas.microsoft.com/office/drawing/2014/main" id="{ACB177AB-E51E-C2B9-5193-5871BE51851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96900" y="1420083"/>
            <a:ext cx="6489700" cy="2464911"/>
          </a:xfrm>
          <a:prstGeom prst="rect">
            <a:avLst/>
          </a:prstGeom>
        </p:spPr>
      </p:pic>
      <p:pic>
        <p:nvPicPr>
          <p:cNvPr id="13" name="Picture 12">
            <a:extLst>
              <a:ext uri="{FF2B5EF4-FFF2-40B4-BE49-F238E27FC236}">
                <a16:creationId xmlns:a16="http://schemas.microsoft.com/office/drawing/2014/main" id="{FEB71198-A080-DCC7-4156-7B66E6D26C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96900" y="3884994"/>
            <a:ext cx="6489700" cy="2464911"/>
          </a:xfrm>
          <a:prstGeom prst="rect">
            <a:avLst/>
          </a:prstGeom>
        </p:spPr>
      </p:pic>
    </p:spTree>
    <p:extLst>
      <p:ext uri="{BB962C8B-B14F-4D97-AF65-F5344CB8AC3E}">
        <p14:creationId xmlns:p14="http://schemas.microsoft.com/office/powerpoint/2010/main" val="362618170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03A6CA-136C-E56F-4134-132C13D2F224}"/>
              </a:ext>
            </a:extLst>
          </p:cNvPr>
          <p:cNvSpPr>
            <a:spLocks noGrp="1"/>
          </p:cNvSpPr>
          <p:nvPr>
            <p:ph type="dt" sz="half" idx="10"/>
          </p:nvPr>
        </p:nvSpPr>
        <p:spPr/>
        <p:txBody>
          <a:bodyPr/>
          <a:lstStyle/>
          <a:p>
            <a:fld id="{84419E95-5532-4BC2-925F-717586BFEF87}" type="datetime6">
              <a:rPr lang="en-US" smtClean="0"/>
              <a:t>March 26</a:t>
            </a:fld>
            <a:endParaRPr lang="de-DE" dirty="0"/>
          </a:p>
        </p:txBody>
      </p:sp>
      <p:sp>
        <p:nvSpPr>
          <p:cNvPr id="3" name="Footer Placeholder 2">
            <a:extLst>
              <a:ext uri="{FF2B5EF4-FFF2-40B4-BE49-F238E27FC236}">
                <a16:creationId xmlns:a16="http://schemas.microsoft.com/office/drawing/2014/main" id="{80506DE5-C641-7B91-2F37-04B9401A9B23}"/>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C6DB77FC-C02C-FAAF-56A7-37B9861F2D9C}"/>
              </a:ext>
            </a:extLst>
          </p:cNvPr>
          <p:cNvSpPr>
            <a:spLocks noGrp="1"/>
          </p:cNvSpPr>
          <p:nvPr>
            <p:ph type="sldNum" sz="quarter" idx="12"/>
          </p:nvPr>
        </p:nvSpPr>
        <p:spPr/>
        <p:txBody>
          <a:bodyPr/>
          <a:lstStyle/>
          <a:p>
            <a:fld id="{D3A9EDD9-2578-4372-8132-10947A418667}" type="slidenum">
              <a:rPr lang="de-DE" smtClean="0"/>
              <a:t>48</a:t>
            </a:fld>
            <a:endParaRPr lang="de-DE"/>
          </a:p>
        </p:txBody>
      </p:sp>
      <p:sp>
        <p:nvSpPr>
          <p:cNvPr id="5" name="Text Placeholder 4">
            <a:extLst>
              <a:ext uri="{FF2B5EF4-FFF2-40B4-BE49-F238E27FC236}">
                <a16:creationId xmlns:a16="http://schemas.microsoft.com/office/drawing/2014/main" id="{66A8B5D9-733A-39D1-6141-32DF343CE5C5}"/>
              </a:ext>
            </a:extLst>
          </p:cNvPr>
          <p:cNvSpPr>
            <a:spLocks noGrp="1"/>
          </p:cNvSpPr>
          <p:nvPr>
            <p:ph type="body" idx="14"/>
          </p:nvPr>
        </p:nvSpPr>
        <p:spPr/>
        <p:txBody>
          <a:bodyPr/>
          <a:lstStyle/>
          <a:p>
            <a:r>
              <a:rPr lang="en-US" dirty="0"/>
              <a:t>Message Similarity</a:t>
            </a:r>
          </a:p>
        </p:txBody>
      </p:sp>
      <p:sp>
        <p:nvSpPr>
          <p:cNvPr id="7" name="Content Placeholder 6">
            <a:extLst>
              <a:ext uri="{FF2B5EF4-FFF2-40B4-BE49-F238E27FC236}">
                <a16:creationId xmlns:a16="http://schemas.microsoft.com/office/drawing/2014/main" id="{CC7347E2-B9F5-98F1-2B50-1C84CCC0E6A8}"/>
              </a:ext>
            </a:extLst>
          </p:cNvPr>
          <p:cNvSpPr>
            <a:spLocks noGrp="1"/>
          </p:cNvSpPr>
          <p:nvPr>
            <p:ph idx="1"/>
          </p:nvPr>
        </p:nvSpPr>
        <p:spPr/>
        <p:txBody>
          <a:bodyPr/>
          <a:lstStyle/>
          <a:p>
            <a:endParaRPr lang="en-US" sz="1600" dirty="0"/>
          </a:p>
          <a:p>
            <a:r>
              <a:rPr lang="en-US" sz="1600" dirty="0"/>
              <a:t>Message similarity: Between every message pair, we should compute # identical bytes divided by total number of bytes</a:t>
            </a:r>
          </a:p>
          <a:p>
            <a:r>
              <a:rPr lang="en-US" sz="1600" dirty="0"/>
              <a:t>This gives a matrix of similarity.</a:t>
            </a:r>
          </a:p>
          <a:p>
            <a:r>
              <a:rPr lang="en-US" sz="1600" dirty="0"/>
              <a:t>This similarity should be divided into: </a:t>
            </a:r>
          </a:p>
          <a:p>
            <a:r>
              <a:rPr lang="en-US" sz="1600" dirty="0"/>
              <a:t>   - </a:t>
            </a:r>
            <a:r>
              <a:rPr lang="en-US" sz="1600" dirty="0" err="1"/>
              <a:t>intrascore</a:t>
            </a:r>
            <a:r>
              <a:rPr lang="en-US" sz="1600" dirty="0"/>
              <a:t>: within the same cluster how much of them are similar to each other. </a:t>
            </a:r>
          </a:p>
          <a:p>
            <a:r>
              <a:rPr lang="en-US" sz="1600" dirty="0"/>
              <a:t>   - </a:t>
            </a:r>
            <a:r>
              <a:rPr lang="en-US" sz="1600" dirty="0" err="1"/>
              <a:t>interscore</a:t>
            </a:r>
            <a:r>
              <a:rPr lang="en-US" sz="1600" dirty="0"/>
              <a:t>: between different cluster how much of them are similar to each other.</a:t>
            </a:r>
          </a:p>
          <a:p>
            <a:r>
              <a:rPr lang="en-US" sz="1600" dirty="0"/>
              <a:t>We should define certain threshold t and compute the accuracy as Pm = 1 – (FMR + FNMR) / 2</a:t>
            </a:r>
          </a:p>
          <a:p>
            <a:r>
              <a:rPr lang="en-US" sz="1600" dirty="0"/>
              <a:t>FMR is False matching rate = (# </a:t>
            </a:r>
            <a:r>
              <a:rPr lang="en-US" sz="1600" dirty="0" err="1"/>
              <a:t>interscores</a:t>
            </a:r>
            <a:r>
              <a:rPr lang="en-US" sz="1600" dirty="0"/>
              <a:t> &gt; threshold) / total inter score</a:t>
            </a:r>
          </a:p>
        </p:txBody>
      </p:sp>
      <p:sp>
        <p:nvSpPr>
          <p:cNvPr id="8" name="Content Placeholder 7">
            <a:extLst>
              <a:ext uri="{FF2B5EF4-FFF2-40B4-BE49-F238E27FC236}">
                <a16:creationId xmlns:a16="http://schemas.microsoft.com/office/drawing/2014/main" id="{F52FE8E6-B506-9E47-9603-3C2658925C17}"/>
              </a:ext>
            </a:extLst>
          </p:cNvPr>
          <p:cNvSpPr>
            <a:spLocks noGrp="1"/>
          </p:cNvSpPr>
          <p:nvPr>
            <p:ph idx="16"/>
          </p:nvPr>
        </p:nvSpPr>
        <p:spPr/>
        <p:txBody>
          <a:bodyPr/>
          <a:lstStyle/>
          <a:p>
            <a:endParaRPr lang="en-US" sz="1600" dirty="0"/>
          </a:p>
          <a:p>
            <a:r>
              <a:rPr lang="en-US" sz="1600" dirty="0"/>
              <a:t>In other words, it defines how many of the packets within different cluster are similar to each other.</a:t>
            </a:r>
          </a:p>
          <a:p>
            <a:r>
              <a:rPr lang="en-US" sz="1600" dirty="0"/>
              <a:t>(e.g. they are in the same cluster, but they are not similar to each other)</a:t>
            </a:r>
          </a:p>
          <a:p>
            <a:r>
              <a:rPr lang="en-US" sz="1600" dirty="0"/>
              <a:t>FNMR is False non matching rate = ( # </a:t>
            </a:r>
            <a:r>
              <a:rPr lang="en-US" sz="1600" dirty="0" err="1"/>
              <a:t>intrascore</a:t>
            </a:r>
            <a:r>
              <a:rPr lang="en-US" sz="1600" dirty="0"/>
              <a:t> &lt; threshold ) / total intra score</a:t>
            </a:r>
          </a:p>
          <a:p>
            <a:r>
              <a:rPr lang="en-US" sz="1600" dirty="0"/>
              <a:t>In other words it defines how many of packets within different clusters are similar to each other. </a:t>
            </a:r>
          </a:p>
          <a:p>
            <a:r>
              <a:rPr lang="en-US" sz="1600" dirty="0"/>
              <a:t>(e.g. they are in different clusters, but they are similar to each other). </a:t>
            </a:r>
          </a:p>
          <a:p>
            <a:r>
              <a:rPr lang="en-US" sz="1600" dirty="0"/>
              <a:t>High pm -&gt; good keyword, Low pm -&gt; bad keyword. </a:t>
            </a:r>
          </a:p>
          <a:p>
            <a:endParaRPr lang="en-US" sz="1600" dirty="0"/>
          </a:p>
        </p:txBody>
      </p:sp>
      <p:sp>
        <p:nvSpPr>
          <p:cNvPr id="9" name="Title 8">
            <a:extLst>
              <a:ext uri="{FF2B5EF4-FFF2-40B4-BE49-F238E27FC236}">
                <a16:creationId xmlns:a16="http://schemas.microsoft.com/office/drawing/2014/main" id="{8D7DEAFB-E98B-1F58-84A9-742FE6F887DE}"/>
              </a:ext>
            </a:extLst>
          </p:cNvPr>
          <p:cNvSpPr>
            <a:spLocks noGrp="1"/>
          </p:cNvSpPr>
          <p:nvPr>
            <p:ph type="title"/>
          </p:nvPr>
        </p:nvSpPr>
        <p:spPr/>
        <p:txBody>
          <a:bodyPr/>
          <a:lstStyle/>
          <a:p>
            <a:r>
              <a:rPr lang="en-US" dirty="0"/>
              <a:t>Probabilities computation</a:t>
            </a:r>
          </a:p>
        </p:txBody>
      </p:sp>
      <p:sp>
        <p:nvSpPr>
          <p:cNvPr id="10" name="Text Placeholder 9">
            <a:extLst>
              <a:ext uri="{FF2B5EF4-FFF2-40B4-BE49-F238E27FC236}">
                <a16:creationId xmlns:a16="http://schemas.microsoft.com/office/drawing/2014/main" id="{A034AE1B-70A8-17DD-BDFC-63A28B6B308C}"/>
              </a:ext>
            </a:extLst>
          </p:cNvPr>
          <p:cNvSpPr>
            <a:spLocks noGrp="1"/>
          </p:cNvSpPr>
          <p:nvPr>
            <p:ph type="body" sz="quarter" idx="17"/>
          </p:nvPr>
        </p:nvSpPr>
        <p:spPr/>
        <p:txBody>
          <a:bodyPr/>
          <a:lstStyle/>
          <a:p>
            <a:endParaRPr lang="en-US"/>
          </a:p>
        </p:txBody>
      </p:sp>
    </p:spTree>
    <p:extLst>
      <p:ext uri="{BB962C8B-B14F-4D97-AF65-F5344CB8AC3E}">
        <p14:creationId xmlns:p14="http://schemas.microsoft.com/office/powerpoint/2010/main" val="12560256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12CB3D7-F8B3-567B-487E-D16001C177FC}"/>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BA9E11EA-2636-C45E-CE9A-8DD01C3E5D99}"/>
              </a:ext>
            </a:extLst>
          </p:cNvPr>
          <p:cNvSpPr>
            <a:spLocks noGrp="1"/>
          </p:cNvSpPr>
          <p:nvPr>
            <p:ph type="dt" sz="half" idx="10"/>
          </p:nvPr>
        </p:nvSpPr>
        <p:spPr/>
        <p:txBody>
          <a:bodyPr/>
          <a:lstStyle/>
          <a:p>
            <a:fld id="{84419E95-5532-4BC2-925F-717586BFEF87}" type="datetime6">
              <a:rPr lang="en-US" smtClean="0"/>
              <a:t>March 26</a:t>
            </a:fld>
            <a:endParaRPr lang="de-DE" dirty="0"/>
          </a:p>
        </p:txBody>
      </p:sp>
      <p:sp>
        <p:nvSpPr>
          <p:cNvPr id="3" name="Footer Placeholder 2">
            <a:extLst>
              <a:ext uri="{FF2B5EF4-FFF2-40B4-BE49-F238E27FC236}">
                <a16:creationId xmlns:a16="http://schemas.microsoft.com/office/drawing/2014/main" id="{9DF898AF-E47E-A10F-C5F4-6BC98ECF5751}"/>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160EDE85-DAC4-6B52-6250-EDF3316894B4}"/>
              </a:ext>
            </a:extLst>
          </p:cNvPr>
          <p:cNvSpPr>
            <a:spLocks noGrp="1"/>
          </p:cNvSpPr>
          <p:nvPr>
            <p:ph type="sldNum" sz="quarter" idx="12"/>
          </p:nvPr>
        </p:nvSpPr>
        <p:spPr/>
        <p:txBody>
          <a:bodyPr/>
          <a:lstStyle/>
          <a:p>
            <a:fld id="{D3A9EDD9-2578-4372-8132-10947A418667}" type="slidenum">
              <a:rPr lang="de-DE" smtClean="0"/>
              <a:t>49</a:t>
            </a:fld>
            <a:endParaRPr lang="de-DE"/>
          </a:p>
        </p:txBody>
      </p:sp>
      <p:sp>
        <p:nvSpPr>
          <p:cNvPr id="5" name="Text Placeholder 4">
            <a:extLst>
              <a:ext uri="{FF2B5EF4-FFF2-40B4-BE49-F238E27FC236}">
                <a16:creationId xmlns:a16="http://schemas.microsoft.com/office/drawing/2014/main" id="{CA511D1E-5058-BD6D-43F9-E8F1536E3094}"/>
              </a:ext>
            </a:extLst>
          </p:cNvPr>
          <p:cNvSpPr>
            <a:spLocks noGrp="1"/>
          </p:cNvSpPr>
          <p:nvPr>
            <p:ph type="body" idx="14"/>
          </p:nvPr>
        </p:nvSpPr>
        <p:spPr/>
        <p:txBody>
          <a:bodyPr/>
          <a:lstStyle/>
          <a:p>
            <a:r>
              <a:rPr lang="en-US" dirty="0"/>
              <a:t>Remote coupling</a:t>
            </a:r>
          </a:p>
        </p:txBody>
      </p:sp>
      <p:sp>
        <p:nvSpPr>
          <p:cNvPr id="7" name="Content Placeholder 6">
            <a:extLst>
              <a:ext uri="{FF2B5EF4-FFF2-40B4-BE49-F238E27FC236}">
                <a16:creationId xmlns:a16="http://schemas.microsoft.com/office/drawing/2014/main" id="{A3BD1845-FBE1-95C7-E8C8-B2423C2E52EA}"/>
              </a:ext>
            </a:extLst>
          </p:cNvPr>
          <p:cNvSpPr>
            <a:spLocks noGrp="1"/>
          </p:cNvSpPr>
          <p:nvPr>
            <p:ph idx="1"/>
          </p:nvPr>
        </p:nvSpPr>
        <p:spPr/>
        <p:txBody>
          <a:bodyPr/>
          <a:lstStyle/>
          <a:p>
            <a:endParaRPr lang="en-US" sz="1600" dirty="0"/>
          </a:p>
          <a:p>
            <a:r>
              <a:rPr lang="en-US" sz="1600" dirty="0"/>
              <a:t>Remote coupling: This evaluate how well client clusters corresponds to server clusters</a:t>
            </a:r>
          </a:p>
          <a:p>
            <a:r>
              <a:rPr lang="en-US" sz="1600" dirty="0"/>
              <a:t>The process goes as follow: </a:t>
            </a:r>
          </a:p>
          <a:p>
            <a:r>
              <a:rPr lang="en-US" sz="1600" dirty="0"/>
              <a:t>   1. We cluster client-to-server messages.</a:t>
            </a:r>
          </a:p>
          <a:p>
            <a:r>
              <a:rPr lang="en-US" sz="1600" dirty="0"/>
              <a:t>   2. We cluster server-to-client messages.</a:t>
            </a:r>
          </a:p>
          <a:p>
            <a:r>
              <a:rPr lang="en-US" sz="1600" dirty="0"/>
              <a:t>   3. then we pair messages by TCP session order. </a:t>
            </a:r>
          </a:p>
          <a:p>
            <a:r>
              <a:rPr lang="en-US" sz="1600" dirty="0"/>
              <a:t>Then for each client cluster: </a:t>
            </a:r>
          </a:p>
          <a:p>
            <a:r>
              <a:rPr lang="en-US" sz="1600" dirty="0"/>
              <a:t>   N: number of client messages in this cluster</a:t>
            </a:r>
          </a:p>
          <a:p>
            <a:r>
              <a:rPr lang="en-US" sz="1600" dirty="0"/>
              <a:t>   M: largest # of corresponding server messages that fall into same server cluster</a:t>
            </a:r>
          </a:p>
        </p:txBody>
      </p:sp>
      <p:sp>
        <p:nvSpPr>
          <p:cNvPr id="8" name="Content Placeholder 7">
            <a:extLst>
              <a:ext uri="{FF2B5EF4-FFF2-40B4-BE49-F238E27FC236}">
                <a16:creationId xmlns:a16="http://schemas.microsoft.com/office/drawing/2014/main" id="{50D1E109-12C6-3A56-84FA-E811F002A5F1}"/>
              </a:ext>
            </a:extLst>
          </p:cNvPr>
          <p:cNvSpPr>
            <a:spLocks noGrp="1"/>
          </p:cNvSpPr>
          <p:nvPr>
            <p:ph idx="16"/>
          </p:nvPr>
        </p:nvSpPr>
        <p:spPr/>
        <p:txBody>
          <a:bodyPr/>
          <a:lstStyle/>
          <a:p>
            <a:endParaRPr lang="en-US" sz="1600" dirty="0"/>
          </a:p>
          <a:p>
            <a:r>
              <a:rPr lang="en-US" sz="1600" dirty="0"/>
              <a:t>Then we compute remote coupling: </a:t>
            </a:r>
          </a:p>
          <a:p>
            <a:r>
              <a:rPr lang="en-US" sz="1600" dirty="0"/>
              <a:t>   </a:t>
            </a:r>
            <a:r>
              <a:rPr lang="en-US" sz="1600" dirty="0" err="1"/>
              <a:t>Pr</a:t>
            </a:r>
            <a:r>
              <a:rPr lang="en-US" sz="1600" dirty="0"/>
              <a:t> = M / N</a:t>
            </a:r>
          </a:p>
          <a:p>
            <a:r>
              <a:rPr lang="en-US" sz="1600" dirty="0"/>
              <a:t>So </a:t>
            </a:r>
            <a:r>
              <a:rPr lang="en-US" sz="1600" dirty="0" err="1"/>
              <a:t>Pr</a:t>
            </a:r>
            <a:r>
              <a:rPr lang="en-US" sz="1600" dirty="0"/>
              <a:t> evaluate what Is the probability that this cluster shows good cluster, because all client messages should have the same server response. </a:t>
            </a:r>
          </a:p>
          <a:p>
            <a:endParaRPr lang="en-US" sz="1600" dirty="0"/>
          </a:p>
          <a:p>
            <a:r>
              <a:rPr lang="en-US" sz="1600" dirty="0"/>
              <a:t>Then high </a:t>
            </a:r>
            <a:r>
              <a:rPr lang="en-US" sz="1600" dirty="0" err="1"/>
              <a:t>Pr</a:t>
            </a:r>
            <a:r>
              <a:rPr lang="en-US" sz="1600" dirty="0"/>
              <a:t> means good keyword candidate, because </a:t>
            </a:r>
            <a:r>
              <a:rPr lang="en-US" sz="1600" dirty="0" err="1"/>
              <a:t>cliend</a:t>
            </a:r>
            <a:r>
              <a:rPr lang="en-US" sz="1600" dirty="0"/>
              <a:t> request should determine server response. </a:t>
            </a:r>
          </a:p>
        </p:txBody>
      </p:sp>
      <p:sp>
        <p:nvSpPr>
          <p:cNvPr id="9" name="Title 8">
            <a:extLst>
              <a:ext uri="{FF2B5EF4-FFF2-40B4-BE49-F238E27FC236}">
                <a16:creationId xmlns:a16="http://schemas.microsoft.com/office/drawing/2014/main" id="{C99E9C38-6A50-5C10-A2A1-25EA507C20B7}"/>
              </a:ext>
            </a:extLst>
          </p:cNvPr>
          <p:cNvSpPr>
            <a:spLocks noGrp="1"/>
          </p:cNvSpPr>
          <p:nvPr>
            <p:ph type="title"/>
          </p:nvPr>
        </p:nvSpPr>
        <p:spPr/>
        <p:txBody>
          <a:bodyPr/>
          <a:lstStyle/>
          <a:p>
            <a:r>
              <a:rPr lang="en-US" dirty="0"/>
              <a:t>Probabilities computation</a:t>
            </a:r>
          </a:p>
        </p:txBody>
      </p:sp>
      <p:sp>
        <p:nvSpPr>
          <p:cNvPr id="10" name="Text Placeholder 9">
            <a:extLst>
              <a:ext uri="{FF2B5EF4-FFF2-40B4-BE49-F238E27FC236}">
                <a16:creationId xmlns:a16="http://schemas.microsoft.com/office/drawing/2014/main" id="{B0789FBA-7B87-0A2F-F626-E13B266862D2}"/>
              </a:ext>
            </a:extLst>
          </p:cNvPr>
          <p:cNvSpPr>
            <a:spLocks noGrp="1"/>
          </p:cNvSpPr>
          <p:nvPr>
            <p:ph type="body" sz="quarter" idx="17"/>
          </p:nvPr>
        </p:nvSpPr>
        <p:spPr/>
        <p:txBody>
          <a:bodyPr/>
          <a:lstStyle/>
          <a:p>
            <a:endParaRPr lang="en-US"/>
          </a:p>
        </p:txBody>
      </p:sp>
    </p:spTree>
    <p:extLst>
      <p:ext uri="{BB962C8B-B14F-4D97-AF65-F5344CB8AC3E}">
        <p14:creationId xmlns:p14="http://schemas.microsoft.com/office/powerpoint/2010/main" val="40725333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57B3130-0028-26FD-41AF-0F3D892BF6FF}"/>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F4B39F71-94F5-83E5-8CC8-20E4CA0526B8}"/>
              </a:ext>
            </a:extLst>
          </p:cNvPr>
          <p:cNvSpPr>
            <a:spLocks noGrp="1"/>
          </p:cNvSpPr>
          <p:nvPr>
            <p:ph type="dt" sz="half" idx="10"/>
          </p:nvPr>
        </p:nvSpPr>
        <p:spPr/>
        <p:txBody>
          <a:bodyPr/>
          <a:lstStyle/>
          <a:p>
            <a:fld id="{84419E95-5532-4BC2-925F-717586BFEF87}" type="datetime6">
              <a:rPr lang="en-US" smtClean="0"/>
              <a:t>March 26</a:t>
            </a:fld>
            <a:endParaRPr lang="de-DE" dirty="0"/>
          </a:p>
        </p:txBody>
      </p:sp>
      <p:sp>
        <p:nvSpPr>
          <p:cNvPr id="3" name="Footer Placeholder 2">
            <a:extLst>
              <a:ext uri="{FF2B5EF4-FFF2-40B4-BE49-F238E27FC236}">
                <a16:creationId xmlns:a16="http://schemas.microsoft.com/office/drawing/2014/main" id="{9675D289-56CD-E354-E402-5761C4C2A55F}"/>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B83748FF-B6AE-FECE-90BD-DAD589025F30}"/>
              </a:ext>
            </a:extLst>
          </p:cNvPr>
          <p:cNvSpPr>
            <a:spLocks noGrp="1"/>
          </p:cNvSpPr>
          <p:nvPr>
            <p:ph type="sldNum" sz="quarter" idx="12"/>
          </p:nvPr>
        </p:nvSpPr>
        <p:spPr/>
        <p:txBody>
          <a:bodyPr/>
          <a:lstStyle/>
          <a:p>
            <a:fld id="{D3A9EDD9-2578-4372-8132-10947A418667}" type="slidenum">
              <a:rPr lang="de-DE" smtClean="0"/>
              <a:t>50</a:t>
            </a:fld>
            <a:endParaRPr lang="de-DE"/>
          </a:p>
        </p:txBody>
      </p:sp>
      <p:sp>
        <p:nvSpPr>
          <p:cNvPr id="5" name="Text Placeholder 4">
            <a:extLst>
              <a:ext uri="{FF2B5EF4-FFF2-40B4-BE49-F238E27FC236}">
                <a16:creationId xmlns:a16="http://schemas.microsoft.com/office/drawing/2014/main" id="{3AC24467-E159-1773-4ABC-0CF74AE0A64A}"/>
              </a:ext>
            </a:extLst>
          </p:cNvPr>
          <p:cNvSpPr>
            <a:spLocks noGrp="1"/>
          </p:cNvSpPr>
          <p:nvPr>
            <p:ph type="body" idx="14"/>
          </p:nvPr>
        </p:nvSpPr>
        <p:spPr/>
        <p:txBody>
          <a:bodyPr/>
          <a:lstStyle/>
          <a:p>
            <a:r>
              <a:rPr lang="en-US" dirty="0"/>
              <a:t>Structure Coherence</a:t>
            </a:r>
          </a:p>
        </p:txBody>
      </p:sp>
      <p:sp>
        <p:nvSpPr>
          <p:cNvPr id="7" name="Content Placeholder 6">
            <a:extLst>
              <a:ext uri="{FF2B5EF4-FFF2-40B4-BE49-F238E27FC236}">
                <a16:creationId xmlns:a16="http://schemas.microsoft.com/office/drawing/2014/main" id="{B0DCDC84-2694-76D8-2072-69503BC00C5C}"/>
              </a:ext>
            </a:extLst>
          </p:cNvPr>
          <p:cNvSpPr>
            <a:spLocks noGrp="1"/>
          </p:cNvSpPr>
          <p:nvPr>
            <p:ph idx="1"/>
          </p:nvPr>
        </p:nvSpPr>
        <p:spPr>
          <a:xfrm>
            <a:off x="575733" y="2348725"/>
            <a:ext cx="9209712" cy="3960000"/>
          </a:xfrm>
        </p:spPr>
        <p:txBody>
          <a:bodyPr/>
          <a:lstStyle/>
          <a:p>
            <a:endParaRPr lang="en-US" sz="1600" dirty="0"/>
          </a:p>
          <a:p>
            <a:r>
              <a:rPr lang="en-US" sz="1600" dirty="0"/>
              <a:t>3. Structure coherence: </a:t>
            </a:r>
          </a:p>
          <a:p>
            <a:r>
              <a:rPr lang="en-US" sz="1600" dirty="0"/>
              <a:t>   - The main idea is that messages of the same type should have similar aligned structure. </a:t>
            </a:r>
          </a:p>
          <a:p>
            <a:r>
              <a:rPr lang="en-US" sz="1600" dirty="0"/>
              <a:t>The process is as follow: </a:t>
            </a:r>
          </a:p>
          <a:p>
            <a:r>
              <a:rPr lang="en-US" sz="1600" dirty="0"/>
              <a:t>   - For each cluster</a:t>
            </a:r>
          </a:p>
          <a:p>
            <a:r>
              <a:rPr lang="en-US" sz="1600" dirty="0"/>
              <a:t>       - re-align messages inside the cluster</a:t>
            </a:r>
          </a:p>
          <a:p>
            <a:r>
              <a:rPr lang="en-US" sz="1600" dirty="0"/>
              <a:t>       - count the number of gaps per message</a:t>
            </a:r>
          </a:p>
          <a:p>
            <a:r>
              <a:rPr lang="en-US" sz="1600" dirty="0"/>
              <a:t>   - compute Ps = 1 – (average gaps / aligned length)</a:t>
            </a:r>
          </a:p>
          <a:p>
            <a:endParaRPr lang="en-US" sz="1600" dirty="0"/>
          </a:p>
          <a:p>
            <a:r>
              <a:rPr lang="en-US" sz="1600" dirty="0"/>
              <a:t>High Ps means good keyword candidate. </a:t>
            </a:r>
          </a:p>
        </p:txBody>
      </p:sp>
      <p:sp>
        <p:nvSpPr>
          <p:cNvPr id="9" name="Title 8">
            <a:extLst>
              <a:ext uri="{FF2B5EF4-FFF2-40B4-BE49-F238E27FC236}">
                <a16:creationId xmlns:a16="http://schemas.microsoft.com/office/drawing/2014/main" id="{F9D510B1-2DA1-521B-4CC7-658A7AAEDB97}"/>
              </a:ext>
            </a:extLst>
          </p:cNvPr>
          <p:cNvSpPr>
            <a:spLocks noGrp="1"/>
          </p:cNvSpPr>
          <p:nvPr>
            <p:ph type="title"/>
          </p:nvPr>
        </p:nvSpPr>
        <p:spPr/>
        <p:txBody>
          <a:bodyPr/>
          <a:lstStyle/>
          <a:p>
            <a:r>
              <a:rPr lang="en-US" dirty="0"/>
              <a:t>Probabilities computation</a:t>
            </a:r>
          </a:p>
        </p:txBody>
      </p:sp>
      <p:sp>
        <p:nvSpPr>
          <p:cNvPr id="10" name="Text Placeholder 9">
            <a:extLst>
              <a:ext uri="{FF2B5EF4-FFF2-40B4-BE49-F238E27FC236}">
                <a16:creationId xmlns:a16="http://schemas.microsoft.com/office/drawing/2014/main" id="{747243A8-3EF5-415C-C6AA-FAA81F3EED85}"/>
              </a:ext>
            </a:extLst>
          </p:cNvPr>
          <p:cNvSpPr>
            <a:spLocks noGrp="1"/>
          </p:cNvSpPr>
          <p:nvPr>
            <p:ph type="body" sz="quarter" idx="17"/>
          </p:nvPr>
        </p:nvSpPr>
        <p:spPr/>
        <p:txBody>
          <a:bodyPr/>
          <a:lstStyle/>
          <a:p>
            <a:endParaRPr lang="en-US"/>
          </a:p>
        </p:txBody>
      </p:sp>
    </p:spTree>
    <p:extLst>
      <p:ext uri="{BB962C8B-B14F-4D97-AF65-F5344CB8AC3E}">
        <p14:creationId xmlns:p14="http://schemas.microsoft.com/office/powerpoint/2010/main" val="42609894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7D358B-751E-8AAD-4A79-1AA5D6F72094}"/>
              </a:ext>
            </a:extLst>
          </p:cNvPr>
          <p:cNvSpPr>
            <a:spLocks noGrp="1"/>
          </p:cNvSpPr>
          <p:nvPr>
            <p:ph type="dt" sz="half" idx="10"/>
          </p:nvPr>
        </p:nvSpPr>
        <p:spPr/>
        <p:txBody>
          <a:bodyPr/>
          <a:lstStyle/>
          <a:p>
            <a:fld id="{84419E95-5532-4BC2-925F-717586BFEF87}" type="datetime6">
              <a:rPr lang="en-US" smtClean="0"/>
              <a:t>March 26</a:t>
            </a:fld>
            <a:endParaRPr lang="de-DE" dirty="0"/>
          </a:p>
        </p:txBody>
      </p:sp>
      <p:sp>
        <p:nvSpPr>
          <p:cNvPr id="3" name="Footer Placeholder 2">
            <a:extLst>
              <a:ext uri="{FF2B5EF4-FFF2-40B4-BE49-F238E27FC236}">
                <a16:creationId xmlns:a16="http://schemas.microsoft.com/office/drawing/2014/main" id="{0305DA23-7210-C7D9-C3DB-D0E9C6051A43}"/>
              </a:ext>
            </a:extLst>
          </p:cNvPr>
          <p:cNvSpPr>
            <a:spLocks noGrp="1"/>
          </p:cNvSpPr>
          <p:nvPr>
            <p:ph type="ftr" sz="quarter" idx="11"/>
          </p:nvPr>
        </p:nvSpPr>
        <p:spPr/>
        <p:txBody>
          <a:bodyPr/>
          <a:lstStyle/>
          <a:p>
            <a:endParaRPr lang="de-DE"/>
          </a:p>
        </p:txBody>
      </p:sp>
      <p:sp>
        <p:nvSpPr>
          <p:cNvPr id="4" name="Slide Number Placeholder 3">
            <a:extLst>
              <a:ext uri="{FF2B5EF4-FFF2-40B4-BE49-F238E27FC236}">
                <a16:creationId xmlns:a16="http://schemas.microsoft.com/office/drawing/2014/main" id="{09E2E8E3-1952-C9E2-7EB8-3EF4C6D6F55A}"/>
              </a:ext>
            </a:extLst>
          </p:cNvPr>
          <p:cNvSpPr>
            <a:spLocks noGrp="1"/>
          </p:cNvSpPr>
          <p:nvPr>
            <p:ph type="sldNum" sz="quarter" idx="12"/>
          </p:nvPr>
        </p:nvSpPr>
        <p:spPr/>
        <p:txBody>
          <a:bodyPr/>
          <a:lstStyle/>
          <a:p>
            <a:fld id="{D3A9EDD9-2578-4372-8132-10947A418667}" type="slidenum">
              <a:rPr lang="de-DE" smtClean="0"/>
              <a:t>51</a:t>
            </a:fld>
            <a:endParaRPr lang="de-DE"/>
          </a:p>
        </p:txBody>
      </p:sp>
      <p:sp>
        <p:nvSpPr>
          <p:cNvPr id="5" name="Text Placeholder 4">
            <a:extLst>
              <a:ext uri="{FF2B5EF4-FFF2-40B4-BE49-F238E27FC236}">
                <a16:creationId xmlns:a16="http://schemas.microsoft.com/office/drawing/2014/main" id="{AB917C98-CE7B-4017-504E-D49A66E1ED6F}"/>
              </a:ext>
            </a:extLst>
          </p:cNvPr>
          <p:cNvSpPr>
            <a:spLocks noGrp="1"/>
          </p:cNvSpPr>
          <p:nvPr>
            <p:ph type="body" idx="14"/>
          </p:nvPr>
        </p:nvSpPr>
        <p:spPr/>
        <p:txBody>
          <a:bodyPr/>
          <a:lstStyle/>
          <a:p>
            <a:r>
              <a:rPr lang="en-US" dirty="0"/>
              <a:t>We should have 5 features</a:t>
            </a:r>
          </a:p>
        </p:txBody>
      </p:sp>
      <p:sp>
        <p:nvSpPr>
          <p:cNvPr id="7" name="Content Placeholder 6">
            <a:extLst>
              <a:ext uri="{FF2B5EF4-FFF2-40B4-BE49-F238E27FC236}">
                <a16:creationId xmlns:a16="http://schemas.microsoft.com/office/drawing/2014/main" id="{2C15797D-8612-0529-6275-E6364924504F}"/>
              </a:ext>
            </a:extLst>
          </p:cNvPr>
          <p:cNvSpPr>
            <a:spLocks noGrp="1"/>
          </p:cNvSpPr>
          <p:nvPr>
            <p:ph idx="1"/>
          </p:nvPr>
        </p:nvSpPr>
        <p:spPr/>
        <p:txBody>
          <a:bodyPr/>
          <a:lstStyle/>
          <a:p>
            <a:r>
              <a:rPr lang="en-US" dirty="0"/>
              <a:t>Total number of bytes before padding or truncation</a:t>
            </a:r>
          </a:p>
          <a:p>
            <a:r>
              <a:rPr lang="en-US" dirty="0"/>
              <a:t>Most frequent byte</a:t>
            </a:r>
          </a:p>
          <a:p>
            <a:r>
              <a:rPr lang="en-US" dirty="0"/>
              <a:t>Second most frequent byte</a:t>
            </a:r>
          </a:p>
          <a:p>
            <a:r>
              <a:rPr lang="en-US" dirty="0"/>
              <a:t>Entropy</a:t>
            </a:r>
          </a:p>
          <a:p>
            <a:r>
              <a:rPr lang="en-US" dirty="0"/>
              <a:t>Length of padded data</a:t>
            </a:r>
          </a:p>
          <a:p>
            <a:endParaRPr lang="en-US" dirty="0"/>
          </a:p>
        </p:txBody>
      </p:sp>
      <p:sp>
        <p:nvSpPr>
          <p:cNvPr id="9" name="Title 8">
            <a:extLst>
              <a:ext uri="{FF2B5EF4-FFF2-40B4-BE49-F238E27FC236}">
                <a16:creationId xmlns:a16="http://schemas.microsoft.com/office/drawing/2014/main" id="{5579889B-CB2B-9056-CF53-A0B1471E9F37}"/>
              </a:ext>
            </a:extLst>
          </p:cNvPr>
          <p:cNvSpPr>
            <a:spLocks noGrp="1"/>
          </p:cNvSpPr>
          <p:nvPr>
            <p:ph type="title"/>
          </p:nvPr>
        </p:nvSpPr>
        <p:spPr/>
        <p:txBody>
          <a:bodyPr/>
          <a:lstStyle/>
          <a:p>
            <a:r>
              <a:rPr lang="en-US" dirty="0"/>
              <a:t>Resnet Statistical features</a:t>
            </a:r>
          </a:p>
        </p:txBody>
      </p:sp>
      <p:sp>
        <p:nvSpPr>
          <p:cNvPr id="10" name="Text Placeholder 9">
            <a:extLst>
              <a:ext uri="{FF2B5EF4-FFF2-40B4-BE49-F238E27FC236}">
                <a16:creationId xmlns:a16="http://schemas.microsoft.com/office/drawing/2014/main" id="{ECB019F5-776A-C7AD-E45E-14B7766CD95D}"/>
              </a:ext>
            </a:extLst>
          </p:cNvPr>
          <p:cNvSpPr>
            <a:spLocks noGrp="1"/>
          </p:cNvSpPr>
          <p:nvPr>
            <p:ph type="body" sz="quarter" idx="17"/>
          </p:nvPr>
        </p:nvSpPr>
        <p:spPr/>
        <p:txBody>
          <a:bodyPr/>
          <a:lstStyle/>
          <a:p>
            <a:endParaRPr lang="en-US"/>
          </a:p>
        </p:txBody>
      </p:sp>
    </p:spTree>
    <p:extLst>
      <p:ext uri="{BB962C8B-B14F-4D97-AF65-F5344CB8AC3E}">
        <p14:creationId xmlns:p14="http://schemas.microsoft.com/office/powerpoint/2010/main" val="1478487785"/>
      </p:ext>
    </p:extLst>
  </p:cSld>
  <p:clrMapOvr>
    <a:masterClrMapping/>
  </p:clrMapOvr>
</p:sld>
</file>

<file path=ppt/theme/theme1.xml><?xml version="1.0" encoding="utf-8"?>
<a:theme xmlns:a="http://schemas.openxmlformats.org/drawingml/2006/main" name="Titelseite blau">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1D201BA9-3FFC-4005-BF46-969EF1964F7F}"/>
    </a:ext>
  </a:extLst>
</a:theme>
</file>

<file path=ppt/theme/theme2.xml><?xml version="1.0" encoding="utf-8"?>
<a:theme xmlns:a="http://schemas.openxmlformats.org/drawingml/2006/main" name="Titelseite weiß">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9C9C7FAB-48F4-4DEF-90D6-13463583C0A8}"/>
    </a:ext>
  </a:extLst>
</a:theme>
</file>

<file path=ppt/theme/theme3.xml><?xml version="1.0" encoding="utf-8"?>
<a:theme xmlns:a="http://schemas.openxmlformats.org/drawingml/2006/main" name="Kapitelseite blau">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3F59F569-15C0-4AB8-AFD4-B5B805C661D0}"/>
    </a:ext>
  </a:extLst>
</a:theme>
</file>

<file path=ppt/theme/theme4.xml><?xml version="1.0" encoding="utf-8"?>
<a:theme xmlns:a="http://schemas.openxmlformats.org/drawingml/2006/main" name="Kapitelseite weiß">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82A19A07-1FA7-4B50-B8F0-C5ACB7BED0DB}"/>
    </a:ext>
  </a:extLst>
</a:theme>
</file>

<file path=ppt/theme/theme5.xml><?xml version="1.0" encoding="utf-8"?>
<a:theme xmlns:a="http://schemas.openxmlformats.org/drawingml/2006/main" name="Inhalt Folientitel zweizeilig">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DC847ADE-A9B4-4593-9865-137DCE9EFFB3}"/>
    </a:ext>
  </a:extLst>
</a:theme>
</file>

<file path=ppt/theme/theme6.xml><?xml version="1.0" encoding="utf-8"?>
<a:theme xmlns:a="http://schemas.openxmlformats.org/drawingml/2006/main" name="Inhalt Folientitel einzeilig mit Untertitel">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6F72E1EF-6B7E-41F1-A6DC-A7E119376A32}"/>
    </a:ext>
  </a:extLst>
</a:theme>
</file>

<file path=ppt/theme/theme7.xml><?xml version="1.0" encoding="utf-8"?>
<a:theme xmlns:a="http://schemas.openxmlformats.org/drawingml/2006/main" name="Abschluss | ">
  <a:themeElements>
    <a:clrScheme name="BTU-Farben">
      <a:dk1>
        <a:srgbClr val="505050"/>
      </a:dk1>
      <a:lt1>
        <a:srgbClr val="FFFFFF"/>
      </a:lt1>
      <a:dk2>
        <a:srgbClr val="001E46"/>
      </a:dk2>
      <a:lt2>
        <a:srgbClr val="009BD2"/>
      </a:lt2>
      <a:accent1>
        <a:srgbClr val="009632"/>
      </a:accent1>
      <a:accent2>
        <a:srgbClr val="A5C300"/>
      </a:accent2>
      <a:accent3>
        <a:srgbClr val="7030A0"/>
      </a:accent3>
      <a:accent4>
        <a:srgbClr val="D20078"/>
      </a:accent4>
      <a:accent5>
        <a:srgbClr val="009696"/>
      </a:accent5>
      <a:accent6>
        <a:srgbClr val="0050A0"/>
      </a:accent6>
      <a:hlink>
        <a:srgbClr val="009BD2"/>
      </a:hlink>
      <a:folHlink>
        <a:srgbClr val="009BD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rlage_BTU-Foliensatz_16zu9_english" id="{FD4CAE21-261C-4061-8745-F72EDEADF88B}" vid="{1307DE28-6A04-4880-BA64-772DC432D12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Vorlage_BTU-Foliensatz_16zu9_english</Template>
  <TotalTime>580</TotalTime>
  <Words>7114</Words>
  <Application>Microsoft Office PowerPoint</Application>
  <PresentationFormat>Widescreen</PresentationFormat>
  <Paragraphs>1085</Paragraphs>
  <Slides>51</Slides>
  <Notes>31</Notes>
  <HiddenSlides>13</HiddenSlides>
  <MMClips>0</MMClips>
  <ScaleCrop>false</ScaleCrop>
  <HeadingPairs>
    <vt:vector size="6" baseType="variant">
      <vt:variant>
        <vt:lpstr>Fonts Used</vt:lpstr>
      </vt:variant>
      <vt:variant>
        <vt:i4>9</vt:i4>
      </vt:variant>
      <vt:variant>
        <vt:lpstr>Theme</vt:lpstr>
      </vt:variant>
      <vt:variant>
        <vt:i4>7</vt:i4>
      </vt:variant>
      <vt:variant>
        <vt:lpstr>Slide Titles</vt:lpstr>
      </vt:variant>
      <vt:variant>
        <vt:i4>51</vt:i4>
      </vt:variant>
    </vt:vector>
  </HeadingPairs>
  <TitlesOfParts>
    <vt:vector size="67" baseType="lpstr">
      <vt:lpstr>Abadi</vt:lpstr>
      <vt:lpstr>Aptos</vt:lpstr>
      <vt:lpstr>Arial</vt:lpstr>
      <vt:lpstr>Bierstadt</vt:lpstr>
      <vt:lpstr>Calibri</vt:lpstr>
      <vt:lpstr>Cambria Math</vt:lpstr>
      <vt:lpstr>Symbol</vt:lpstr>
      <vt:lpstr>Times New Roman</vt:lpstr>
      <vt:lpstr>Wingdings</vt:lpstr>
      <vt:lpstr>Titelseite blau</vt:lpstr>
      <vt:lpstr>Titelseite weiß</vt:lpstr>
      <vt:lpstr>Kapitelseite blau</vt:lpstr>
      <vt:lpstr>Kapitelseite weiß</vt:lpstr>
      <vt:lpstr>Inhalt Folientitel zweizeilig</vt:lpstr>
      <vt:lpstr>Inhalt Folientitel einzeilig mit Untertitel</vt:lpstr>
      <vt:lpstr>Abschluss | </vt:lpstr>
      <vt:lpstr>PowerPoint Presentation</vt:lpstr>
      <vt:lpstr>Agenda</vt:lpstr>
      <vt:lpstr>Motivation and problem statement</vt:lpstr>
      <vt:lpstr>Motivation and problem statement</vt:lpstr>
      <vt:lpstr>Datasets</vt:lpstr>
      <vt:lpstr>Datasets</vt:lpstr>
      <vt:lpstr>PowerPoint Presentation</vt:lpstr>
      <vt:lpstr>Experimental Procedure overview</vt:lpstr>
      <vt:lpstr>PowerPoint Presentation</vt:lpstr>
      <vt:lpstr>Dataset Preprocessing</vt:lpstr>
      <vt:lpstr>Reverse Engineering</vt:lpstr>
      <vt:lpstr>Reverse Engineering</vt:lpstr>
      <vt:lpstr>Reverse engineering</vt:lpstr>
      <vt:lpstr>S7comm Protocol structure</vt:lpstr>
      <vt:lpstr>PowerPoint Presentation</vt:lpstr>
      <vt:lpstr>Feature Extraction</vt:lpstr>
      <vt:lpstr>PowerPoint Presentation</vt:lpstr>
      <vt:lpstr>Detection methods</vt:lpstr>
      <vt:lpstr>Anomaly Detection methods</vt:lpstr>
      <vt:lpstr>Anomaly Detection methods</vt:lpstr>
      <vt:lpstr>Anomaly Detection methods</vt:lpstr>
      <vt:lpstr>Anomaly Detection methods</vt:lpstr>
      <vt:lpstr>Anomaly Detection Method</vt:lpstr>
      <vt:lpstr>Anomaly Detection Method</vt:lpstr>
      <vt:lpstr>PowerPoint Presentation</vt:lpstr>
      <vt:lpstr>Evaluation Strategy  </vt:lpstr>
      <vt:lpstr>Evaluation Strategy  </vt:lpstr>
      <vt:lpstr>PowerPoint Presentation</vt:lpstr>
      <vt:lpstr>Results </vt:lpstr>
      <vt:lpstr>Results </vt:lpstr>
      <vt:lpstr>Results</vt:lpstr>
      <vt:lpstr>results</vt:lpstr>
      <vt:lpstr>PowerPoint Presentation</vt:lpstr>
      <vt:lpstr>Summary &amp; Conclusion</vt:lpstr>
      <vt:lpstr>Summary &amp; Conclusion</vt:lpstr>
      <vt:lpstr>Summary &amp; Conclusion</vt:lpstr>
      <vt:lpstr>PowerPoint Presentation</vt:lpstr>
      <vt:lpstr>PowerPoint Presentation</vt:lpstr>
      <vt:lpstr>Datasets </vt:lpstr>
      <vt:lpstr>Stacked Denoising Autoencoder</vt:lpstr>
      <vt:lpstr>Detection Methods</vt:lpstr>
      <vt:lpstr>Detection Methods </vt:lpstr>
      <vt:lpstr>Results</vt:lpstr>
      <vt:lpstr>Results</vt:lpstr>
      <vt:lpstr>Results</vt:lpstr>
      <vt:lpstr>Results</vt:lpstr>
      <vt:lpstr>Results</vt:lpstr>
      <vt:lpstr>Probabilities computation</vt:lpstr>
      <vt:lpstr>Probabilities computation</vt:lpstr>
      <vt:lpstr>Probabilities computation</vt:lpstr>
      <vt:lpstr>Resnet Statistical features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Anna Dembowski</dc:creator>
  <cp:lastModifiedBy>عبدالعزيز صلاح محمد عبده نعمه الله</cp:lastModifiedBy>
  <cp:revision>43</cp:revision>
  <dcterms:created xsi:type="dcterms:W3CDTF">2026-02-03T14:08:00Z</dcterms:created>
  <dcterms:modified xsi:type="dcterms:W3CDTF">2026-03-09T22:29:57Z</dcterms:modified>
</cp:coreProperties>
</file>