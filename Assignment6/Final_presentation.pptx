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33"/>
  </p:notesMasterIdLst>
  <p:sldIdLst>
    <p:sldId id="256" r:id="rId2"/>
    <p:sldId id="257" r:id="rId3"/>
    <p:sldId id="258" r:id="rId4"/>
    <p:sldId id="259" r:id="rId5"/>
    <p:sldId id="263" r:id="rId6"/>
    <p:sldId id="260" r:id="rId7"/>
    <p:sldId id="261" r:id="rId8"/>
    <p:sldId id="262" r:id="rId9"/>
    <p:sldId id="275" r:id="rId10"/>
    <p:sldId id="264" r:id="rId11"/>
    <p:sldId id="286" r:id="rId12"/>
    <p:sldId id="265" r:id="rId13"/>
    <p:sldId id="266" r:id="rId14"/>
    <p:sldId id="267" r:id="rId15"/>
    <p:sldId id="268" r:id="rId16"/>
    <p:sldId id="270" r:id="rId17"/>
    <p:sldId id="282" r:id="rId18"/>
    <p:sldId id="269" r:id="rId19"/>
    <p:sldId id="283" r:id="rId20"/>
    <p:sldId id="276" r:id="rId21"/>
    <p:sldId id="277" r:id="rId22"/>
    <p:sldId id="278" r:id="rId23"/>
    <p:sldId id="284" r:id="rId24"/>
    <p:sldId id="285" r:id="rId25"/>
    <p:sldId id="280" r:id="rId26"/>
    <p:sldId id="281" r:id="rId27"/>
    <p:sldId id="279" r:id="rId28"/>
    <p:sldId id="271" r:id="rId29"/>
    <p:sldId id="272" r:id="rId30"/>
    <p:sldId id="273" r:id="rId31"/>
    <p:sldId id="27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p:scale>
          <a:sx n="66" d="100"/>
          <a:sy n="66" d="100"/>
        </p:scale>
        <p:origin x="360"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36CCCE-6AC8-4618-BC02-469CAD672C1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00D14E2-F4C9-4897-9062-5CFAD39C4B7B}">
      <dgm:prSet/>
      <dgm:spPr/>
      <dgm:t>
        <a:bodyPr/>
        <a:lstStyle/>
        <a:p>
          <a:r>
            <a:rPr lang="en-US"/>
            <a:t>Learns discriminative patterns from the packet bytes.</a:t>
          </a:r>
        </a:p>
      </dgm:t>
    </dgm:pt>
    <dgm:pt modelId="{C3A434C0-0E4D-4AEB-B58D-273F5B959C44}" type="parTrans" cxnId="{F18B05D2-D52E-454F-A7E7-2BB42A9E0B90}">
      <dgm:prSet/>
      <dgm:spPr/>
      <dgm:t>
        <a:bodyPr/>
        <a:lstStyle/>
        <a:p>
          <a:endParaRPr lang="en-US"/>
        </a:p>
      </dgm:t>
    </dgm:pt>
    <dgm:pt modelId="{756521FA-C2DC-4599-BE07-21282BAF5EEB}" type="sibTrans" cxnId="{F18B05D2-D52E-454F-A7E7-2BB42A9E0B90}">
      <dgm:prSet/>
      <dgm:spPr/>
      <dgm:t>
        <a:bodyPr/>
        <a:lstStyle/>
        <a:p>
          <a:endParaRPr lang="en-US"/>
        </a:p>
      </dgm:t>
    </dgm:pt>
    <dgm:pt modelId="{BF25F4EC-A03B-4B52-864C-1C145C34DC69}">
      <dgm:prSet/>
      <dgm:spPr/>
      <dgm:t>
        <a:bodyPr/>
        <a:lstStyle/>
        <a:p>
          <a:r>
            <a:rPr lang="en-US"/>
            <a:t>Normal and attack traffic produce different deep feature activations</a:t>
          </a:r>
        </a:p>
      </dgm:t>
    </dgm:pt>
    <dgm:pt modelId="{0AC01ABB-188C-48E2-8443-EA9EAF124B3D}" type="parTrans" cxnId="{53520144-B563-472B-A3F3-929C16712372}">
      <dgm:prSet/>
      <dgm:spPr/>
      <dgm:t>
        <a:bodyPr/>
        <a:lstStyle/>
        <a:p>
          <a:endParaRPr lang="en-US"/>
        </a:p>
      </dgm:t>
    </dgm:pt>
    <dgm:pt modelId="{10DD39F9-6214-441D-BECF-1148ADC0181A}" type="sibTrans" cxnId="{53520144-B563-472B-A3F3-929C16712372}">
      <dgm:prSet/>
      <dgm:spPr/>
      <dgm:t>
        <a:bodyPr/>
        <a:lstStyle/>
        <a:p>
          <a:endParaRPr lang="en-US"/>
        </a:p>
      </dgm:t>
    </dgm:pt>
    <dgm:pt modelId="{307BD407-2C10-4EE8-A13C-53D8410EA421}">
      <dgm:prSet/>
      <dgm:spPr/>
      <dgm:t>
        <a:bodyPr/>
        <a:lstStyle/>
        <a:p>
          <a:r>
            <a:rPr lang="en-US"/>
            <a:t>Final output:</a:t>
          </a:r>
        </a:p>
      </dgm:t>
    </dgm:pt>
    <dgm:pt modelId="{6642C8D0-B013-4DAB-8981-D549C43BA658}" type="parTrans" cxnId="{6855177B-C82C-4A2D-A5CB-5FA70AB82112}">
      <dgm:prSet/>
      <dgm:spPr/>
      <dgm:t>
        <a:bodyPr/>
        <a:lstStyle/>
        <a:p>
          <a:endParaRPr lang="en-US"/>
        </a:p>
      </dgm:t>
    </dgm:pt>
    <dgm:pt modelId="{EE36EEAB-8FE4-4FFE-9C23-76F7F3856DDD}" type="sibTrans" cxnId="{6855177B-C82C-4A2D-A5CB-5FA70AB82112}">
      <dgm:prSet/>
      <dgm:spPr/>
      <dgm:t>
        <a:bodyPr/>
        <a:lstStyle/>
        <a:p>
          <a:endParaRPr lang="en-US"/>
        </a:p>
      </dgm:t>
    </dgm:pt>
    <dgm:pt modelId="{0E4046AD-9371-4F91-9DD1-24C7D3C9DE0B}">
      <dgm:prSet/>
      <dgm:spPr/>
      <dgm:t>
        <a:bodyPr/>
        <a:lstStyle/>
        <a:p>
          <a:r>
            <a:rPr lang="en-US"/>
            <a:t>Binary decision:</a:t>
          </a:r>
        </a:p>
      </dgm:t>
    </dgm:pt>
    <dgm:pt modelId="{355BC34C-07D8-43A0-B5C7-EC293CE4C57F}" type="parTrans" cxnId="{441C6FBF-39FE-4A9B-B238-1DEDA00EE4F7}">
      <dgm:prSet/>
      <dgm:spPr/>
      <dgm:t>
        <a:bodyPr/>
        <a:lstStyle/>
        <a:p>
          <a:endParaRPr lang="en-US"/>
        </a:p>
      </dgm:t>
    </dgm:pt>
    <dgm:pt modelId="{C10D04A1-0BCB-4976-BA17-4D70FDEB8AE7}" type="sibTrans" cxnId="{441C6FBF-39FE-4A9B-B238-1DEDA00EE4F7}">
      <dgm:prSet/>
      <dgm:spPr/>
      <dgm:t>
        <a:bodyPr/>
        <a:lstStyle/>
        <a:p>
          <a:endParaRPr lang="en-US"/>
        </a:p>
      </dgm:t>
    </dgm:pt>
    <dgm:pt modelId="{B5C61269-3960-459C-943C-82052E4C4C44}">
      <dgm:prSet/>
      <dgm:spPr/>
      <dgm:t>
        <a:bodyPr/>
        <a:lstStyle/>
        <a:p>
          <a:r>
            <a:rPr lang="en-US"/>
            <a:t>1 is attack</a:t>
          </a:r>
        </a:p>
      </dgm:t>
    </dgm:pt>
    <dgm:pt modelId="{CC82E57F-2A8E-4F03-A41E-20A52333C43F}" type="parTrans" cxnId="{F52B91A1-3C22-4184-8E97-75316565AD77}">
      <dgm:prSet/>
      <dgm:spPr/>
      <dgm:t>
        <a:bodyPr/>
        <a:lstStyle/>
        <a:p>
          <a:endParaRPr lang="en-US"/>
        </a:p>
      </dgm:t>
    </dgm:pt>
    <dgm:pt modelId="{0E720CFC-30FE-48FB-9FE8-CB8AB0B1AF7E}" type="sibTrans" cxnId="{F52B91A1-3C22-4184-8E97-75316565AD77}">
      <dgm:prSet/>
      <dgm:spPr/>
      <dgm:t>
        <a:bodyPr/>
        <a:lstStyle/>
        <a:p>
          <a:endParaRPr lang="en-US"/>
        </a:p>
      </dgm:t>
    </dgm:pt>
    <dgm:pt modelId="{864F09EF-06A7-4081-B8E6-CC722AF0D388}">
      <dgm:prSet/>
      <dgm:spPr/>
      <dgm:t>
        <a:bodyPr/>
        <a:lstStyle/>
        <a:p>
          <a:r>
            <a:rPr lang="en-US"/>
            <a:t>0 is normal</a:t>
          </a:r>
        </a:p>
      </dgm:t>
    </dgm:pt>
    <dgm:pt modelId="{852E496C-7134-48F5-8E14-63745EDBA80F}" type="parTrans" cxnId="{E283153B-7A7A-4829-A0B1-6AC7AAEA0218}">
      <dgm:prSet/>
      <dgm:spPr/>
      <dgm:t>
        <a:bodyPr/>
        <a:lstStyle/>
        <a:p>
          <a:endParaRPr lang="en-US"/>
        </a:p>
      </dgm:t>
    </dgm:pt>
    <dgm:pt modelId="{7021E38E-FB86-4CCC-85E8-45C70FDDDE6F}" type="sibTrans" cxnId="{E283153B-7A7A-4829-A0B1-6AC7AAEA0218}">
      <dgm:prSet/>
      <dgm:spPr/>
      <dgm:t>
        <a:bodyPr/>
        <a:lstStyle/>
        <a:p>
          <a:endParaRPr lang="en-US"/>
        </a:p>
      </dgm:t>
    </dgm:pt>
    <dgm:pt modelId="{4C97F951-B353-45BE-92D3-9663F03D79D8}" type="pres">
      <dgm:prSet presAssocID="{D536CCCE-6AC8-4618-BC02-469CAD672C17}" presName="root" presStyleCnt="0">
        <dgm:presLayoutVars>
          <dgm:dir/>
          <dgm:resizeHandles val="exact"/>
        </dgm:presLayoutVars>
      </dgm:prSet>
      <dgm:spPr/>
    </dgm:pt>
    <dgm:pt modelId="{09800875-D983-4533-9CA3-7E697BE43200}" type="pres">
      <dgm:prSet presAssocID="{700D14E2-F4C9-4897-9062-5CFAD39C4B7B}" presName="compNode" presStyleCnt="0"/>
      <dgm:spPr/>
    </dgm:pt>
    <dgm:pt modelId="{1CC3C39F-3B9C-4E60-9034-6919768C605C}" type="pres">
      <dgm:prSet presAssocID="{700D14E2-F4C9-4897-9062-5CFAD39C4B7B}" presName="bgRect" presStyleLbl="bgShp" presStyleIdx="0" presStyleCnt="3"/>
      <dgm:spPr/>
    </dgm:pt>
    <dgm:pt modelId="{C11E2518-A2A4-4D2A-874D-02B8C250D8D5}" type="pres">
      <dgm:prSet presAssocID="{700D14E2-F4C9-4897-9062-5CFAD39C4B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7FCBD4CA-33D8-4D1E-8473-6D36B29B1C98}" type="pres">
      <dgm:prSet presAssocID="{700D14E2-F4C9-4897-9062-5CFAD39C4B7B}" presName="spaceRect" presStyleCnt="0"/>
      <dgm:spPr/>
    </dgm:pt>
    <dgm:pt modelId="{D65492D0-6258-4F43-96F6-CC533D42B316}" type="pres">
      <dgm:prSet presAssocID="{700D14E2-F4C9-4897-9062-5CFAD39C4B7B}" presName="parTx" presStyleLbl="revTx" presStyleIdx="0" presStyleCnt="4">
        <dgm:presLayoutVars>
          <dgm:chMax val="0"/>
          <dgm:chPref val="0"/>
        </dgm:presLayoutVars>
      </dgm:prSet>
      <dgm:spPr/>
    </dgm:pt>
    <dgm:pt modelId="{DF6B544E-F7E0-432E-A012-77FB239C8AE4}" type="pres">
      <dgm:prSet presAssocID="{756521FA-C2DC-4599-BE07-21282BAF5EEB}" presName="sibTrans" presStyleCnt="0"/>
      <dgm:spPr/>
    </dgm:pt>
    <dgm:pt modelId="{A5E91261-E1CC-4EDD-9A2D-8035755CA7C3}" type="pres">
      <dgm:prSet presAssocID="{BF25F4EC-A03B-4B52-864C-1C145C34DC69}" presName="compNode" presStyleCnt="0"/>
      <dgm:spPr/>
    </dgm:pt>
    <dgm:pt modelId="{147629C0-DD6B-45DF-BC48-861A4C8A28AF}" type="pres">
      <dgm:prSet presAssocID="{BF25F4EC-A03B-4B52-864C-1C145C34DC69}" presName="bgRect" presStyleLbl="bgShp" presStyleIdx="1" presStyleCnt="3"/>
      <dgm:spPr/>
    </dgm:pt>
    <dgm:pt modelId="{79523891-1DE2-4924-B00E-DF4244A538EA}" type="pres">
      <dgm:prSet presAssocID="{BF25F4EC-A03B-4B52-864C-1C145C34DC6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itor"/>
        </a:ext>
      </dgm:extLst>
    </dgm:pt>
    <dgm:pt modelId="{518FD6C4-2132-4AD4-8548-3C96713EDCE3}" type="pres">
      <dgm:prSet presAssocID="{BF25F4EC-A03B-4B52-864C-1C145C34DC69}" presName="spaceRect" presStyleCnt="0"/>
      <dgm:spPr/>
    </dgm:pt>
    <dgm:pt modelId="{E2A62180-B4B7-4AF0-ACCD-77E32C737289}" type="pres">
      <dgm:prSet presAssocID="{BF25F4EC-A03B-4B52-864C-1C145C34DC69}" presName="parTx" presStyleLbl="revTx" presStyleIdx="1" presStyleCnt="4">
        <dgm:presLayoutVars>
          <dgm:chMax val="0"/>
          <dgm:chPref val="0"/>
        </dgm:presLayoutVars>
      </dgm:prSet>
      <dgm:spPr/>
    </dgm:pt>
    <dgm:pt modelId="{9BEE7048-BAD6-4EA1-BEE5-34E95DE06530}" type="pres">
      <dgm:prSet presAssocID="{10DD39F9-6214-441D-BECF-1148ADC0181A}" presName="sibTrans" presStyleCnt="0"/>
      <dgm:spPr/>
    </dgm:pt>
    <dgm:pt modelId="{6D1527DB-3FDB-4081-91A6-D3E09BBE2932}" type="pres">
      <dgm:prSet presAssocID="{307BD407-2C10-4EE8-A13C-53D8410EA421}" presName="compNode" presStyleCnt="0"/>
      <dgm:spPr/>
    </dgm:pt>
    <dgm:pt modelId="{1C27CEA1-B8C3-4951-9DE3-695D57462AD7}" type="pres">
      <dgm:prSet presAssocID="{307BD407-2C10-4EE8-A13C-53D8410EA421}" presName="bgRect" presStyleLbl="bgShp" presStyleIdx="2" presStyleCnt="3"/>
      <dgm:spPr/>
    </dgm:pt>
    <dgm:pt modelId="{81026BC3-5687-49E8-BF87-ECE1084A7834}" type="pres">
      <dgm:prSet presAssocID="{307BD407-2C10-4EE8-A13C-53D8410EA42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318C1419-14AE-4E88-B91F-F49908D6E8E9}" type="pres">
      <dgm:prSet presAssocID="{307BD407-2C10-4EE8-A13C-53D8410EA421}" presName="spaceRect" presStyleCnt="0"/>
      <dgm:spPr/>
    </dgm:pt>
    <dgm:pt modelId="{4123A6F8-4A57-4BB0-AD38-5CEFFDFAC000}" type="pres">
      <dgm:prSet presAssocID="{307BD407-2C10-4EE8-A13C-53D8410EA421}" presName="parTx" presStyleLbl="revTx" presStyleIdx="2" presStyleCnt="4">
        <dgm:presLayoutVars>
          <dgm:chMax val="0"/>
          <dgm:chPref val="0"/>
        </dgm:presLayoutVars>
      </dgm:prSet>
      <dgm:spPr/>
    </dgm:pt>
    <dgm:pt modelId="{E16B62D5-2965-48DC-B956-FF699D08DB60}" type="pres">
      <dgm:prSet presAssocID="{307BD407-2C10-4EE8-A13C-53D8410EA421}" presName="desTx" presStyleLbl="revTx" presStyleIdx="3" presStyleCnt="4">
        <dgm:presLayoutVars/>
      </dgm:prSet>
      <dgm:spPr/>
    </dgm:pt>
  </dgm:ptLst>
  <dgm:cxnLst>
    <dgm:cxn modelId="{F05BAB26-4A80-4C9B-8972-72D7E6FC620B}" type="presOf" srcId="{B5C61269-3960-459C-943C-82052E4C4C44}" destId="{E16B62D5-2965-48DC-B956-FF699D08DB60}" srcOrd="0" destOrd="1" presId="urn:microsoft.com/office/officeart/2018/2/layout/IconVerticalSolidList"/>
    <dgm:cxn modelId="{B388523A-1419-4563-9A99-DD9305CF62F7}" type="presOf" srcId="{307BD407-2C10-4EE8-A13C-53D8410EA421}" destId="{4123A6F8-4A57-4BB0-AD38-5CEFFDFAC000}" srcOrd="0" destOrd="0" presId="urn:microsoft.com/office/officeart/2018/2/layout/IconVerticalSolidList"/>
    <dgm:cxn modelId="{E283153B-7A7A-4829-A0B1-6AC7AAEA0218}" srcId="{0E4046AD-9371-4F91-9DD1-24C7D3C9DE0B}" destId="{864F09EF-06A7-4081-B8E6-CC722AF0D388}" srcOrd="1" destOrd="0" parTransId="{852E496C-7134-48F5-8E14-63745EDBA80F}" sibTransId="{7021E38E-FB86-4CCC-85E8-45C70FDDDE6F}"/>
    <dgm:cxn modelId="{1EFF5A3E-A8F1-4A28-9598-1DAEA7DC679F}" type="presOf" srcId="{700D14E2-F4C9-4897-9062-5CFAD39C4B7B}" destId="{D65492D0-6258-4F43-96F6-CC533D42B316}" srcOrd="0" destOrd="0" presId="urn:microsoft.com/office/officeart/2018/2/layout/IconVerticalSolidList"/>
    <dgm:cxn modelId="{53520144-B563-472B-A3F3-929C16712372}" srcId="{D536CCCE-6AC8-4618-BC02-469CAD672C17}" destId="{BF25F4EC-A03B-4B52-864C-1C145C34DC69}" srcOrd="1" destOrd="0" parTransId="{0AC01ABB-188C-48E2-8443-EA9EAF124B3D}" sibTransId="{10DD39F9-6214-441D-BECF-1148ADC0181A}"/>
    <dgm:cxn modelId="{5FFEB953-E074-4D19-BAEF-6467DFF1B876}" type="presOf" srcId="{BF25F4EC-A03B-4B52-864C-1C145C34DC69}" destId="{E2A62180-B4B7-4AF0-ACCD-77E32C737289}" srcOrd="0" destOrd="0" presId="urn:microsoft.com/office/officeart/2018/2/layout/IconVerticalSolidList"/>
    <dgm:cxn modelId="{98141E77-BC10-471E-9000-BACBD849A773}" type="presOf" srcId="{0E4046AD-9371-4F91-9DD1-24C7D3C9DE0B}" destId="{E16B62D5-2965-48DC-B956-FF699D08DB60}" srcOrd="0" destOrd="0" presId="urn:microsoft.com/office/officeart/2018/2/layout/IconVerticalSolidList"/>
    <dgm:cxn modelId="{6855177B-C82C-4A2D-A5CB-5FA70AB82112}" srcId="{D536CCCE-6AC8-4618-BC02-469CAD672C17}" destId="{307BD407-2C10-4EE8-A13C-53D8410EA421}" srcOrd="2" destOrd="0" parTransId="{6642C8D0-B013-4DAB-8981-D549C43BA658}" sibTransId="{EE36EEAB-8FE4-4FFE-9C23-76F7F3856DDD}"/>
    <dgm:cxn modelId="{654BB197-B590-4C96-90B8-34051B927363}" type="presOf" srcId="{D536CCCE-6AC8-4618-BC02-469CAD672C17}" destId="{4C97F951-B353-45BE-92D3-9663F03D79D8}" srcOrd="0" destOrd="0" presId="urn:microsoft.com/office/officeart/2018/2/layout/IconVerticalSolidList"/>
    <dgm:cxn modelId="{F52B91A1-3C22-4184-8E97-75316565AD77}" srcId="{0E4046AD-9371-4F91-9DD1-24C7D3C9DE0B}" destId="{B5C61269-3960-459C-943C-82052E4C4C44}" srcOrd="0" destOrd="0" parTransId="{CC82E57F-2A8E-4F03-A41E-20A52333C43F}" sibTransId="{0E720CFC-30FE-48FB-9FE8-CB8AB0B1AF7E}"/>
    <dgm:cxn modelId="{4393EAB8-02F6-4C47-B1BE-71D113AB9F87}" type="presOf" srcId="{864F09EF-06A7-4081-B8E6-CC722AF0D388}" destId="{E16B62D5-2965-48DC-B956-FF699D08DB60}" srcOrd="0" destOrd="2" presId="urn:microsoft.com/office/officeart/2018/2/layout/IconVerticalSolidList"/>
    <dgm:cxn modelId="{441C6FBF-39FE-4A9B-B238-1DEDA00EE4F7}" srcId="{307BD407-2C10-4EE8-A13C-53D8410EA421}" destId="{0E4046AD-9371-4F91-9DD1-24C7D3C9DE0B}" srcOrd="0" destOrd="0" parTransId="{355BC34C-07D8-43A0-B5C7-EC293CE4C57F}" sibTransId="{C10D04A1-0BCB-4976-BA17-4D70FDEB8AE7}"/>
    <dgm:cxn modelId="{F18B05D2-D52E-454F-A7E7-2BB42A9E0B90}" srcId="{D536CCCE-6AC8-4618-BC02-469CAD672C17}" destId="{700D14E2-F4C9-4897-9062-5CFAD39C4B7B}" srcOrd="0" destOrd="0" parTransId="{C3A434C0-0E4D-4AEB-B58D-273F5B959C44}" sibTransId="{756521FA-C2DC-4599-BE07-21282BAF5EEB}"/>
    <dgm:cxn modelId="{863160B3-1133-45BF-803D-0214C741FFFD}" type="presParOf" srcId="{4C97F951-B353-45BE-92D3-9663F03D79D8}" destId="{09800875-D983-4533-9CA3-7E697BE43200}" srcOrd="0" destOrd="0" presId="urn:microsoft.com/office/officeart/2018/2/layout/IconVerticalSolidList"/>
    <dgm:cxn modelId="{2C1D2939-FAE1-4EBC-86B0-931D913B292B}" type="presParOf" srcId="{09800875-D983-4533-9CA3-7E697BE43200}" destId="{1CC3C39F-3B9C-4E60-9034-6919768C605C}" srcOrd="0" destOrd="0" presId="urn:microsoft.com/office/officeart/2018/2/layout/IconVerticalSolidList"/>
    <dgm:cxn modelId="{D3BFDC74-FDDA-4797-A6DC-01467B46E6C8}" type="presParOf" srcId="{09800875-D983-4533-9CA3-7E697BE43200}" destId="{C11E2518-A2A4-4D2A-874D-02B8C250D8D5}" srcOrd="1" destOrd="0" presId="urn:microsoft.com/office/officeart/2018/2/layout/IconVerticalSolidList"/>
    <dgm:cxn modelId="{A35031C4-3435-482E-A17E-F4039680475A}" type="presParOf" srcId="{09800875-D983-4533-9CA3-7E697BE43200}" destId="{7FCBD4CA-33D8-4D1E-8473-6D36B29B1C98}" srcOrd="2" destOrd="0" presId="urn:microsoft.com/office/officeart/2018/2/layout/IconVerticalSolidList"/>
    <dgm:cxn modelId="{6D984673-5DC9-424D-B0D7-F92518B833D6}" type="presParOf" srcId="{09800875-D983-4533-9CA3-7E697BE43200}" destId="{D65492D0-6258-4F43-96F6-CC533D42B316}" srcOrd="3" destOrd="0" presId="urn:microsoft.com/office/officeart/2018/2/layout/IconVerticalSolidList"/>
    <dgm:cxn modelId="{9BEAB679-3E24-4999-83B3-CF66928F37CE}" type="presParOf" srcId="{4C97F951-B353-45BE-92D3-9663F03D79D8}" destId="{DF6B544E-F7E0-432E-A012-77FB239C8AE4}" srcOrd="1" destOrd="0" presId="urn:microsoft.com/office/officeart/2018/2/layout/IconVerticalSolidList"/>
    <dgm:cxn modelId="{09892653-E1BE-4C14-9C84-F4DBB70CD745}" type="presParOf" srcId="{4C97F951-B353-45BE-92D3-9663F03D79D8}" destId="{A5E91261-E1CC-4EDD-9A2D-8035755CA7C3}" srcOrd="2" destOrd="0" presId="urn:microsoft.com/office/officeart/2018/2/layout/IconVerticalSolidList"/>
    <dgm:cxn modelId="{FC4FCDC0-5BBF-4EA9-AB80-FFF991F16AE1}" type="presParOf" srcId="{A5E91261-E1CC-4EDD-9A2D-8035755CA7C3}" destId="{147629C0-DD6B-45DF-BC48-861A4C8A28AF}" srcOrd="0" destOrd="0" presId="urn:microsoft.com/office/officeart/2018/2/layout/IconVerticalSolidList"/>
    <dgm:cxn modelId="{486C2C58-0A65-4C5D-9A1C-4314D16A430F}" type="presParOf" srcId="{A5E91261-E1CC-4EDD-9A2D-8035755CA7C3}" destId="{79523891-1DE2-4924-B00E-DF4244A538EA}" srcOrd="1" destOrd="0" presId="urn:microsoft.com/office/officeart/2018/2/layout/IconVerticalSolidList"/>
    <dgm:cxn modelId="{379E5457-D2D4-4121-A771-D91D01ED1134}" type="presParOf" srcId="{A5E91261-E1CC-4EDD-9A2D-8035755CA7C3}" destId="{518FD6C4-2132-4AD4-8548-3C96713EDCE3}" srcOrd="2" destOrd="0" presId="urn:microsoft.com/office/officeart/2018/2/layout/IconVerticalSolidList"/>
    <dgm:cxn modelId="{2691F9C6-5E78-44BD-8ACB-16BBED952C07}" type="presParOf" srcId="{A5E91261-E1CC-4EDD-9A2D-8035755CA7C3}" destId="{E2A62180-B4B7-4AF0-ACCD-77E32C737289}" srcOrd="3" destOrd="0" presId="urn:microsoft.com/office/officeart/2018/2/layout/IconVerticalSolidList"/>
    <dgm:cxn modelId="{BA803A41-C2AA-4259-BC7F-B30589CC19A1}" type="presParOf" srcId="{4C97F951-B353-45BE-92D3-9663F03D79D8}" destId="{9BEE7048-BAD6-4EA1-BEE5-34E95DE06530}" srcOrd="3" destOrd="0" presId="urn:microsoft.com/office/officeart/2018/2/layout/IconVerticalSolidList"/>
    <dgm:cxn modelId="{C92F3FC0-2EFF-4CAA-B547-48592636EB54}" type="presParOf" srcId="{4C97F951-B353-45BE-92D3-9663F03D79D8}" destId="{6D1527DB-3FDB-4081-91A6-D3E09BBE2932}" srcOrd="4" destOrd="0" presId="urn:microsoft.com/office/officeart/2018/2/layout/IconVerticalSolidList"/>
    <dgm:cxn modelId="{7FE9559C-ED9E-4C49-B89B-AADBBD936470}" type="presParOf" srcId="{6D1527DB-3FDB-4081-91A6-D3E09BBE2932}" destId="{1C27CEA1-B8C3-4951-9DE3-695D57462AD7}" srcOrd="0" destOrd="0" presId="urn:microsoft.com/office/officeart/2018/2/layout/IconVerticalSolidList"/>
    <dgm:cxn modelId="{FD798865-396B-416F-A9B1-33B54D5307A5}" type="presParOf" srcId="{6D1527DB-3FDB-4081-91A6-D3E09BBE2932}" destId="{81026BC3-5687-49E8-BF87-ECE1084A7834}" srcOrd="1" destOrd="0" presId="urn:microsoft.com/office/officeart/2018/2/layout/IconVerticalSolidList"/>
    <dgm:cxn modelId="{2CBCC2CD-E53F-436E-83FC-075415CA2D07}" type="presParOf" srcId="{6D1527DB-3FDB-4081-91A6-D3E09BBE2932}" destId="{318C1419-14AE-4E88-B91F-F49908D6E8E9}" srcOrd="2" destOrd="0" presId="urn:microsoft.com/office/officeart/2018/2/layout/IconVerticalSolidList"/>
    <dgm:cxn modelId="{34E63415-9731-499F-877A-BDCD8DB854E4}" type="presParOf" srcId="{6D1527DB-3FDB-4081-91A6-D3E09BBE2932}" destId="{4123A6F8-4A57-4BB0-AD38-5CEFFDFAC000}" srcOrd="3" destOrd="0" presId="urn:microsoft.com/office/officeart/2018/2/layout/IconVerticalSolidList"/>
    <dgm:cxn modelId="{C3FBBA9C-E6D1-4B63-BC70-C5C294071E15}" type="presParOf" srcId="{6D1527DB-3FDB-4081-91A6-D3E09BBE2932}" destId="{E16B62D5-2965-48DC-B956-FF699D08DB6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3C39F-3B9C-4E60-9034-6919768C605C}">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E2518-A2A4-4D2A-874D-02B8C250D8D5}">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5492D0-6258-4F43-96F6-CC533D42B316}">
      <dsp:nvSpPr>
        <dsp:cNvPr id="0" name=""/>
        <dsp:cNvSpPr/>
      </dsp:nvSpPr>
      <dsp:spPr>
        <a:xfrm>
          <a:off x="1653197" y="611"/>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Learns discriminative patterns from the packet bytes.</a:t>
          </a:r>
        </a:p>
      </dsp:txBody>
      <dsp:txXfrm>
        <a:off x="1653197" y="611"/>
        <a:ext cx="5652858" cy="1431339"/>
      </dsp:txXfrm>
    </dsp:sp>
    <dsp:sp modelId="{147629C0-DD6B-45DF-BC48-861A4C8A28AF}">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523891-1DE2-4924-B00E-DF4244A538EA}">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A62180-B4B7-4AF0-ACCD-77E32C737289}">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Normal and attack traffic produce different deep feature activations</a:t>
          </a:r>
        </a:p>
      </dsp:txBody>
      <dsp:txXfrm>
        <a:off x="1653197" y="1789786"/>
        <a:ext cx="5652858" cy="1431339"/>
      </dsp:txXfrm>
    </dsp:sp>
    <dsp:sp modelId="{1C27CEA1-B8C3-4951-9DE3-695D57462AD7}">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026BC3-5687-49E8-BF87-ECE1084A7834}">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23A6F8-4A57-4BB0-AD38-5CEFFDFAC000}">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Final output:</a:t>
          </a:r>
        </a:p>
      </dsp:txBody>
      <dsp:txXfrm>
        <a:off x="1653197" y="3578960"/>
        <a:ext cx="3287725" cy="1431339"/>
      </dsp:txXfrm>
    </dsp:sp>
    <dsp:sp modelId="{E16B62D5-2965-48DC-B956-FF699D08DB60}">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00100">
            <a:lnSpc>
              <a:spcPct val="90000"/>
            </a:lnSpc>
            <a:spcBef>
              <a:spcPct val="0"/>
            </a:spcBef>
            <a:spcAft>
              <a:spcPct val="35000"/>
            </a:spcAft>
            <a:buNone/>
          </a:pPr>
          <a:r>
            <a:rPr lang="en-US" sz="1800" kern="1200"/>
            <a:t>Binary decision:</a:t>
          </a:r>
        </a:p>
        <a:p>
          <a:pPr marL="171450" lvl="1" indent="-171450" algn="l" defTabSz="800100">
            <a:lnSpc>
              <a:spcPct val="90000"/>
            </a:lnSpc>
            <a:spcBef>
              <a:spcPct val="0"/>
            </a:spcBef>
            <a:spcAft>
              <a:spcPct val="15000"/>
            </a:spcAft>
            <a:buChar char="•"/>
          </a:pPr>
          <a:r>
            <a:rPr lang="en-US" sz="1800" kern="1200"/>
            <a:t>1 is attack</a:t>
          </a:r>
        </a:p>
        <a:p>
          <a:pPr marL="171450" lvl="1" indent="-171450" algn="l" defTabSz="800100">
            <a:lnSpc>
              <a:spcPct val="90000"/>
            </a:lnSpc>
            <a:spcBef>
              <a:spcPct val="0"/>
            </a:spcBef>
            <a:spcAft>
              <a:spcPct val="15000"/>
            </a:spcAft>
            <a:buChar char="•"/>
          </a:pPr>
          <a:r>
            <a:rPr lang="en-US" sz="1800" kern="1200"/>
            <a:t>0 is normal</a:t>
          </a:r>
        </a:p>
      </dsp:txBody>
      <dsp:txXfrm>
        <a:off x="4940922" y="3578960"/>
        <a:ext cx="2365133" cy="14313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BABCC-39B4-40B3-AFC0-D7FD3FE81B3C}"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D081D-23EA-4D49-B290-3AF2BB101D77}" type="slidenum">
              <a:rPr lang="en-US" smtClean="0"/>
              <a:t>‹#›</a:t>
            </a:fld>
            <a:endParaRPr lang="en-US"/>
          </a:p>
        </p:txBody>
      </p:sp>
    </p:spTree>
    <p:extLst>
      <p:ext uri="{BB962C8B-B14F-4D97-AF65-F5344CB8AC3E}">
        <p14:creationId xmlns:p14="http://schemas.microsoft.com/office/powerpoint/2010/main" val="220686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engineering the dataset to extract the parts of the network packets that are most likely contain physical readings</a:t>
            </a:r>
          </a:p>
        </p:txBody>
      </p:sp>
      <p:sp>
        <p:nvSpPr>
          <p:cNvPr id="4" name="Slide Number Placeholder 3"/>
          <p:cNvSpPr>
            <a:spLocks noGrp="1"/>
          </p:cNvSpPr>
          <p:nvPr>
            <p:ph type="sldNum" sz="quarter" idx="5"/>
          </p:nvPr>
        </p:nvSpPr>
        <p:spPr/>
        <p:txBody>
          <a:bodyPr/>
          <a:lstStyle/>
          <a:p>
            <a:fld id="{CD0D081D-23EA-4D49-B290-3AF2BB101D77}" type="slidenum">
              <a:rPr lang="en-US" smtClean="0"/>
              <a:t>4</a:t>
            </a:fld>
            <a:endParaRPr lang="en-US"/>
          </a:p>
        </p:txBody>
      </p:sp>
    </p:spTree>
    <p:extLst>
      <p:ext uri="{BB962C8B-B14F-4D97-AF65-F5344CB8AC3E}">
        <p14:creationId xmlns:p14="http://schemas.microsoft.com/office/powerpoint/2010/main" val="4273177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about this image from page 13 in the SDA paper:  https://www.jmlr.org/papers/volume11/vincent10a/vincent10a.pdf?source=post_page</a:t>
            </a:r>
          </a:p>
          <a:p>
            <a:endParaRPr lang="en-US" dirty="0"/>
          </a:p>
          <a:p>
            <a:r>
              <a:rPr lang="en-US" dirty="0"/>
              <a:t>Latent features are the final compressed internal representation of the input learned by the encoder.</a:t>
            </a:r>
          </a:p>
          <a:p>
            <a:r>
              <a:rPr lang="en-US" dirty="0"/>
              <a:t>We can think of it as what the network believes really matters in the input.</a:t>
            </a:r>
          </a:p>
        </p:txBody>
      </p:sp>
      <p:sp>
        <p:nvSpPr>
          <p:cNvPr id="4" name="Slide Number Placeholder 3"/>
          <p:cNvSpPr>
            <a:spLocks noGrp="1"/>
          </p:cNvSpPr>
          <p:nvPr>
            <p:ph type="sldNum" sz="quarter" idx="5"/>
          </p:nvPr>
        </p:nvSpPr>
        <p:spPr/>
        <p:txBody>
          <a:bodyPr/>
          <a:lstStyle/>
          <a:p>
            <a:fld id="{CD0D081D-23EA-4D49-B290-3AF2BB101D77}" type="slidenum">
              <a:rPr lang="en-US" smtClean="0"/>
              <a:t>8</a:t>
            </a:fld>
            <a:endParaRPr lang="en-US"/>
          </a:p>
        </p:txBody>
      </p:sp>
    </p:spTree>
    <p:extLst>
      <p:ext uri="{BB962C8B-B14F-4D97-AF65-F5344CB8AC3E}">
        <p14:creationId xmlns:p14="http://schemas.microsoft.com/office/powerpoint/2010/main" val="3228015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GAN is trained by allowing the G to produce a synthetic data, then pass it to the discriminator, if the discriminator detected that it was fake, we keep training the G, otherwise we train D. </a:t>
            </a:r>
          </a:p>
        </p:txBody>
      </p:sp>
      <p:sp>
        <p:nvSpPr>
          <p:cNvPr id="4" name="Slide Number Placeholder 3"/>
          <p:cNvSpPr>
            <a:spLocks noGrp="1"/>
          </p:cNvSpPr>
          <p:nvPr>
            <p:ph type="sldNum" sz="quarter" idx="5"/>
          </p:nvPr>
        </p:nvSpPr>
        <p:spPr/>
        <p:txBody>
          <a:bodyPr/>
          <a:lstStyle/>
          <a:p>
            <a:fld id="{CD0D081D-23EA-4D49-B290-3AF2BB101D77}" type="slidenum">
              <a:rPr lang="en-US" smtClean="0"/>
              <a:t>19</a:t>
            </a:fld>
            <a:endParaRPr lang="en-US"/>
          </a:p>
        </p:txBody>
      </p:sp>
    </p:spTree>
    <p:extLst>
      <p:ext uri="{BB962C8B-B14F-4D97-AF65-F5344CB8AC3E}">
        <p14:creationId xmlns:p14="http://schemas.microsoft.com/office/powerpoint/2010/main" val="701812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D081D-23EA-4D49-B290-3AF2BB101D77}" type="slidenum">
              <a:rPr lang="en-US" smtClean="0"/>
              <a:t>20</a:t>
            </a:fld>
            <a:endParaRPr lang="en-US"/>
          </a:p>
        </p:txBody>
      </p:sp>
    </p:spTree>
    <p:extLst>
      <p:ext uri="{BB962C8B-B14F-4D97-AF65-F5344CB8AC3E}">
        <p14:creationId xmlns:p14="http://schemas.microsoft.com/office/powerpoint/2010/main" val="4010919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1440EDA9-3D82-41F5-A154-154FF7F6D999}" type="datetime1">
              <a:rPr lang="en-US" smtClean="0"/>
              <a:t>1/30/2026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955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2918E08E-5CF1-485D-A5EE-BC299CA46DAD}" type="datetime1">
              <a:rPr lang="en-US" smtClean="0"/>
              <a:t>1/30/2026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9538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473DD787-46F4-44A6-8811-035C4F4C5A29}" type="datetime1">
              <a:rPr lang="en-US" smtClean="0"/>
              <a:t>1/30/2026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268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7E04F875-E20B-426A-B938-9A8FB1B8A7E2}" type="datetime1">
              <a:rPr lang="en-US" smtClean="0"/>
              <a:t>1/30/2026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78897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04B3E678-51D6-41EB-AA8D-B68C527BA419}" type="datetime1">
              <a:rPr lang="en-US" smtClean="0"/>
              <a:t>1/30/2026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7915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A67AA7C8-587F-44DF-85F0-7DFEF948014B}" type="datetime1">
              <a:rPr lang="en-US" smtClean="0"/>
              <a:t>1/30/2026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80839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55DC47C2-7A04-4382-AA7B-592A9D8E40E6}" type="datetime1">
              <a:rPr lang="en-US" smtClean="0"/>
              <a:t>1/30/2026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06640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9012DF50-4FDF-4A2B-8B54-33AD35E8E3A1}" type="datetime1">
              <a:rPr lang="en-US" smtClean="0"/>
              <a:t>1/30/2026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9190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EEDBF39-6ECF-4927-AFE5-214375757819}" type="datetime1">
              <a:rPr lang="en-US" smtClean="0"/>
              <a:t>1/30/2026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5675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6929DF3E-21AF-4CEE-8BAA-4E5F791D7FF0}" type="datetime1">
              <a:rPr lang="en-US" smtClean="0"/>
              <a:t>1/30/2026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431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155A01A2-19E8-4BEB-B284-470E4FA232A2}" type="datetime1">
              <a:rPr lang="en-US" smtClean="0"/>
              <a:t>1/30/2026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49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AD68C140-22AE-4942-B39F-565027563078}" type="datetime1">
              <a:rPr lang="en-US" smtClean="0"/>
              <a:t>1/30/2026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5681373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hdr="0" ftr="0" dt="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Picture 4">
            <a:extLst>
              <a:ext uri="{FF2B5EF4-FFF2-40B4-BE49-F238E27FC236}">
                <a16:creationId xmlns:a16="http://schemas.microsoft.com/office/drawing/2014/main" id="{945B6151-99FC-BB30-CC88-A7A1FE4233C9}"/>
              </a:ext>
            </a:extLst>
          </p:cNvPr>
          <p:cNvPicPr>
            <a:picLocks noChangeAspect="1"/>
          </p:cNvPicPr>
          <p:nvPr/>
        </p:nvPicPr>
        <p:blipFill>
          <a:blip r:embed="rId2"/>
          <a:srcRect r="11111"/>
          <a:stretch>
            <a:fillRect/>
          </a:stretch>
        </p:blipFill>
        <p:spPr>
          <a:xfrm>
            <a:off x="20" y="10"/>
            <a:ext cx="12191979" cy="6857990"/>
          </a:xfrm>
          <a:prstGeom prst="rect">
            <a:avLst/>
          </a:prstGeom>
        </p:spPr>
      </p:pic>
      <p:sp>
        <p:nvSpPr>
          <p:cNvPr id="12" name="Rectangle 11">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F3E9AFF-7D00-4110-F034-0DC17AA0A460}"/>
              </a:ext>
            </a:extLst>
          </p:cNvPr>
          <p:cNvSpPr>
            <a:spLocks noGrp="1"/>
          </p:cNvSpPr>
          <p:nvPr>
            <p:ph type="ctrTitle"/>
          </p:nvPr>
        </p:nvSpPr>
        <p:spPr>
          <a:xfrm>
            <a:off x="438910" y="978408"/>
            <a:ext cx="4795819" cy="3969960"/>
          </a:xfrm>
        </p:spPr>
        <p:txBody>
          <a:bodyPr vert="horz" lIns="91440" tIns="45720" rIns="91440" bIns="45720" rtlCol="0" anchor="t">
            <a:normAutofit/>
          </a:bodyPr>
          <a:lstStyle/>
          <a:p>
            <a:pPr>
              <a:lnSpc>
                <a:spcPct val="90000"/>
              </a:lnSpc>
            </a:pPr>
            <a:r>
              <a:rPr lang="en-US" sz="3600"/>
              <a:t>Adversarial Machine Learning Use of Reverse Engineering for Anomaly Detection in Industrial Control Systems</a:t>
            </a:r>
            <a:endParaRPr lang="en-US" sz="3600">
              <a:effectLst/>
            </a:endParaRPr>
          </a:p>
        </p:txBody>
      </p:sp>
      <p:sp>
        <p:nvSpPr>
          <p:cNvPr id="3" name="Subtitle 2">
            <a:extLst>
              <a:ext uri="{FF2B5EF4-FFF2-40B4-BE49-F238E27FC236}">
                <a16:creationId xmlns:a16="http://schemas.microsoft.com/office/drawing/2014/main" id="{AA95D4F7-9853-2E8C-4E85-1DDD03CDA06F}"/>
              </a:ext>
            </a:extLst>
          </p:cNvPr>
          <p:cNvSpPr>
            <a:spLocks noGrp="1"/>
          </p:cNvSpPr>
          <p:nvPr>
            <p:ph type="subTitle" idx="1"/>
          </p:nvPr>
        </p:nvSpPr>
        <p:spPr>
          <a:xfrm>
            <a:off x="455637" y="4778326"/>
            <a:ext cx="4381634" cy="386460"/>
          </a:xfrm>
        </p:spPr>
        <p:txBody>
          <a:bodyPr vert="horz" lIns="91440" tIns="45720" rIns="91440" bIns="45720" rtlCol="0" anchor="b">
            <a:normAutofit fontScale="85000" lnSpcReduction="20000"/>
          </a:bodyPr>
          <a:lstStyle/>
          <a:p>
            <a:r>
              <a:rPr lang="en-US" sz="2400" i="1" kern="1200" dirty="0">
                <a:solidFill>
                  <a:schemeClr val="tx1"/>
                </a:solidFill>
                <a:latin typeface="+mn-lt"/>
                <a:ea typeface="+mn-ea"/>
                <a:cs typeface="+mn-cs"/>
              </a:rPr>
              <a:t>Study Project</a:t>
            </a:r>
          </a:p>
        </p:txBody>
      </p:sp>
      <p:sp>
        <p:nvSpPr>
          <p:cNvPr id="14" name="Rectangle 13">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Subtitle 2">
            <a:extLst>
              <a:ext uri="{FF2B5EF4-FFF2-40B4-BE49-F238E27FC236}">
                <a16:creationId xmlns:a16="http://schemas.microsoft.com/office/drawing/2014/main" id="{7ABC5888-2B94-C2CF-8BCE-2F2113046399}"/>
              </a:ext>
            </a:extLst>
          </p:cNvPr>
          <p:cNvSpPr txBox="1">
            <a:spLocks/>
          </p:cNvSpPr>
          <p:nvPr/>
        </p:nvSpPr>
        <p:spPr>
          <a:xfrm>
            <a:off x="455637" y="635115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Group 17: Abdelaziz &amp; Anna</a:t>
            </a:r>
          </a:p>
        </p:txBody>
      </p:sp>
      <p:sp>
        <p:nvSpPr>
          <p:cNvPr id="6" name="Slide Number Placeholder 5">
            <a:extLst>
              <a:ext uri="{FF2B5EF4-FFF2-40B4-BE49-F238E27FC236}">
                <a16:creationId xmlns:a16="http://schemas.microsoft.com/office/drawing/2014/main" id="{D7658ADC-7174-FCE6-7E23-D9D2E292C03C}"/>
              </a:ext>
            </a:extLst>
          </p:cNvPr>
          <p:cNvSpPr>
            <a:spLocks noGrp="1"/>
          </p:cNvSpPr>
          <p:nvPr>
            <p:ph type="sldNum" sz="quarter" idx="12"/>
          </p:nvPr>
        </p:nvSpPr>
        <p:spPr/>
        <p:txBody>
          <a:bodyPr/>
          <a:lstStyle/>
          <a:p>
            <a:fld id="{148CC95F-0247-41B6-91CF-DC97C76A7088}" type="slidenum">
              <a:rPr lang="en-US" smtClean="0"/>
              <a:t>1</a:t>
            </a:fld>
            <a:endParaRPr lang="en-US"/>
          </a:p>
        </p:txBody>
      </p:sp>
      <p:sp>
        <p:nvSpPr>
          <p:cNvPr id="7" name="Rectangle 6">
            <a:extLst>
              <a:ext uri="{FF2B5EF4-FFF2-40B4-BE49-F238E27FC236}">
                <a16:creationId xmlns:a16="http://schemas.microsoft.com/office/drawing/2014/main" id="{82FBFFAB-DD9E-1334-5EF9-61930B232DA3}"/>
              </a:ext>
            </a:extLst>
          </p:cNvPr>
          <p:cNvSpPr/>
          <p:nvPr/>
        </p:nvSpPr>
        <p:spPr>
          <a:xfrm>
            <a:off x="555382" y="4586068"/>
            <a:ext cx="1749083" cy="70105"/>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187505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347C2-1A3F-026F-5680-D298690B1201}"/>
              </a:ext>
            </a:extLst>
          </p:cNvPr>
          <p:cNvSpPr>
            <a:spLocks noGrp="1"/>
          </p:cNvSpPr>
          <p:nvPr>
            <p:ph type="title"/>
          </p:nvPr>
        </p:nvSpPr>
        <p:spPr/>
        <p:txBody>
          <a:bodyPr/>
          <a:lstStyle/>
          <a:p>
            <a:r>
              <a:rPr lang="en-US" dirty="0"/>
              <a:t>What was our main goals?</a:t>
            </a:r>
          </a:p>
        </p:txBody>
      </p:sp>
      <p:sp>
        <p:nvSpPr>
          <p:cNvPr id="3" name="Content Placeholder 2">
            <a:extLst>
              <a:ext uri="{FF2B5EF4-FFF2-40B4-BE49-F238E27FC236}">
                <a16:creationId xmlns:a16="http://schemas.microsoft.com/office/drawing/2014/main" id="{BE6381DB-C7E5-FC3F-7048-26DCFE1A3209}"/>
              </a:ext>
            </a:extLst>
          </p:cNvPr>
          <p:cNvSpPr>
            <a:spLocks noGrp="1"/>
          </p:cNvSpPr>
          <p:nvPr>
            <p:ph idx="1"/>
          </p:nvPr>
        </p:nvSpPr>
        <p:spPr/>
        <p:txBody>
          <a:bodyPr/>
          <a:lstStyle/>
          <a:p>
            <a:endParaRPr lang="en-US" dirty="0"/>
          </a:p>
          <a:p>
            <a:r>
              <a:rPr lang="en-US" dirty="0"/>
              <a:t>Implement and evaluate different approaches to extract expressive patterns network traffic collected in the OT area. </a:t>
            </a:r>
          </a:p>
          <a:p>
            <a:r>
              <a:rPr lang="en-US" dirty="0"/>
              <a:t>Use reverse engineering methods to derive specific chunks from the observed network packets.</a:t>
            </a:r>
          </a:p>
          <a:p>
            <a:r>
              <a:rPr lang="en-US" dirty="0"/>
              <a:t>Train different machine learning  and deep learning methods to train a classifier with the reverse engineered chunks</a:t>
            </a:r>
          </a:p>
        </p:txBody>
      </p:sp>
      <p:sp>
        <p:nvSpPr>
          <p:cNvPr id="4" name="Slide Number Placeholder 3">
            <a:extLst>
              <a:ext uri="{FF2B5EF4-FFF2-40B4-BE49-F238E27FC236}">
                <a16:creationId xmlns:a16="http://schemas.microsoft.com/office/drawing/2014/main" id="{0D627B08-4385-71FD-53BD-B9B7776E1291}"/>
              </a:ext>
            </a:extLst>
          </p:cNvPr>
          <p:cNvSpPr>
            <a:spLocks noGrp="1"/>
          </p:cNvSpPr>
          <p:nvPr>
            <p:ph type="sldNum" sz="quarter" idx="12"/>
          </p:nvPr>
        </p:nvSpPr>
        <p:spPr/>
        <p:txBody>
          <a:bodyPr/>
          <a:lstStyle/>
          <a:p>
            <a:fld id="{148CC95F-0247-41B6-91CF-DC97C76A7088}" type="slidenum">
              <a:rPr lang="en-US" smtClean="0"/>
              <a:t>2</a:t>
            </a:fld>
            <a:endParaRPr lang="en-US"/>
          </a:p>
        </p:txBody>
      </p:sp>
    </p:spTree>
    <p:extLst>
      <p:ext uri="{BB962C8B-B14F-4D97-AF65-F5344CB8AC3E}">
        <p14:creationId xmlns:p14="http://schemas.microsoft.com/office/powerpoint/2010/main" val="67961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36ED-4CAA-9EC4-3DE9-07C7981FA41A}"/>
              </a:ext>
            </a:extLst>
          </p:cNvPr>
          <p:cNvSpPr>
            <a:spLocks noGrp="1"/>
          </p:cNvSpPr>
          <p:nvPr>
            <p:ph type="title"/>
          </p:nvPr>
        </p:nvSpPr>
        <p:spPr/>
        <p:txBody>
          <a:bodyPr/>
          <a:lstStyle/>
          <a:p>
            <a:r>
              <a:rPr lang="en-US" dirty="0"/>
              <a:t>Why do we do that? </a:t>
            </a:r>
          </a:p>
        </p:txBody>
      </p:sp>
      <p:sp>
        <p:nvSpPr>
          <p:cNvPr id="3" name="Content Placeholder 2">
            <a:extLst>
              <a:ext uri="{FF2B5EF4-FFF2-40B4-BE49-F238E27FC236}">
                <a16:creationId xmlns:a16="http://schemas.microsoft.com/office/drawing/2014/main" id="{2CDF55CF-8A9B-A97C-FBDF-4C3DBC1950CF}"/>
              </a:ext>
            </a:extLst>
          </p:cNvPr>
          <p:cNvSpPr>
            <a:spLocks noGrp="1"/>
          </p:cNvSpPr>
          <p:nvPr>
            <p:ph idx="1"/>
          </p:nvPr>
        </p:nvSpPr>
        <p:spPr/>
        <p:txBody>
          <a:bodyPr/>
          <a:lstStyle/>
          <a:p>
            <a:r>
              <a:rPr lang="en-US" dirty="0"/>
              <a:t>The main idea is to be able to create an anomaly detection for ICS even if we do not have the used protocol as open-source. </a:t>
            </a:r>
          </a:p>
          <a:p>
            <a:r>
              <a:rPr lang="en-US" dirty="0"/>
              <a:t>So, we can reverse engineer the network packets in our OT, and based on this traffic, we can train different machine learning classifiers to help us detect if there is any kind of attacks. </a:t>
            </a:r>
          </a:p>
          <a:p>
            <a:r>
              <a:rPr lang="en-US" dirty="0"/>
              <a:t>We assume that the ICS operator utilizes proprietary binary protocols, i.e., the approaches to be developed cannot directly parse the content of transmitted network packets. </a:t>
            </a:r>
          </a:p>
          <a:p>
            <a:r>
              <a:rPr lang="en-US" dirty="0"/>
              <a:t>However, the defender can rely on reverse engineering methods to derive only specific chunks from the observed network packets.</a:t>
            </a:r>
          </a:p>
        </p:txBody>
      </p:sp>
      <p:sp>
        <p:nvSpPr>
          <p:cNvPr id="4" name="Slide Number Placeholder 3">
            <a:extLst>
              <a:ext uri="{FF2B5EF4-FFF2-40B4-BE49-F238E27FC236}">
                <a16:creationId xmlns:a16="http://schemas.microsoft.com/office/drawing/2014/main" id="{BDE8F50D-7441-49C5-D125-4303132A596C}"/>
              </a:ext>
            </a:extLst>
          </p:cNvPr>
          <p:cNvSpPr>
            <a:spLocks noGrp="1"/>
          </p:cNvSpPr>
          <p:nvPr>
            <p:ph type="sldNum" sz="quarter" idx="12"/>
          </p:nvPr>
        </p:nvSpPr>
        <p:spPr/>
        <p:txBody>
          <a:bodyPr/>
          <a:lstStyle/>
          <a:p>
            <a:fld id="{148CC95F-0247-41B6-91CF-DC97C76A7088}" type="slidenum">
              <a:rPr lang="en-US" smtClean="0"/>
              <a:t>3</a:t>
            </a:fld>
            <a:endParaRPr lang="en-US"/>
          </a:p>
        </p:txBody>
      </p:sp>
    </p:spTree>
    <p:extLst>
      <p:ext uri="{BB962C8B-B14F-4D97-AF65-F5344CB8AC3E}">
        <p14:creationId xmlns:p14="http://schemas.microsoft.com/office/powerpoint/2010/main" val="106052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75C92-4F1B-9B07-3496-0FB9AA940C4E}"/>
              </a:ext>
            </a:extLst>
          </p:cNvPr>
          <p:cNvSpPr>
            <a:spLocks noGrp="1"/>
          </p:cNvSpPr>
          <p:nvPr>
            <p:ph type="title"/>
          </p:nvPr>
        </p:nvSpPr>
        <p:spPr/>
        <p:txBody>
          <a:bodyPr/>
          <a:lstStyle/>
          <a:p>
            <a:r>
              <a:rPr lang="en-US" dirty="0"/>
              <a:t>How?</a:t>
            </a:r>
          </a:p>
        </p:txBody>
      </p:sp>
      <p:sp>
        <p:nvSpPr>
          <p:cNvPr id="3" name="Content Placeholder 2">
            <a:extLst>
              <a:ext uri="{FF2B5EF4-FFF2-40B4-BE49-F238E27FC236}">
                <a16:creationId xmlns:a16="http://schemas.microsoft.com/office/drawing/2014/main" id="{ED62F3C7-144D-BD01-E954-FCF6051A14C2}"/>
              </a:ext>
            </a:extLst>
          </p:cNvPr>
          <p:cNvSpPr>
            <a:spLocks noGrp="1"/>
          </p:cNvSpPr>
          <p:nvPr>
            <p:ph idx="1"/>
          </p:nvPr>
        </p:nvSpPr>
        <p:spPr>
          <a:xfrm>
            <a:off x="521208" y="2289908"/>
            <a:ext cx="11155680" cy="4056028"/>
          </a:xfrm>
        </p:spPr>
        <p:txBody>
          <a:bodyPr>
            <a:normAutofit/>
          </a:bodyPr>
          <a:lstStyle/>
          <a:p>
            <a:pPr marL="342900" indent="-342900">
              <a:buFont typeface="+mj-lt"/>
              <a:buAutoNum type="arabicPeriod"/>
            </a:pPr>
            <a:r>
              <a:rPr lang="en-US" dirty="0"/>
              <a:t>Getting Datasets</a:t>
            </a:r>
          </a:p>
          <a:p>
            <a:pPr marL="342900" indent="-342900">
              <a:buFont typeface="+mj-lt"/>
              <a:buAutoNum type="arabicPeriod"/>
            </a:pPr>
            <a:r>
              <a:rPr lang="en-US" dirty="0"/>
              <a:t>Statistical Analysis of ICS Network Traffic for each dataset</a:t>
            </a:r>
          </a:p>
          <a:p>
            <a:pPr marL="342900" indent="-342900">
              <a:buFont typeface="+mj-lt"/>
              <a:buAutoNum type="arabicPeriod"/>
            </a:pPr>
            <a:r>
              <a:rPr lang="en-US" dirty="0"/>
              <a:t>Using Stacked Denoising autoencoder to return features from the given dataset</a:t>
            </a:r>
          </a:p>
          <a:p>
            <a:pPr marL="342900" indent="-342900">
              <a:buFont typeface="+mj-lt"/>
              <a:buAutoNum type="arabicPeriod"/>
            </a:pPr>
            <a:r>
              <a:rPr lang="en-US" dirty="0"/>
              <a:t>Reverse engineering the dataset</a:t>
            </a:r>
          </a:p>
          <a:p>
            <a:pPr marL="342900" indent="-342900">
              <a:buFont typeface="+mj-lt"/>
              <a:buAutoNum type="arabicPeriod"/>
            </a:pPr>
            <a:r>
              <a:rPr lang="en-US" dirty="0"/>
              <a:t>Using different ML models:</a:t>
            </a:r>
          </a:p>
          <a:p>
            <a:pPr marL="800100" lvl="1" indent="-342900">
              <a:buFont typeface="+mj-lt"/>
              <a:buAutoNum type="arabicPeriod"/>
            </a:pPr>
            <a:r>
              <a:rPr lang="en-US" dirty="0"/>
              <a:t>SVM, LOF, KNN.</a:t>
            </a:r>
          </a:p>
          <a:p>
            <a:pPr marL="342900" indent="-342900">
              <a:buFont typeface="+mj-lt"/>
              <a:buAutoNum type="arabicPeriod"/>
            </a:pPr>
            <a:r>
              <a:rPr lang="en-US" dirty="0"/>
              <a:t>Using different DL models:</a:t>
            </a:r>
          </a:p>
          <a:p>
            <a:pPr marL="800100" lvl="1" indent="-342900">
              <a:buFont typeface="+mj-lt"/>
              <a:buAutoNum type="arabicPeriod"/>
            </a:pPr>
            <a:r>
              <a:rPr lang="en-US" dirty="0"/>
              <a:t>GAN, CNN, </a:t>
            </a:r>
            <a:r>
              <a:rPr lang="en-US" dirty="0" err="1"/>
              <a:t>ResNet</a:t>
            </a:r>
            <a:r>
              <a:rPr lang="en-US" dirty="0"/>
              <a:t>. </a:t>
            </a:r>
          </a:p>
          <a:p>
            <a:pPr marL="342900" indent="-342900">
              <a:buFont typeface="+mj-lt"/>
              <a:buAutoNum type="arabicPeriod"/>
            </a:pPr>
            <a:r>
              <a:rPr lang="en-US" dirty="0"/>
              <a:t>Using N-gram</a:t>
            </a:r>
          </a:p>
          <a:p>
            <a:pPr marL="342900" indent="-342900">
              <a:buFont typeface="+mj-lt"/>
              <a:buAutoNum type="arabicPeriod"/>
            </a:pPr>
            <a:r>
              <a:rPr lang="en-US" dirty="0"/>
              <a:t>Executing experiments on each model.</a:t>
            </a:r>
          </a:p>
        </p:txBody>
      </p:sp>
      <p:sp>
        <p:nvSpPr>
          <p:cNvPr id="4" name="Slide Number Placeholder 3">
            <a:extLst>
              <a:ext uri="{FF2B5EF4-FFF2-40B4-BE49-F238E27FC236}">
                <a16:creationId xmlns:a16="http://schemas.microsoft.com/office/drawing/2014/main" id="{A3F7DB2C-4404-5E66-37A5-3D32692015E7}"/>
              </a:ext>
            </a:extLst>
          </p:cNvPr>
          <p:cNvSpPr>
            <a:spLocks noGrp="1"/>
          </p:cNvSpPr>
          <p:nvPr>
            <p:ph type="sldNum" sz="quarter" idx="12"/>
          </p:nvPr>
        </p:nvSpPr>
        <p:spPr/>
        <p:txBody>
          <a:bodyPr/>
          <a:lstStyle/>
          <a:p>
            <a:fld id="{148CC95F-0247-41B6-91CF-DC97C76A7088}" type="slidenum">
              <a:rPr lang="en-US" smtClean="0"/>
              <a:t>4</a:t>
            </a:fld>
            <a:endParaRPr lang="en-US"/>
          </a:p>
        </p:txBody>
      </p:sp>
    </p:spTree>
    <p:extLst>
      <p:ext uri="{BB962C8B-B14F-4D97-AF65-F5344CB8AC3E}">
        <p14:creationId xmlns:p14="http://schemas.microsoft.com/office/powerpoint/2010/main" val="254457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E30B2-214E-0CBB-6EB7-7CC62F0512A1}"/>
              </a:ext>
            </a:extLst>
          </p:cNvPr>
          <p:cNvSpPr>
            <a:spLocks noGrp="1"/>
          </p:cNvSpPr>
          <p:nvPr>
            <p:ph type="title"/>
          </p:nvPr>
        </p:nvSpPr>
        <p:spPr/>
        <p:txBody>
          <a:bodyPr/>
          <a:lstStyle/>
          <a:p>
            <a:r>
              <a:rPr lang="en-US" dirty="0"/>
              <a:t>Datasets</a:t>
            </a:r>
          </a:p>
        </p:txBody>
      </p:sp>
      <p:sp>
        <p:nvSpPr>
          <p:cNvPr id="3" name="Content Placeholder 2">
            <a:extLst>
              <a:ext uri="{FF2B5EF4-FFF2-40B4-BE49-F238E27FC236}">
                <a16:creationId xmlns:a16="http://schemas.microsoft.com/office/drawing/2014/main" id="{125B855E-1625-5DBE-9627-77E5F146EFE6}"/>
              </a:ext>
            </a:extLst>
          </p:cNvPr>
          <p:cNvSpPr>
            <a:spLocks noGrp="1"/>
          </p:cNvSpPr>
          <p:nvPr>
            <p:ph idx="1"/>
          </p:nvPr>
        </p:nvSpPr>
        <p:spPr/>
        <p:txBody>
          <a:bodyPr/>
          <a:lstStyle/>
          <a:p>
            <a:r>
              <a:rPr lang="en-US" dirty="0"/>
              <a:t>Electra (S7comm) Dataset</a:t>
            </a:r>
          </a:p>
          <a:p>
            <a:pPr lvl="1"/>
            <a:r>
              <a:rPr lang="en-US" dirty="0"/>
              <a:t>Collected from realistic ICS testbed</a:t>
            </a:r>
          </a:p>
          <a:p>
            <a:pPr lvl="1"/>
            <a:r>
              <a:rPr lang="en-US" dirty="0"/>
              <a:t>Uses Siemens S7 communication protocol</a:t>
            </a:r>
          </a:p>
          <a:p>
            <a:pPr lvl="1"/>
            <a:r>
              <a:rPr lang="en-US" dirty="0"/>
              <a:t>Contains normal operation traffic and multiple attack </a:t>
            </a:r>
            <a:r>
              <a:rPr lang="en-US" dirty="0" err="1"/>
              <a:t>scenraios</a:t>
            </a:r>
            <a:r>
              <a:rPr lang="en-US" dirty="0"/>
              <a:t>.</a:t>
            </a:r>
          </a:p>
          <a:p>
            <a:pPr lvl="1"/>
            <a:r>
              <a:rPr lang="en-US" dirty="0"/>
              <a:t>Packets are stored as large .csv file</a:t>
            </a:r>
          </a:p>
          <a:p>
            <a:r>
              <a:rPr lang="en-US" dirty="0"/>
              <a:t>QUT_S7comm</a:t>
            </a:r>
          </a:p>
          <a:p>
            <a:pPr lvl="1"/>
            <a:r>
              <a:rPr lang="en-US" dirty="0"/>
              <a:t>Created by Queensland university of technology (QUT).</a:t>
            </a:r>
          </a:p>
          <a:p>
            <a:pPr lvl="1"/>
            <a:r>
              <a:rPr lang="en-US" dirty="0"/>
              <a:t>Uses S7comm protocol.</a:t>
            </a:r>
          </a:p>
          <a:p>
            <a:pPr lvl="1"/>
            <a:r>
              <a:rPr lang="en-US" dirty="0"/>
              <a:t>Generated in a controlled laboratory </a:t>
            </a:r>
            <a:r>
              <a:rPr lang="en-US" dirty="0" err="1"/>
              <a:t>envairoment</a:t>
            </a:r>
            <a:endParaRPr lang="en-US" dirty="0"/>
          </a:p>
          <a:p>
            <a:pPr lvl="1"/>
            <a:r>
              <a:rPr lang="en-US" dirty="0"/>
              <a:t>Packets are captured as raw network traffic (PCAPs)</a:t>
            </a:r>
          </a:p>
        </p:txBody>
      </p:sp>
      <p:sp>
        <p:nvSpPr>
          <p:cNvPr id="4" name="Slide Number Placeholder 3">
            <a:extLst>
              <a:ext uri="{FF2B5EF4-FFF2-40B4-BE49-F238E27FC236}">
                <a16:creationId xmlns:a16="http://schemas.microsoft.com/office/drawing/2014/main" id="{AAE5790A-6074-4B15-B4CF-3E6BC93CA72D}"/>
              </a:ext>
            </a:extLst>
          </p:cNvPr>
          <p:cNvSpPr>
            <a:spLocks noGrp="1"/>
          </p:cNvSpPr>
          <p:nvPr>
            <p:ph type="sldNum" sz="quarter" idx="12"/>
          </p:nvPr>
        </p:nvSpPr>
        <p:spPr/>
        <p:txBody>
          <a:bodyPr/>
          <a:lstStyle/>
          <a:p>
            <a:fld id="{148CC95F-0247-41B6-91CF-DC97C76A7088}" type="slidenum">
              <a:rPr lang="en-US" smtClean="0"/>
              <a:t>5</a:t>
            </a:fld>
            <a:endParaRPr lang="en-US"/>
          </a:p>
        </p:txBody>
      </p:sp>
    </p:spTree>
    <p:extLst>
      <p:ext uri="{BB962C8B-B14F-4D97-AF65-F5344CB8AC3E}">
        <p14:creationId xmlns:p14="http://schemas.microsoft.com/office/powerpoint/2010/main" val="3877137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ECCF-5964-D133-CDC3-C2C7D1C3E80F}"/>
              </a:ext>
            </a:extLst>
          </p:cNvPr>
          <p:cNvSpPr>
            <a:spLocks noGrp="1"/>
          </p:cNvSpPr>
          <p:nvPr>
            <p:ph type="title"/>
          </p:nvPr>
        </p:nvSpPr>
        <p:spPr/>
        <p:txBody>
          <a:bodyPr/>
          <a:lstStyle/>
          <a:p>
            <a:r>
              <a:rPr lang="en-US" dirty="0"/>
              <a:t>Statistical Analysis</a:t>
            </a:r>
          </a:p>
        </p:txBody>
      </p:sp>
      <p:sp>
        <p:nvSpPr>
          <p:cNvPr id="3" name="Content Placeholder 2">
            <a:extLst>
              <a:ext uri="{FF2B5EF4-FFF2-40B4-BE49-F238E27FC236}">
                <a16:creationId xmlns:a16="http://schemas.microsoft.com/office/drawing/2014/main" id="{A69AF9D7-B016-7642-7E24-B2C1119B6BC2}"/>
              </a:ext>
            </a:extLst>
          </p:cNvPr>
          <p:cNvSpPr>
            <a:spLocks noGrp="1"/>
          </p:cNvSpPr>
          <p:nvPr>
            <p:ph idx="1"/>
          </p:nvPr>
        </p:nvSpPr>
        <p:spPr/>
        <p:txBody>
          <a:bodyPr/>
          <a:lstStyle/>
          <a:p>
            <a:r>
              <a:rPr lang="en-US" dirty="0"/>
              <a:t>Approach</a:t>
            </a:r>
          </a:p>
          <a:p>
            <a:pPr marL="0" indent="0">
              <a:buNone/>
            </a:pPr>
            <a:endParaRPr lang="en-US" dirty="0"/>
          </a:p>
        </p:txBody>
      </p:sp>
      <p:sp>
        <p:nvSpPr>
          <p:cNvPr id="4" name="Slide Number Placeholder 3">
            <a:extLst>
              <a:ext uri="{FF2B5EF4-FFF2-40B4-BE49-F238E27FC236}">
                <a16:creationId xmlns:a16="http://schemas.microsoft.com/office/drawing/2014/main" id="{354D19EB-B4FF-ECB8-86F3-F302E3E76E56}"/>
              </a:ext>
            </a:extLst>
          </p:cNvPr>
          <p:cNvSpPr>
            <a:spLocks noGrp="1"/>
          </p:cNvSpPr>
          <p:nvPr>
            <p:ph type="sldNum" sz="quarter" idx="12"/>
          </p:nvPr>
        </p:nvSpPr>
        <p:spPr/>
        <p:txBody>
          <a:bodyPr/>
          <a:lstStyle/>
          <a:p>
            <a:fld id="{148CC95F-0247-41B6-91CF-DC97C76A7088}" type="slidenum">
              <a:rPr lang="en-US" smtClean="0"/>
              <a:t>6</a:t>
            </a:fld>
            <a:endParaRPr lang="en-US"/>
          </a:p>
        </p:txBody>
      </p:sp>
    </p:spTree>
    <p:extLst>
      <p:ext uri="{BB962C8B-B14F-4D97-AF65-F5344CB8AC3E}">
        <p14:creationId xmlns:p14="http://schemas.microsoft.com/office/powerpoint/2010/main" val="3456561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AB24-7F85-8CA7-F530-2588FF9B48C5}"/>
              </a:ext>
            </a:extLst>
          </p:cNvPr>
          <p:cNvSpPr>
            <a:spLocks noGrp="1"/>
          </p:cNvSpPr>
          <p:nvPr>
            <p:ph type="title"/>
          </p:nvPr>
        </p:nvSpPr>
        <p:spPr/>
        <p:txBody>
          <a:bodyPr/>
          <a:lstStyle/>
          <a:p>
            <a:r>
              <a:rPr lang="en-US" dirty="0"/>
              <a:t>Statistical Analysis cont’d</a:t>
            </a:r>
          </a:p>
        </p:txBody>
      </p:sp>
      <p:sp>
        <p:nvSpPr>
          <p:cNvPr id="3" name="Content Placeholder 2">
            <a:extLst>
              <a:ext uri="{FF2B5EF4-FFF2-40B4-BE49-F238E27FC236}">
                <a16:creationId xmlns:a16="http://schemas.microsoft.com/office/drawing/2014/main" id="{97E9810E-DD34-2FEA-B996-1FFF5202DF2B}"/>
              </a:ext>
            </a:extLst>
          </p:cNvPr>
          <p:cNvSpPr>
            <a:spLocks noGrp="1"/>
          </p:cNvSpPr>
          <p:nvPr>
            <p:ph idx="1"/>
          </p:nvPr>
        </p:nvSpPr>
        <p:spPr/>
        <p:txBody>
          <a:bodyPr/>
          <a:lstStyle/>
          <a:p>
            <a:r>
              <a:rPr lang="en-US" dirty="0"/>
              <a:t>results</a:t>
            </a:r>
          </a:p>
        </p:txBody>
      </p:sp>
      <p:sp>
        <p:nvSpPr>
          <p:cNvPr id="4" name="Slide Number Placeholder 3">
            <a:extLst>
              <a:ext uri="{FF2B5EF4-FFF2-40B4-BE49-F238E27FC236}">
                <a16:creationId xmlns:a16="http://schemas.microsoft.com/office/drawing/2014/main" id="{53A59D7B-5E23-7FAC-80C7-DB5DADC1C70A}"/>
              </a:ext>
            </a:extLst>
          </p:cNvPr>
          <p:cNvSpPr>
            <a:spLocks noGrp="1"/>
          </p:cNvSpPr>
          <p:nvPr>
            <p:ph type="sldNum" sz="quarter" idx="12"/>
          </p:nvPr>
        </p:nvSpPr>
        <p:spPr/>
        <p:txBody>
          <a:bodyPr/>
          <a:lstStyle/>
          <a:p>
            <a:fld id="{148CC95F-0247-41B6-91CF-DC97C76A7088}" type="slidenum">
              <a:rPr lang="en-US" smtClean="0"/>
              <a:t>7</a:t>
            </a:fld>
            <a:endParaRPr lang="en-US"/>
          </a:p>
        </p:txBody>
      </p:sp>
    </p:spTree>
    <p:extLst>
      <p:ext uri="{BB962C8B-B14F-4D97-AF65-F5344CB8AC3E}">
        <p14:creationId xmlns:p14="http://schemas.microsoft.com/office/powerpoint/2010/main" val="4224529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238E23-4523-EE34-4180-98D5E8997AEC}"/>
              </a:ext>
            </a:extLst>
          </p:cNvPr>
          <p:cNvSpPr>
            <a:spLocks noGrp="1"/>
          </p:cNvSpPr>
          <p:nvPr>
            <p:ph type="title"/>
          </p:nvPr>
        </p:nvSpPr>
        <p:spPr>
          <a:xfrm>
            <a:off x="521208" y="978408"/>
            <a:ext cx="5020056" cy="1664208"/>
          </a:xfrm>
        </p:spPr>
        <p:txBody>
          <a:bodyPr>
            <a:normAutofit/>
          </a:bodyPr>
          <a:lstStyle/>
          <a:p>
            <a:r>
              <a:rPr lang="en-US" sz="4100"/>
              <a:t>Stacked denoising autoencoder (SDA)</a:t>
            </a:r>
          </a:p>
        </p:txBody>
      </p:sp>
      <p:sp>
        <p:nvSpPr>
          <p:cNvPr id="24" name="Rectangle 2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6" name="Rectangle 2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Content Placeholder 9">
            <a:extLst>
              <a:ext uri="{FF2B5EF4-FFF2-40B4-BE49-F238E27FC236}">
                <a16:creationId xmlns:a16="http://schemas.microsoft.com/office/drawing/2014/main" id="{F1E8FA7D-6CF5-00F6-3098-C8B645AFA74B}"/>
              </a:ext>
            </a:extLst>
          </p:cNvPr>
          <p:cNvSpPr>
            <a:spLocks noGrp="1"/>
          </p:cNvSpPr>
          <p:nvPr>
            <p:ph idx="1"/>
          </p:nvPr>
        </p:nvSpPr>
        <p:spPr>
          <a:xfrm>
            <a:off x="6163056" y="978408"/>
            <a:ext cx="5504688" cy="5367528"/>
          </a:xfrm>
        </p:spPr>
        <p:txBody>
          <a:bodyPr>
            <a:normAutofit/>
          </a:bodyPr>
          <a:lstStyle/>
          <a:p>
            <a:r>
              <a:rPr lang="en-US" dirty="0"/>
              <a:t>What is autoencoder?</a:t>
            </a:r>
          </a:p>
          <a:p>
            <a:pPr lvl="1"/>
            <a:r>
              <a:rPr lang="en-US" dirty="0"/>
              <a:t>Neural network trained to reconstruct its input.</a:t>
            </a:r>
          </a:p>
          <a:p>
            <a:pPr lvl="1"/>
            <a:r>
              <a:rPr lang="en-US" dirty="0"/>
              <a:t>Consist of: </a:t>
            </a:r>
          </a:p>
          <a:p>
            <a:pPr lvl="2"/>
            <a:r>
              <a:rPr lang="en-US" b="1" i="1" dirty="0"/>
              <a:t>Encoder</a:t>
            </a:r>
            <a:r>
              <a:rPr lang="en-US" dirty="0"/>
              <a:t> compresses the input into latent features</a:t>
            </a:r>
          </a:p>
          <a:p>
            <a:pPr lvl="2"/>
            <a:r>
              <a:rPr lang="en-US" b="1" i="1" dirty="0"/>
              <a:t>Decoder </a:t>
            </a:r>
            <a:r>
              <a:rPr lang="en-US" dirty="0"/>
              <a:t>reconstructs the original input from those features.</a:t>
            </a:r>
          </a:p>
          <a:p>
            <a:pPr lvl="1"/>
            <a:r>
              <a:rPr lang="en-US" dirty="0"/>
              <a:t>Trained using reconstruction error</a:t>
            </a:r>
          </a:p>
          <a:p>
            <a:r>
              <a:rPr lang="en-US" dirty="0"/>
              <a:t> What is Denoising Autoencoder?</a:t>
            </a:r>
          </a:p>
          <a:p>
            <a:pPr lvl="1"/>
            <a:r>
              <a:rPr lang="en-US" dirty="0"/>
              <a:t>Input is intentionally corrupted with noise</a:t>
            </a:r>
          </a:p>
          <a:p>
            <a:pPr lvl="1"/>
            <a:r>
              <a:rPr lang="en-US" dirty="0"/>
              <a:t>Model learns to reconstruct the clean original input</a:t>
            </a:r>
          </a:p>
          <a:p>
            <a:pPr lvl="1"/>
            <a:r>
              <a:rPr lang="en-US" dirty="0"/>
              <a:t>Forces the network to learn robust and meaningful patters.</a:t>
            </a:r>
          </a:p>
          <a:p>
            <a:r>
              <a:rPr lang="en-US" dirty="0"/>
              <a:t>Stacked means multiple denoising autoencoders stacked layer by layer to create deeper hierarchical feature representations</a:t>
            </a:r>
          </a:p>
        </p:txBody>
      </p:sp>
      <p:sp>
        <p:nvSpPr>
          <p:cNvPr id="4" name="Slide Number Placeholder 3">
            <a:extLst>
              <a:ext uri="{FF2B5EF4-FFF2-40B4-BE49-F238E27FC236}">
                <a16:creationId xmlns:a16="http://schemas.microsoft.com/office/drawing/2014/main" id="{1178341E-4C61-622C-F340-A0D27BD3B103}"/>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smtClean="0"/>
              <a:pPr>
                <a:spcAft>
                  <a:spcPts val="600"/>
                </a:spcAft>
              </a:pPr>
              <a:t>8</a:t>
            </a:fld>
            <a:endParaRPr lang="en-US"/>
          </a:p>
        </p:txBody>
      </p:sp>
      <p:sp>
        <p:nvSpPr>
          <p:cNvPr id="7" name="TextBox 6">
            <a:extLst>
              <a:ext uri="{FF2B5EF4-FFF2-40B4-BE49-F238E27FC236}">
                <a16:creationId xmlns:a16="http://schemas.microsoft.com/office/drawing/2014/main" id="{10147781-3C73-7919-4468-0D7E320ED58E}"/>
              </a:ext>
            </a:extLst>
          </p:cNvPr>
          <p:cNvSpPr txBox="1"/>
          <p:nvPr/>
        </p:nvSpPr>
        <p:spPr>
          <a:xfrm>
            <a:off x="2427889" y="6544105"/>
            <a:ext cx="11674132" cy="276999"/>
          </a:xfrm>
          <a:prstGeom prst="rect">
            <a:avLst/>
          </a:prstGeom>
          <a:noFill/>
        </p:spPr>
        <p:txBody>
          <a:bodyPr wrap="square" rtlCol="0">
            <a:spAutoFit/>
          </a:bodyPr>
          <a:lstStyle/>
          <a:p>
            <a:pPr>
              <a:spcAft>
                <a:spcPts val="600"/>
              </a:spcAft>
            </a:pPr>
            <a:r>
              <a:rPr lang="en-US" sz="1200" dirty="0"/>
              <a:t>Image is taken from https://www.jmlr.org/papers/volume11/vincent10a/vincent10a.pdf?source=post_page</a:t>
            </a:r>
            <a:endParaRPr lang="en-US" sz="1200"/>
          </a:p>
        </p:txBody>
      </p:sp>
      <p:pic>
        <p:nvPicPr>
          <p:cNvPr id="16" name="Picture 15">
            <a:extLst>
              <a:ext uri="{FF2B5EF4-FFF2-40B4-BE49-F238E27FC236}">
                <a16:creationId xmlns:a16="http://schemas.microsoft.com/office/drawing/2014/main" id="{BBF545EA-842E-EC74-C030-E10F31BDD4E1}"/>
              </a:ext>
            </a:extLst>
          </p:cNvPr>
          <p:cNvPicPr>
            <a:picLocks noChangeAspect="1"/>
          </p:cNvPicPr>
          <p:nvPr/>
        </p:nvPicPr>
        <p:blipFill>
          <a:blip r:embed="rId3"/>
          <a:stretch>
            <a:fillRect/>
          </a:stretch>
        </p:blipFill>
        <p:spPr>
          <a:xfrm>
            <a:off x="277551" y="2642616"/>
            <a:ext cx="5816925" cy="3323957"/>
          </a:xfrm>
          <a:prstGeom prst="rect">
            <a:avLst/>
          </a:prstGeom>
        </p:spPr>
      </p:pic>
    </p:spTree>
    <p:extLst>
      <p:ext uri="{BB962C8B-B14F-4D97-AF65-F5344CB8AC3E}">
        <p14:creationId xmlns:p14="http://schemas.microsoft.com/office/powerpoint/2010/main" val="3117665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E45E-F0B7-26AB-1C94-E98B859B42C3}"/>
              </a:ext>
            </a:extLst>
          </p:cNvPr>
          <p:cNvSpPr>
            <a:spLocks noGrp="1"/>
          </p:cNvSpPr>
          <p:nvPr>
            <p:ph type="title"/>
          </p:nvPr>
        </p:nvSpPr>
        <p:spPr/>
        <p:txBody>
          <a:bodyPr/>
          <a:lstStyle/>
          <a:p>
            <a:r>
              <a:rPr lang="en-US" dirty="0"/>
              <a:t>How we used SDA?</a:t>
            </a:r>
          </a:p>
        </p:txBody>
      </p:sp>
      <p:sp>
        <p:nvSpPr>
          <p:cNvPr id="3" name="Content Placeholder 2">
            <a:extLst>
              <a:ext uri="{FF2B5EF4-FFF2-40B4-BE49-F238E27FC236}">
                <a16:creationId xmlns:a16="http://schemas.microsoft.com/office/drawing/2014/main" id="{6D7FD8E1-33B3-97DF-A5EE-AC6BC296E0DD}"/>
              </a:ext>
            </a:extLst>
          </p:cNvPr>
          <p:cNvSpPr>
            <a:spLocks noGrp="1"/>
          </p:cNvSpPr>
          <p:nvPr>
            <p:ph idx="1"/>
          </p:nvPr>
        </p:nvSpPr>
        <p:spPr>
          <a:xfrm>
            <a:off x="521208" y="2280745"/>
            <a:ext cx="11155680" cy="4065191"/>
          </a:xfrm>
        </p:spPr>
        <p:txBody>
          <a:bodyPr/>
          <a:lstStyle/>
          <a:p>
            <a:r>
              <a:rPr lang="en-US" dirty="0"/>
              <a:t>We used SDA for two main purposes:</a:t>
            </a:r>
          </a:p>
          <a:p>
            <a:pPr marL="800100" lvl="1" indent="-342900">
              <a:buFont typeface="+mj-lt"/>
              <a:buAutoNum type="arabicPeriod"/>
            </a:pPr>
            <a:r>
              <a:rPr lang="en-US" dirty="0"/>
              <a:t>Extract features from the input</a:t>
            </a:r>
          </a:p>
          <a:p>
            <a:pPr marL="800100" lvl="1" indent="-342900">
              <a:buFont typeface="+mj-lt"/>
              <a:buAutoNum type="arabicPeriod"/>
            </a:pPr>
            <a:r>
              <a:rPr lang="en-US" dirty="0"/>
              <a:t>Work as classifier.</a:t>
            </a:r>
          </a:p>
          <a:p>
            <a:r>
              <a:rPr lang="en-US" dirty="0"/>
              <a:t>Extracting Features:</a:t>
            </a:r>
          </a:p>
          <a:p>
            <a:pPr lvl="1"/>
            <a:r>
              <a:rPr lang="en-US" dirty="0"/>
              <a:t>We extract the features from the latent space directly after the encoder.</a:t>
            </a:r>
          </a:p>
          <a:p>
            <a:r>
              <a:rPr lang="en-US" dirty="0"/>
              <a:t>Classifier:</a:t>
            </a:r>
          </a:p>
          <a:p>
            <a:pPr lvl="1"/>
            <a:r>
              <a:rPr lang="en-US" dirty="0"/>
              <a:t>SDA is trained on normal traffic only</a:t>
            </a:r>
          </a:p>
          <a:p>
            <a:pPr lvl="1"/>
            <a:r>
              <a:rPr lang="en-US" dirty="0"/>
              <a:t>Learns the normal structure of packet bytes and the average reconstruction error (RE)</a:t>
            </a:r>
          </a:p>
          <a:p>
            <a:pPr lvl="1"/>
            <a:r>
              <a:rPr lang="en-US" dirty="0"/>
              <a:t>We assume that attack packets should have reconstruction error greater than that average.</a:t>
            </a:r>
          </a:p>
          <a:p>
            <a:pPr lvl="2"/>
            <a:r>
              <a:rPr lang="en-US" dirty="0"/>
              <a:t>If RE &gt; avg RE then this is attack packet</a:t>
            </a:r>
          </a:p>
        </p:txBody>
      </p:sp>
      <p:sp>
        <p:nvSpPr>
          <p:cNvPr id="4" name="Slide Number Placeholder 3">
            <a:extLst>
              <a:ext uri="{FF2B5EF4-FFF2-40B4-BE49-F238E27FC236}">
                <a16:creationId xmlns:a16="http://schemas.microsoft.com/office/drawing/2014/main" id="{135751C9-B638-41EE-7CA6-73FF21036320}"/>
              </a:ext>
            </a:extLst>
          </p:cNvPr>
          <p:cNvSpPr>
            <a:spLocks noGrp="1"/>
          </p:cNvSpPr>
          <p:nvPr>
            <p:ph type="sldNum" sz="quarter" idx="12"/>
          </p:nvPr>
        </p:nvSpPr>
        <p:spPr/>
        <p:txBody>
          <a:bodyPr/>
          <a:lstStyle/>
          <a:p>
            <a:fld id="{148CC95F-0247-41B6-91CF-DC97C76A7088}" type="slidenum">
              <a:rPr lang="en-US" smtClean="0"/>
              <a:t>9</a:t>
            </a:fld>
            <a:endParaRPr lang="en-US"/>
          </a:p>
        </p:txBody>
      </p:sp>
    </p:spTree>
    <p:extLst>
      <p:ext uri="{BB962C8B-B14F-4D97-AF65-F5344CB8AC3E}">
        <p14:creationId xmlns:p14="http://schemas.microsoft.com/office/powerpoint/2010/main" val="2031900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499E-4AEE-CEBA-E704-B3E29DB08521}"/>
              </a:ext>
            </a:extLst>
          </p:cNvPr>
          <p:cNvSpPr>
            <a:spLocks noGrp="1"/>
          </p:cNvSpPr>
          <p:nvPr>
            <p:ph type="title"/>
          </p:nvPr>
        </p:nvSpPr>
        <p:spPr/>
        <p:txBody>
          <a:bodyPr/>
          <a:lstStyle/>
          <a:p>
            <a:r>
              <a:rPr lang="en-US" dirty="0"/>
              <a:t>Reverse Engineering</a:t>
            </a:r>
          </a:p>
        </p:txBody>
      </p:sp>
      <p:sp>
        <p:nvSpPr>
          <p:cNvPr id="3" name="Content Placeholder 2">
            <a:extLst>
              <a:ext uri="{FF2B5EF4-FFF2-40B4-BE49-F238E27FC236}">
                <a16:creationId xmlns:a16="http://schemas.microsoft.com/office/drawing/2014/main" id="{025487CF-B8B7-84BF-C813-3255B22A5E4F}"/>
              </a:ext>
            </a:extLst>
          </p:cNvPr>
          <p:cNvSpPr>
            <a:spLocks noGrp="1"/>
          </p:cNvSpPr>
          <p:nvPr>
            <p:ph idx="1"/>
          </p:nvPr>
        </p:nvSpPr>
        <p:spPr>
          <a:xfrm>
            <a:off x="521208" y="1828800"/>
            <a:ext cx="11155680" cy="4815068"/>
          </a:xfrm>
        </p:spPr>
        <p:txBody>
          <a:bodyPr numCol="2"/>
          <a:lstStyle/>
          <a:p>
            <a:r>
              <a:rPr lang="en-US" dirty="0"/>
              <a:t>Goal:</a:t>
            </a:r>
          </a:p>
          <a:p>
            <a:pPr lvl="1"/>
            <a:r>
              <a:rPr lang="en-US" dirty="0"/>
              <a:t>Extract only those parts of network packets that most likely contain physical readings.</a:t>
            </a:r>
          </a:p>
          <a:p>
            <a:pPr lvl="1"/>
            <a:r>
              <a:rPr lang="en-US" dirty="0"/>
              <a:t>No protocol specification or deep parsing required</a:t>
            </a:r>
          </a:p>
          <a:p>
            <a:pPr lvl="1"/>
            <a:r>
              <a:rPr lang="en-US" dirty="0"/>
              <a:t>Works on raw application-layer packet bytes.</a:t>
            </a:r>
          </a:p>
          <a:p>
            <a:r>
              <a:rPr lang="en-US" dirty="0"/>
              <a:t>Step 1: Session Reconstruction</a:t>
            </a:r>
          </a:p>
          <a:p>
            <a:pPr lvl="1"/>
            <a:r>
              <a:rPr lang="en-US" dirty="0"/>
              <a:t>Input per packet:</a:t>
            </a:r>
          </a:p>
          <a:p>
            <a:pPr lvl="2"/>
            <a:r>
              <a:rPr lang="en-US" dirty="0"/>
              <a:t>Timestamp</a:t>
            </a:r>
          </a:p>
          <a:p>
            <a:pPr lvl="2"/>
            <a:r>
              <a:rPr lang="en-US" dirty="0"/>
              <a:t>IP addresses</a:t>
            </a:r>
          </a:p>
          <a:p>
            <a:pPr lvl="2"/>
            <a:r>
              <a:rPr lang="en-US" dirty="0"/>
              <a:t>Port numbers</a:t>
            </a:r>
          </a:p>
          <a:p>
            <a:pPr lvl="2"/>
            <a:r>
              <a:rPr lang="en-US" dirty="0"/>
              <a:t>Application-layer payload</a:t>
            </a:r>
          </a:p>
          <a:p>
            <a:pPr lvl="1"/>
            <a:r>
              <a:rPr lang="en-US" dirty="0"/>
              <a:t>Packets are grouped into communication sessions</a:t>
            </a:r>
          </a:p>
          <a:p>
            <a:pPr lvl="2"/>
            <a:r>
              <a:rPr lang="en-US" dirty="0"/>
              <a:t>Same communication pair.</a:t>
            </a:r>
          </a:p>
          <a:p>
            <a:pPr lvl="2"/>
            <a:r>
              <a:rPr lang="en-US" dirty="0"/>
              <a:t>Split using a carefully selected time window</a:t>
            </a:r>
          </a:p>
          <a:p>
            <a:pPr lvl="1"/>
            <a:r>
              <a:rPr lang="en-US" dirty="0"/>
              <a:t>Step 2: Sequence Alignment</a:t>
            </a:r>
          </a:p>
          <a:p>
            <a:pPr lvl="2"/>
            <a:r>
              <a:rPr lang="en-US" dirty="0"/>
              <a:t>Apply sequence alignment to all messages in a session.</a:t>
            </a:r>
          </a:p>
          <a:p>
            <a:pPr lvl="2"/>
            <a:r>
              <a:rPr lang="en-US" dirty="0"/>
              <a:t>Most similar messages are aligned first.</a:t>
            </a:r>
          </a:p>
          <a:p>
            <a:pPr lvl="2"/>
            <a:r>
              <a:rPr lang="en-US" dirty="0"/>
              <a:t>Remaining messages are added progressively.</a:t>
            </a:r>
          </a:p>
          <a:p>
            <a:pPr lvl="2"/>
            <a:r>
              <a:rPr lang="en-US" dirty="0"/>
              <a:t>Result: </a:t>
            </a:r>
          </a:p>
          <a:p>
            <a:pPr lvl="3"/>
            <a:r>
              <a:rPr lang="en-US" dirty="0"/>
              <a:t>Aligned byte sequence with comparable structure</a:t>
            </a:r>
          </a:p>
          <a:p>
            <a:pPr lvl="1"/>
            <a:r>
              <a:rPr lang="en-US" dirty="0"/>
              <a:t>Step 3: Field Extraction (Static vs Dynamic)</a:t>
            </a:r>
          </a:p>
          <a:p>
            <a:pPr lvl="2"/>
            <a:r>
              <a:rPr lang="en-US" dirty="0"/>
              <a:t>Each aligned byte is initially treated as a unit field</a:t>
            </a:r>
          </a:p>
          <a:p>
            <a:pPr lvl="2"/>
            <a:r>
              <a:rPr lang="en-US" dirty="0"/>
              <a:t>A filed is:</a:t>
            </a:r>
          </a:p>
          <a:p>
            <a:pPr lvl="3"/>
            <a:r>
              <a:rPr lang="en-US" dirty="0"/>
              <a:t>Static if it has same value across all messages.</a:t>
            </a:r>
          </a:p>
          <a:p>
            <a:pPr lvl="3"/>
            <a:r>
              <a:rPr lang="en-US" dirty="0"/>
              <a:t>Dynamic if the value changes</a:t>
            </a:r>
          </a:p>
          <a:p>
            <a:pPr lvl="2"/>
            <a:r>
              <a:rPr lang="en-US" dirty="0"/>
              <a:t>Consecutive static fields should be merged.</a:t>
            </a:r>
          </a:p>
          <a:p>
            <a:pPr lvl="2"/>
            <a:r>
              <a:rPr lang="en-US" dirty="0"/>
              <a:t>Client-side and server-side messages are handled separately. </a:t>
            </a:r>
          </a:p>
          <a:p>
            <a:pPr lvl="1"/>
            <a:endParaRPr lang="en-US" dirty="0"/>
          </a:p>
          <a:p>
            <a:pPr lvl="2"/>
            <a:endParaRPr lang="en-US" dirty="0"/>
          </a:p>
        </p:txBody>
      </p:sp>
      <p:sp>
        <p:nvSpPr>
          <p:cNvPr id="4" name="Slide Number Placeholder 3">
            <a:extLst>
              <a:ext uri="{FF2B5EF4-FFF2-40B4-BE49-F238E27FC236}">
                <a16:creationId xmlns:a16="http://schemas.microsoft.com/office/drawing/2014/main" id="{EFCCC86F-3C7C-E6D5-226F-C399CA603241}"/>
              </a:ext>
            </a:extLst>
          </p:cNvPr>
          <p:cNvSpPr>
            <a:spLocks noGrp="1"/>
          </p:cNvSpPr>
          <p:nvPr>
            <p:ph type="sldNum" sz="quarter" idx="12"/>
          </p:nvPr>
        </p:nvSpPr>
        <p:spPr/>
        <p:txBody>
          <a:bodyPr/>
          <a:lstStyle/>
          <a:p>
            <a:fld id="{148CC95F-0247-41B6-91CF-DC97C76A7088}" type="slidenum">
              <a:rPr lang="en-US" smtClean="0"/>
              <a:t>10</a:t>
            </a:fld>
            <a:endParaRPr lang="en-US"/>
          </a:p>
        </p:txBody>
      </p:sp>
    </p:spTree>
    <p:extLst>
      <p:ext uri="{BB962C8B-B14F-4D97-AF65-F5344CB8AC3E}">
        <p14:creationId xmlns:p14="http://schemas.microsoft.com/office/powerpoint/2010/main" val="3883654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AFFC9-C314-83F1-C03C-F41A89199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D8D9E-DC23-5BA9-5068-5E40B6916D92}"/>
              </a:ext>
            </a:extLst>
          </p:cNvPr>
          <p:cNvSpPr>
            <a:spLocks noGrp="1"/>
          </p:cNvSpPr>
          <p:nvPr>
            <p:ph type="title"/>
          </p:nvPr>
        </p:nvSpPr>
        <p:spPr/>
        <p:txBody>
          <a:bodyPr/>
          <a:lstStyle/>
          <a:p>
            <a:r>
              <a:rPr lang="en-US" dirty="0"/>
              <a:t>Reverse Engineering (cont’d)</a:t>
            </a:r>
          </a:p>
        </p:txBody>
      </p:sp>
      <p:sp>
        <p:nvSpPr>
          <p:cNvPr id="3" name="Content Placeholder 2">
            <a:extLst>
              <a:ext uri="{FF2B5EF4-FFF2-40B4-BE49-F238E27FC236}">
                <a16:creationId xmlns:a16="http://schemas.microsoft.com/office/drawing/2014/main" id="{73C7D36A-E2DF-B495-BD69-F88DE1DF977A}"/>
              </a:ext>
            </a:extLst>
          </p:cNvPr>
          <p:cNvSpPr>
            <a:spLocks noGrp="1"/>
          </p:cNvSpPr>
          <p:nvPr>
            <p:ph idx="1"/>
          </p:nvPr>
        </p:nvSpPr>
        <p:spPr>
          <a:xfrm>
            <a:off x="521208" y="1828800"/>
            <a:ext cx="11155680" cy="4815068"/>
          </a:xfrm>
        </p:spPr>
        <p:txBody>
          <a:bodyPr numCol="2"/>
          <a:lstStyle/>
          <a:p>
            <a:pPr lvl="1"/>
            <a:r>
              <a:rPr lang="en-US" dirty="0"/>
              <a:t>Step 4: Keyword candidate identification</a:t>
            </a:r>
          </a:p>
          <a:p>
            <a:pPr lvl="2"/>
            <a:r>
              <a:rPr lang="en-US" dirty="0"/>
              <a:t>All extracted unit fields are stored as keyword candidates</a:t>
            </a:r>
          </a:p>
          <a:p>
            <a:pPr lvl="2"/>
            <a:r>
              <a:rPr lang="en-US" dirty="0"/>
              <a:t>Separate candidate lists for:</a:t>
            </a:r>
          </a:p>
          <a:p>
            <a:pPr lvl="3"/>
            <a:r>
              <a:rPr lang="en-US" dirty="0"/>
              <a:t>Client messages</a:t>
            </a:r>
          </a:p>
          <a:p>
            <a:pPr lvl="3"/>
            <a:r>
              <a:rPr lang="en-US" dirty="0"/>
              <a:t>Server messages</a:t>
            </a:r>
          </a:p>
          <a:p>
            <a:pPr lvl="2"/>
            <a:r>
              <a:rPr lang="en-US" dirty="0"/>
              <a:t>Each candidate represent a potential protocol keyword or header field. </a:t>
            </a:r>
          </a:p>
          <a:p>
            <a:pPr lvl="1"/>
            <a:r>
              <a:rPr lang="en-US" dirty="0"/>
              <a:t>Step 5: Clustering &amp; constraint evaluation</a:t>
            </a:r>
          </a:p>
          <a:p>
            <a:pPr lvl="2"/>
            <a:r>
              <a:rPr lang="en-US" dirty="0"/>
              <a:t>For each keyword candidate:</a:t>
            </a:r>
          </a:p>
          <a:p>
            <a:pPr lvl="3"/>
            <a:r>
              <a:rPr lang="en-US" dirty="0"/>
              <a:t>Messages are clustered based on field values</a:t>
            </a:r>
          </a:p>
          <a:p>
            <a:pPr lvl="2"/>
            <a:r>
              <a:rPr lang="en-US" dirty="0"/>
              <a:t>Clustering quality is evaluated using statistical constraints. </a:t>
            </a:r>
          </a:p>
          <a:p>
            <a:pPr lvl="2"/>
            <a:r>
              <a:rPr lang="en-US" dirty="0"/>
              <a:t>Best keyword is selected:</a:t>
            </a:r>
          </a:p>
          <a:p>
            <a:pPr lvl="3"/>
            <a:r>
              <a:rPr lang="en-US" dirty="0"/>
              <a:t>The one after which physical readings are most likely encoded.</a:t>
            </a:r>
          </a:p>
          <a:p>
            <a:r>
              <a:rPr lang="en-US" dirty="0"/>
              <a:t>Final Outcome:</a:t>
            </a:r>
          </a:p>
          <a:p>
            <a:pPr lvl="1"/>
            <a:r>
              <a:rPr lang="en-US" dirty="0"/>
              <a:t>Identified keyword position</a:t>
            </a:r>
          </a:p>
          <a:p>
            <a:pPr lvl="1"/>
            <a:r>
              <a:rPr lang="en-US" dirty="0"/>
              <a:t>Extracted physical reading bytes</a:t>
            </a:r>
          </a:p>
          <a:p>
            <a:pPr lvl="1"/>
            <a:r>
              <a:rPr lang="en-US" dirty="0"/>
              <a:t>Output used as input for:</a:t>
            </a:r>
          </a:p>
          <a:p>
            <a:pPr lvl="2"/>
            <a:r>
              <a:rPr lang="en-US" dirty="0"/>
              <a:t>Autoencoder</a:t>
            </a:r>
          </a:p>
          <a:p>
            <a:pPr lvl="2"/>
            <a:r>
              <a:rPr lang="en-US" dirty="0"/>
              <a:t>Anomaly detection methods.</a:t>
            </a:r>
          </a:p>
          <a:p>
            <a:r>
              <a:rPr lang="en-US" dirty="0"/>
              <a:t>Appending of physical reading sequence</a:t>
            </a:r>
          </a:p>
          <a:p>
            <a:pPr lvl="1"/>
            <a:r>
              <a:rPr lang="en-US" dirty="0"/>
              <a:t>It was asked for the reverse engineering packets for a given value of p, to concatenate p physical reading bytes into one single packet.</a:t>
            </a:r>
          </a:p>
          <a:p>
            <a:pPr lvl="1"/>
            <a:r>
              <a:rPr lang="en-US" dirty="0"/>
              <a:t>The main goal of that was to make the input for the anomaly detection method long enough to look like a real input packet. </a:t>
            </a:r>
          </a:p>
          <a:p>
            <a:pPr lvl="2"/>
            <a:endParaRPr lang="en-US" dirty="0"/>
          </a:p>
        </p:txBody>
      </p:sp>
      <p:sp>
        <p:nvSpPr>
          <p:cNvPr id="4" name="Slide Number Placeholder 3">
            <a:extLst>
              <a:ext uri="{FF2B5EF4-FFF2-40B4-BE49-F238E27FC236}">
                <a16:creationId xmlns:a16="http://schemas.microsoft.com/office/drawing/2014/main" id="{4E5D116F-55BF-6A88-7A13-7181A8E697D5}"/>
              </a:ext>
            </a:extLst>
          </p:cNvPr>
          <p:cNvSpPr>
            <a:spLocks noGrp="1"/>
          </p:cNvSpPr>
          <p:nvPr>
            <p:ph type="sldNum" sz="quarter" idx="12"/>
          </p:nvPr>
        </p:nvSpPr>
        <p:spPr/>
        <p:txBody>
          <a:bodyPr/>
          <a:lstStyle/>
          <a:p>
            <a:fld id="{148CC95F-0247-41B6-91CF-DC97C76A7088}" type="slidenum">
              <a:rPr lang="en-US" smtClean="0"/>
              <a:t>11</a:t>
            </a:fld>
            <a:endParaRPr lang="en-US"/>
          </a:p>
        </p:txBody>
      </p:sp>
    </p:spTree>
    <p:extLst>
      <p:ext uri="{BB962C8B-B14F-4D97-AF65-F5344CB8AC3E}">
        <p14:creationId xmlns:p14="http://schemas.microsoft.com/office/powerpoint/2010/main" val="1549499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0109C-A167-191C-4A8B-93FA33E1089D}"/>
              </a:ext>
            </a:extLst>
          </p:cNvPr>
          <p:cNvSpPr>
            <a:spLocks noGrp="1"/>
          </p:cNvSpPr>
          <p:nvPr>
            <p:ph type="title"/>
          </p:nvPr>
        </p:nvSpPr>
        <p:spPr/>
        <p:txBody>
          <a:bodyPr/>
          <a:lstStyle/>
          <a:p>
            <a:r>
              <a:rPr lang="en-US" dirty="0"/>
              <a:t>ML approaches</a:t>
            </a:r>
          </a:p>
        </p:txBody>
      </p:sp>
      <p:sp>
        <p:nvSpPr>
          <p:cNvPr id="3" name="Content Placeholder 2">
            <a:extLst>
              <a:ext uri="{FF2B5EF4-FFF2-40B4-BE49-F238E27FC236}">
                <a16:creationId xmlns:a16="http://schemas.microsoft.com/office/drawing/2014/main" id="{0699FF4D-20D1-453A-41E5-FC4198B36090}"/>
              </a:ext>
            </a:extLst>
          </p:cNvPr>
          <p:cNvSpPr>
            <a:spLocks noGrp="1"/>
          </p:cNvSpPr>
          <p:nvPr>
            <p:ph idx="1"/>
          </p:nvPr>
        </p:nvSpPr>
        <p:spPr/>
        <p:txBody>
          <a:bodyPr/>
          <a:lstStyle/>
          <a:p>
            <a:r>
              <a:rPr lang="en-US" dirty="0"/>
              <a:t>As we previously mentioned, we were supposed to implement different machine learning approaches:</a:t>
            </a:r>
          </a:p>
          <a:p>
            <a:pPr lvl="1"/>
            <a:r>
              <a:rPr lang="en-US" dirty="0"/>
              <a:t>SVM </a:t>
            </a:r>
          </a:p>
          <a:p>
            <a:pPr lvl="1"/>
            <a:r>
              <a:rPr lang="en-US" dirty="0"/>
              <a:t>LOF</a:t>
            </a:r>
          </a:p>
          <a:p>
            <a:pPr lvl="1"/>
            <a:r>
              <a:rPr lang="en-US" dirty="0"/>
              <a:t>KNN.</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D4EC1F29-EA5B-792C-82C7-63DC3FAFC9EF}"/>
              </a:ext>
            </a:extLst>
          </p:cNvPr>
          <p:cNvSpPr>
            <a:spLocks noGrp="1"/>
          </p:cNvSpPr>
          <p:nvPr>
            <p:ph type="sldNum" sz="quarter" idx="12"/>
          </p:nvPr>
        </p:nvSpPr>
        <p:spPr/>
        <p:txBody>
          <a:bodyPr/>
          <a:lstStyle/>
          <a:p>
            <a:fld id="{148CC95F-0247-41B6-91CF-DC97C76A7088}" type="slidenum">
              <a:rPr lang="en-US" smtClean="0"/>
              <a:t>12</a:t>
            </a:fld>
            <a:endParaRPr lang="en-US"/>
          </a:p>
        </p:txBody>
      </p:sp>
    </p:spTree>
    <p:extLst>
      <p:ext uri="{BB962C8B-B14F-4D97-AF65-F5344CB8AC3E}">
        <p14:creationId xmlns:p14="http://schemas.microsoft.com/office/powerpoint/2010/main" val="1461445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B4629-3261-3627-7ABC-3052675D7944}"/>
              </a:ext>
            </a:extLst>
          </p:cNvPr>
          <p:cNvSpPr>
            <a:spLocks noGrp="1"/>
          </p:cNvSpPr>
          <p:nvPr>
            <p:ph type="title"/>
          </p:nvPr>
        </p:nvSpPr>
        <p:spPr/>
        <p:txBody>
          <a:bodyPr/>
          <a:lstStyle/>
          <a:p>
            <a:r>
              <a:rPr lang="en-US" dirty="0"/>
              <a:t>ML app x – brief </a:t>
            </a:r>
          </a:p>
        </p:txBody>
      </p:sp>
      <p:sp>
        <p:nvSpPr>
          <p:cNvPr id="3" name="Content Placeholder 2">
            <a:extLst>
              <a:ext uri="{FF2B5EF4-FFF2-40B4-BE49-F238E27FC236}">
                <a16:creationId xmlns:a16="http://schemas.microsoft.com/office/drawing/2014/main" id="{CD01AE8A-FFC8-7975-1AC8-8D02D2E4916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BF2A6CA-2259-C849-CD34-0E004AE770C9}"/>
              </a:ext>
            </a:extLst>
          </p:cNvPr>
          <p:cNvSpPr>
            <a:spLocks noGrp="1"/>
          </p:cNvSpPr>
          <p:nvPr>
            <p:ph type="sldNum" sz="quarter" idx="12"/>
          </p:nvPr>
        </p:nvSpPr>
        <p:spPr/>
        <p:txBody>
          <a:bodyPr/>
          <a:lstStyle/>
          <a:p>
            <a:fld id="{148CC95F-0247-41B6-91CF-DC97C76A7088}" type="slidenum">
              <a:rPr lang="en-US" smtClean="0"/>
              <a:t>13</a:t>
            </a:fld>
            <a:endParaRPr lang="en-US"/>
          </a:p>
        </p:txBody>
      </p:sp>
    </p:spTree>
    <p:extLst>
      <p:ext uri="{BB962C8B-B14F-4D97-AF65-F5344CB8AC3E}">
        <p14:creationId xmlns:p14="http://schemas.microsoft.com/office/powerpoint/2010/main" val="3074207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128EE-AA11-BB4D-32CE-D4F631095B10}"/>
              </a:ext>
            </a:extLst>
          </p:cNvPr>
          <p:cNvSpPr>
            <a:spLocks noGrp="1"/>
          </p:cNvSpPr>
          <p:nvPr>
            <p:ph type="title"/>
          </p:nvPr>
        </p:nvSpPr>
        <p:spPr/>
        <p:txBody>
          <a:bodyPr/>
          <a:lstStyle/>
          <a:p>
            <a:r>
              <a:rPr lang="en-US" dirty="0"/>
              <a:t>ML app x - results</a:t>
            </a:r>
          </a:p>
        </p:txBody>
      </p:sp>
      <p:sp>
        <p:nvSpPr>
          <p:cNvPr id="3" name="Content Placeholder 2">
            <a:extLst>
              <a:ext uri="{FF2B5EF4-FFF2-40B4-BE49-F238E27FC236}">
                <a16:creationId xmlns:a16="http://schemas.microsoft.com/office/drawing/2014/main" id="{59EDB96F-F62C-BB16-A49C-B76231823F2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90D00EC-4997-0CF8-B7AB-2E67AB3DAF07}"/>
              </a:ext>
            </a:extLst>
          </p:cNvPr>
          <p:cNvSpPr>
            <a:spLocks noGrp="1"/>
          </p:cNvSpPr>
          <p:nvPr>
            <p:ph type="sldNum" sz="quarter" idx="12"/>
          </p:nvPr>
        </p:nvSpPr>
        <p:spPr/>
        <p:txBody>
          <a:bodyPr/>
          <a:lstStyle/>
          <a:p>
            <a:fld id="{148CC95F-0247-41B6-91CF-DC97C76A7088}" type="slidenum">
              <a:rPr lang="en-US" smtClean="0"/>
              <a:t>14</a:t>
            </a:fld>
            <a:endParaRPr lang="en-US"/>
          </a:p>
        </p:txBody>
      </p:sp>
    </p:spTree>
    <p:extLst>
      <p:ext uri="{BB962C8B-B14F-4D97-AF65-F5344CB8AC3E}">
        <p14:creationId xmlns:p14="http://schemas.microsoft.com/office/powerpoint/2010/main" val="2615146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706A-39A3-8214-B26E-DA48B58C8128}"/>
              </a:ext>
            </a:extLst>
          </p:cNvPr>
          <p:cNvSpPr>
            <a:spLocks noGrp="1"/>
          </p:cNvSpPr>
          <p:nvPr>
            <p:ph type="title"/>
          </p:nvPr>
        </p:nvSpPr>
        <p:spPr/>
        <p:txBody>
          <a:bodyPr/>
          <a:lstStyle/>
          <a:p>
            <a:r>
              <a:rPr lang="en-US" dirty="0"/>
              <a:t>DL approaches</a:t>
            </a:r>
          </a:p>
        </p:txBody>
      </p:sp>
      <p:sp>
        <p:nvSpPr>
          <p:cNvPr id="3" name="Content Placeholder 2">
            <a:extLst>
              <a:ext uri="{FF2B5EF4-FFF2-40B4-BE49-F238E27FC236}">
                <a16:creationId xmlns:a16="http://schemas.microsoft.com/office/drawing/2014/main" id="{20587301-3267-1777-CB1E-214E8EE3D18C}"/>
              </a:ext>
            </a:extLst>
          </p:cNvPr>
          <p:cNvSpPr>
            <a:spLocks noGrp="1"/>
          </p:cNvSpPr>
          <p:nvPr>
            <p:ph idx="1"/>
          </p:nvPr>
        </p:nvSpPr>
        <p:spPr/>
        <p:txBody>
          <a:bodyPr/>
          <a:lstStyle/>
          <a:p>
            <a:r>
              <a:rPr lang="en-US" dirty="0"/>
              <a:t>As previously mentioned, we were suppose to implement 3 DL approaches: </a:t>
            </a:r>
          </a:p>
          <a:p>
            <a:pPr lvl="1"/>
            <a:r>
              <a:rPr lang="en-US" dirty="0"/>
              <a:t>GAN</a:t>
            </a:r>
          </a:p>
          <a:p>
            <a:pPr lvl="1"/>
            <a:r>
              <a:rPr lang="en-US" dirty="0"/>
              <a:t>CNN</a:t>
            </a:r>
          </a:p>
          <a:p>
            <a:pPr lvl="1"/>
            <a:r>
              <a:rPr lang="en-US" dirty="0" err="1"/>
              <a:t>ResNet</a:t>
            </a:r>
            <a:r>
              <a:rPr lang="en-US" dirty="0"/>
              <a:t> </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DE965028-77A9-9450-A3A8-F3D392DDBFB9}"/>
              </a:ext>
            </a:extLst>
          </p:cNvPr>
          <p:cNvSpPr>
            <a:spLocks noGrp="1"/>
          </p:cNvSpPr>
          <p:nvPr>
            <p:ph type="sldNum" sz="quarter" idx="12"/>
          </p:nvPr>
        </p:nvSpPr>
        <p:spPr/>
        <p:txBody>
          <a:bodyPr/>
          <a:lstStyle/>
          <a:p>
            <a:fld id="{148CC95F-0247-41B6-91CF-DC97C76A7088}" type="slidenum">
              <a:rPr lang="en-US" smtClean="0"/>
              <a:t>15</a:t>
            </a:fld>
            <a:endParaRPr lang="en-US"/>
          </a:p>
        </p:txBody>
      </p:sp>
    </p:spTree>
    <p:extLst>
      <p:ext uri="{BB962C8B-B14F-4D97-AF65-F5344CB8AC3E}">
        <p14:creationId xmlns:p14="http://schemas.microsoft.com/office/powerpoint/2010/main" val="2876390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92E78-DCEA-17C7-C83D-E16A57CF164D}"/>
              </a:ext>
            </a:extLst>
          </p:cNvPr>
          <p:cNvSpPr>
            <a:spLocks noGrp="1"/>
          </p:cNvSpPr>
          <p:nvPr>
            <p:ph type="title"/>
          </p:nvPr>
        </p:nvSpPr>
        <p:spPr/>
        <p:txBody>
          <a:bodyPr/>
          <a:lstStyle/>
          <a:p>
            <a:r>
              <a:rPr lang="en-US" dirty="0"/>
              <a:t>DL approach x - Approach</a:t>
            </a:r>
          </a:p>
        </p:txBody>
      </p:sp>
      <p:sp>
        <p:nvSpPr>
          <p:cNvPr id="3" name="Content Placeholder 2">
            <a:extLst>
              <a:ext uri="{FF2B5EF4-FFF2-40B4-BE49-F238E27FC236}">
                <a16:creationId xmlns:a16="http://schemas.microsoft.com/office/drawing/2014/main" id="{26E15E40-37CC-8E1F-D14D-414841E2A52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1E453BE-75BF-60DD-637D-FD66F94B1F70}"/>
              </a:ext>
            </a:extLst>
          </p:cNvPr>
          <p:cNvSpPr>
            <a:spLocks noGrp="1"/>
          </p:cNvSpPr>
          <p:nvPr>
            <p:ph type="sldNum" sz="quarter" idx="12"/>
          </p:nvPr>
        </p:nvSpPr>
        <p:spPr/>
        <p:txBody>
          <a:bodyPr/>
          <a:lstStyle/>
          <a:p>
            <a:fld id="{148CC95F-0247-41B6-91CF-DC97C76A7088}" type="slidenum">
              <a:rPr lang="en-US" smtClean="0"/>
              <a:t>16</a:t>
            </a:fld>
            <a:endParaRPr lang="en-US"/>
          </a:p>
        </p:txBody>
      </p:sp>
    </p:spTree>
    <p:extLst>
      <p:ext uri="{BB962C8B-B14F-4D97-AF65-F5344CB8AC3E}">
        <p14:creationId xmlns:p14="http://schemas.microsoft.com/office/powerpoint/2010/main" val="4084588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B3F4-B340-AB07-AC90-FD0DF713A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E1C06-C568-16D4-9EC3-FF4F43CB4001}"/>
              </a:ext>
            </a:extLst>
          </p:cNvPr>
          <p:cNvSpPr>
            <a:spLocks noGrp="1"/>
          </p:cNvSpPr>
          <p:nvPr>
            <p:ph type="title"/>
          </p:nvPr>
        </p:nvSpPr>
        <p:spPr/>
        <p:txBody>
          <a:bodyPr/>
          <a:lstStyle/>
          <a:p>
            <a:r>
              <a:rPr lang="en-US" dirty="0"/>
              <a:t>DL approach x - results</a:t>
            </a:r>
          </a:p>
        </p:txBody>
      </p:sp>
      <p:sp>
        <p:nvSpPr>
          <p:cNvPr id="3" name="Content Placeholder 2">
            <a:extLst>
              <a:ext uri="{FF2B5EF4-FFF2-40B4-BE49-F238E27FC236}">
                <a16:creationId xmlns:a16="http://schemas.microsoft.com/office/drawing/2014/main" id="{39C2E227-D3E9-C547-F227-ACF776D5566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6FFCD43-EDD5-189C-C49F-BD8C4EE14E26}"/>
              </a:ext>
            </a:extLst>
          </p:cNvPr>
          <p:cNvSpPr>
            <a:spLocks noGrp="1"/>
          </p:cNvSpPr>
          <p:nvPr>
            <p:ph type="sldNum" sz="quarter" idx="12"/>
          </p:nvPr>
        </p:nvSpPr>
        <p:spPr/>
        <p:txBody>
          <a:bodyPr/>
          <a:lstStyle/>
          <a:p>
            <a:fld id="{148CC95F-0247-41B6-91CF-DC97C76A7088}" type="slidenum">
              <a:rPr lang="en-US" smtClean="0"/>
              <a:t>17</a:t>
            </a:fld>
            <a:endParaRPr lang="en-US"/>
          </a:p>
        </p:txBody>
      </p:sp>
    </p:spTree>
    <p:extLst>
      <p:ext uri="{BB962C8B-B14F-4D97-AF65-F5344CB8AC3E}">
        <p14:creationId xmlns:p14="http://schemas.microsoft.com/office/powerpoint/2010/main" val="2607844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A4D4D6-C2BE-755C-E33B-9C3C5D875479}"/>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dirty="0">
                <a:solidFill>
                  <a:schemeClr val="tx1"/>
                </a:solidFill>
                <a:latin typeface="+mj-lt"/>
                <a:ea typeface="+mj-ea"/>
                <a:cs typeface="+mj-cs"/>
              </a:rPr>
              <a:t>GAN</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5DC4C4AF-3298-29FE-8C4C-5EC7B9D4339A}"/>
              </a:ext>
            </a:extLst>
          </p:cNvPr>
          <p:cNvSpPr txBox="1"/>
          <p:nvPr/>
        </p:nvSpPr>
        <p:spPr>
          <a:xfrm>
            <a:off x="2859203" y="6492875"/>
            <a:ext cx="12528645" cy="365125"/>
          </a:xfrm>
          <a:prstGeom prst="rect">
            <a:avLst/>
          </a:prstGeom>
        </p:spPr>
        <p:txBody>
          <a:bodyPr vert="horz" lIns="91440" tIns="45720" rIns="91440" bIns="45720" rtlCol="0">
            <a:normAutofit/>
          </a:bodyPr>
          <a:lstStyle/>
          <a:p>
            <a:pPr>
              <a:lnSpc>
                <a:spcPct val="110000"/>
              </a:lnSpc>
              <a:spcAft>
                <a:spcPts val="600"/>
              </a:spcAft>
            </a:pPr>
            <a:r>
              <a:rPr lang="en-US" sz="1200" dirty="0"/>
              <a:t>Image is taken from: https://en.wikipedia.org/wiki/Generative_adversarial_network</a:t>
            </a:r>
          </a:p>
        </p:txBody>
      </p:sp>
      <p:sp>
        <p:nvSpPr>
          <p:cNvPr id="4" name="Slide Number Placeholder 3">
            <a:extLst>
              <a:ext uri="{FF2B5EF4-FFF2-40B4-BE49-F238E27FC236}">
                <a16:creationId xmlns:a16="http://schemas.microsoft.com/office/drawing/2014/main" id="{DB27C023-6A93-44F6-8438-91C099557758}"/>
              </a:ext>
            </a:extLst>
          </p:cNvPr>
          <p:cNvSpPr>
            <a:spLocks noGrp="1"/>
          </p:cNvSpPr>
          <p:nvPr>
            <p:ph type="sldNum" sz="quarter" idx="12"/>
          </p:nvPr>
        </p:nvSpPr>
        <p:spPr>
          <a:xfrm>
            <a:off x="11457432" y="6419088"/>
            <a:ext cx="640080" cy="365125"/>
          </a:xfrm>
        </p:spPr>
        <p:txBody>
          <a:bodyPr vert="horz" lIns="91440" tIns="45720" rIns="91440" bIns="45720" rtlCol="0" anchor="ctr">
            <a:normAutofit/>
          </a:bodyPr>
          <a:lstStyle/>
          <a:p>
            <a:pPr>
              <a:spcAft>
                <a:spcPts val="600"/>
              </a:spcAft>
            </a:pPr>
            <a:fld id="{148CC95F-0247-41B6-91CF-DC97C76A7088}" type="slidenum">
              <a:rPr lang="en-US" smtClean="0"/>
              <a:pPr>
                <a:spcAft>
                  <a:spcPts val="600"/>
                </a:spcAft>
              </a:pPr>
              <a:t>18</a:t>
            </a:fld>
            <a:endParaRPr lang="en-US"/>
          </a:p>
        </p:txBody>
      </p:sp>
      <p:sp>
        <p:nvSpPr>
          <p:cNvPr id="8" name="TextBox 7">
            <a:extLst>
              <a:ext uri="{FF2B5EF4-FFF2-40B4-BE49-F238E27FC236}">
                <a16:creationId xmlns:a16="http://schemas.microsoft.com/office/drawing/2014/main" id="{37A0C76B-C631-2B10-4854-250C2B511838}"/>
              </a:ext>
            </a:extLst>
          </p:cNvPr>
          <p:cNvSpPr txBox="1"/>
          <p:nvPr/>
        </p:nvSpPr>
        <p:spPr>
          <a:xfrm>
            <a:off x="5152913" y="1635777"/>
            <a:ext cx="6633589" cy="4031873"/>
          </a:xfrm>
          <a:prstGeom prst="rect">
            <a:avLst/>
          </a:prstGeom>
          <a:noFill/>
        </p:spPr>
        <p:txBody>
          <a:bodyPr wrap="square" rtlCol="0">
            <a:spAutoFit/>
          </a:bodyPr>
          <a:lstStyle/>
          <a:p>
            <a:pPr marL="285750" indent="-285750">
              <a:buFont typeface="Arial" panose="020B0604020202020204" pitchFamily="34" charset="0"/>
              <a:buChar char="•"/>
            </a:pPr>
            <a:r>
              <a:rPr lang="en-US" dirty="0"/>
              <a:t>What is GAN?</a:t>
            </a:r>
          </a:p>
          <a:p>
            <a:pPr marL="742950" lvl="1" indent="-285750">
              <a:buFont typeface="Arial" panose="020B0604020202020204" pitchFamily="34" charset="0"/>
              <a:buChar char="•"/>
            </a:pPr>
            <a:r>
              <a:rPr lang="en-US" sz="1600" dirty="0"/>
              <a:t>Generative adversarial network is a deep learning model with two competing networks. </a:t>
            </a:r>
          </a:p>
          <a:p>
            <a:pPr marL="742950" lvl="1" indent="-285750">
              <a:buFont typeface="Arial" panose="020B0604020202020204" pitchFamily="34" charset="0"/>
              <a:buChar char="•"/>
            </a:pPr>
            <a:r>
              <a:rPr lang="en-US" sz="1600" dirty="0"/>
              <a:t>Learns the distribution of normal network packets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GAN is used for anomaly detection? </a:t>
            </a:r>
          </a:p>
          <a:p>
            <a:pPr marL="742950" lvl="1" indent="-285750">
              <a:buFont typeface="Arial" panose="020B0604020202020204" pitchFamily="34" charset="0"/>
              <a:buChar char="•"/>
            </a:pPr>
            <a:r>
              <a:rPr lang="en-US" sz="1600" dirty="0"/>
              <a:t>Trained mainly on benign traffic.</a:t>
            </a:r>
          </a:p>
          <a:p>
            <a:pPr marL="742950" lvl="1" indent="-285750">
              <a:buFont typeface="Arial" panose="020B0604020202020204" pitchFamily="34" charset="0"/>
              <a:buChar char="•"/>
            </a:pPr>
            <a:r>
              <a:rPr lang="en-US" sz="1600" dirty="0"/>
              <a:t>Learns what normal packets look like.</a:t>
            </a:r>
          </a:p>
          <a:p>
            <a:pPr marL="742950" lvl="1" indent="-285750">
              <a:buFont typeface="Arial" panose="020B0604020202020204" pitchFamily="34" charset="0"/>
              <a:buChar char="•"/>
            </a:pPr>
            <a:r>
              <a:rPr lang="en-US" sz="1600" dirty="0"/>
              <a:t>During testing: </a:t>
            </a:r>
          </a:p>
          <a:p>
            <a:pPr marL="1200150" lvl="2" indent="-285750">
              <a:buFont typeface="Arial" panose="020B0604020202020204" pitchFamily="34" charset="0"/>
              <a:buChar char="•"/>
            </a:pPr>
            <a:r>
              <a:rPr lang="en-US" sz="1400" dirty="0"/>
              <a:t>Abnormal packets differ from learned distribution</a:t>
            </a:r>
          </a:p>
          <a:p>
            <a:pPr marL="1200150" lvl="2" indent="-285750">
              <a:buFont typeface="Arial" panose="020B0604020202020204" pitchFamily="34" charset="0"/>
              <a:buChar char="•"/>
            </a:pPr>
            <a:r>
              <a:rPr lang="en-US" sz="1400" dirty="0"/>
              <a:t>Detected using either </a:t>
            </a:r>
          </a:p>
          <a:p>
            <a:pPr marL="1657350" lvl="3" indent="-285750">
              <a:buFont typeface="Arial" panose="020B0604020202020204" pitchFamily="34" charset="0"/>
              <a:buChar char="•"/>
            </a:pPr>
            <a:r>
              <a:rPr lang="en-US" sz="1400" dirty="0"/>
              <a:t>Discriminator</a:t>
            </a:r>
          </a:p>
          <a:p>
            <a:pPr marL="1657350" lvl="3" indent="-285750">
              <a:buFont typeface="Arial" panose="020B0604020202020204" pitchFamily="34" charset="0"/>
              <a:buChar char="•"/>
            </a:pPr>
            <a:r>
              <a:rPr lang="en-US" sz="1400" dirty="0"/>
              <a:t>Generator</a:t>
            </a:r>
          </a:p>
          <a:p>
            <a:pPr marL="285750" indent="-285750">
              <a:buFont typeface="Arial" panose="020B0604020202020204" pitchFamily="34" charset="0"/>
              <a:buChar char="•"/>
            </a:pPr>
            <a:r>
              <a:rPr lang="en-US" dirty="0"/>
              <a:t>Key Idea:</a:t>
            </a:r>
          </a:p>
          <a:p>
            <a:pPr marL="742950" lvl="1" indent="-285750">
              <a:buFont typeface="Arial" panose="020B0604020202020204" pitchFamily="34" charset="0"/>
              <a:buChar char="•"/>
            </a:pPr>
            <a:r>
              <a:rPr lang="en-US" sz="1600" dirty="0"/>
              <a:t>Normal data can be generated or recognized well, but anomalies cannot.</a:t>
            </a:r>
          </a:p>
        </p:txBody>
      </p:sp>
      <p:pic>
        <p:nvPicPr>
          <p:cNvPr id="17" name="Content Placeholder 16">
            <a:extLst>
              <a:ext uri="{FF2B5EF4-FFF2-40B4-BE49-F238E27FC236}">
                <a16:creationId xmlns:a16="http://schemas.microsoft.com/office/drawing/2014/main" id="{8F864793-6C0D-C8CA-ECB9-ADEFB9087061}"/>
              </a:ext>
            </a:extLst>
          </p:cNvPr>
          <p:cNvPicPr>
            <a:picLocks noGrp="1" noChangeAspect="1"/>
          </p:cNvPicPr>
          <p:nvPr>
            <p:ph idx="1"/>
          </p:nvPr>
        </p:nvPicPr>
        <p:blipFill>
          <a:blip r:embed="rId2"/>
          <a:stretch>
            <a:fillRect/>
          </a:stretch>
        </p:blipFill>
        <p:spPr>
          <a:xfrm>
            <a:off x="1115924" y="2112454"/>
            <a:ext cx="3253729" cy="3767138"/>
          </a:xfrm>
          <a:prstGeom prst="rect">
            <a:avLst/>
          </a:prstGeom>
        </p:spPr>
      </p:pic>
    </p:spTree>
    <p:extLst>
      <p:ext uri="{BB962C8B-B14F-4D97-AF65-F5344CB8AC3E}">
        <p14:creationId xmlns:p14="http://schemas.microsoft.com/office/powerpoint/2010/main" val="152783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 calcmode="lin" valueType="num">
                                      <p:cBhvr additive="base">
                                        <p:cTn id="1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 calcmode="lin" valueType="num">
                                      <p:cBhvr additive="base">
                                        <p:cTn id="2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anim calcmode="lin" valueType="num">
                                      <p:cBhvr additive="base">
                                        <p:cTn id="4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8">
                                            <p:txEl>
                                              <p:pRg st="9" end="9"/>
                                            </p:txEl>
                                          </p:spTgt>
                                        </p:tgtEl>
                                        <p:attrNameLst>
                                          <p:attrName>style.visibility</p:attrName>
                                        </p:attrNameLst>
                                      </p:cBhvr>
                                      <p:to>
                                        <p:strVal val="visible"/>
                                      </p:to>
                                    </p:set>
                                    <p:anim calcmode="lin" valueType="num">
                                      <p:cBhvr additive="base">
                                        <p:cTn id="47"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8">
                                            <p:txEl>
                                              <p:pRg st="10" end="10"/>
                                            </p:txEl>
                                          </p:spTgt>
                                        </p:tgtEl>
                                        <p:attrNameLst>
                                          <p:attrName>style.visibility</p:attrName>
                                        </p:attrNameLst>
                                      </p:cBhvr>
                                      <p:to>
                                        <p:strVal val="visible"/>
                                      </p:to>
                                    </p:set>
                                    <p:anim calcmode="lin" valueType="num">
                                      <p:cBhvr additive="base">
                                        <p:cTn id="51"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 calcmode="lin" valueType="num">
                                      <p:cBhvr additive="base">
                                        <p:cTn id="55"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
                                            <p:txEl>
                                              <p:pRg st="12" end="12"/>
                                            </p:txEl>
                                          </p:spTgt>
                                        </p:tgtEl>
                                        <p:attrNameLst>
                                          <p:attrName>style.visibility</p:attrName>
                                        </p:attrNameLst>
                                      </p:cBhvr>
                                      <p:to>
                                        <p:strVal val="visible"/>
                                      </p:to>
                                    </p:set>
                                    <p:anim calcmode="lin" valueType="num">
                                      <p:cBhvr additive="base">
                                        <p:cTn id="61"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8">
                                            <p:txEl>
                                              <p:pRg st="13" end="13"/>
                                            </p:txEl>
                                          </p:spTgt>
                                        </p:tgtEl>
                                        <p:attrNameLst>
                                          <p:attrName>style.visibility</p:attrName>
                                        </p:attrNameLst>
                                      </p:cBhvr>
                                      <p:to>
                                        <p:strVal val="visible"/>
                                      </p:to>
                                    </p:set>
                                    <p:anim calcmode="lin" valueType="num">
                                      <p:cBhvr additive="base">
                                        <p:cTn id="65"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8">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additive="base">
                                        <p:cTn id="71" dur="500" fill="hold"/>
                                        <p:tgtEl>
                                          <p:spTgt spid="7"/>
                                        </p:tgtEl>
                                        <p:attrNameLst>
                                          <p:attrName>ppt_x</p:attrName>
                                        </p:attrNameLst>
                                      </p:cBhvr>
                                      <p:tavLst>
                                        <p:tav tm="0">
                                          <p:val>
                                            <p:strVal val="#ppt_x"/>
                                          </p:val>
                                        </p:tav>
                                        <p:tav tm="100000">
                                          <p:val>
                                            <p:strVal val="#ppt_x"/>
                                          </p:val>
                                        </p:tav>
                                      </p:tavLst>
                                    </p:anim>
                                    <p:anim calcmode="lin" valueType="num">
                                      <p:cBhvr additive="base">
                                        <p:cTn id="7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C8CFB-1AD7-6CE2-C1B3-312129FD7A1F}"/>
              </a:ext>
            </a:extLst>
          </p:cNvPr>
          <p:cNvSpPr>
            <a:spLocks noGrp="1"/>
          </p:cNvSpPr>
          <p:nvPr>
            <p:ph type="title"/>
          </p:nvPr>
        </p:nvSpPr>
        <p:spPr/>
        <p:txBody>
          <a:bodyPr/>
          <a:lstStyle/>
          <a:p>
            <a:r>
              <a:rPr lang="en-US" dirty="0"/>
              <a:t>Discriminator &amp; Generator</a:t>
            </a:r>
          </a:p>
        </p:txBody>
      </p:sp>
      <p:sp>
        <p:nvSpPr>
          <p:cNvPr id="3" name="Content Placeholder 2">
            <a:extLst>
              <a:ext uri="{FF2B5EF4-FFF2-40B4-BE49-F238E27FC236}">
                <a16:creationId xmlns:a16="http://schemas.microsoft.com/office/drawing/2014/main" id="{692C275A-8EE0-541A-10C2-FF28F41E5989}"/>
              </a:ext>
            </a:extLst>
          </p:cNvPr>
          <p:cNvSpPr>
            <a:spLocks noGrp="1"/>
          </p:cNvSpPr>
          <p:nvPr>
            <p:ph idx="1"/>
          </p:nvPr>
        </p:nvSpPr>
        <p:spPr>
          <a:xfrm>
            <a:off x="521208" y="2011679"/>
            <a:ext cx="11155680" cy="4615031"/>
          </a:xfrm>
        </p:spPr>
        <p:txBody>
          <a:bodyPr numCol="2">
            <a:normAutofit/>
          </a:bodyPr>
          <a:lstStyle/>
          <a:p>
            <a:r>
              <a:rPr lang="en-US" dirty="0"/>
              <a:t>What is the discriminator?</a:t>
            </a:r>
          </a:p>
          <a:p>
            <a:pPr lvl="1"/>
            <a:r>
              <a:rPr lang="en-US" dirty="0"/>
              <a:t>A CNN-based binary classifier</a:t>
            </a:r>
          </a:p>
          <a:p>
            <a:pPr lvl="1"/>
            <a:r>
              <a:rPr lang="en-US" dirty="0"/>
              <a:t>Distinguishes between:</a:t>
            </a:r>
          </a:p>
          <a:p>
            <a:pPr lvl="2"/>
            <a:r>
              <a:rPr lang="en-US" dirty="0"/>
              <a:t>Real packets from the dataset</a:t>
            </a:r>
          </a:p>
          <a:p>
            <a:pPr lvl="2"/>
            <a:r>
              <a:rPr lang="en-US" dirty="0"/>
              <a:t>Fake packets generated by the generator</a:t>
            </a:r>
          </a:p>
          <a:p>
            <a:r>
              <a:rPr lang="en-US" dirty="0"/>
              <a:t>Architecture:</a:t>
            </a:r>
          </a:p>
          <a:p>
            <a:pPr lvl="1"/>
            <a:r>
              <a:rPr lang="en-US" dirty="0"/>
              <a:t>9 convolutional layers</a:t>
            </a:r>
          </a:p>
          <a:p>
            <a:pPr lvl="2"/>
            <a:r>
              <a:rPr lang="en-US" dirty="0" err="1"/>
              <a:t>ReLU</a:t>
            </a:r>
            <a:r>
              <a:rPr lang="en-US" dirty="0"/>
              <a:t> activation</a:t>
            </a:r>
          </a:p>
          <a:p>
            <a:pPr lvl="2"/>
            <a:r>
              <a:rPr lang="en-US" dirty="0"/>
              <a:t>Dropout after all conv layers except first and last</a:t>
            </a:r>
          </a:p>
          <a:p>
            <a:pPr lvl="1"/>
            <a:r>
              <a:rPr lang="en-US" dirty="0"/>
              <a:t>Followed by:</a:t>
            </a:r>
          </a:p>
          <a:p>
            <a:pPr lvl="2"/>
            <a:r>
              <a:rPr lang="en-US" dirty="0"/>
              <a:t>4 fully connected layers</a:t>
            </a:r>
          </a:p>
          <a:p>
            <a:pPr lvl="2"/>
            <a:r>
              <a:rPr lang="en-US" dirty="0" err="1"/>
              <a:t>ReLU</a:t>
            </a:r>
            <a:r>
              <a:rPr lang="en-US" dirty="0"/>
              <a:t> activation </a:t>
            </a:r>
          </a:p>
          <a:p>
            <a:pPr lvl="1"/>
            <a:r>
              <a:rPr lang="en-US" dirty="0"/>
              <a:t>Outputs:</a:t>
            </a:r>
          </a:p>
          <a:p>
            <a:pPr lvl="2"/>
            <a:r>
              <a:rPr lang="en-US" dirty="0"/>
              <a:t>Single value [0,1) indicates how real the input packet</a:t>
            </a:r>
          </a:p>
          <a:p>
            <a:r>
              <a:rPr lang="en-US" dirty="0"/>
              <a:t>What is Generator?</a:t>
            </a:r>
          </a:p>
          <a:p>
            <a:pPr lvl="1"/>
            <a:r>
              <a:rPr lang="en-US" dirty="0"/>
              <a:t>Generates fake network packets</a:t>
            </a:r>
          </a:p>
          <a:p>
            <a:pPr lvl="1"/>
            <a:r>
              <a:rPr lang="en-US" dirty="0"/>
              <a:t>Input:</a:t>
            </a:r>
          </a:p>
          <a:p>
            <a:pPr lvl="2"/>
            <a:r>
              <a:rPr lang="en-US" dirty="0"/>
              <a:t>Random noise vector</a:t>
            </a:r>
          </a:p>
          <a:p>
            <a:pPr lvl="1"/>
            <a:r>
              <a:rPr lang="en-US" dirty="0"/>
              <a:t>Output:</a:t>
            </a:r>
          </a:p>
          <a:p>
            <a:pPr lvl="2"/>
            <a:r>
              <a:rPr lang="en-US" dirty="0"/>
              <a:t>Synthetic packet bytes that resemble real traffic</a:t>
            </a:r>
          </a:p>
          <a:p>
            <a:r>
              <a:rPr lang="en-US" dirty="0"/>
              <a:t>Architecture:</a:t>
            </a:r>
          </a:p>
          <a:p>
            <a:pPr lvl="1"/>
            <a:r>
              <a:rPr lang="en-US" dirty="0"/>
              <a:t>4 fully connected layers</a:t>
            </a:r>
          </a:p>
          <a:p>
            <a:pPr lvl="2"/>
            <a:r>
              <a:rPr lang="en-US" dirty="0" err="1"/>
              <a:t>LeakyReLU</a:t>
            </a:r>
            <a:r>
              <a:rPr lang="en-US" dirty="0"/>
              <a:t> activation</a:t>
            </a:r>
          </a:p>
          <a:p>
            <a:pPr lvl="1"/>
            <a:r>
              <a:rPr lang="en-US" dirty="0"/>
              <a:t>Followed by:</a:t>
            </a:r>
          </a:p>
          <a:p>
            <a:pPr lvl="2"/>
            <a:r>
              <a:rPr lang="en-US" dirty="0"/>
              <a:t>8 convolutional layers</a:t>
            </a:r>
          </a:p>
          <a:p>
            <a:pPr lvl="2"/>
            <a:r>
              <a:rPr lang="en-US" dirty="0" err="1"/>
              <a:t>LeakyReLU</a:t>
            </a:r>
            <a:r>
              <a:rPr lang="en-US" dirty="0"/>
              <a:t> activation</a:t>
            </a:r>
          </a:p>
          <a:p>
            <a:pPr lvl="1"/>
            <a:r>
              <a:rPr lang="en-US" dirty="0"/>
              <a:t>First 4 conv layers</a:t>
            </a:r>
          </a:p>
          <a:p>
            <a:pPr lvl="2"/>
            <a:r>
              <a:rPr lang="en-US" dirty="0"/>
              <a:t>Preceded by </a:t>
            </a:r>
            <a:r>
              <a:rPr lang="en-US" dirty="0" err="1"/>
              <a:t>upsampling</a:t>
            </a:r>
            <a:endParaRPr lang="en-US" dirty="0"/>
          </a:p>
        </p:txBody>
      </p:sp>
      <p:sp>
        <p:nvSpPr>
          <p:cNvPr id="4" name="Slide Number Placeholder 3">
            <a:extLst>
              <a:ext uri="{FF2B5EF4-FFF2-40B4-BE49-F238E27FC236}">
                <a16:creationId xmlns:a16="http://schemas.microsoft.com/office/drawing/2014/main" id="{966FDCF1-E32C-87B9-8896-0F92F06E8E86}"/>
              </a:ext>
            </a:extLst>
          </p:cNvPr>
          <p:cNvSpPr>
            <a:spLocks noGrp="1"/>
          </p:cNvSpPr>
          <p:nvPr>
            <p:ph type="sldNum" sz="quarter" idx="12"/>
          </p:nvPr>
        </p:nvSpPr>
        <p:spPr/>
        <p:txBody>
          <a:bodyPr/>
          <a:lstStyle/>
          <a:p>
            <a:fld id="{148CC95F-0247-41B6-91CF-DC97C76A7088}" type="slidenum">
              <a:rPr lang="en-US" smtClean="0"/>
              <a:t>19</a:t>
            </a:fld>
            <a:endParaRPr lang="en-US"/>
          </a:p>
        </p:txBody>
      </p:sp>
    </p:spTree>
    <p:extLst>
      <p:ext uri="{BB962C8B-B14F-4D97-AF65-F5344CB8AC3E}">
        <p14:creationId xmlns:p14="http://schemas.microsoft.com/office/powerpoint/2010/main" val="159398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 calcmode="lin" valueType="num">
                                      <p:cBhvr additive="base">
                                        <p:cTn id="5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 calcmode="lin" valueType="num">
                                      <p:cBhvr additive="base">
                                        <p:cTn id="5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anim calcmode="lin" valueType="num">
                                      <p:cBhvr additive="base">
                                        <p:cTn id="6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 calcmode="lin" valueType="num">
                                      <p:cBhvr additive="base">
                                        <p:cTn id="6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anim calcmode="lin" valueType="num">
                                      <p:cBhvr additive="base">
                                        <p:cTn id="7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anim calcmode="lin" valueType="num">
                                      <p:cBhvr additive="base">
                                        <p:cTn id="7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anim calcmode="lin" valueType="num">
                                      <p:cBhvr additive="base">
                                        <p:cTn id="7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anim calcmode="lin" valueType="num">
                                      <p:cBhvr additive="base">
                                        <p:cTn id="8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anim calcmode="lin" valueType="num">
                                      <p:cBhvr additive="base">
                                        <p:cTn id="8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3">
                                            <p:txEl>
                                              <p:pRg st="20" end="20"/>
                                            </p:txEl>
                                          </p:spTgt>
                                        </p:tgtEl>
                                        <p:attrNameLst>
                                          <p:attrName>style.visibility</p:attrName>
                                        </p:attrNameLst>
                                      </p:cBhvr>
                                      <p:to>
                                        <p:strVal val="visible"/>
                                      </p:to>
                                    </p:set>
                                    <p:anim calcmode="lin" valueType="num">
                                      <p:cBhvr additive="base">
                                        <p:cTn id="9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3">
                                            <p:txEl>
                                              <p:pRg st="21" end="21"/>
                                            </p:txEl>
                                          </p:spTgt>
                                        </p:tgtEl>
                                        <p:attrNameLst>
                                          <p:attrName>style.visibility</p:attrName>
                                        </p:attrNameLst>
                                      </p:cBhvr>
                                      <p:to>
                                        <p:strVal val="visible"/>
                                      </p:to>
                                    </p:set>
                                    <p:anim calcmode="lin" valueType="num">
                                      <p:cBhvr additive="base">
                                        <p:cTn id="97"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3">
                                            <p:txEl>
                                              <p:pRg st="22" end="22"/>
                                            </p:txEl>
                                          </p:spTgt>
                                        </p:tgtEl>
                                        <p:attrNameLst>
                                          <p:attrName>style.visibility</p:attrName>
                                        </p:attrNameLst>
                                      </p:cBhvr>
                                      <p:to>
                                        <p:strVal val="visible"/>
                                      </p:to>
                                    </p:set>
                                    <p:anim calcmode="lin" valueType="num">
                                      <p:cBhvr additive="base">
                                        <p:cTn id="101"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3">
                                            <p:txEl>
                                              <p:pRg st="23" end="23"/>
                                            </p:txEl>
                                          </p:spTgt>
                                        </p:tgtEl>
                                        <p:attrNameLst>
                                          <p:attrName>style.visibility</p:attrName>
                                        </p:attrNameLst>
                                      </p:cBhvr>
                                      <p:to>
                                        <p:strVal val="visible"/>
                                      </p:to>
                                    </p:set>
                                    <p:anim calcmode="lin" valueType="num">
                                      <p:cBhvr additive="base">
                                        <p:cTn id="105"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3">
                                            <p:txEl>
                                              <p:pRg st="24" end="24"/>
                                            </p:txEl>
                                          </p:spTgt>
                                        </p:tgtEl>
                                        <p:attrNameLst>
                                          <p:attrName>style.visibility</p:attrName>
                                        </p:attrNameLst>
                                      </p:cBhvr>
                                      <p:to>
                                        <p:strVal val="visible"/>
                                      </p:to>
                                    </p:set>
                                    <p:anim calcmode="lin" valueType="num">
                                      <p:cBhvr additive="base">
                                        <p:cTn id="109"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3">
                                            <p:txEl>
                                              <p:pRg st="25" end="25"/>
                                            </p:txEl>
                                          </p:spTgt>
                                        </p:tgtEl>
                                        <p:attrNameLst>
                                          <p:attrName>style.visibility</p:attrName>
                                        </p:attrNameLst>
                                      </p:cBhvr>
                                      <p:to>
                                        <p:strVal val="visible"/>
                                      </p:to>
                                    </p:set>
                                    <p:anim calcmode="lin" valueType="num">
                                      <p:cBhvr additive="base">
                                        <p:cTn id="113"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3">
                                            <p:txEl>
                                              <p:pRg st="25" end="25"/>
                                            </p:txEl>
                                          </p:spTgt>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3">
                                            <p:txEl>
                                              <p:pRg st="26" end="26"/>
                                            </p:txEl>
                                          </p:spTgt>
                                        </p:tgtEl>
                                        <p:attrNameLst>
                                          <p:attrName>style.visibility</p:attrName>
                                        </p:attrNameLst>
                                      </p:cBhvr>
                                      <p:to>
                                        <p:strVal val="visible"/>
                                      </p:to>
                                    </p:set>
                                    <p:anim calcmode="lin" valueType="num">
                                      <p:cBhvr additive="base">
                                        <p:cTn id="117" dur="500" fill="hold"/>
                                        <p:tgtEl>
                                          <p:spTgt spid="3">
                                            <p:txEl>
                                              <p:pRg st="26" end="26"/>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3">
                                            <p:txEl>
                                              <p:pRg st="26" end="26"/>
                                            </p:txEl>
                                          </p:spTgt>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3">
                                            <p:txEl>
                                              <p:pRg st="27" end="27"/>
                                            </p:txEl>
                                          </p:spTgt>
                                        </p:tgtEl>
                                        <p:attrNameLst>
                                          <p:attrName>style.visibility</p:attrName>
                                        </p:attrNameLst>
                                      </p:cBhvr>
                                      <p:to>
                                        <p:strVal val="visible"/>
                                      </p:to>
                                    </p:set>
                                    <p:anim calcmode="lin" valueType="num">
                                      <p:cBhvr additive="base">
                                        <p:cTn id="121" dur="500" fill="hold"/>
                                        <p:tgtEl>
                                          <p:spTgt spid="3">
                                            <p:txEl>
                                              <p:pRg st="27" end="27"/>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
                                            <p:txEl>
                                              <p:pRg st="27" end="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DD54B6-34D4-77DE-29A2-EC24BED03AD2}"/>
              </a:ext>
            </a:extLst>
          </p:cNvPr>
          <p:cNvSpPr>
            <a:spLocks noGrp="1"/>
          </p:cNvSpPr>
          <p:nvPr>
            <p:ph type="title"/>
          </p:nvPr>
        </p:nvSpPr>
        <p:spPr>
          <a:xfrm>
            <a:off x="521207" y="978408"/>
            <a:ext cx="9485237" cy="1325880"/>
          </a:xfrm>
        </p:spPr>
        <p:txBody>
          <a:bodyPr>
            <a:normAutofit/>
          </a:bodyPr>
          <a:lstStyle/>
          <a:p>
            <a:pPr>
              <a:lnSpc>
                <a:spcPct val="90000"/>
              </a:lnSpc>
            </a:pPr>
            <a:r>
              <a:rPr lang="en-US" dirty="0"/>
              <a:t>N-gram–Based Anomaly Detection</a:t>
            </a:r>
          </a:p>
        </p:txBody>
      </p:sp>
      <p:sp>
        <p:nvSpPr>
          <p:cNvPr id="15" name="Rectangle 14">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1639941C-63DE-6533-3832-1ED7DBB64D6C}"/>
                  </a:ext>
                </a:extLst>
              </p:cNvPr>
              <p:cNvSpPr>
                <a:spLocks noGrp="1"/>
              </p:cNvSpPr>
              <p:nvPr>
                <p:ph idx="1"/>
              </p:nvPr>
            </p:nvSpPr>
            <p:spPr>
              <a:xfrm>
                <a:off x="712733" y="1886197"/>
                <a:ext cx="10958060" cy="4497601"/>
              </a:xfrm>
            </p:spPr>
            <p:txBody>
              <a:bodyPr numCol="2">
                <a:normAutofit/>
              </a:bodyPr>
              <a:lstStyle/>
              <a:p>
                <a:r>
                  <a:rPr lang="en-US" dirty="0"/>
                  <a:t>What is n-gram?</a:t>
                </a:r>
              </a:p>
              <a:p>
                <a:pPr lvl="1"/>
                <a:r>
                  <a:rPr lang="en-US" dirty="0"/>
                  <a:t>It is a contiguous sequence of n bytes</a:t>
                </a:r>
              </a:p>
              <a:p>
                <a:pPr lvl="1"/>
                <a:r>
                  <a:rPr lang="en-US" dirty="0"/>
                  <a:t>Extracted by sliding a window over packet bytes</a:t>
                </a:r>
              </a:p>
              <a:p>
                <a:r>
                  <a:rPr lang="en-US" dirty="0"/>
                  <a:t>How n-gram model network packet?</a:t>
                </a:r>
              </a:p>
              <a:p>
                <a:pPr lvl="1"/>
                <a:r>
                  <a:rPr lang="en-US" dirty="0"/>
                  <a:t>Each packet is represented as a set of bytes</a:t>
                </a:r>
              </a:p>
              <a:p>
                <a:pPr lvl="1"/>
                <a:r>
                  <a:rPr lang="en-US" dirty="0"/>
                  <a:t>Normal traffic produces repetitive and stable n-gram patterns</a:t>
                </a:r>
              </a:p>
              <a:p>
                <a:pPr lvl="1"/>
                <a:r>
                  <a:rPr lang="en-US" dirty="0"/>
                  <a:t>Attacks introduce unseen or rare n-grams</a:t>
                </a:r>
              </a:p>
              <a:p>
                <a:r>
                  <a:rPr lang="en-US" dirty="0"/>
                  <a:t>Training phase: </a:t>
                </a:r>
              </a:p>
              <a:p>
                <a:pPr lvl="1"/>
                <a:r>
                  <a:rPr lang="en-US" dirty="0"/>
                  <a:t>Observe all distinct n-grams in training packets</a:t>
                </a:r>
              </a:p>
              <a:p>
                <a:pPr lvl="1"/>
                <a:r>
                  <a:rPr lang="en-US" dirty="0"/>
                  <a:t>Store seen n-grams in a Bloom filter (space-efficient) </a:t>
                </a:r>
              </a:p>
              <a:p>
                <a:pPr lvl="1"/>
                <a:r>
                  <a:rPr lang="en-US" dirty="0"/>
                  <a:t>Count how often each n-gram appears</a:t>
                </a:r>
              </a:p>
              <a:p>
                <a:pPr lvl="1"/>
                <a:r>
                  <a:rPr lang="en-US" dirty="0"/>
                  <a:t>Compute normalized weights based on frequency. </a:t>
                </a:r>
              </a:p>
              <a:p>
                <a:r>
                  <a:rPr lang="en-US" dirty="0"/>
                  <a:t>Detection Phase (Testing): </a:t>
                </a:r>
              </a:p>
              <a:p>
                <a:pPr lvl="1"/>
                <a:r>
                  <a:rPr lang="en-US" dirty="0"/>
                  <a:t>For each packet</a:t>
                </a:r>
              </a:p>
              <a:p>
                <a:pPr lvl="2"/>
                <a:r>
                  <a:rPr lang="en-US" dirty="0"/>
                  <a:t>Count how many n-grams were seen during testing</a:t>
                </a:r>
              </a:p>
              <a:p>
                <a:pPr lvl="2"/>
                <a:r>
                  <a:rPr lang="en-US" dirty="0"/>
                  <a:t>Compute anomaly score</a:t>
                </a:r>
              </a:p>
              <a:p>
                <a:pPr lvl="3"/>
                <a:r>
                  <a:rPr lang="en-US" dirty="0"/>
                  <a:t>Score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a:rPr lang="en-US" b="0" i="1" smtClean="0">
                            <a:latin typeface="Cambria Math" panose="02040503050406030204" pitchFamily="18" charset="0"/>
                          </a:rPr>
                          <m:t>𝑤𝑖</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_</m:t>
                        </m:r>
                        <m:r>
                          <a:rPr lang="en-US" b="0" i="1" smtClean="0">
                            <a:latin typeface="Cambria Math" panose="02040503050406030204" pitchFamily="18" charset="0"/>
                          </a:rPr>
                          <m:t>𝑠𝑒𝑒𝑛𝑖</m:t>
                        </m:r>
                      </m:e>
                    </m:nary>
                  </m:oMath>
                </a14:m>
                <a:endParaRPr lang="en-US" dirty="0"/>
              </a:p>
              <a:p>
                <a:pPr lvl="2"/>
                <a:r>
                  <a:rPr lang="en-US" dirty="0"/>
                  <a:t>Low score means attack packet</a:t>
                </a:r>
              </a:p>
              <a:p>
                <a:r>
                  <a:rPr lang="en-US" dirty="0"/>
                  <a:t>Decision Rule:</a:t>
                </a:r>
              </a:p>
              <a:p>
                <a:pPr lvl="1"/>
                <a:r>
                  <a:rPr lang="en-US" dirty="0"/>
                  <a:t>Packet is malicious if Score &lt; threshold</a:t>
                </a:r>
              </a:p>
            </p:txBody>
          </p:sp>
        </mc:Choice>
        <mc:Fallback>
          <p:sp>
            <p:nvSpPr>
              <p:cNvPr id="10" name="Content Placeholder 9">
                <a:extLst>
                  <a:ext uri="{FF2B5EF4-FFF2-40B4-BE49-F238E27FC236}">
                    <a16:creationId xmlns:a16="http://schemas.microsoft.com/office/drawing/2014/main" id="{1639941C-63DE-6533-3832-1ED7DBB64D6C}"/>
                  </a:ext>
                </a:extLst>
              </p:cNvPr>
              <p:cNvSpPr>
                <a:spLocks noGrp="1" noRot="1" noChangeAspect="1" noMove="1" noResize="1" noEditPoints="1" noAdjustHandles="1" noChangeArrowheads="1" noChangeShapeType="1" noTextEdit="1"/>
              </p:cNvSpPr>
              <p:nvPr>
                <p:ph idx="1"/>
              </p:nvPr>
            </p:nvSpPr>
            <p:spPr>
              <a:xfrm>
                <a:off x="712733" y="1886197"/>
                <a:ext cx="10958060" cy="4497601"/>
              </a:xfrm>
              <a:blipFill>
                <a:blip r:embed="rId3"/>
                <a:stretch>
                  <a:fillRect l="-389" t="-407" b="-16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BED2093-69E1-07E9-5075-76B79E0BA904}"/>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smtClean="0"/>
              <a:pPr>
                <a:spcAft>
                  <a:spcPts val="600"/>
                </a:spcAft>
              </a:pPr>
              <a:t>20</a:t>
            </a:fld>
            <a:endParaRPr lang="en-US"/>
          </a:p>
        </p:txBody>
      </p:sp>
      <p:pic>
        <p:nvPicPr>
          <p:cNvPr id="9" name="Picture 8">
            <a:extLst>
              <a:ext uri="{FF2B5EF4-FFF2-40B4-BE49-F238E27FC236}">
                <a16:creationId xmlns:a16="http://schemas.microsoft.com/office/drawing/2014/main" id="{A5ADE466-87BF-9E6C-5456-E7E95E1F6D17}"/>
              </a:ext>
            </a:extLst>
          </p:cNvPr>
          <p:cNvPicPr>
            <a:picLocks noChangeAspect="1"/>
          </p:cNvPicPr>
          <p:nvPr/>
        </p:nvPicPr>
        <p:blipFill>
          <a:blip r:embed="rId4"/>
          <a:stretch>
            <a:fillRect/>
          </a:stretch>
        </p:blipFill>
        <p:spPr>
          <a:xfrm>
            <a:off x="6648521" y="4672608"/>
            <a:ext cx="4928753" cy="1894073"/>
          </a:xfrm>
          <a:prstGeom prst="rect">
            <a:avLst/>
          </a:prstGeom>
        </p:spPr>
      </p:pic>
      <p:sp>
        <p:nvSpPr>
          <p:cNvPr id="11" name="TextBox 10">
            <a:extLst>
              <a:ext uri="{FF2B5EF4-FFF2-40B4-BE49-F238E27FC236}">
                <a16:creationId xmlns:a16="http://schemas.microsoft.com/office/drawing/2014/main" id="{6D76F23F-ADA7-C8CE-4FDD-04D6A2F5997D}"/>
              </a:ext>
            </a:extLst>
          </p:cNvPr>
          <p:cNvSpPr txBox="1"/>
          <p:nvPr/>
        </p:nvSpPr>
        <p:spPr>
          <a:xfrm>
            <a:off x="386687" y="6584326"/>
            <a:ext cx="11627892" cy="646331"/>
          </a:xfrm>
          <a:prstGeom prst="rect">
            <a:avLst/>
          </a:prstGeom>
          <a:noFill/>
        </p:spPr>
        <p:txBody>
          <a:bodyPr wrap="square" rtlCol="0">
            <a:spAutoFit/>
          </a:bodyPr>
          <a:lstStyle/>
          <a:p>
            <a:pPr lvl="0">
              <a:defRPr/>
            </a:pPr>
            <a:r>
              <a:rPr lang="en-US" sz="1200" dirty="0"/>
              <a:t>Image is taken from: https://www.researchgate.net/publication/343446253_BLATTA_Early_Exploit_Detection_on_Network_Traffic_with_Recurrent_Neural_Networks</a:t>
            </a:r>
          </a:p>
          <a:p>
            <a:endParaRPr lang="en-US" sz="1200" dirty="0"/>
          </a:p>
          <a:p>
            <a:endParaRPr lang="en-US" sz="1200" dirty="0"/>
          </a:p>
        </p:txBody>
      </p:sp>
    </p:spTree>
    <p:extLst>
      <p:ext uri="{BB962C8B-B14F-4D97-AF65-F5344CB8AC3E}">
        <p14:creationId xmlns:p14="http://schemas.microsoft.com/office/powerpoint/2010/main" val="146709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 calcmode="lin" valueType="num">
                                      <p:cBhvr additive="base">
                                        <p:cTn id="1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 calcmode="lin" valueType="num">
                                      <p:cBhvr additive="base">
                                        <p:cTn id="2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anim calcmode="lin" valueType="num">
                                      <p:cBhvr additive="base">
                                        <p:cTn id="27"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xEl>
                                              <p:pRg st="5" end="5"/>
                                            </p:txEl>
                                          </p:spTgt>
                                        </p:tgtEl>
                                        <p:attrNameLst>
                                          <p:attrName>style.visibility</p:attrName>
                                        </p:attrNameLst>
                                      </p:cBhvr>
                                      <p:to>
                                        <p:strVal val="visible"/>
                                      </p:to>
                                    </p:set>
                                    <p:anim calcmode="lin" valueType="num">
                                      <p:cBhvr additive="base">
                                        <p:cTn id="35"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xEl>
                                              <p:pRg st="6" end="6"/>
                                            </p:txEl>
                                          </p:spTgt>
                                        </p:tgtEl>
                                        <p:attrNameLst>
                                          <p:attrName>style.visibility</p:attrName>
                                        </p:attrNameLst>
                                      </p:cBhvr>
                                      <p:to>
                                        <p:strVal val="visible"/>
                                      </p:to>
                                    </p:set>
                                    <p:anim calcmode="lin" valueType="num">
                                      <p:cBhvr additive="base">
                                        <p:cTn id="39"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0">
                                            <p:txEl>
                                              <p:pRg st="7" end="7"/>
                                            </p:txEl>
                                          </p:spTgt>
                                        </p:tgtEl>
                                        <p:attrNameLst>
                                          <p:attrName>style.visibility</p:attrName>
                                        </p:attrNameLst>
                                      </p:cBhvr>
                                      <p:to>
                                        <p:strVal val="visible"/>
                                      </p:to>
                                    </p:set>
                                    <p:anim calcmode="lin" valueType="num">
                                      <p:cBhvr additive="base">
                                        <p:cTn id="45"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anim calcmode="lin" valueType="num">
                                      <p:cBhvr additive="base">
                                        <p:cTn id="49"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
                                            <p:txEl>
                                              <p:pRg st="9" end="9"/>
                                            </p:txEl>
                                          </p:spTgt>
                                        </p:tgtEl>
                                        <p:attrNameLst>
                                          <p:attrName>style.visibility</p:attrName>
                                        </p:attrNameLst>
                                      </p:cBhvr>
                                      <p:to>
                                        <p:strVal val="visible"/>
                                      </p:to>
                                    </p:set>
                                    <p:anim calcmode="lin" valueType="num">
                                      <p:cBhvr additive="base">
                                        <p:cTn id="53"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 calcmode="lin" valueType="num">
                                      <p:cBhvr additive="base">
                                        <p:cTn id="5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0">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0">
                                            <p:txEl>
                                              <p:pRg st="11" end="11"/>
                                            </p:txEl>
                                          </p:spTgt>
                                        </p:tgtEl>
                                        <p:attrNameLst>
                                          <p:attrName>style.visibility</p:attrName>
                                        </p:attrNameLst>
                                      </p:cBhvr>
                                      <p:to>
                                        <p:strVal val="visible"/>
                                      </p:to>
                                    </p:set>
                                    <p:anim calcmode="lin" valueType="num">
                                      <p:cBhvr additive="base">
                                        <p:cTn id="61" dur="500" fill="hold"/>
                                        <p:tgtEl>
                                          <p:spTgt spid="10">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
                                            <p:txEl>
                                              <p:pRg st="12" end="12"/>
                                            </p:txEl>
                                          </p:spTgt>
                                        </p:tgtEl>
                                        <p:attrNameLst>
                                          <p:attrName>style.visibility</p:attrName>
                                        </p:attrNameLst>
                                      </p:cBhvr>
                                      <p:to>
                                        <p:strVal val="visible"/>
                                      </p:to>
                                    </p:set>
                                    <p:anim calcmode="lin" valueType="num">
                                      <p:cBhvr additive="base">
                                        <p:cTn id="67" dur="500" fill="hold"/>
                                        <p:tgtEl>
                                          <p:spTgt spid="10">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12" end="12"/>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0">
                                            <p:txEl>
                                              <p:pRg st="13" end="13"/>
                                            </p:txEl>
                                          </p:spTgt>
                                        </p:tgtEl>
                                        <p:attrNameLst>
                                          <p:attrName>style.visibility</p:attrName>
                                        </p:attrNameLst>
                                      </p:cBhvr>
                                      <p:to>
                                        <p:strVal val="visible"/>
                                      </p:to>
                                    </p:set>
                                    <p:anim calcmode="lin" valueType="num">
                                      <p:cBhvr additive="base">
                                        <p:cTn id="71" dur="500" fill="hold"/>
                                        <p:tgtEl>
                                          <p:spTgt spid="10">
                                            <p:txEl>
                                              <p:pRg st="13" end="13"/>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0">
                                            <p:txEl>
                                              <p:pRg st="13" end="13"/>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0">
                                            <p:txEl>
                                              <p:pRg st="14" end="14"/>
                                            </p:txEl>
                                          </p:spTgt>
                                        </p:tgtEl>
                                        <p:attrNameLst>
                                          <p:attrName>style.visibility</p:attrName>
                                        </p:attrNameLst>
                                      </p:cBhvr>
                                      <p:to>
                                        <p:strVal val="visible"/>
                                      </p:to>
                                    </p:set>
                                    <p:anim calcmode="lin" valueType="num">
                                      <p:cBhvr additive="base">
                                        <p:cTn id="75" dur="500" fill="hold"/>
                                        <p:tgtEl>
                                          <p:spTgt spid="10">
                                            <p:txEl>
                                              <p:pRg st="14" end="14"/>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0">
                                            <p:txEl>
                                              <p:pRg st="14" end="14"/>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0">
                                            <p:txEl>
                                              <p:pRg st="15" end="15"/>
                                            </p:txEl>
                                          </p:spTgt>
                                        </p:tgtEl>
                                        <p:attrNameLst>
                                          <p:attrName>style.visibility</p:attrName>
                                        </p:attrNameLst>
                                      </p:cBhvr>
                                      <p:to>
                                        <p:strVal val="visible"/>
                                      </p:to>
                                    </p:set>
                                    <p:anim calcmode="lin" valueType="num">
                                      <p:cBhvr additive="base">
                                        <p:cTn id="79" dur="500" fill="hold"/>
                                        <p:tgtEl>
                                          <p:spTgt spid="10">
                                            <p:txEl>
                                              <p:pRg st="15" end="15"/>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
                                            <p:txEl>
                                              <p:pRg st="15" end="15"/>
                                            </p:tx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0">
                                            <p:txEl>
                                              <p:pRg st="16" end="16"/>
                                            </p:txEl>
                                          </p:spTgt>
                                        </p:tgtEl>
                                        <p:attrNameLst>
                                          <p:attrName>style.visibility</p:attrName>
                                        </p:attrNameLst>
                                      </p:cBhvr>
                                      <p:to>
                                        <p:strVal val="visible"/>
                                      </p:to>
                                    </p:set>
                                    <p:anim calcmode="lin" valueType="num">
                                      <p:cBhvr additive="base">
                                        <p:cTn id="83" dur="500" fill="hold"/>
                                        <p:tgtEl>
                                          <p:spTgt spid="10">
                                            <p:txEl>
                                              <p:pRg st="16" end="16"/>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0">
                                            <p:txEl>
                                              <p:pRg st="16" end="16"/>
                                            </p:tx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0">
                                            <p:txEl>
                                              <p:pRg st="17" end="17"/>
                                            </p:txEl>
                                          </p:spTgt>
                                        </p:tgtEl>
                                        <p:attrNameLst>
                                          <p:attrName>style.visibility</p:attrName>
                                        </p:attrNameLst>
                                      </p:cBhvr>
                                      <p:to>
                                        <p:strVal val="visible"/>
                                      </p:to>
                                    </p:set>
                                    <p:anim calcmode="lin" valueType="num">
                                      <p:cBhvr additive="base">
                                        <p:cTn id="87" dur="500" fill="hold"/>
                                        <p:tgtEl>
                                          <p:spTgt spid="10">
                                            <p:txEl>
                                              <p:pRg st="17" end="17"/>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0">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10">
                                            <p:txEl>
                                              <p:pRg st="18" end="18"/>
                                            </p:txEl>
                                          </p:spTgt>
                                        </p:tgtEl>
                                        <p:attrNameLst>
                                          <p:attrName>style.visibility</p:attrName>
                                        </p:attrNameLst>
                                      </p:cBhvr>
                                      <p:to>
                                        <p:strVal val="visible"/>
                                      </p:to>
                                    </p:set>
                                    <p:anim calcmode="lin" valueType="num">
                                      <p:cBhvr additive="base">
                                        <p:cTn id="93" dur="500" fill="hold"/>
                                        <p:tgtEl>
                                          <p:spTgt spid="10">
                                            <p:txEl>
                                              <p:pRg st="18" end="18"/>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0">
                                            <p:txEl>
                                              <p:pRg st="18" end="18"/>
                                            </p:tx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0">
                                            <p:txEl>
                                              <p:pRg st="19" end="19"/>
                                            </p:txEl>
                                          </p:spTgt>
                                        </p:tgtEl>
                                        <p:attrNameLst>
                                          <p:attrName>style.visibility</p:attrName>
                                        </p:attrNameLst>
                                      </p:cBhvr>
                                      <p:to>
                                        <p:strVal val="visible"/>
                                      </p:to>
                                    </p:set>
                                    <p:anim calcmode="lin" valueType="num">
                                      <p:cBhvr additive="base">
                                        <p:cTn id="97" dur="500" fill="hold"/>
                                        <p:tgtEl>
                                          <p:spTgt spid="10">
                                            <p:txEl>
                                              <p:pRg st="19" end="19"/>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0">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 calcmode="lin" valueType="num">
                                      <p:cBhvr additive="base">
                                        <p:cTn id="103" dur="500" fill="hold"/>
                                        <p:tgtEl>
                                          <p:spTgt spid="11"/>
                                        </p:tgtEl>
                                        <p:attrNameLst>
                                          <p:attrName>ppt_x</p:attrName>
                                        </p:attrNameLst>
                                      </p:cBhvr>
                                      <p:tavLst>
                                        <p:tav tm="0">
                                          <p:val>
                                            <p:strVal val="#ppt_x"/>
                                          </p:val>
                                        </p:tav>
                                        <p:tav tm="100000">
                                          <p:val>
                                            <p:strVal val="#ppt_x"/>
                                          </p:val>
                                        </p:tav>
                                      </p:tavLst>
                                    </p:anim>
                                    <p:anim calcmode="lin" valueType="num">
                                      <p:cBhvr additive="base">
                                        <p:cTn id="10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13C0-E18F-CE6E-39A1-66F009EB9E80}"/>
              </a:ext>
            </a:extLst>
          </p:cNvPr>
          <p:cNvSpPr>
            <a:spLocks noGrp="1"/>
          </p:cNvSpPr>
          <p:nvPr>
            <p:ph type="title"/>
          </p:nvPr>
        </p:nvSpPr>
        <p:spPr/>
        <p:txBody>
          <a:bodyPr/>
          <a:lstStyle/>
          <a:p>
            <a:r>
              <a:rPr lang="en-US" dirty="0"/>
              <a:t>Plots and results</a:t>
            </a:r>
          </a:p>
        </p:txBody>
      </p:sp>
      <p:pic>
        <p:nvPicPr>
          <p:cNvPr id="6" name="Content Placeholder 5">
            <a:extLst>
              <a:ext uri="{FF2B5EF4-FFF2-40B4-BE49-F238E27FC236}">
                <a16:creationId xmlns:a16="http://schemas.microsoft.com/office/drawing/2014/main" id="{29E71248-DFA3-F322-5087-67581B3DBFD9}"/>
              </a:ext>
            </a:extLst>
          </p:cNvPr>
          <p:cNvPicPr>
            <a:picLocks noGrp="1" noChangeAspect="1"/>
          </p:cNvPicPr>
          <p:nvPr>
            <p:ph idx="1"/>
          </p:nvPr>
        </p:nvPicPr>
        <p:blipFill>
          <a:blip r:embed="rId2"/>
          <a:stretch>
            <a:fillRect/>
          </a:stretch>
        </p:blipFill>
        <p:spPr>
          <a:xfrm>
            <a:off x="644596" y="1749709"/>
            <a:ext cx="10902808" cy="4669379"/>
          </a:xfrm>
          <a:prstGeom prst="rect">
            <a:avLst/>
          </a:prstGeom>
        </p:spPr>
      </p:pic>
      <p:sp>
        <p:nvSpPr>
          <p:cNvPr id="4" name="Slide Number Placeholder 3">
            <a:extLst>
              <a:ext uri="{FF2B5EF4-FFF2-40B4-BE49-F238E27FC236}">
                <a16:creationId xmlns:a16="http://schemas.microsoft.com/office/drawing/2014/main" id="{63949AE0-3201-3300-DA23-7C51EB9967EA}"/>
              </a:ext>
            </a:extLst>
          </p:cNvPr>
          <p:cNvSpPr>
            <a:spLocks noGrp="1"/>
          </p:cNvSpPr>
          <p:nvPr>
            <p:ph type="sldNum" sz="quarter" idx="12"/>
          </p:nvPr>
        </p:nvSpPr>
        <p:spPr/>
        <p:txBody>
          <a:bodyPr/>
          <a:lstStyle/>
          <a:p>
            <a:fld id="{148CC95F-0247-41B6-91CF-DC97C76A7088}" type="slidenum">
              <a:rPr lang="en-US" smtClean="0"/>
              <a:t>21</a:t>
            </a:fld>
            <a:endParaRPr lang="en-US"/>
          </a:p>
        </p:txBody>
      </p:sp>
    </p:spTree>
    <p:extLst>
      <p:ext uri="{BB962C8B-B14F-4D97-AF65-F5344CB8AC3E}">
        <p14:creationId xmlns:p14="http://schemas.microsoft.com/office/powerpoint/2010/main" val="3073381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98D3CE-3A7A-15A8-C187-C9F273BB97FF}"/>
              </a:ext>
            </a:extLst>
          </p:cNvPr>
          <p:cNvSpPr>
            <a:spLocks noGrp="1"/>
          </p:cNvSpPr>
          <p:nvPr>
            <p:ph type="title"/>
          </p:nvPr>
        </p:nvSpPr>
        <p:spPr>
          <a:xfrm>
            <a:off x="521208" y="978408"/>
            <a:ext cx="5102352" cy="1664208"/>
          </a:xfrm>
        </p:spPr>
        <p:txBody>
          <a:bodyPr>
            <a:normAutofit/>
          </a:bodyPr>
          <a:lstStyle/>
          <a:p>
            <a:r>
              <a:rPr lang="en-US" dirty="0" err="1"/>
              <a:t>ResNet</a:t>
            </a:r>
            <a:endParaRPr lang="en-US" dirty="0"/>
          </a:p>
        </p:txBody>
      </p:sp>
      <p:sp>
        <p:nvSpPr>
          <p:cNvPr id="15" name="Rectangle 14">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53FA8AED-7DDD-DA63-7AEC-548ACC2648FC}"/>
              </a:ext>
            </a:extLst>
          </p:cNvPr>
          <p:cNvSpPr>
            <a:spLocks noGrp="1"/>
          </p:cNvSpPr>
          <p:nvPr>
            <p:ph idx="1"/>
          </p:nvPr>
        </p:nvSpPr>
        <p:spPr>
          <a:xfrm>
            <a:off x="1008707" y="1810512"/>
            <a:ext cx="10660747" cy="4186802"/>
          </a:xfrm>
        </p:spPr>
        <p:txBody>
          <a:bodyPr numCol="2">
            <a:normAutofit/>
          </a:bodyPr>
          <a:lstStyle/>
          <a:p>
            <a:r>
              <a:rPr lang="en-US" dirty="0"/>
              <a:t>What is </a:t>
            </a:r>
            <a:r>
              <a:rPr lang="en-US" dirty="0" err="1"/>
              <a:t>ResNet</a:t>
            </a:r>
            <a:r>
              <a:rPr lang="en-US" dirty="0"/>
              <a:t>? </a:t>
            </a:r>
          </a:p>
          <a:p>
            <a:pPr lvl="1"/>
            <a:r>
              <a:rPr lang="en-US" dirty="0"/>
              <a:t>Residual neural network is a deep CNN with skip (identity) connections.</a:t>
            </a:r>
          </a:p>
          <a:p>
            <a:pPr lvl="1"/>
            <a:r>
              <a:rPr lang="en-US" dirty="0"/>
              <a:t>Skip connections help:</a:t>
            </a:r>
          </a:p>
          <a:p>
            <a:pPr lvl="2"/>
            <a:r>
              <a:rPr lang="en-US" dirty="0"/>
              <a:t>Avoid vanishing gradients.</a:t>
            </a:r>
          </a:p>
          <a:p>
            <a:pPr lvl="2"/>
            <a:r>
              <a:rPr lang="en-US" dirty="0"/>
              <a:t>Train deeper networks reliably.</a:t>
            </a:r>
          </a:p>
          <a:p>
            <a:r>
              <a:rPr lang="en-US" dirty="0"/>
              <a:t>Architecture:</a:t>
            </a:r>
          </a:p>
          <a:p>
            <a:pPr lvl="1"/>
            <a:r>
              <a:rPr lang="en-US" dirty="0"/>
              <a:t>Input:</a:t>
            </a:r>
          </a:p>
          <a:p>
            <a:pPr lvl="2"/>
            <a:r>
              <a:rPr lang="en-US" dirty="0"/>
              <a:t>M x N packets, n &lt;= M bytes per packet</a:t>
            </a:r>
          </a:p>
          <a:p>
            <a:pPr lvl="1"/>
            <a:r>
              <a:rPr lang="en-US" dirty="0"/>
              <a:t>18 layers total</a:t>
            </a:r>
          </a:p>
          <a:p>
            <a:pPr lvl="1"/>
            <a:r>
              <a:rPr lang="en-US" dirty="0"/>
              <a:t>Divided into 4 stages</a:t>
            </a:r>
          </a:p>
          <a:p>
            <a:pPr lvl="2"/>
            <a:r>
              <a:rPr lang="en-US" dirty="0"/>
              <a:t>Each stage contains 2 convolutional blocks</a:t>
            </a:r>
          </a:p>
          <a:p>
            <a:pPr lvl="1"/>
            <a:r>
              <a:rPr lang="en-US" dirty="0"/>
              <a:t>Each block: </a:t>
            </a:r>
          </a:p>
          <a:p>
            <a:pPr lvl="2"/>
            <a:r>
              <a:rPr lang="en-US" dirty="0"/>
              <a:t>2 Conv layers</a:t>
            </a:r>
          </a:p>
          <a:p>
            <a:pPr lvl="2"/>
            <a:r>
              <a:rPr lang="en-US" dirty="0"/>
              <a:t>Batch normalization</a:t>
            </a:r>
          </a:p>
          <a:p>
            <a:pPr lvl="2"/>
            <a:r>
              <a:rPr lang="en-US" dirty="0" err="1"/>
              <a:t>ReLU</a:t>
            </a:r>
            <a:r>
              <a:rPr lang="en-US" dirty="0"/>
              <a:t> activation</a:t>
            </a:r>
          </a:p>
          <a:p>
            <a:pPr lvl="2"/>
            <a:r>
              <a:rPr lang="en-US" dirty="0"/>
              <a:t>Residual connection</a:t>
            </a:r>
          </a:p>
          <a:p>
            <a:pPr lvl="1"/>
            <a:r>
              <a:rPr lang="en-US" dirty="0"/>
              <a:t>Output of conv layers is passed to 2 fully connected layers</a:t>
            </a:r>
          </a:p>
          <a:p>
            <a:pPr lvl="1"/>
            <a:r>
              <a:rPr lang="en-US" dirty="0"/>
              <a:t>Adam optimizer is used.</a:t>
            </a:r>
          </a:p>
          <a:p>
            <a:pPr lvl="1"/>
            <a:r>
              <a:rPr lang="en-US" dirty="0"/>
              <a:t>Loss: Categorical Cross-Entropy</a:t>
            </a:r>
          </a:p>
        </p:txBody>
      </p:sp>
      <p:sp>
        <p:nvSpPr>
          <p:cNvPr id="4" name="Slide Number Placeholder 3">
            <a:extLst>
              <a:ext uri="{FF2B5EF4-FFF2-40B4-BE49-F238E27FC236}">
                <a16:creationId xmlns:a16="http://schemas.microsoft.com/office/drawing/2014/main" id="{CD7644D4-B8A3-565F-6731-C446F7E23D47}"/>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smtClean="0"/>
              <a:pPr>
                <a:spcAft>
                  <a:spcPts val="600"/>
                </a:spcAft>
              </a:pPr>
              <a:t>22</a:t>
            </a:fld>
            <a:endParaRPr lang="en-US"/>
          </a:p>
        </p:txBody>
      </p:sp>
      <p:sp>
        <p:nvSpPr>
          <p:cNvPr id="7" name="TextBox 6">
            <a:extLst>
              <a:ext uri="{FF2B5EF4-FFF2-40B4-BE49-F238E27FC236}">
                <a16:creationId xmlns:a16="http://schemas.microsoft.com/office/drawing/2014/main" id="{1F53C1BB-B7AF-7E8E-74C3-5F35E2CBFCEA}"/>
              </a:ext>
            </a:extLst>
          </p:cNvPr>
          <p:cNvSpPr txBox="1"/>
          <p:nvPr/>
        </p:nvSpPr>
        <p:spPr>
          <a:xfrm>
            <a:off x="1440307" y="6581001"/>
            <a:ext cx="11586949" cy="276999"/>
          </a:xfrm>
          <a:prstGeom prst="rect">
            <a:avLst/>
          </a:prstGeom>
          <a:noFill/>
        </p:spPr>
        <p:txBody>
          <a:bodyPr wrap="square" rtlCol="0">
            <a:spAutoFit/>
          </a:bodyPr>
          <a:lstStyle/>
          <a:p>
            <a:r>
              <a:rPr lang="en-US" sz="1200" dirty="0"/>
              <a:t>This image was taken from: https://en.wikipedia.org/wiki/Residual_neural_network</a:t>
            </a:r>
          </a:p>
        </p:txBody>
      </p:sp>
      <p:pic>
        <p:nvPicPr>
          <p:cNvPr id="8" name="Content Placeholder 5">
            <a:extLst>
              <a:ext uri="{FF2B5EF4-FFF2-40B4-BE49-F238E27FC236}">
                <a16:creationId xmlns:a16="http://schemas.microsoft.com/office/drawing/2014/main" id="{6418CAC4-9CD7-18CF-EA07-23EF4C4E4D8C}"/>
              </a:ext>
            </a:extLst>
          </p:cNvPr>
          <p:cNvPicPr>
            <a:picLocks noChangeAspect="1"/>
          </p:cNvPicPr>
          <p:nvPr/>
        </p:nvPicPr>
        <p:blipFill>
          <a:blip r:embed="rId2"/>
          <a:stretch>
            <a:fillRect/>
          </a:stretch>
        </p:blipFill>
        <p:spPr>
          <a:xfrm>
            <a:off x="7379767" y="4951089"/>
            <a:ext cx="3357511" cy="1829843"/>
          </a:xfrm>
          <a:prstGeom prst="rect">
            <a:avLst/>
          </a:prstGeom>
        </p:spPr>
      </p:pic>
    </p:spTree>
    <p:extLst>
      <p:ext uri="{BB962C8B-B14F-4D97-AF65-F5344CB8AC3E}">
        <p14:creationId xmlns:p14="http://schemas.microsoft.com/office/powerpoint/2010/main" val="293258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xEl>
                                              <p:pRg st="5" end="5"/>
                                            </p:txEl>
                                          </p:spTgt>
                                        </p:tgtEl>
                                        <p:attrNameLst>
                                          <p:attrName>style.visibility</p:attrName>
                                        </p:attrNameLst>
                                      </p:cBhvr>
                                      <p:to>
                                        <p:strVal val="visible"/>
                                      </p:to>
                                    </p:set>
                                    <p:anim calcmode="lin" valueType="num">
                                      <p:cBhvr additive="base">
                                        <p:cTn id="39"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0">
                                            <p:txEl>
                                              <p:pRg st="6" end="6"/>
                                            </p:txEl>
                                          </p:spTgt>
                                        </p:tgtEl>
                                        <p:attrNameLst>
                                          <p:attrName>style.visibility</p:attrName>
                                        </p:attrNameLst>
                                      </p:cBhvr>
                                      <p:to>
                                        <p:strVal val="visible"/>
                                      </p:to>
                                    </p:set>
                                    <p:anim calcmode="lin" valueType="num">
                                      <p:cBhvr additive="base">
                                        <p:cTn id="4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0">
                                            <p:txEl>
                                              <p:pRg st="7" end="7"/>
                                            </p:txEl>
                                          </p:spTgt>
                                        </p:tgtEl>
                                        <p:attrNameLst>
                                          <p:attrName>style.visibility</p:attrName>
                                        </p:attrNameLst>
                                      </p:cBhvr>
                                      <p:to>
                                        <p:strVal val="visible"/>
                                      </p:to>
                                    </p:set>
                                    <p:anim calcmode="lin" valueType="num">
                                      <p:cBhvr additive="base">
                                        <p:cTn id="47"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0">
                                            <p:txEl>
                                              <p:pRg st="8" end="8"/>
                                            </p:txEl>
                                          </p:spTgt>
                                        </p:tgtEl>
                                        <p:attrNameLst>
                                          <p:attrName>style.visibility</p:attrName>
                                        </p:attrNameLst>
                                      </p:cBhvr>
                                      <p:to>
                                        <p:strVal val="visible"/>
                                      </p:to>
                                    </p:set>
                                    <p:anim calcmode="lin" valueType="num">
                                      <p:cBhvr additive="base">
                                        <p:cTn id="5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
                                            <p:txEl>
                                              <p:pRg st="9" end="9"/>
                                            </p:txEl>
                                          </p:spTgt>
                                        </p:tgtEl>
                                        <p:attrNameLst>
                                          <p:attrName>style.visibility</p:attrName>
                                        </p:attrNameLst>
                                      </p:cBhvr>
                                      <p:to>
                                        <p:strVal val="visible"/>
                                      </p:to>
                                    </p:set>
                                    <p:anim calcmode="lin" valueType="num">
                                      <p:cBhvr additive="base">
                                        <p:cTn id="55"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0">
                                            <p:txEl>
                                              <p:pRg st="10" end="10"/>
                                            </p:txEl>
                                          </p:spTgt>
                                        </p:tgtEl>
                                        <p:attrNameLst>
                                          <p:attrName>style.visibility</p:attrName>
                                        </p:attrNameLst>
                                      </p:cBhvr>
                                      <p:to>
                                        <p:strVal val="visible"/>
                                      </p:to>
                                    </p:set>
                                    <p:anim calcmode="lin" valueType="num">
                                      <p:cBhvr additive="base">
                                        <p:cTn id="59"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0">
                                            <p:txEl>
                                              <p:pRg st="11" end="11"/>
                                            </p:txEl>
                                          </p:spTgt>
                                        </p:tgtEl>
                                        <p:attrNameLst>
                                          <p:attrName>style.visibility</p:attrName>
                                        </p:attrNameLst>
                                      </p:cBhvr>
                                      <p:to>
                                        <p:strVal val="visible"/>
                                      </p:to>
                                    </p:set>
                                    <p:anim calcmode="lin" valueType="num">
                                      <p:cBhvr additive="base">
                                        <p:cTn id="65" dur="500" fill="hold"/>
                                        <p:tgtEl>
                                          <p:spTgt spid="10">
                                            <p:txEl>
                                              <p:pRg st="11" end="1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0">
                                            <p:txEl>
                                              <p:pRg st="11" end="11"/>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0">
                                            <p:txEl>
                                              <p:pRg st="12" end="12"/>
                                            </p:txEl>
                                          </p:spTgt>
                                        </p:tgtEl>
                                        <p:attrNameLst>
                                          <p:attrName>style.visibility</p:attrName>
                                        </p:attrNameLst>
                                      </p:cBhvr>
                                      <p:to>
                                        <p:strVal val="visible"/>
                                      </p:to>
                                    </p:set>
                                    <p:anim calcmode="lin" valueType="num">
                                      <p:cBhvr additive="base">
                                        <p:cTn id="69" dur="500" fill="hold"/>
                                        <p:tgtEl>
                                          <p:spTgt spid="10">
                                            <p:txEl>
                                              <p:pRg st="12" end="1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0">
                                            <p:txEl>
                                              <p:pRg st="12" end="12"/>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0">
                                            <p:txEl>
                                              <p:pRg st="13" end="13"/>
                                            </p:txEl>
                                          </p:spTgt>
                                        </p:tgtEl>
                                        <p:attrNameLst>
                                          <p:attrName>style.visibility</p:attrName>
                                        </p:attrNameLst>
                                      </p:cBhvr>
                                      <p:to>
                                        <p:strVal val="visible"/>
                                      </p:to>
                                    </p:set>
                                    <p:anim calcmode="lin" valueType="num">
                                      <p:cBhvr additive="base">
                                        <p:cTn id="73" dur="500" fill="hold"/>
                                        <p:tgtEl>
                                          <p:spTgt spid="10">
                                            <p:txEl>
                                              <p:pRg st="13" end="1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13" end="13"/>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0">
                                            <p:txEl>
                                              <p:pRg st="14" end="14"/>
                                            </p:txEl>
                                          </p:spTgt>
                                        </p:tgtEl>
                                        <p:attrNameLst>
                                          <p:attrName>style.visibility</p:attrName>
                                        </p:attrNameLst>
                                      </p:cBhvr>
                                      <p:to>
                                        <p:strVal val="visible"/>
                                      </p:to>
                                    </p:set>
                                    <p:anim calcmode="lin" valueType="num">
                                      <p:cBhvr additive="base">
                                        <p:cTn id="77" dur="500" fill="hold"/>
                                        <p:tgtEl>
                                          <p:spTgt spid="10">
                                            <p:txEl>
                                              <p:pRg st="14" end="14"/>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0">
                                            <p:txEl>
                                              <p:pRg st="14" end="14"/>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0">
                                            <p:txEl>
                                              <p:pRg st="15" end="15"/>
                                            </p:txEl>
                                          </p:spTgt>
                                        </p:tgtEl>
                                        <p:attrNameLst>
                                          <p:attrName>style.visibility</p:attrName>
                                        </p:attrNameLst>
                                      </p:cBhvr>
                                      <p:to>
                                        <p:strVal val="visible"/>
                                      </p:to>
                                    </p:set>
                                    <p:anim calcmode="lin" valueType="num">
                                      <p:cBhvr additive="base">
                                        <p:cTn id="81" dur="500" fill="hold"/>
                                        <p:tgtEl>
                                          <p:spTgt spid="10">
                                            <p:txEl>
                                              <p:pRg st="15" end="1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
                                            <p:txEl>
                                              <p:pRg st="15" end="15"/>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0">
                                            <p:txEl>
                                              <p:pRg st="16" end="16"/>
                                            </p:txEl>
                                          </p:spTgt>
                                        </p:tgtEl>
                                        <p:attrNameLst>
                                          <p:attrName>style.visibility</p:attrName>
                                        </p:attrNameLst>
                                      </p:cBhvr>
                                      <p:to>
                                        <p:strVal val="visible"/>
                                      </p:to>
                                    </p:set>
                                    <p:anim calcmode="lin" valueType="num">
                                      <p:cBhvr additive="base">
                                        <p:cTn id="85" dur="500" fill="hold"/>
                                        <p:tgtEl>
                                          <p:spTgt spid="10">
                                            <p:txEl>
                                              <p:pRg st="16" end="16"/>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0">
                                            <p:txEl>
                                              <p:pRg st="16" end="16"/>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0">
                                            <p:txEl>
                                              <p:pRg st="17" end="17"/>
                                            </p:txEl>
                                          </p:spTgt>
                                        </p:tgtEl>
                                        <p:attrNameLst>
                                          <p:attrName>style.visibility</p:attrName>
                                        </p:attrNameLst>
                                      </p:cBhvr>
                                      <p:to>
                                        <p:strVal val="visible"/>
                                      </p:to>
                                    </p:set>
                                    <p:anim calcmode="lin" valueType="num">
                                      <p:cBhvr additive="base">
                                        <p:cTn id="89" dur="500" fill="hold"/>
                                        <p:tgtEl>
                                          <p:spTgt spid="10">
                                            <p:txEl>
                                              <p:pRg st="17" end="1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0">
                                            <p:txEl>
                                              <p:pRg st="17" end="17"/>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0">
                                            <p:txEl>
                                              <p:pRg st="18" end="18"/>
                                            </p:txEl>
                                          </p:spTgt>
                                        </p:tgtEl>
                                        <p:attrNameLst>
                                          <p:attrName>style.visibility</p:attrName>
                                        </p:attrNameLst>
                                      </p:cBhvr>
                                      <p:to>
                                        <p:strVal val="visible"/>
                                      </p:to>
                                    </p:set>
                                    <p:anim calcmode="lin" valueType="num">
                                      <p:cBhvr additive="base">
                                        <p:cTn id="93" dur="500" fill="hold"/>
                                        <p:tgtEl>
                                          <p:spTgt spid="10">
                                            <p:txEl>
                                              <p:pRg st="18" end="18"/>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0">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FF97-306C-9D37-8AB2-438900E80CA4}"/>
              </a:ext>
            </a:extLst>
          </p:cNvPr>
          <p:cNvSpPr>
            <a:spLocks noGrp="1"/>
          </p:cNvSpPr>
          <p:nvPr>
            <p:ph type="title"/>
          </p:nvPr>
        </p:nvSpPr>
        <p:spPr/>
        <p:txBody>
          <a:bodyPr/>
          <a:lstStyle/>
          <a:p>
            <a:r>
              <a:rPr lang="en-US" dirty="0"/>
              <a:t>Statistical features added to </a:t>
            </a:r>
            <a:r>
              <a:rPr lang="en-US" dirty="0" err="1"/>
              <a:t>ResNet</a:t>
            </a:r>
            <a:endParaRPr lang="en-US" dirty="0"/>
          </a:p>
        </p:txBody>
      </p:sp>
      <p:sp>
        <p:nvSpPr>
          <p:cNvPr id="3" name="Content Placeholder 2">
            <a:extLst>
              <a:ext uri="{FF2B5EF4-FFF2-40B4-BE49-F238E27FC236}">
                <a16:creationId xmlns:a16="http://schemas.microsoft.com/office/drawing/2014/main" id="{68D397F1-D5C8-F847-E114-1F4C142791D4}"/>
              </a:ext>
            </a:extLst>
          </p:cNvPr>
          <p:cNvSpPr>
            <a:spLocks noGrp="1"/>
          </p:cNvSpPr>
          <p:nvPr>
            <p:ph idx="1"/>
          </p:nvPr>
        </p:nvSpPr>
        <p:spPr/>
        <p:txBody>
          <a:bodyPr numCol="2">
            <a:normAutofit/>
          </a:bodyPr>
          <a:lstStyle/>
          <a:p>
            <a:r>
              <a:rPr lang="en-US" dirty="0"/>
              <a:t>Why add statistical features?</a:t>
            </a:r>
          </a:p>
          <a:p>
            <a:pPr lvl="1"/>
            <a:r>
              <a:rPr lang="en-US" dirty="0"/>
              <a:t>Raw bytes capture local structure</a:t>
            </a:r>
          </a:p>
          <a:p>
            <a:pPr lvl="1"/>
            <a:r>
              <a:rPr lang="en-US" dirty="0"/>
              <a:t>Statistical features capture global packet characteristics</a:t>
            </a:r>
          </a:p>
          <a:p>
            <a:pPr lvl="1"/>
            <a:r>
              <a:rPr lang="en-US" dirty="0"/>
              <a:t>Complement deep CNN features</a:t>
            </a:r>
          </a:p>
          <a:p>
            <a:r>
              <a:rPr lang="en-US" dirty="0"/>
              <a:t>Features:</a:t>
            </a:r>
          </a:p>
          <a:p>
            <a:pPr marL="800100" lvl="1" indent="-342900">
              <a:buFont typeface="+mj-lt"/>
              <a:buAutoNum type="arabicPeriod"/>
            </a:pPr>
            <a:r>
              <a:rPr lang="en-US" dirty="0"/>
              <a:t>Total number of bytes:</a:t>
            </a:r>
          </a:p>
          <a:p>
            <a:pPr lvl="2"/>
            <a:r>
              <a:rPr lang="en-US" dirty="0"/>
              <a:t>Packet length before padding or trimming</a:t>
            </a:r>
          </a:p>
          <a:p>
            <a:pPr lvl="2"/>
            <a:r>
              <a:rPr lang="en-US" dirty="0"/>
              <a:t>Helps detect:</a:t>
            </a:r>
          </a:p>
          <a:p>
            <a:pPr lvl="3"/>
            <a:r>
              <a:rPr lang="en-US" dirty="0"/>
              <a:t>Abnormal packet sizes</a:t>
            </a:r>
          </a:p>
          <a:p>
            <a:pPr lvl="3"/>
            <a:r>
              <a:rPr lang="en-US" dirty="0"/>
              <a:t>Flooding or malformed packets</a:t>
            </a:r>
          </a:p>
          <a:p>
            <a:pPr marL="800100" lvl="1" indent="-342900">
              <a:buFont typeface="+mj-lt"/>
              <a:buAutoNum type="arabicPeriod"/>
            </a:pPr>
            <a:r>
              <a:rPr lang="en-US" dirty="0"/>
              <a:t>Occurrences of the most and second most frequent bytes</a:t>
            </a:r>
          </a:p>
          <a:p>
            <a:pPr marL="1257300" lvl="2" indent="-342900">
              <a:buFont typeface="+mj-lt"/>
              <a:buAutoNum type="arabicPeriod"/>
            </a:pPr>
            <a:r>
              <a:rPr lang="en-US" dirty="0"/>
              <a:t>Useful for detecting repetitive payloads and protocol misuse and adds robustness beyond single dominant value. </a:t>
            </a:r>
          </a:p>
          <a:p>
            <a:pPr marL="800100" lvl="1" indent="-342900">
              <a:buFont typeface="+mj-lt"/>
              <a:buAutoNum type="arabicPeriod"/>
            </a:pPr>
            <a:r>
              <a:rPr lang="en-US" dirty="0"/>
              <a:t>Byte entropy</a:t>
            </a:r>
          </a:p>
          <a:p>
            <a:pPr marL="1257300" lvl="2" indent="-342900">
              <a:buFont typeface="+mj-lt"/>
              <a:buAutoNum type="arabicPeriod"/>
            </a:pPr>
            <a:r>
              <a:rPr lang="en-US" dirty="0"/>
              <a:t>Measures randomness of packet bytes</a:t>
            </a:r>
          </a:p>
          <a:p>
            <a:pPr marL="1257300" lvl="2" indent="-342900">
              <a:buFont typeface="+mj-lt"/>
              <a:buAutoNum type="arabicPeriod"/>
            </a:pPr>
            <a:r>
              <a:rPr lang="en-US" dirty="0"/>
              <a:t>Attacks often show:</a:t>
            </a:r>
          </a:p>
          <a:p>
            <a:pPr marL="1714500" lvl="3" indent="-342900">
              <a:buFont typeface="+mj-lt"/>
              <a:buAutoNum type="arabicPeriod"/>
            </a:pPr>
            <a:r>
              <a:rPr lang="en-US" dirty="0"/>
              <a:t>Unusually high or low entropy</a:t>
            </a:r>
          </a:p>
          <a:p>
            <a:pPr marL="800100" lvl="1" indent="-342900">
              <a:buFont typeface="+mj-lt"/>
              <a:buAutoNum type="arabicPeriod"/>
            </a:pPr>
            <a:r>
              <a:rPr lang="en-US" dirty="0"/>
              <a:t>Ratio of padded bytes</a:t>
            </a:r>
          </a:p>
          <a:p>
            <a:pPr marL="1257300" lvl="2" indent="-342900">
              <a:buFont typeface="+mj-lt"/>
              <a:buAutoNum type="arabicPeriod"/>
            </a:pPr>
            <a:r>
              <a:rPr lang="en-US" dirty="0"/>
              <a:t>Tells the model how much of the input is artificial. </a:t>
            </a:r>
          </a:p>
          <a:p>
            <a:pPr marL="1714500" lvl="3" indent="-342900">
              <a:buFont typeface="+mj-lt"/>
              <a:buAutoNum type="arabicPeriod"/>
            </a:pPr>
            <a:endParaRPr lang="en-US" dirty="0"/>
          </a:p>
          <a:p>
            <a:pPr marL="800100" lvl="1" indent="-342900">
              <a:buFont typeface="+mj-lt"/>
              <a:buAutoNum type="arabicPeriod"/>
            </a:pPr>
            <a:endParaRPr lang="en-US" dirty="0"/>
          </a:p>
        </p:txBody>
      </p:sp>
      <p:sp>
        <p:nvSpPr>
          <p:cNvPr id="4" name="Slide Number Placeholder 3">
            <a:extLst>
              <a:ext uri="{FF2B5EF4-FFF2-40B4-BE49-F238E27FC236}">
                <a16:creationId xmlns:a16="http://schemas.microsoft.com/office/drawing/2014/main" id="{3FAA6DAA-984E-7CC0-C9CB-27F2D8E2C98C}"/>
              </a:ext>
            </a:extLst>
          </p:cNvPr>
          <p:cNvSpPr>
            <a:spLocks noGrp="1"/>
          </p:cNvSpPr>
          <p:nvPr>
            <p:ph type="sldNum" sz="quarter" idx="12"/>
          </p:nvPr>
        </p:nvSpPr>
        <p:spPr/>
        <p:txBody>
          <a:bodyPr/>
          <a:lstStyle/>
          <a:p>
            <a:fld id="{148CC95F-0247-41B6-91CF-DC97C76A7088}" type="slidenum">
              <a:rPr lang="en-US" smtClean="0"/>
              <a:t>23</a:t>
            </a:fld>
            <a:endParaRPr lang="en-US"/>
          </a:p>
        </p:txBody>
      </p:sp>
    </p:spTree>
    <p:extLst>
      <p:ext uri="{BB962C8B-B14F-4D97-AF65-F5344CB8AC3E}">
        <p14:creationId xmlns:p14="http://schemas.microsoft.com/office/powerpoint/2010/main" val="2178225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0DA4A4-D388-F4AA-9F2A-2ED296107B9B}"/>
              </a:ext>
            </a:extLst>
          </p:cNvPr>
          <p:cNvSpPr>
            <a:spLocks noGrp="1"/>
          </p:cNvSpPr>
          <p:nvPr>
            <p:ph type="title"/>
          </p:nvPr>
        </p:nvSpPr>
        <p:spPr>
          <a:xfrm>
            <a:off x="521208" y="978408"/>
            <a:ext cx="3154680" cy="4069080"/>
          </a:xfrm>
        </p:spPr>
        <p:txBody>
          <a:bodyPr>
            <a:normAutofit/>
          </a:bodyPr>
          <a:lstStyle/>
          <a:p>
            <a:r>
              <a:rPr lang="en-US" sz="4000"/>
              <a:t>How ResNet is used for Anomaly Detection</a:t>
            </a:r>
          </a:p>
        </p:txBody>
      </p:sp>
      <p:sp>
        <p:nvSpPr>
          <p:cNvPr id="12" name="Rectangle 11">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9B34915-ADC3-D499-23D7-C2D39AC281EC}"/>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smtClean="0"/>
              <a:pPr>
                <a:spcAft>
                  <a:spcPts val="600"/>
                </a:spcAft>
              </a:pPr>
              <a:t>24</a:t>
            </a:fld>
            <a:endParaRPr lang="en-US"/>
          </a:p>
        </p:txBody>
      </p:sp>
      <p:graphicFrame>
        <p:nvGraphicFramePr>
          <p:cNvPr id="6" name="Content Placeholder 2">
            <a:extLst>
              <a:ext uri="{FF2B5EF4-FFF2-40B4-BE49-F238E27FC236}">
                <a16:creationId xmlns:a16="http://schemas.microsoft.com/office/drawing/2014/main" id="{C1E22F7A-624F-0341-0E02-4FBFFE97C1DC}"/>
              </a:ext>
            </a:extLst>
          </p:cNvPr>
          <p:cNvGraphicFramePr>
            <a:graphicFrameLocks noGrp="1"/>
          </p:cNvGraphicFramePr>
          <p:nvPr>
            <p:ph idx="1"/>
            <p:extLst>
              <p:ext uri="{D42A27DB-BD31-4B8C-83A1-F6EECF244321}">
                <p14:modId xmlns:p14="http://schemas.microsoft.com/office/powerpoint/2010/main" val="2710408895"/>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0097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5731-0A7E-82E6-655B-B98C927DA95C}"/>
              </a:ext>
            </a:extLst>
          </p:cNvPr>
          <p:cNvSpPr>
            <a:spLocks noGrp="1"/>
          </p:cNvSpPr>
          <p:nvPr>
            <p:ph type="title"/>
          </p:nvPr>
        </p:nvSpPr>
        <p:spPr/>
        <p:txBody>
          <a:bodyPr/>
          <a:lstStyle/>
          <a:p>
            <a:r>
              <a:rPr lang="en-US" dirty="0" err="1"/>
              <a:t>ResNet</a:t>
            </a:r>
            <a:r>
              <a:rPr lang="en-US" dirty="0"/>
              <a:t> – Results (Recall)</a:t>
            </a:r>
          </a:p>
        </p:txBody>
      </p:sp>
      <p:pic>
        <p:nvPicPr>
          <p:cNvPr id="6" name="Content Placeholder 5">
            <a:extLst>
              <a:ext uri="{FF2B5EF4-FFF2-40B4-BE49-F238E27FC236}">
                <a16:creationId xmlns:a16="http://schemas.microsoft.com/office/drawing/2014/main" id="{B297B527-7A68-6A7D-82B0-77A6C68D764F}"/>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201927" y="1866848"/>
            <a:ext cx="9469604" cy="4734802"/>
          </a:xfrm>
          <a:prstGeom prst="rect">
            <a:avLst/>
          </a:prstGeom>
        </p:spPr>
      </p:pic>
      <p:sp>
        <p:nvSpPr>
          <p:cNvPr id="4" name="Slide Number Placeholder 3">
            <a:extLst>
              <a:ext uri="{FF2B5EF4-FFF2-40B4-BE49-F238E27FC236}">
                <a16:creationId xmlns:a16="http://schemas.microsoft.com/office/drawing/2014/main" id="{94E720D5-0F10-5162-A4AF-7EDAF4B02640}"/>
              </a:ext>
            </a:extLst>
          </p:cNvPr>
          <p:cNvSpPr>
            <a:spLocks noGrp="1"/>
          </p:cNvSpPr>
          <p:nvPr>
            <p:ph type="sldNum" sz="quarter" idx="12"/>
          </p:nvPr>
        </p:nvSpPr>
        <p:spPr/>
        <p:txBody>
          <a:bodyPr/>
          <a:lstStyle/>
          <a:p>
            <a:fld id="{148CC95F-0247-41B6-91CF-DC97C76A7088}" type="slidenum">
              <a:rPr lang="en-US" smtClean="0"/>
              <a:t>25</a:t>
            </a:fld>
            <a:endParaRPr lang="en-US"/>
          </a:p>
        </p:txBody>
      </p:sp>
    </p:spTree>
    <p:extLst>
      <p:ext uri="{BB962C8B-B14F-4D97-AF65-F5344CB8AC3E}">
        <p14:creationId xmlns:p14="http://schemas.microsoft.com/office/powerpoint/2010/main" val="1470321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3D2F-8787-75A0-2E33-12302FB58C14}"/>
              </a:ext>
            </a:extLst>
          </p:cNvPr>
          <p:cNvSpPr>
            <a:spLocks noGrp="1"/>
          </p:cNvSpPr>
          <p:nvPr>
            <p:ph type="title"/>
          </p:nvPr>
        </p:nvSpPr>
        <p:spPr/>
        <p:txBody>
          <a:bodyPr/>
          <a:lstStyle/>
          <a:p>
            <a:r>
              <a:rPr lang="en-US" dirty="0" err="1"/>
              <a:t>ResNet</a:t>
            </a:r>
            <a:r>
              <a:rPr lang="en-US" dirty="0"/>
              <a:t> – Results (</a:t>
            </a:r>
            <a:r>
              <a:rPr lang="en-US" dirty="0" err="1"/>
              <a:t>Percision</a:t>
            </a:r>
            <a:r>
              <a:rPr lang="en-US" dirty="0"/>
              <a:t>)</a:t>
            </a:r>
          </a:p>
        </p:txBody>
      </p:sp>
      <p:pic>
        <p:nvPicPr>
          <p:cNvPr id="6" name="Content Placeholder 5">
            <a:extLst>
              <a:ext uri="{FF2B5EF4-FFF2-40B4-BE49-F238E27FC236}">
                <a16:creationId xmlns:a16="http://schemas.microsoft.com/office/drawing/2014/main" id="{CA613804-AD6F-EDE6-C8D2-78D930562ACE}"/>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413029" y="1848058"/>
            <a:ext cx="9365942" cy="4682971"/>
          </a:xfrm>
          <a:prstGeom prst="rect">
            <a:avLst/>
          </a:prstGeom>
        </p:spPr>
      </p:pic>
      <p:sp>
        <p:nvSpPr>
          <p:cNvPr id="4" name="Slide Number Placeholder 3">
            <a:extLst>
              <a:ext uri="{FF2B5EF4-FFF2-40B4-BE49-F238E27FC236}">
                <a16:creationId xmlns:a16="http://schemas.microsoft.com/office/drawing/2014/main" id="{C4C838E7-E7B7-8A6E-89AF-748E046D9705}"/>
              </a:ext>
            </a:extLst>
          </p:cNvPr>
          <p:cNvSpPr>
            <a:spLocks noGrp="1"/>
          </p:cNvSpPr>
          <p:nvPr>
            <p:ph type="sldNum" sz="quarter" idx="12"/>
          </p:nvPr>
        </p:nvSpPr>
        <p:spPr/>
        <p:txBody>
          <a:bodyPr/>
          <a:lstStyle/>
          <a:p>
            <a:fld id="{148CC95F-0247-41B6-91CF-DC97C76A7088}" type="slidenum">
              <a:rPr lang="en-US" smtClean="0"/>
              <a:t>26</a:t>
            </a:fld>
            <a:endParaRPr lang="en-US"/>
          </a:p>
        </p:txBody>
      </p:sp>
    </p:spTree>
    <p:extLst>
      <p:ext uri="{BB962C8B-B14F-4D97-AF65-F5344CB8AC3E}">
        <p14:creationId xmlns:p14="http://schemas.microsoft.com/office/powerpoint/2010/main" val="1255975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E762B-2443-E5A8-EF66-6AF282827776}"/>
              </a:ext>
            </a:extLst>
          </p:cNvPr>
          <p:cNvSpPr>
            <a:spLocks noGrp="1"/>
          </p:cNvSpPr>
          <p:nvPr>
            <p:ph type="title"/>
          </p:nvPr>
        </p:nvSpPr>
        <p:spPr/>
        <p:txBody>
          <a:bodyPr/>
          <a:lstStyle/>
          <a:p>
            <a:r>
              <a:rPr lang="en-US" dirty="0" err="1"/>
              <a:t>ResNet</a:t>
            </a:r>
            <a:r>
              <a:rPr lang="en-US" dirty="0"/>
              <a:t> – Results (F1)</a:t>
            </a:r>
          </a:p>
        </p:txBody>
      </p:sp>
      <p:pic>
        <p:nvPicPr>
          <p:cNvPr id="6" name="Content Placeholder 5">
            <a:extLst>
              <a:ext uri="{FF2B5EF4-FFF2-40B4-BE49-F238E27FC236}">
                <a16:creationId xmlns:a16="http://schemas.microsoft.com/office/drawing/2014/main" id="{F9B35EA9-A148-978B-4E68-973403F1A63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062795" y="1905955"/>
            <a:ext cx="9391390" cy="4695695"/>
          </a:xfrm>
          <a:prstGeom prst="rect">
            <a:avLst/>
          </a:prstGeom>
        </p:spPr>
      </p:pic>
      <p:sp>
        <p:nvSpPr>
          <p:cNvPr id="4" name="Slide Number Placeholder 3">
            <a:extLst>
              <a:ext uri="{FF2B5EF4-FFF2-40B4-BE49-F238E27FC236}">
                <a16:creationId xmlns:a16="http://schemas.microsoft.com/office/drawing/2014/main" id="{B959CC37-FAE9-1BCB-D9A6-BE79B4EC333F}"/>
              </a:ext>
            </a:extLst>
          </p:cNvPr>
          <p:cNvSpPr>
            <a:spLocks noGrp="1"/>
          </p:cNvSpPr>
          <p:nvPr>
            <p:ph type="sldNum" sz="quarter" idx="12"/>
          </p:nvPr>
        </p:nvSpPr>
        <p:spPr/>
        <p:txBody>
          <a:bodyPr/>
          <a:lstStyle/>
          <a:p>
            <a:fld id="{148CC95F-0247-41B6-91CF-DC97C76A7088}" type="slidenum">
              <a:rPr lang="en-US" smtClean="0"/>
              <a:t>27</a:t>
            </a:fld>
            <a:endParaRPr lang="en-US"/>
          </a:p>
        </p:txBody>
      </p:sp>
    </p:spTree>
    <p:extLst>
      <p:ext uri="{BB962C8B-B14F-4D97-AF65-F5344CB8AC3E}">
        <p14:creationId xmlns:p14="http://schemas.microsoft.com/office/powerpoint/2010/main" val="388804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D09E-80E7-5E89-39B8-89C4E4FC4116}"/>
              </a:ext>
            </a:extLst>
          </p:cNvPr>
          <p:cNvSpPr>
            <a:spLocks noGrp="1"/>
          </p:cNvSpPr>
          <p:nvPr>
            <p:ph type="title"/>
          </p:nvPr>
        </p:nvSpPr>
        <p:spPr/>
        <p:txBody>
          <a:bodyPr/>
          <a:lstStyle/>
          <a:p>
            <a:r>
              <a:rPr lang="en-US" dirty="0"/>
              <a:t>Used resources</a:t>
            </a:r>
          </a:p>
        </p:txBody>
      </p:sp>
      <p:sp>
        <p:nvSpPr>
          <p:cNvPr id="3" name="Content Placeholder 2">
            <a:extLst>
              <a:ext uri="{FF2B5EF4-FFF2-40B4-BE49-F238E27FC236}">
                <a16:creationId xmlns:a16="http://schemas.microsoft.com/office/drawing/2014/main" id="{2411D25C-9033-58A6-DA22-6EDA1745255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E353118-423D-39D0-F596-290E76F49026}"/>
              </a:ext>
            </a:extLst>
          </p:cNvPr>
          <p:cNvSpPr>
            <a:spLocks noGrp="1"/>
          </p:cNvSpPr>
          <p:nvPr>
            <p:ph type="sldNum" sz="quarter" idx="12"/>
          </p:nvPr>
        </p:nvSpPr>
        <p:spPr/>
        <p:txBody>
          <a:bodyPr/>
          <a:lstStyle/>
          <a:p>
            <a:fld id="{148CC95F-0247-41B6-91CF-DC97C76A7088}" type="slidenum">
              <a:rPr lang="en-US" smtClean="0"/>
              <a:t>28</a:t>
            </a:fld>
            <a:endParaRPr lang="en-US"/>
          </a:p>
        </p:txBody>
      </p:sp>
    </p:spTree>
    <p:extLst>
      <p:ext uri="{BB962C8B-B14F-4D97-AF65-F5344CB8AC3E}">
        <p14:creationId xmlns:p14="http://schemas.microsoft.com/office/powerpoint/2010/main" val="1375509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6B1E-5C1F-5AED-51BE-24BFB96C64AD}"/>
              </a:ext>
            </a:extLst>
          </p:cNvPr>
          <p:cNvSpPr>
            <a:spLocks noGrp="1"/>
          </p:cNvSpPr>
          <p:nvPr>
            <p:ph type="title"/>
          </p:nvPr>
        </p:nvSpPr>
        <p:spPr/>
        <p:txBody>
          <a:bodyPr/>
          <a:lstStyle/>
          <a:p>
            <a:r>
              <a:rPr lang="en-US" dirty="0"/>
              <a:t>Summary and Conclusion</a:t>
            </a:r>
          </a:p>
        </p:txBody>
      </p:sp>
      <p:sp>
        <p:nvSpPr>
          <p:cNvPr id="3" name="Content Placeholder 2">
            <a:extLst>
              <a:ext uri="{FF2B5EF4-FFF2-40B4-BE49-F238E27FC236}">
                <a16:creationId xmlns:a16="http://schemas.microsoft.com/office/drawing/2014/main" id="{647A5DFD-D86D-26AE-E3C3-5C974337ACC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F4E1A8F-3605-86B6-61DC-F2EF3B6C6412}"/>
              </a:ext>
            </a:extLst>
          </p:cNvPr>
          <p:cNvSpPr>
            <a:spLocks noGrp="1"/>
          </p:cNvSpPr>
          <p:nvPr>
            <p:ph type="sldNum" sz="quarter" idx="12"/>
          </p:nvPr>
        </p:nvSpPr>
        <p:spPr/>
        <p:txBody>
          <a:bodyPr/>
          <a:lstStyle/>
          <a:p>
            <a:fld id="{148CC95F-0247-41B6-91CF-DC97C76A7088}" type="slidenum">
              <a:rPr lang="en-US" smtClean="0"/>
              <a:t>29</a:t>
            </a:fld>
            <a:endParaRPr lang="en-US"/>
          </a:p>
        </p:txBody>
      </p:sp>
    </p:spTree>
    <p:extLst>
      <p:ext uri="{BB962C8B-B14F-4D97-AF65-F5344CB8AC3E}">
        <p14:creationId xmlns:p14="http://schemas.microsoft.com/office/powerpoint/2010/main" val="985839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0E64-5163-254A-9365-E22E5114ADE5}"/>
              </a:ext>
            </a:extLst>
          </p:cNvPr>
          <p:cNvSpPr>
            <a:spLocks noGrp="1"/>
          </p:cNvSpPr>
          <p:nvPr>
            <p:ph type="title"/>
          </p:nvPr>
        </p:nvSpPr>
        <p:spPr/>
        <p:txBody>
          <a:bodyPr/>
          <a:lstStyle/>
          <a:p>
            <a:r>
              <a:rPr lang="en-US" dirty="0"/>
              <a:t>Any Question</a:t>
            </a:r>
          </a:p>
        </p:txBody>
      </p:sp>
      <p:sp>
        <p:nvSpPr>
          <p:cNvPr id="3" name="Content Placeholder 2">
            <a:extLst>
              <a:ext uri="{FF2B5EF4-FFF2-40B4-BE49-F238E27FC236}">
                <a16:creationId xmlns:a16="http://schemas.microsoft.com/office/drawing/2014/main" id="{D3BA0694-9C2A-13C3-3F72-1296D99A259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39DC01E-281F-27EA-E55E-24BFDE609415}"/>
              </a:ext>
            </a:extLst>
          </p:cNvPr>
          <p:cNvSpPr>
            <a:spLocks noGrp="1"/>
          </p:cNvSpPr>
          <p:nvPr>
            <p:ph type="sldNum" sz="quarter" idx="12"/>
          </p:nvPr>
        </p:nvSpPr>
        <p:spPr/>
        <p:txBody>
          <a:bodyPr/>
          <a:lstStyle/>
          <a:p>
            <a:fld id="{148CC95F-0247-41B6-91CF-DC97C76A7088}" type="slidenum">
              <a:rPr lang="en-US" smtClean="0"/>
              <a:t>30</a:t>
            </a:fld>
            <a:endParaRPr lang="en-US"/>
          </a:p>
        </p:txBody>
      </p:sp>
    </p:spTree>
    <p:extLst>
      <p:ext uri="{BB962C8B-B14F-4D97-AF65-F5344CB8AC3E}">
        <p14:creationId xmlns:p14="http://schemas.microsoft.com/office/powerpoint/2010/main" val="713223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A24B-E157-B010-0986-02E20E0E98A7}"/>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56090351-2775-76C2-3DD2-0524158035F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C04EC4D-69AF-4A1B-BAB8-3142495783B4}"/>
              </a:ext>
            </a:extLst>
          </p:cNvPr>
          <p:cNvSpPr>
            <a:spLocks noGrp="1"/>
          </p:cNvSpPr>
          <p:nvPr>
            <p:ph type="sldNum" sz="quarter" idx="12"/>
          </p:nvPr>
        </p:nvSpPr>
        <p:spPr/>
        <p:txBody>
          <a:bodyPr/>
          <a:lstStyle/>
          <a:p>
            <a:fld id="{148CC95F-0247-41B6-91CF-DC97C76A7088}" type="slidenum">
              <a:rPr lang="en-US" smtClean="0"/>
              <a:t>31</a:t>
            </a:fld>
            <a:endParaRPr lang="en-US"/>
          </a:p>
        </p:txBody>
      </p:sp>
    </p:spTree>
    <p:extLst>
      <p:ext uri="{BB962C8B-B14F-4D97-AF65-F5344CB8AC3E}">
        <p14:creationId xmlns:p14="http://schemas.microsoft.com/office/powerpoint/2010/main" val="245840063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TotalTime>
  <Words>1713</Words>
  <Application>Microsoft Office PowerPoint</Application>
  <PresentationFormat>Widescreen</PresentationFormat>
  <Paragraphs>289</Paragraphs>
  <Slides>31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Bierstadt</vt:lpstr>
      <vt:lpstr>Cambria Math</vt:lpstr>
      <vt:lpstr>Neue Haas Grotesk Text Pro</vt:lpstr>
      <vt:lpstr>GestaltVTI</vt:lpstr>
      <vt:lpstr>Adversarial Machine Learning Use of Reverse Engineering for Anomaly Detection in Industrial Control Systems</vt:lpstr>
      <vt:lpstr>What was our main goals?</vt:lpstr>
      <vt:lpstr>Why do we do that? </vt:lpstr>
      <vt:lpstr>How?</vt:lpstr>
      <vt:lpstr>Datasets</vt:lpstr>
      <vt:lpstr>Statistical Analysis</vt:lpstr>
      <vt:lpstr>Statistical Analysis cont’d</vt:lpstr>
      <vt:lpstr>Stacked denoising autoencoder (SDA)</vt:lpstr>
      <vt:lpstr>How we used SDA?</vt:lpstr>
      <vt:lpstr>Reverse Engineering</vt:lpstr>
      <vt:lpstr>Reverse Engineering (cont’d)</vt:lpstr>
      <vt:lpstr>ML approaches</vt:lpstr>
      <vt:lpstr>ML app x – brief </vt:lpstr>
      <vt:lpstr>ML app x - results</vt:lpstr>
      <vt:lpstr>DL approaches</vt:lpstr>
      <vt:lpstr>DL approach x - Approach</vt:lpstr>
      <vt:lpstr>DL approach x - results</vt:lpstr>
      <vt:lpstr>GAN</vt:lpstr>
      <vt:lpstr>Discriminator &amp; Generator</vt:lpstr>
      <vt:lpstr>N-gram–Based Anomaly Detection</vt:lpstr>
      <vt:lpstr>Plots and results</vt:lpstr>
      <vt:lpstr>ResNet</vt:lpstr>
      <vt:lpstr>Statistical features added to ResNet</vt:lpstr>
      <vt:lpstr>How ResNet is used for Anomaly Detection</vt:lpstr>
      <vt:lpstr>ResNet – Results (Recall)</vt:lpstr>
      <vt:lpstr>ResNet – Results (Percision)</vt:lpstr>
      <vt:lpstr>ResNet – Results (F1)</vt:lpstr>
      <vt:lpstr>Used resources</vt:lpstr>
      <vt:lpstr>Summary and Conclusion</vt:lpstr>
      <vt:lpstr>Any 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عبدالعزيز صلاح محمد عبده نعمه الله</dc:creator>
  <cp:lastModifiedBy>عبدالعزيز صلاح محمد عبده نعمه الله</cp:lastModifiedBy>
  <cp:revision>15</cp:revision>
  <dcterms:created xsi:type="dcterms:W3CDTF">2026-01-29T16:48:04Z</dcterms:created>
  <dcterms:modified xsi:type="dcterms:W3CDTF">2026-01-30T23:36:02Z</dcterms:modified>
</cp:coreProperties>
</file>