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21"/>
  </p:notesMasterIdLst>
  <p:sldIdLst>
    <p:sldId id="256" r:id="rId2"/>
    <p:sldId id="257" r:id="rId3"/>
    <p:sldId id="258" r:id="rId4"/>
    <p:sldId id="259" r:id="rId5"/>
    <p:sldId id="263" r:id="rId6"/>
    <p:sldId id="260" r:id="rId7"/>
    <p:sldId id="261" r:id="rId8"/>
    <p:sldId id="262"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1" d="100"/>
          <a:sy n="61" d="100"/>
        </p:scale>
        <p:origin x="27" y="93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1BABCC-39B4-40B3-AFC0-D7FD3FE81B3C}" type="datetimeFigureOut">
              <a:rPr lang="en-US" smtClean="0"/>
              <a:t>1/29/2026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0D081D-23EA-4D49-B290-3AF2BB101D77}" type="slidenum">
              <a:rPr lang="en-US" smtClean="0"/>
              <a:t>‹#›</a:t>
            </a:fld>
            <a:endParaRPr lang="en-US"/>
          </a:p>
        </p:txBody>
      </p:sp>
    </p:spTree>
    <p:extLst>
      <p:ext uri="{BB962C8B-B14F-4D97-AF65-F5344CB8AC3E}">
        <p14:creationId xmlns:p14="http://schemas.microsoft.com/office/powerpoint/2010/main" val="2206860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1440EDA9-3D82-41F5-A154-154FF7F6D999}" type="datetime1">
              <a:rPr lang="en-US" smtClean="0"/>
              <a:t>1/29/2026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095542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2918E08E-5CF1-485D-A5EE-BC299CA46DAD}" type="datetime1">
              <a:rPr lang="en-US" smtClean="0"/>
              <a:t>1/29/2026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795387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473DD787-46F4-44A6-8811-035C4F4C5A29}" type="datetime1">
              <a:rPr lang="en-US" smtClean="0"/>
              <a:t>1/29/2026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2686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7E04F875-E20B-426A-B938-9A8FB1B8A7E2}" type="datetime1">
              <a:rPr lang="en-US" smtClean="0"/>
              <a:t>1/29/2026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0788977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04B3E678-51D6-41EB-AA8D-B68C527BA419}" type="datetime1">
              <a:rPr lang="en-US" smtClean="0"/>
              <a:t>1/29/2026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779152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A67AA7C8-587F-44DF-85F0-7DFEF948014B}" type="datetime1">
              <a:rPr lang="en-US" smtClean="0"/>
              <a:t>1/29/2026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808394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55DC47C2-7A04-4382-AA7B-592A9D8E40E6}" type="datetime1">
              <a:rPr lang="en-US" smtClean="0"/>
              <a:t>1/29/2026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2066406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9012DF50-4FDF-4A2B-8B54-33AD35E8E3A1}" type="datetime1">
              <a:rPr lang="en-US" smtClean="0"/>
              <a:t>1/29/2026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91902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EEDBF39-6ECF-4927-AFE5-214375757819}" type="datetime1">
              <a:rPr lang="en-US" smtClean="0"/>
              <a:t>1/29/2026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56758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6929DF3E-21AF-4CEE-8BAA-4E5F791D7FF0}" type="datetime1">
              <a:rPr lang="en-US" smtClean="0"/>
              <a:t>1/29/2026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043124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155A01A2-19E8-4BEB-B284-470E4FA232A2}" type="datetime1">
              <a:rPr lang="en-US" smtClean="0"/>
              <a:t>1/29/2026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48495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AD68C140-22AE-4942-B39F-565027563078}" type="datetime1">
              <a:rPr lang="en-US" smtClean="0"/>
              <a:t>1/29/2026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556813730"/>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 id="2147483665" r:id="rId10"/>
    <p:sldLayoutId id="2147483667" r:id="rId11"/>
  </p:sldLayoutIdLst>
  <p:hf hdr="0" ftr="0" dt="0"/>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Picture 4">
            <a:extLst>
              <a:ext uri="{FF2B5EF4-FFF2-40B4-BE49-F238E27FC236}">
                <a16:creationId xmlns:a16="http://schemas.microsoft.com/office/drawing/2014/main" id="{945B6151-99FC-BB30-CC88-A7A1FE4233C9}"/>
              </a:ext>
            </a:extLst>
          </p:cNvPr>
          <p:cNvPicPr>
            <a:picLocks noChangeAspect="1"/>
          </p:cNvPicPr>
          <p:nvPr/>
        </p:nvPicPr>
        <p:blipFill>
          <a:blip r:embed="rId2"/>
          <a:srcRect r="11111"/>
          <a:stretch>
            <a:fillRect/>
          </a:stretch>
        </p:blipFill>
        <p:spPr>
          <a:xfrm>
            <a:off x="20" y="10"/>
            <a:ext cx="12191979" cy="6857990"/>
          </a:xfrm>
          <a:prstGeom prst="rect">
            <a:avLst/>
          </a:prstGeom>
        </p:spPr>
      </p:pic>
      <p:sp>
        <p:nvSpPr>
          <p:cNvPr id="12" name="Rectangle 11">
            <a:extLst>
              <a:ext uri="{FF2B5EF4-FFF2-40B4-BE49-F238E27FC236}">
                <a16:creationId xmlns:a16="http://schemas.microsoft.com/office/drawing/2014/main" id="{912025B4-7337-735E-4DC9-E634D20119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73183" y="173181"/>
            <a:ext cx="6858002" cy="6511640"/>
          </a:xfrm>
          <a:prstGeom prst="rect">
            <a:avLst/>
          </a:prstGeom>
          <a:gradFill>
            <a:gsLst>
              <a:gs pos="0">
                <a:schemeClr val="bg1">
                  <a:alpha val="0"/>
                </a:schemeClr>
              </a:gs>
              <a:gs pos="46000">
                <a:schemeClr val="bg1">
                  <a:alpha val="20000"/>
                </a:schemeClr>
              </a:gs>
              <a:gs pos="26000">
                <a:schemeClr val="bg1">
                  <a:alpha val="7000"/>
                </a:schemeClr>
              </a:gs>
              <a:gs pos="100000">
                <a:schemeClr val="bg1">
                  <a:alpha val="3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F3E9AFF-7D00-4110-F034-0DC17AA0A460}"/>
              </a:ext>
            </a:extLst>
          </p:cNvPr>
          <p:cNvSpPr>
            <a:spLocks noGrp="1"/>
          </p:cNvSpPr>
          <p:nvPr>
            <p:ph type="ctrTitle"/>
          </p:nvPr>
        </p:nvSpPr>
        <p:spPr>
          <a:xfrm>
            <a:off x="438910" y="978408"/>
            <a:ext cx="4795819" cy="3969960"/>
          </a:xfrm>
        </p:spPr>
        <p:txBody>
          <a:bodyPr vert="horz" lIns="91440" tIns="45720" rIns="91440" bIns="45720" rtlCol="0" anchor="t">
            <a:normAutofit/>
          </a:bodyPr>
          <a:lstStyle/>
          <a:p>
            <a:pPr>
              <a:lnSpc>
                <a:spcPct val="90000"/>
              </a:lnSpc>
            </a:pPr>
            <a:r>
              <a:rPr lang="en-US" sz="3600"/>
              <a:t>Adversarial Machine Learning Use of Reverse Engineering for Anomaly Detection in Industrial Control Systems</a:t>
            </a:r>
            <a:endParaRPr lang="en-US" sz="3600">
              <a:effectLst/>
            </a:endParaRPr>
          </a:p>
        </p:txBody>
      </p:sp>
      <p:sp>
        <p:nvSpPr>
          <p:cNvPr id="3" name="Subtitle 2">
            <a:extLst>
              <a:ext uri="{FF2B5EF4-FFF2-40B4-BE49-F238E27FC236}">
                <a16:creationId xmlns:a16="http://schemas.microsoft.com/office/drawing/2014/main" id="{AA95D4F7-9853-2E8C-4E85-1DDD03CDA06F}"/>
              </a:ext>
            </a:extLst>
          </p:cNvPr>
          <p:cNvSpPr>
            <a:spLocks noGrp="1"/>
          </p:cNvSpPr>
          <p:nvPr>
            <p:ph type="subTitle" idx="1"/>
          </p:nvPr>
        </p:nvSpPr>
        <p:spPr>
          <a:xfrm>
            <a:off x="438910" y="4948369"/>
            <a:ext cx="4381634" cy="1157436"/>
          </a:xfrm>
        </p:spPr>
        <p:txBody>
          <a:bodyPr vert="horz" lIns="91440" tIns="45720" rIns="91440" bIns="45720" rtlCol="0" anchor="b">
            <a:normAutofit/>
          </a:bodyPr>
          <a:lstStyle/>
          <a:p>
            <a:r>
              <a:rPr lang="en-US" sz="2400" i="1" kern="1200">
                <a:solidFill>
                  <a:schemeClr val="tx1"/>
                </a:solidFill>
                <a:latin typeface="+mn-lt"/>
                <a:ea typeface="+mn-ea"/>
                <a:cs typeface="+mn-cs"/>
              </a:rPr>
              <a:t>Study Project</a:t>
            </a:r>
          </a:p>
        </p:txBody>
      </p:sp>
      <p:sp>
        <p:nvSpPr>
          <p:cNvPr id="14" name="Rectangle 13">
            <a:extLst>
              <a:ext uri="{FF2B5EF4-FFF2-40B4-BE49-F238E27FC236}">
                <a16:creationId xmlns:a16="http://schemas.microsoft.com/office/drawing/2014/main" id="{150CDACD-D191-E642-F686-FCB54B7E5F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4695702"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4" name="Subtitle 2">
            <a:extLst>
              <a:ext uri="{FF2B5EF4-FFF2-40B4-BE49-F238E27FC236}">
                <a16:creationId xmlns:a16="http://schemas.microsoft.com/office/drawing/2014/main" id="{7ABC5888-2B94-C2CF-8BCE-2F2113046399}"/>
              </a:ext>
            </a:extLst>
          </p:cNvPr>
          <p:cNvSpPr txBox="1">
            <a:spLocks/>
          </p:cNvSpPr>
          <p:nvPr/>
        </p:nvSpPr>
        <p:spPr>
          <a:xfrm>
            <a:off x="-402492" y="5051792"/>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Group 17: Abdelaziz Salah &amp; Anna</a:t>
            </a:r>
          </a:p>
        </p:txBody>
      </p:sp>
      <p:sp>
        <p:nvSpPr>
          <p:cNvPr id="6" name="Slide Number Placeholder 5">
            <a:extLst>
              <a:ext uri="{FF2B5EF4-FFF2-40B4-BE49-F238E27FC236}">
                <a16:creationId xmlns:a16="http://schemas.microsoft.com/office/drawing/2014/main" id="{D7658ADC-7174-FCE6-7E23-D9D2E292C03C}"/>
              </a:ext>
            </a:extLst>
          </p:cNvPr>
          <p:cNvSpPr>
            <a:spLocks noGrp="1"/>
          </p:cNvSpPr>
          <p:nvPr>
            <p:ph type="sldNum" sz="quarter" idx="12"/>
          </p:nvPr>
        </p:nvSpPr>
        <p:spPr/>
        <p:txBody>
          <a:bodyPr/>
          <a:lstStyle/>
          <a:p>
            <a:fld id="{148CC95F-0247-41B6-91CF-DC97C76A7088}" type="slidenum">
              <a:rPr lang="en-US" smtClean="0"/>
              <a:t>1</a:t>
            </a:fld>
            <a:endParaRPr lang="en-US"/>
          </a:p>
        </p:txBody>
      </p:sp>
    </p:spTree>
    <p:extLst>
      <p:ext uri="{BB962C8B-B14F-4D97-AF65-F5344CB8AC3E}">
        <p14:creationId xmlns:p14="http://schemas.microsoft.com/office/powerpoint/2010/main" val="271875053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347C2-1A3F-026F-5680-D298690B1201}"/>
              </a:ext>
            </a:extLst>
          </p:cNvPr>
          <p:cNvSpPr>
            <a:spLocks noGrp="1"/>
          </p:cNvSpPr>
          <p:nvPr>
            <p:ph type="title"/>
          </p:nvPr>
        </p:nvSpPr>
        <p:spPr/>
        <p:txBody>
          <a:bodyPr/>
          <a:lstStyle/>
          <a:p>
            <a:r>
              <a:rPr lang="en-US" dirty="0"/>
              <a:t>What was our main goals?</a:t>
            </a:r>
          </a:p>
        </p:txBody>
      </p:sp>
      <p:sp>
        <p:nvSpPr>
          <p:cNvPr id="3" name="Content Placeholder 2">
            <a:extLst>
              <a:ext uri="{FF2B5EF4-FFF2-40B4-BE49-F238E27FC236}">
                <a16:creationId xmlns:a16="http://schemas.microsoft.com/office/drawing/2014/main" id="{BE6381DB-C7E5-FC3F-7048-26DCFE1A3209}"/>
              </a:ext>
            </a:extLst>
          </p:cNvPr>
          <p:cNvSpPr>
            <a:spLocks noGrp="1"/>
          </p:cNvSpPr>
          <p:nvPr>
            <p:ph idx="1"/>
          </p:nvPr>
        </p:nvSpPr>
        <p:spPr/>
        <p:txBody>
          <a:bodyPr/>
          <a:lstStyle/>
          <a:p>
            <a:endParaRPr lang="en-US" dirty="0"/>
          </a:p>
          <a:p>
            <a:r>
              <a:rPr lang="en-US" dirty="0"/>
              <a:t>Implement and evaluate different approaches to extract expressive patterns network traffic collected in the OT area. </a:t>
            </a:r>
          </a:p>
          <a:p>
            <a:r>
              <a:rPr lang="en-US" dirty="0"/>
              <a:t>Use reverse engineering methods to derive specific chunks from the observed network packets.</a:t>
            </a:r>
          </a:p>
          <a:p>
            <a:r>
              <a:rPr lang="en-US" dirty="0"/>
              <a:t>Train different machine learning  and deep learning methods to train a classifier with the reverse engineered chunks</a:t>
            </a:r>
          </a:p>
        </p:txBody>
      </p:sp>
      <p:sp>
        <p:nvSpPr>
          <p:cNvPr id="4" name="Slide Number Placeholder 3">
            <a:extLst>
              <a:ext uri="{FF2B5EF4-FFF2-40B4-BE49-F238E27FC236}">
                <a16:creationId xmlns:a16="http://schemas.microsoft.com/office/drawing/2014/main" id="{0D627B08-4385-71FD-53BD-B9B7776E1291}"/>
              </a:ext>
            </a:extLst>
          </p:cNvPr>
          <p:cNvSpPr>
            <a:spLocks noGrp="1"/>
          </p:cNvSpPr>
          <p:nvPr>
            <p:ph type="sldNum" sz="quarter" idx="12"/>
          </p:nvPr>
        </p:nvSpPr>
        <p:spPr/>
        <p:txBody>
          <a:bodyPr/>
          <a:lstStyle/>
          <a:p>
            <a:fld id="{148CC95F-0247-41B6-91CF-DC97C76A7088}" type="slidenum">
              <a:rPr lang="en-US" smtClean="0"/>
              <a:t>2</a:t>
            </a:fld>
            <a:endParaRPr lang="en-US"/>
          </a:p>
        </p:txBody>
      </p:sp>
    </p:spTree>
    <p:extLst>
      <p:ext uri="{BB962C8B-B14F-4D97-AF65-F5344CB8AC3E}">
        <p14:creationId xmlns:p14="http://schemas.microsoft.com/office/powerpoint/2010/main" val="6796168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F36ED-4CAA-9EC4-3DE9-07C7981FA41A}"/>
              </a:ext>
            </a:extLst>
          </p:cNvPr>
          <p:cNvSpPr>
            <a:spLocks noGrp="1"/>
          </p:cNvSpPr>
          <p:nvPr>
            <p:ph type="title"/>
          </p:nvPr>
        </p:nvSpPr>
        <p:spPr/>
        <p:txBody>
          <a:bodyPr/>
          <a:lstStyle/>
          <a:p>
            <a:r>
              <a:rPr lang="en-US" dirty="0"/>
              <a:t>Why do we do that? </a:t>
            </a:r>
          </a:p>
        </p:txBody>
      </p:sp>
      <p:sp>
        <p:nvSpPr>
          <p:cNvPr id="3" name="Content Placeholder 2">
            <a:extLst>
              <a:ext uri="{FF2B5EF4-FFF2-40B4-BE49-F238E27FC236}">
                <a16:creationId xmlns:a16="http://schemas.microsoft.com/office/drawing/2014/main" id="{2CDF55CF-8A9B-A97C-FBDF-4C3DBC1950CF}"/>
              </a:ext>
            </a:extLst>
          </p:cNvPr>
          <p:cNvSpPr>
            <a:spLocks noGrp="1"/>
          </p:cNvSpPr>
          <p:nvPr>
            <p:ph idx="1"/>
          </p:nvPr>
        </p:nvSpPr>
        <p:spPr/>
        <p:txBody>
          <a:bodyPr/>
          <a:lstStyle/>
          <a:p>
            <a:r>
              <a:rPr lang="en-US" dirty="0"/>
              <a:t>The main idea is to be able to create an anomaly detection for ICS even if we do not have the used protocol as open-source. </a:t>
            </a:r>
          </a:p>
          <a:p>
            <a:r>
              <a:rPr lang="en-US" dirty="0"/>
              <a:t>So, we can reverse engineer the network packets in our OT, and based on this traffic, we can train different machine learning classifiers to help us detect if there is any kind of attacks. </a:t>
            </a:r>
          </a:p>
          <a:p>
            <a:r>
              <a:rPr lang="en-US" dirty="0"/>
              <a:t>We assume that the ICS operator utilizes proprietary binary protocols, i.e., the approaches to be developed cannot directly parse the content of transmitted network packets. </a:t>
            </a:r>
          </a:p>
          <a:p>
            <a:r>
              <a:rPr lang="en-US" dirty="0"/>
              <a:t>However, the defender can rely on reverse engineering methods to derive only specific chunks from the observed network packets.</a:t>
            </a:r>
          </a:p>
        </p:txBody>
      </p:sp>
      <p:sp>
        <p:nvSpPr>
          <p:cNvPr id="4" name="Slide Number Placeholder 3">
            <a:extLst>
              <a:ext uri="{FF2B5EF4-FFF2-40B4-BE49-F238E27FC236}">
                <a16:creationId xmlns:a16="http://schemas.microsoft.com/office/drawing/2014/main" id="{BDE8F50D-7441-49C5-D125-4303132A596C}"/>
              </a:ext>
            </a:extLst>
          </p:cNvPr>
          <p:cNvSpPr>
            <a:spLocks noGrp="1"/>
          </p:cNvSpPr>
          <p:nvPr>
            <p:ph type="sldNum" sz="quarter" idx="12"/>
          </p:nvPr>
        </p:nvSpPr>
        <p:spPr/>
        <p:txBody>
          <a:bodyPr/>
          <a:lstStyle/>
          <a:p>
            <a:fld id="{148CC95F-0247-41B6-91CF-DC97C76A7088}" type="slidenum">
              <a:rPr lang="en-US" smtClean="0"/>
              <a:t>3</a:t>
            </a:fld>
            <a:endParaRPr lang="en-US"/>
          </a:p>
        </p:txBody>
      </p:sp>
    </p:spTree>
    <p:extLst>
      <p:ext uri="{BB962C8B-B14F-4D97-AF65-F5344CB8AC3E}">
        <p14:creationId xmlns:p14="http://schemas.microsoft.com/office/powerpoint/2010/main" val="1060522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5C92-4F1B-9B07-3496-0FB9AA940C4E}"/>
              </a:ext>
            </a:extLst>
          </p:cNvPr>
          <p:cNvSpPr>
            <a:spLocks noGrp="1"/>
          </p:cNvSpPr>
          <p:nvPr>
            <p:ph type="title"/>
          </p:nvPr>
        </p:nvSpPr>
        <p:spPr/>
        <p:txBody>
          <a:bodyPr/>
          <a:lstStyle/>
          <a:p>
            <a:r>
              <a:rPr lang="en-US" dirty="0"/>
              <a:t>How?</a:t>
            </a:r>
          </a:p>
        </p:txBody>
      </p:sp>
      <p:sp>
        <p:nvSpPr>
          <p:cNvPr id="3" name="Content Placeholder 2">
            <a:extLst>
              <a:ext uri="{FF2B5EF4-FFF2-40B4-BE49-F238E27FC236}">
                <a16:creationId xmlns:a16="http://schemas.microsoft.com/office/drawing/2014/main" id="{ED62F3C7-144D-BD01-E954-FCF6051A14C2}"/>
              </a:ext>
            </a:extLst>
          </p:cNvPr>
          <p:cNvSpPr>
            <a:spLocks noGrp="1"/>
          </p:cNvSpPr>
          <p:nvPr>
            <p:ph idx="1"/>
          </p:nvPr>
        </p:nvSpPr>
        <p:spPr>
          <a:xfrm>
            <a:off x="521208" y="2289908"/>
            <a:ext cx="11155680" cy="4056028"/>
          </a:xfrm>
        </p:spPr>
        <p:txBody>
          <a:bodyPr>
            <a:normAutofit/>
          </a:bodyPr>
          <a:lstStyle/>
          <a:p>
            <a:pPr marL="342900" indent="-342900">
              <a:buFont typeface="+mj-lt"/>
              <a:buAutoNum type="arabicPeriod"/>
            </a:pPr>
            <a:r>
              <a:rPr lang="en-US" dirty="0"/>
              <a:t>Getting Datasets</a:t>
            </a:r>
          </a:p>
          <a:p>
            <a:pPr marL="342900" indent="-342900">
              <a:buFont typeface="+mj-lt"/>
              <a:buAutoNum type="arabicPeriod"/>
            </a:pPr>
            <a:r>
              <a:rPr lang="en-US" dirty="0"/>
              <a:t>Statistical Analysis of ICS Network Traffic for each dataset</a:t>
            </a:r>
          </a:p>
          <a:p>
            <a:pPr marL="342900" indent="-342900">
              <a:buFont typeface="+mj-lt"/>
              <a:buAutoNum type="arabicPeriod"/>
            </a:pPr>
            <a:r>
              <a:rPr lang="en-US" dirty="0"/>
              <a:t>Using Stacked Denoising autoencoder to return features from the given dataset</a:t>
            </a:r>
          </a:p>
          <a:p>
            <a:pPr marL="342900" indent="-342900">
              <a:buFont typeface="+mj-lt"/>
              <a:buAutoNum type="arabicPeriod"/>
            </a:pPr>
            <a:r>
              <a:rPr lang="en-US" dirty="0"/>
              <a:t>Reverse engineering the dataset to extract the parts of the network packets that are most likely contain physical readings</a:t>
            </a:r>
          </a:p>
          <a:p>
            <a:pPr marL="342900" indent="-342900">
              <a:buFont typeface="+mj-lt"/>
              <a:buAutoNum type="arabicPeriod"/>
            </a:pPr>
            <a:r>
              <a:rPr lang="en-US" dirty="0"/>
              <a:t>Using different ML models:</a:t>
            </a:r>
          </a:p>
          <a:p>
            <a:pPr marL="800100" lvl="1" indent="-342900">
              <a:buFont typeface="+mj-lt"/>
              <a:buAutoNum type="arabicPeriod"/>
            </a:pPr>
            <a:r>
              <a:rPr lang="en-US" dirty="0"/>
              <a:t>N-gram, SVM, LOF, KNN.</a:t>
            </a:r>
          </a:p>
          <a:p>
            <a:pPr marL="342900" indent="-342900">
              <a:buFont typeface="+mj-lt"/>
              <a:buAutoNum type="arabicPeriod"/>
            </a:pPr>
            <a:r>
              <a:rPr lang="en-US" dirty="0"/>
              <a:t>Using different DL models:</a:t>
            </a:r>
          </a:p>
          <a:p>
            <a:pPr marL="800100" lvl="1" indent="-342900">
              <a:buFont typeface="+mj-lt"/>
              <a:buAutoNum type="arabicPeriod"/>
            </a:pPr>
            <a:r>
              <a:rPr lang="en-US" dirty="0"/>
              <a:t>GAN, CNN, </a:t>
            </a:r>
            <a:r>
              <a:rPr lang="en-US" dirty="0" err="1"/>
              <a:t>ResNet</a:t>
            </a:r>
            <a:r>
              <a:rPr lang="en-US" dirty="0"/>
              <a:t>. </a:t>
            </a:r>
          </a:p>
          <a:p>
            <a:pPr marL="342900" indent="-342900">
              <a:buFont typeface="+mj-lt"/>
              <a:buAutoNum type="arabicPeriod"/>
            </a:pPr>
            <a:r>
              <a:rPr lang="en-US" dirty="0"/>
              <a:t>Executing experiments on each model.</a:t>
            </a:r>
          </a:p>
        </p:txBody>
      </p:sp>
      <p:sp>
        <p:nvSpPr>
          <p:cNvPr id="4" name="Slide Number Placeholder 3">
            <a:extLst>
              <a:ext uri="{FF2B5EF4-FFF2-40B4-BE49-F238E27FC236}">
                <a16:creationId xmlns:a16="http://schemas.microsoft.com/office/drawing/2014/main" id="{A3F7DB2C-4404-5E66-37A5-3D32692015E7}"/>
              </a:ext>
            </a:extLst>
          </p:cNvPr>
          <p:cNvSpPr>
            <a:spLocks noGrp="1"/>
          </p:cNvSpPr>
          <p:nvPr>
            <p:ph type="sldNum" sz="quarter" idx="12"/>
          </p:nvPr>
        </p:nvSpPr>
        <p:spPr/>
        <p:txBody>
          <a:bodyPr/>
          <a:lstStyle/>
          <a:p>
            <a:fld id="{148CC95F-0247-41B6-91CF-DC97C76A7088}" type="slidenum">
              <a:rPr lang="en-US" smtClean="0"/>
              <a:t>4</a:t>
            </a:fld>
            <a:endParaRPr lang="en-US"/>
          </a:p>
        </p:txBody>
      </p:sp>
    </p:spTree>
    <p:extLst>
      <p:ext uri="{BB962C8B-B14F-4D97-AF65-F5344CB8AC3E}">
        <p14:creationId xmlns:p14="http://schemas.microsoft.com/office/powerpoint/2010/main" val="2544570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E30B2-214E-0CBB-6EB7-7CC62F0512A1}"/>
              </a:ext>
            </a:extLst>
          </p:cNvPr>
          <p:cNvSpPr>
            <a:spLocks noGrp="1"/>
          </p:cNvSpPr>
          <p:nvPr>
            <p:ph type="title"/>
          </p:nvPr>
        </p:nvSpPr>
        <p:spPr/>
        <p:txBody>
          <a:bodyPr/>
          <a:lstStyle/>
          <a:p>
            <a:r>
              <a:rPr lang="en-US" dirty="0"/>
              <a:t>Datasets</a:t>
            </a:r>
          </a:p>
        </p:txBody>
      </p:sp>
      <p:sp>
        <p:nvSpPr>
          <p:cNvPr id="3" name="Content Placeholder 2">
            <a:extLst>
              <a:ext uri="{FF2B5EF4-FFF2-40B4-BE49-F238E27FC236}">
                <a16:creationId xmlns:a16="http://schemas.microsoft.com/office/drawing/2014/main" id="{125B855E-1625-5DBE-9627-77E5F146EFE6}"/>
              </a:ext>
            </a:extLst>
          </p:cNvPr>
          <p:cNvSpPr>
            <a:spLocks noGrp="1"/>
          </p:cNvSpPr>
          <p:nvPr>
            <p:ph idx="1"/>
          </p:nvPr>
        </p:nvSpPr>
        <p:spPr/>
        <p:txBody>
          <a:bodyPr/>
          <a:lstStyle/>
          <a:p>
            <a:r>
              <a:rPr lang="en-US" dirty="0"/>
              <a:t>QUT</a:t>
            </a:r>
          </a:p>
          <a:p>
            <a:r>
              <a:rPr lang="en-US" dirty="0"/>
              <a:t>S7comm</a:t>
            </a:r>
          </a:p>
        </p:txBody>
      </p:sp>
      <p:sp>
        <p:nvSpPr>
          <p:cNvPr id="4" name="Slide Number Placeholder 3">
            <a:extLst>
              <a:ext uri="{FF2B5EF4-FFF2-40B4-BE49-F238E27FC236}">
                <a16:creationId xmlns:a16="http://schemas.microsoft.com/office/drawing/2014/main" id="{AAE5790A-6074-4B15-B4CF-3E6BC93CA72D}"/>
              </a:ext>
            </a:extLst>
          </p:cNvPr>
          <p:cNvSpPr>
            <a:spLocks noGrp="1"/>
          </p:cNvSpPr>
          <p:nvPr>
            <p:ph type="sldNum" sz="quarter" idx="12"/>
          </p:nvPr>
        </p:nvSpPr>
        <p:spPr/>
        <p:txBody>
          <a:bodyPr/>
          <a:lstStyle/>
          <a:p>
            <a:fld id="{148CC95F-0247-41B6-91CF-DC97C76A7088}" type="slidenum">
              <a:rPr lang="en-US" smtClean="0"/>
              <a:t>5</a:t>
            </a:fld>
            <a:endParaRPr lang="en-US"/>
          </a:p>
        </p:txBody>
      </p:sp>
    </p:spTree>
    <p:extLst>
      <p:ext uri="{BB962C8B-B14F-4D97-AF65-F5344CB8AC3E}">
        <p14:creationId xmlns:p14="http://schemas.microsoft.com/office/powerpoint/2010/main" val="3877137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CECCF-5964-D133-CDC3-C2C7D1C3E80F}"/>
              </a:ext>
            </a:extLst>
          </p:cNvPr>
          <p:cNvSpPr>
            <a:spLocks noGrp="1"/>
          </p:cNvSpPr>
          <p:nvPr>
            <p:ph type="title"/>
          </p:nvPr>
        </p:nvSpPr>
        <p:spPr/>
        <p:txBody>
          <a:bodyPr/>
          <a:lstStyle/>
          <a:p>
            <a:r>
              <a:rPr lang="en-US" dirty="0"/>
              <a:t>Statistical Analysis</a:t>
            </a:r>
          </a:p>
        </p:txBody>
      </p:sp>
      <p:sp>
        <p:nvSpPr>
          <p:cNvPr id="3" name="Content Placeholder 2">
            <a:extLst>
              <a:ext uri="{FF2B5EF4-FFF2-40B4-BE49-F238E27FC236}">
                <a16:creationId xmlns:a16="http://schemas.microsoft.com/office/drawing/2014/main" id="{A69AF9D7-B016-7642-7E24-B2C1119B6BC2}"/>
              </a:ext>
            </a:extLst>
          </p:cNvPr>
          <p:cNvSpPr>
            <a:spLocks noGrp="1"/>
          </p:cNvSpPr>
          <p:nvPr>
            <p:ph idx="1"/>
          </p:nvPr>
        </p:nvSpPr>
        <p:spPr/>
        <p:txBody>
          <a:bodyPr/>
          <a:lstStyle/>
          <a:p>
            <a:r>
              <a:rPr lang="en-US" dirty="0"/>
              <a:t>Approach</a:t>
            </a:r>
          </a:p>
          <a:p>
            <a:pPr marL="0" indent="0">
              <a:buNone/>
            </a:pPr>
            <a:endParaRPr lang="en-US" dirty="0"/>
          </a:p>
        </p:txBody>
      </p:sp>
      <p:sp>
        <p:nvSpPr>
          <p:cNvPr id="4" name="Slide Number Placeholder 3">
            <a:extLst>
              <a:ext uri="{FF2B5EF4-FFF2-40B4-BE49-F238E27FC236}">
                <a16:creationId xmlns:a16="http://schemas.microsoft.com/office/drawing/2014/main" id="{354D19EB-B4FF-ECB8-86F3-F302E3E76E56}"/>
              </a:ext>
            </a:extLst>
          </p:cNvPr>
          <p:cNvSpPr>
            <a:spLocks noGrp="1"/>
          </p:cNvSpPr>
          <p:nvPr>
            <p:ph type="sldNum" sz="quarter" idx="12"/>
          </p:nvPr>
        </p:nvSpPr>
        <p:spPr/>
        <p:txBody>
          <a:bodyPr/>
          <a:lstStyle/>
          <a:p>
            <a:fld id="{148CC95F-0247-41B6-91CF-DC97C76A7088}" type="slidenum">
              <a:rPr lang="en-US" smtClean="0"/>
              <a:t>6</a:t>
            </a:fld>
            <a:endParaRPr lang="en-US"/>
          </a:p>
        </p:txBody>
      </p:sp>
    </p:spTree>
    <p:extLst>
      <p:ext uri="{BB962C8B-B14F-4D97-AF65-F5344CB8AC3E}">
        <p14:creationId xmlns:p14="http://schemas.microsoft.com/office/powerpoint/2010/main" val="3456561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CAB24-7F85-8CA7-F530-2588FF9B48C5}"/>
              </a:ext>
            </a:extLst>
          </p:cNvPr>
          <p:cNvSpPr>
            <a:spLocks noGrp="1"/>
          </p:cNvSpPr>
          <p:nvPr>
            <p:ph type="title"/>
          </p:nvPr>
        </p:nvSpPr>
        <p:spPr/>
        <p:txBody>
          <a:bodyPr/>
          <a:lstStyle/>
          <a:p>
            <a:r>
              <a:rPr lang="en-US" dirty="0"/>
              <a:t>Statistical Analysis cont’d</a:t>
            </a:r>
          </a:p>
        </p:txBody>
      </p:sp>
      <p:sp>
        <p:nvSpPr>
          <p:cNvPr id="3" name="Content Placeholder 2">
            <a:extLst>
              <a:ext uri="{FF2B5EF4-FFF2-40B4-BE49-F238E27FC236}">
                <a16:creationId xmlns:a16="http://schemas.microsoft.com/office/drawing/2014/main" id="{97E9810E-DD34-2FEA-B996-1FFF5202DF2B}"/>
              </a:ext>
            </a:extLst>
          </p:cNvPr>
          <p:cNvSpPr>
            <a:spLocks noGrp="1"/>
          </p:cNvSpPr>
          <p:nvPr>
            <p:ph idx="1"/>
          </p:nvPr>
        </p:nvSpPr>
        <p:spPr/>
        <p:txBody>
          <a:bodyPr/>
          <a:lstStyle/>
          <a:p>
            <a:r>
              <a:rPr lang="en-US" dirty="0"/>
              <a:t>results</a:t>
            </a:r>
          </a:p>
        </p:txBody>
      </p:sp>
      <p:sp>
        <p:nvSpPr>
          <p:cNvPr id="4" name="Slide Number Placeholder 3">
            <a:extLst>
              <a:ext uri="{FF2B5EF4-FFF2-40B4-BE49-F238E27FC236}">
                <a16:creationId xmlns:a16="http://schemas.microsoft.com/office/drawing/2014/main" id="{53A59D7B-5E23-7FAC-80C7-DB5DADC1C70A}"/>
              </a:ext>
            </a:extLst>
          </p:cNvPr>
          <p:cNvSpPr>
            <a:spLocks noGrp="1"/>
          </p:cNvSpPr>
          <p:nvPr>
            <p:ph type="sldNum" sz="quarter" idx="12"/>
          </p:nvPr>
        </p:nvSpPr>
        <p:spPr/>
        <p:txBody>
          <a:bodyPr/>
          <a:lstStyle/>
          <a:p>
            <a:fld id="{148CC95F-0247-41B6-91CF-DC97C76A7088}" type="slidenum">
              <a:rPr lang="en-US" smtClean="0"/>
              <a:t>7</a:t>
            </a:fld>
            <a:endParaRPr lang="en-US"/>
          </a:p>
        </p:txBody>
      </p:sp>
    </p:spTree>
    <p:extLst>
      <p:ext uri="{BB962C8B-B14F-4D97-AF65-F5344CB8AC3E}">
        <p14:creationId xmlns:p14="http://schemas.microsoft.com/office/powerpoint/2010/main" val="4224529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38E23-4523-EE34-4180-98D5E8997AEC}"/>
              </a:ext>
            </a:extLst>
          </p:cNvPr>
          <p:cNvSpPr>
            <a:spLocks noGrp="1"/>
          </p:cNvSpPr>
          <p:nvPr>
            <p:ph type="title"/>
          </p:nvPr>
        </p:nvSpPr>
        <p:spPr/>
        <p:txBody>
          <a:bodyPr/>
          <a:lstStyle/>
          <a:p>
            <a:r>
              <a:rPr lang="en-US" dirty="0"/>
              <a:t>SDA</a:t>
            </a:r>
          </a:p>
        </p:txBody>
      </p:sp>
      <p:sp>
        <p:nvSpPr>
          <p:cNvPr id="3" name="Content Placeholder 2">
            <a:extLst>
              <a:ext uri="{FF2B5EF4-FFF2-40B4-BE49-F238E27FC236}">
                <a16:creationId xmlns:a16="http://schemas.microsoft.com/office/drawing/2014/main" id="{9144D630-4BCE-4066-84A9-B0D34B42E8D8}"/>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1178341E-4C61-622C-F340-A0D27BD3B103}"/>
              </a:ext>
            </a:extLst>
          </p:cNvPr>
          <p:cNvSpPr>
            <a:spLocks noGrp="1"/>
          </p:cNvSpPr>
          <p:nvPr>
            <p:ph type="sldNum" sz="quarter" idx="12"/>
          </p:nvPr>
        </p:nvSpPr>
        <p:spPr/>
        <p:txBody>
          <a:bodyPr/>
          <a:lstStyle/>
          <a:p>
            <a:fld id="{148CC95F-0247-41B6-91CF-DC97C76A7088}" type="slidenum">
              <a:rPr lang="en-US" smtClean="0"/>
              <a:t>8</a:t>
            </a:fld>
            <a:endParaRPr lang="en-US"/>
          </a:p>
        </p:txBody>
      </p:sp>
    </p:spTree>
    <p:extLst>
      <p:ext uri="{BB962C8B-B14F-4D97-AF65-F5344CB8AC3E}">
        <p14:creationId xmlns:p14="http://schemas.microsoft.com/office/powerpoint/2010/main" val="31176652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3499E-4AEE-CEBA-E704-B3E29DB08521}"/>
              </a:ext>
            </a:extLst>
          </p:cNvPr>
          <p:cNvSpPr>
            <a:spLocks noGrp="1"/>
          </p:cNvSpPr>
          <p:nvPr>
            <p:ph type="title"/>
          </p:nvPr>
        </p:nvSpPr>
        <p:spPr/>
        <p:txBody>
          <a:bodyPr/>
          <a:lstStyle/>
          <a:p>
            <a:r>
              <a:rPr lang="en-US" dirty="0"/>
              <a:t>Reverse Engineering</a:t>
            </a:r>
          </a:p>
        </p:txBody>
      </p:sp>
      <p:sp>
        <p:nvSpPr>
          <p:cNvPr id="3" name="Content Placeholder 2">
            <a:extLst>
              <a:ext uri="{FF2B5EF4-FFF2-40B4-BE49-F238E27FC236}">
                <a16:creationId xmlns:a16="http://schemas.microsoft.com/office/drawing/2014/main" id="{025487CF-B8B7-84BF-C813-3255B22A5E4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EFCCC86F-3C7C-E6D5-226F-C399CA603241}"/>
              </a:ext>
            </a:extLst>
          </p:cNvPr>
          <p:cNvSpPr>
            <a:spLocks noGrp="1"/>
          </p:cNvSpPr>
          <p:nvPr>
            <p:ph type="sldNum" sz="quarter" idx="12"/>
          </p:nvPr>
        </p:nvSpPr>
        <p:spPr/>
        <p:txBody>
          <a:bodyPr/>
          <a:lstStyle/>
          <a:p>
            <a:fld id="{148CC95F-0247-41B6-91CF-DC97C76A7088}" type="slidenum">
              <a:rPr lang="en-US" smtClean="0"/>
              <a:t>9</a:t>
            </a:fld>
            <a:endParaRPr lang="en-US"/>
          </a:p>
        </p:txBody>
      </p:sp>
    </p:spTree>
    <p:extLst>
      <p:ext uri="{BB962C8B-B14F-4D97-AF65-F5344CB8AC3E}">
        <p14:creationId xmlns:p14="http://schemas.microsoft.com/office/powerpoint/2010/main" val="38836546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0109C-A167-191C-4A8B-93FA33E1089D}"/>
              </a:ext>
            </a:extLst>
          </p:cNvPr>
          <p:cNvSpPr>
            <a:spLocks noGrp="1"/>
          </p:cNvSpPr>
          <p:nvPr>
            <p:ph type="title"/>
          </p:nvPr>
        </p:nvSpPr>
        <p:spPr/>
        <p:txBody>
          <a:bodyPr/>
          <a:lstStyle/>
          <a:p>
            <a:r>
              <a:rPr lang="en-US" dirty="0"/>
              <a:t>ML approaches</a:t>
            </a:r>
          </a:p>
        </p:txBody>
      </p:sp>
      <p:sp>
        <p:nvSpPr>
          <p:cNvPr id="3" name="Content Placeholder 2">
            <a:extLst>
              <a:ext uri="{FF2B5EF4-FFF2-40B4-BE49-F238E27FC236}">
                <a16:creationId xmlns:a16="http://schemas.microsoft.com/office/drawing/2014/main" id="{0699FF4D-20D1-453A-41E5-FC4198B3609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4EC1F29-EA5B-792C-82C7-63DC3FAFC9EF}"/>
              </a:ext>
            </a:extLst>
          </p:cNvPr>
          <p:cNvSpPr>
            <a:spLocks noGrp="1"/>
          </p:cNvSpPr>
          <p:nvPr>
            <p:ph type="sldNum" sz="quarter" idx="12"/>
          </p:nvPr>
        </p:nvSpPr>
        <p:spPr/>
        <p:txBody>
          <a:bodyPr/>
          <a:lstStyle/>
          <a:p>
            <a:fld id="{148CC95F-0247-41B6-91CF-DC97C76A7088}" type="slidenum">
              <a:rPr lang="en-US" smtClean="0"/>
              <a:t>10</a:t>
            </a:fld>
            <a:endParaRPr lang="en-US"/>
          </a:p>
        </p:txBody>
      </p:sp>
    </p:spTree>
    <p:extLst>
      <p:ext uri="{BB962C8B-B14F-4D97-AF65-F5344CB8AC3E}">
        <p14:creationId xmlns:p14="http://schemas.microsoft.com/office/powerpoint/2010/main" val="1461445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B4629-3261-3627-7ABC-3052675D7944}"/>
              </a:ext>
            </a:extLst>
          </p:cNvPr>
          <p:cNvSpPr>
            <a:spLocks noGrp="1"/>
          </p:cNvSpPr>
          <p:nvPr>
            <p:ph type="title"/>
          </p:nvPr>
        </p:nvSpPr>
        <p:spPr/>
        <p:txBody>
          <a:bodyPr/>
          <a:lstStyle/>
          <a:p>
            <a:r>
              <a:rPr lang="en-US" dirty="0"/>
              <a:t>ML app x – brief </a:t>
            </a:r>
          </a:p>
        </p:txBody>
      </p:sp>
      <p:sp>
        <p:nvSpPr>
          <p:cNvPr id="3" name="Content Placeholder 2">
            <a:extLst>
              <a:ext uri="{FF2B5EF4-FFF2-40B4-BE49-F238E27FC236}">
                <a16:creationId xmlns:a16="http://schemas.microsoft.com/office/drawing/2014/main" id="{CD01AE8A-FFC8-7975-1AC8-8D02D2E49167}"/>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3BF2A6CA-2259-C849-CD34-0E004AE770C9}"/>
              </a:ext>
            </a:extLst>
          </p:cNvPr>
          <p:cNvSpPr>
            <a:spLocks noGrp="1"/>
          </p:cNvSpPr>
          <p:nvPr>
            <p:ph type="sldNum" sz="quarter" idx="12"/>
          </p:nvPr>
        </p:nvSpPr>
        <p:spPr/>
        <p:txBody>
          <a:bodyPr/>
          <a:lstStyle/>
          <a:p>
            <a:fld id="{148CC95F-0247-41B6-91CF-DC97C76A7088}" type="slidenum">
              <a:rPr lang="en-US" smtClean="0"/>
              <a:t>11</a:t>
            </a:fld>
            <a:endParaRPr lang="en-US"/>
          </a:p>
        </p:txBody>
      </p:sp>
    </p:spTree>
    <p:extLst>
      <p:ext uri="{BB962C8B-B14F-4D97-AF65-F5344CB8AC3E}">
        <p14:creationId xmlns:p14="http://schemas.microsoft.com/office/powerpoint/2010/main" val="3074207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128EE-AA11-BB4D-32CE-D4F631095B10}"/>
              </a:ext>
            </a:extLst>
          </p:cNvPr>
          <p:cNvSpPr>
            <a:spLocks noGrp="1"/>
          </p:cNvSpPr>
          <p:nvPr>
            <p:ph type="title"/>
          </p:nvPr>
        </p:nvSpPr>
        <p:spPr/>
        <p:txBody>
          <a:bodyPr/>
          <a:lstStyle/>
          <a:p>
            <a:r>
              <a:rPr lang="en-US" dirty="0"/>
              <a:t>ML app x - results</a:t>
            </a:r>
          </a:p>
        </p:txBody>
      </p:sp>
      <p:sp>
        <p:nvSpPr>
          <p:cNvPr id="3" name="Content Placeholder 2">
            <a:extLst>
              <a:ext uri="{FF2B5EF4-FFF2-40B4-BE49-F238E27FC236}">
                <a16:creationId xmlns:a16="http://schemas.microsoft.com/office/drawing/2014/main" id="{59EDB96F-F62C-BB16-A49C-B76231823F28}"/>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490D00EC-4997-0CF8-B7AB-2E67AB3DAF07}"/>
              </a:ext>
            </a:extLst>
          </p:cNvPr>
          <p:cNvSpPr>
            <a:spLocks noGrp="1"/>
          </p:cNvSpPr>
          <p:nvPr>
            <p:ph type="sldNum" sz="quarter" idx="12"/>
          </p:nvPr>
        </p:nvSpPr>
        <p:spPr/>
        <p:txBody>
          <a:bodyPr/>
          <a:lstStyle/>
          <a:p>
            <a:fld id="{148CC95F-0247-41B6-91CF-DC97C76A7088}" type="slidenum">
              <a:rPr lang="en-US" smtClean="0"/>
              <a:t>12</a:t>
            </a:fld>
            <a:endParaRPr lang="en-US"/>
          </a:p>
        </p:txBody>
      </p:sp>
    </p:spTree>
    <p:extLst>
      <p:ext uri="{BB962C8B-B14F-4D97-AF65-F5344CB8AC3E}">
        <p14:creationId xmlns:p14="http://schemas.microsoft.com/office/powerpoint/2010/main" val="2615146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4706A-39A3-8214-B26E-DA48B58C8128}"/>
              </a:ext>
            </a:extLst>
          </p:cNvPr>
          <p:cNvSpPr>
            <a:spLocks noGrp="1"/>
          </p:cNvSpPr>
          <p:nvPr>
            <p:ph type="title"/>
          </p:nvPr>
        </p:nvSpPr>
        <p:spPr/>
        <p:txBody>
          <a:bodyPr/>
          <a:lstStyle/>
          <a:p>
            <a:r>
              <a:rPr lang="en-US" dirty="0"/>
              <a:t>DL approaches</a:t>
            </a:r>
          </a:p>
        </p:txBody>
      </p:sp>
      <p:sp>
        <p:nvSpPr>
          <p:cNvPr id="3" name="Content Placeholder 2">
            <a:extLst>
              <a:ext uri="{FF2B5EF4-FFF2-40B4-BE49-F238E27FC236}">
                <a16:creationId xmlns:a16="http://schemas.microsoft.com/office/drawing/2014/main" id="{20587301-3267-1777-CB1E-214E8EE3D18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E965028-77A9-9450-A3A8-F3D392DDBFB9}"/>
              </a:ext>
            </a:extLst>
          </p:cNvPr>
          <p:cNvSpPr>
            <a:spLocks noGrp="1"/>
          </p:cNvSpPr>
          <p:nvPr>
            <p:ph type="sldNum" sz="quarter" idx="12"/>
          </p:nvPr>
        </p:nvSpPr>
        <p:spPr/>
        <p:txBody>
          <a:bodyPr/>
          <a:lstStyle/>
          <a:p>
            <a:fld id="{148CC95F-0247-41B6-91CF-DC97C76A7088}" type="slidenum">
              <a:rPr lang="en-US" smtClean="0"/>
              <a:t>13</a:t>
            </a:fld>
            <a:endParaRPr lang="en-US"/>
          </a:p>
        </p:txBody>
      </p:sp>
    </p:spTree>
    <p:extLst>
      <p:ext uri="{BB962C8B-B14F-4D97-AF65-F5344CB8AC3E}">
        <p14:creationId xmlns:p14="http://schemas.microsoft.com/office/powerpoint/2010/main" val="28763904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4D4D6-C2BE-755C-E33B-9C3C5D875479}"/>
              </a:ext>
            </a:extLst>
          </p:cNvPr>
          <p:cNvSpPr>
            <a:spLocks noGrp="1"/>
          </p:cNvSpPr>
          <p:nvPr>
            <p:ph type="title"/>
          </p:nvPr>
        </p:nvSpPr>
        <p:spPr/>
        <p:txBody>
          <a:bodyPr/>
          <a:lstStyle/>
          <a:p>
            <a:r>
              <a:rPr lang="en-US" dirty="0"/>
              <a:t>DL approach x - architecture</a:t>
            </a:r>
          </a:p>
        </p:txBody>
      </p:sp>
      <p:sp>
        <p:nvSpPr>
          <p:cNvPr id="3" name="Content Placeholder 2">
            <a:extLst>
              <a:ext uri="{FF2B5EF4-FFF2-40B4-BE49-F238E27FC236}">
                <a16:creationId xmlns:a16="http://schemas.microsoft.com/office/drawing/2014/main" id="{1524F561-150E-12B7-98DF-C4C519A4FBA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B27C023-6A93-44F6-8438-91C099557758}"/>
              </a:ext>
            </a:extLst>
          </p:cNvPr>
          <p:cNvSpPr>
            <a:spLocks noGrp="1"/>
          </p:cNvSpPr>
          <p:nvPr>
            <p:ph type="sldNum" sz="quarter" idx="12"/>
          </p:nvPr>
        </p:nvSpPr>
        <p:spPr/>
        <p:txBody>
          <a:bodyPr/>
          <a:lstStyle/>
          <a:p>
            <a:fld id="{148CC95F-0247-41B6-91CF-DC97C76A7088}" type="slidenum">
              <a:rPr lang="en-US" smtClean="0"/>
              <a:t>14</a:t>
            </a:fld>
            <a:endParaRPr lang="en-US"/>
          </a:p>
        </p:txBody>
      </p:sp>
    </p:spTree>
    <p:extLst>
      <p:ext uri="{BB962C8B-B14F-4D97-AF65-F5344CB8AC3E}">
        <p14:creationId xmlns:p14="http://schemas.microsoft.com/office/powerpoint/2010/main" val="15278382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92E78-DCEA-17C7-C83D-E16A57CF164D}"/>
              </a:ext>
            </a:extLst>
          </p:cNvPr>
          <p:cNvSpPr>
            <a:spLocks noGrp="1"/>
          </p:cNvSpPr>
          <p:nvPr>
            <p:ph type="title"/>
          </p:nvPr>
        </p:nvSpPr>
        <p:spPr/>
        <p:txBody>
          <a:bodyPr/>
          <a:lstStyle/>
          <a:p>
            <a:r>
              <a:rPr lang="en-US" dirty="0"/>
              <a:t>DL approach x - results</a:t>
            </a:r>
          </a:p>
        </p:txBody>
      </p:sp>
      <p:sp>
        <p:nvSpPr>
          <p:cNvPr id="3" name="Content Placeholder 2">
            <a:extLst>
              <a:ext uri="{FF2B5EF4-FFF2-40B4-BE49-F238E27FC236}">
                <a16:creationId xmlns:a16="http://schemas.microsoft.com/office/drawing/2014/main" id="{26E15E40-37CC-8E1F-D14D-414841E2A52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1E453BE-75BF-60DD-637D-FD66F94B1F70}"/>
              </a:ext>
            </a:extLst>
          </p:cNvPr>
          <p:cNvSpPr>
            <a:spLocks noGrp="1"/>
          </p:cNvSpPr>
          <p:nvPr>
            <p:ph type="sldNum" sz="quarter" idx="12"/>
          </p:nvPr>
        </p:nvSpPr>
        <p:spPr/>
        <p:txBody>
          <a:bodyPr/>
          <a:lstStyle/>
          <a:p>
            <a:fld id="{148CC95F-0247-41B6-91CF-DC97C76A7088}" type="slidenum">
              <a:rPr lang="en-US" smtClean="0"/>
              <a:t>15</a:t>
            </a:fld>
            <a:endParaRPr lang="en-US"/>
          </a:p>
        </p:txBody>
      </p:sp>
    </p:spTree>
    <p:extLst>
      <p:ext uri="{BB962C8B-B14F-4D97-AF65-F5344CB8AC3E}">
        <p14:creationId xmlns:p14="http://schemas.microsoft.com/office/powerpoint/2010/main" val="40845889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7D09E-80E7-5E89-39B8-89C4E4FC4116}"/>
              </a:ext>
            </a:extLst>
          </p:cNvPr>
          <p:cNvSpPr>
            <a:spLocks noGrp="1"/>
          </p:cNvSpPr>
          <p:nvPr>
            <p:ph type="title"/>
          </p:nvPr>
        </p:nvSpPr>
        <p:spPr/>
        <p:txBody>
          <a:bodyPr/>
          <a:lstStyle/>
          <a:p>
            <a:r>
              <a:rPr lang="en-US" dirty="0"/>
              <a:t>Used resources</a:t>
            </a:r>
          </a:p>
        </p:txBody>
      </p:sp>
      <p:sp>
        <p:nvSpPr>
          <p:cNvPr id="3" name="Content Placeholder 2">
            <a:extLst>
              <a:ext uri="{FF2B5EF4-FFF2-40B4-BE49-F238E27FC236}">
                <a16:creationId xmlns:a16="http://schemas.microsoft.com/office/drawing/2014/main" id="{2411D25C-9033-58A6-DA22-6EDA17452557}"/>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E353118-423D-39D0-F596-290E76F49026}"/>
              </a:ext>
            </a:extLst>
          </p:cNvPr>
          <p:cNvSpPr>
            <a:spLocks noGrp="1"/>
          </p:cNvSpPr>
          <p:nvPr>
            <p:ph type="sldNum" sz="quarter" idx="12"/>
          </p:nvPr>
        </p:nvSpPr>
        <p:spPr/>
        <p:txBody>
          <a:bodyPr/>
          <a:lstStyle/>
          <a:p>
            <a:fld id="{148CC95F-0247-41B6-91CF-DC97C76A7088}" type="slidenum">
              <a:rPr lang="en-US" smtClean="0"/>
              <a:t>16</a:t>
            </a:fld>
            <a:endParaRPr lang="en-US"/>
          </a:p>
        </p:txBody>
      </p:sp>
    </p:spTree>
    <p:extLst>
      <p:ext uri="{BB962C8B-B14F-4D97-AF65-F5344CB8AC3E}">
        <p14:creationId xmlns:p14="http://schemas.microsoft.com/office/powerpoint/2010/main" val="13755096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E6B1E-5C1F-5AED-51BE-24BFB96C64AD}"/>
              </a:ext>
            </a:extLst>
          </p:cNvPr>
          <p:cNvSpPr>
            <a:spLocks noGrp="1"/>
          </p:cNvSpPr>
          <p:nvPr>
            <p:ph type="title"/>
          </p:nvPr>
        </p:nvSpPr>
        <p:spPr/>
        <p:txBody>
          <a:bodyPr/>
          <a:lstStyle/>
          <a:p>
            <a:r>
              <a:rPr lang="en-US" dirty="0"/>
              <a:t>Summary and Conclusion</a:t>
            </a:r>
          </a:p>
        </p:txBody>
      </p:sp>
      <p:sp>
        <p:nvSpPr>
          <p:cNvPr id="3" name="Content Placeholder 2">
            <a:extLst>
              <a:ext uri="{FF2B5EF4-FFF2-40B4-BE49-F238E27FC236}">
                <a16:creationId xmlns:a16="http://schemas.microsoft.com/office/drawing/2014/main" id="{647A5DFD-D86D-26AE-E3C3-5C974337ACC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3F4E1A8F-3605-86B6-61DC-F2EF3B6C6412}"/>
              </a:ext>
            </a:extLst>
          </p:cNvPr>
          <p:cNvSpPr>
            <a:spLocks noGrp="1"/>
          </p:cNvSpPr>
          <p:nvPr>
            <p:ph type="sldNum" sz="quarter" idx="12"/>
          </p:nvPr>
        </p:nvSpPr>
        <p:spPr/>
        <p:txBody>
          <a:bodyPr/>
          <a:lstStyle/>
          <a:p>
            <a:fld id="{148CC95F-0247-41B6-91CF-DC97C76A7088}" type="slidenum">
              <a:rPr lang="en-US" smtClean="0"/>
              <a:t>17</a:t>
            </a:fld>
            <a:endParaRPr lang="en-US"/>
          </a:p>
        </p:txBody>
      </p:sp>
    </p:spTree>
    <p:extLst>
      <p:ext uri="{BB962C8B-B14F-4D97-AF65-F5344CB8AC3E}">
        <p14:creationId xmlns:p14="http://schemas.microsoft.com/office/powerpoint/2010/main" val="9858391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50E64-5163-254A-9365-E22E5114ADE5}"/>
              </a:ext>
            </a:extLst>
          </p:cNvPr>
          <p:cNvSpPr>
            <a:spLocks noGrp="1"/>
          </p:cNvSpPr>
          <p:nvPr>
            <p:ph type="title"/>
          </p:nvPr>
        </p:nvSpPr>
        <p:spPr/>
        <p:txBody>
          <a:bodyPr/>
          <a:lstStyle/>
          <a:p>
            <a:r>
              <a:rPr lang="en-US" dirty="0"/>
              <a:t>Any Question</a:t>
            </a:r>
          </a:p>
        </p:txBody>
      </p:sp>
      <p:sp>
        <p:nvSpPr>
          <p:cNvPr id="3" name="Content Placeholder 2">
            <a:extLst>
              <a:ext uri="{FF2B5EF4-FFF2-40B4-BE49-F238E27FC236}">
                <a16:creationId xmlns:a16="http://schemas.microsoft.com/office/drawing/2014/main" id="{D3BA0694-9C2A-13C3-3F72-1296D99A2595}"/>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39DC01E-281F-27EA-E55E-24BFDE609415}"/>
              </a:ext>
            </a:extLst>
          </p:cNvPr>
          <p:cNvSpPr>
            <a:spLocks noGrp="1"/>
          </p:cNvSpPr>
          <p:nvPr>
            <p:ph type="sldNum" sz="quarter" idx="12"/>
          </p:nvPr>
        </p:nvSpPr>
        <p:spPr/>
        <p:txBody>
          <a:bodyPr/>
          <a:lstStyle/>
          <a:p>
            <a:fld id="{148CC95F-0247-41B6-91CF-DC97C76A7088}" type="slidenum">
              <a:rPr lang="en-US" smtClean="0"/>
              <a:t>18</a:t>
            </a:fld>
            <a:endParaRPr lang="en-US"/>
          </a:p>
        </p:txBody>
      </p:sp>
    </p:spTree>
    <p:extLst>
      <p:ext uri="{BB962C8B-B14F-4D97-AF65-F5344CB8AC3E}">
        <p14:creationId xmlns:p14="http://schemas.microsoft.com/office/powerpoint/2010/main" val="7132239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CA24B-E157-B010-0986-02E20E0E98A7}"/>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56090351-2775-76C2-3DD2-0524158035F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4C04EC4D-69AF-4A1B-BAB8-3142495783B4}"/>
              </a:ext>
            </a:extLst>
          </p:cNvPr>
          <p:cNvSpPr>
            <a:spLocks noGrp="1"/>
          </p:cNvSpPr>
          <p:nvPr>
            <p:ph type="sldNum" sz="quarter" idx="12"/>
          </p:nvPr>
        </p:nvSpPr>
        <p:spPr/>
        <p:txBody>
          <a:bodyPr/>
          <a:lstStyle/>
          <a:p>
            <a:fld id="{148CC95F-0247-41B6-91CF-DC97C76A7088}" type="slidenum">
              <a:rPr lang="en-US" smtClean="0"/>
              <a:t>19</a:t>
            </a:fld>
            <a:endParaRPr lang="en-US"/>
          </a:p>
        </p:txBody>
      </p:sp>
    </p:spTree>
    <p:extLst>
      <p:ext uri="{BB962C8B-B14F-4D97-AF65-F5344CB8AC3E}">
        <p14:creationId xmlns:p14="http://schemas.microsoft.com/office/powerpoint/2010/main" val="2458400630"/>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336</Words>
  <Application>Microsoft Office PowerPoint</Application>
  <PresentationFormat>Widescreen</PresentationFormat>
  <Paragraphs>61</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Bierstadt</vt:lpstr>
      <vt:lpstr>Neue Haas Grotesk Text Pro</vt:lpstr>
      <vt:lpstr>GestaltVTI</vt:lpstr>
      <vt:lpstr>Adversarial Machine Learning Use of Reverse Engineering for Anomaly Detection in Industrial Control Systems</vt:lpstr>
      <vt:lpstr>What was our main goals?</vt:lpstr>
      <vt:lpstr>Why do we do that? </vt:lpstr>
      <vt:lpstr>How?</vt:lpstr>
      <vt:lpstr>Datasets</vt:lpstr>
      <vt:lpstr>Statistical Analysis</vt:lpstr>
      <vt:lpstr>Statistical Analysis cont’d</vt:lpstr>
      <vt:lpstr>SDA</vt:lpstr>
      <vt:lpstr>Reverse Engineering</vt:lpstr>
      <vt:lpstr>ML approaches</vt:lpstr>
      <vt:lpstr>ML app x – brief </vt:lpstr>
      <vt:lpstr>ML app x - results</vt:lpstr>
      <vt:lpstr>DL approaches</vt:lpstr>
      <vt:lpstr>DL approach x - architecture</vt:lpstr>
      <vt:lpstr>DL approach x - results</vt:lpstr>
      <vt:lpstr>Used resources</vt:lpstr>
      <vt:lpstr>Summary and Conclusion</vt:lpstr>
      <vt:lpstr>Any Question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عبدالعزيز صلاح محمد عبده نعمه الله</dc:creator>
  <cp:lastModifiedBy>عبدالعزيز صلاح محمد عبده نعمه الله</cp:lastModifiedBy>
  <cp:revision>2</cp:revision>
  <dcterms:created xsi:type="dcterms:W3CDTF">2026-01-29T16:48:04Z</dcterms:created>
  <dcterms:modified xsi:type="dcterms:W3CDTF">2026-01-29T17:30:16Z</dcterms:modified>
</cp:coreProperties>
</file>